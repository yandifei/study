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87" r:id="rId7"/>
    <p:sldId id="288" r:id="rId8"/>
    <p:sldId id="289" r:id="rId9"/>
    <p:sldId id="290" r:id="rId10"/>
    <p:sldId id="291" r:id="rId11"/>
    <p:sldId id="292" r:id="rId12"/>
    <p:sldId id="258" r:id="rId13"/>
    <p:sldId id="293" r:id="rId14"/>
    <p:sldId id="294" r:id="rId15"/>
    <p:sldId id="295" r:id="rId16"/>
    <p:sldId id="296" r:id="rId17"/>
    <p:sldId id="297" r:id="rId18"/>
    <p:sldId id="298" r:id="rId19"/>
    <p:sldId id="300" r:id="rId20"/>
    <p:sldId id="302" r:id="rId21"/>
    <p:sldId id="304" r:id="rId22"/>
    <p:sldId id="268" r:id="rId23"/>
    <p:sldId id="305" r:id="rId24"/>
    <p:sldId id="27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0" userDrawn="1">
          <p15:clr>
            <a:srgbClr val="A4A3A4"/>
          </p15:clr>
        </p15:guide>
        <p15:guide id="2" pos="38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220"/>
        <p:guide pos="38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8.png"/><Relationship Id="rId3" Type="http://schemas.openxmlformats.org/officeDocument/2006/relationships/image" Target="../media/image13.png"/><Relationship Id="rId2" Type="http://schemas.openxmlformats.org/officeDocument/2006/relationships/tags" Target="../tags/tag1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15.png"/><Relationship Id="rId11" Type="http://schemas.openxmlformats.org/officeDocument/2006/relationships/tags" Target="../tags/tag7.xml"/><Relationship Id="rId10" Type="http://schemas.openxmlformats.org/officeDocument/2006/relationships/image" Target="../media/image14.png"/><Relationship Id="rId1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image" Target="../media/image17.png"/><Relationship Id="rId4" Type="http://schemas.openxmlformats.org/officeDocument/2006/relationships/tags" Target="../tags/tag9.xml"/><Relationship Id="rId3" Type="http://schemas.openxmlformats.org/officeDocument/2006/relationships/image" Target="../media/image16.png"/><Relationship Id="rId2" Type="http://schemas.openxmlformats.org/officeDocument/2006/relationships/tags" Target="../tags/tag8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5" Type="http://schemas.openxmlformats.org/officeDocument/2006/relationships/notesSlide" Target="../notesSlides/notesSlide6.xml"/><Relationship Id="rId24" Type="http://schemas.openxmlformats.org/officeDocument/2006/relationships/slideLayout" Target="../slideLayouts/slideLayout3.xml"/><Relationship Id="rId23" Type="http://schemas.openxmlformats.org/officeDocument/2006/relationships/image" Target="../media/image21.png"/><Relationship Id="rId22" Type="http://schemas.openxmlformats.org/officeDocument/2006/relationships/tags" Target="../tags/tag39.xml"/><Relationship Id="rId21" Type="http://schemas.openxmlformats.org/officeDocument/2006/relationships/image" Target="../media/image20.png"/><Relationship Id="rId20" Type="http://schemas.openxmlformats.org/officeDocument/2006/relationships/tags" Target="../tags/tag38.xml"/><Relationship Id="rId2" Type="http://schemas.openxmlformats.org/officeDocument/2006/relationships/tags" Target="../tags/tag22.xml"/><Relationship Id="rId19" Type="http://schemas.openxmlformats.org/officeDocument/2006/relationships/image" Target="../media/image19.png"/><Relationship Id="rId18" Type="http://schemas.openxmlformats.org/officeDocument/2006/relationships/tags" Target="../tags/tag37.xml"/><Relationship Id="rId17" Type="http://schemas.openxmlformats.org/officeDocument/2006/relationships/image" Target="../media/image18.png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image" Target="../media/image23.png"/><Relationship Id="rId3" Type="http://schemas.openxmlformats.org/officeDocument/2006/relationships/tags" Target="../tags/tag40.xml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3.xml"/><Relationship Id="rId13" Type="http://schemas.openxmlformats.org/officeDocument/2006/relationships/image" Target="../media/image24.png"/><Relationship Id="rId12" Type="http://schemas.openxmlformats.org/officeDocument/2006/relationships/tags" Target="../tags/tag47.xml"/><Relationship Id="rId11" Type="http://schemas.openxmlformats.org/officeDocument/2006/relationships/image" Target="../media/image14.png"/><Relationship Id="rId10" Type="http://schemas.openxmlformats.org/officeDocument/2006/relationships/tags" Target="../tags/tag46.xml"/><Relationship Id="rId1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3.xml"/><Relationship Id="rId17" Type="http://schemas.openxmlformats.org/officeDocument/2006/relationships/image" Target="../media/image21.png"/><Relationship Id="rId16" Type="http://schemas.openxmlformats.org/officeDocument/2006/relationships/tags" Target="../tags/tag59.xml"/><Relationship Id="rId15" Type="http://schemas.openxmlformats.org/officeDocument/2006/relationships/image" Target="../media/image20.png"/><Relationship Id="rId14" Type="http://schemas.openxmlformats.org/officeDocument/2006/relationships/tags" Target="../tags/tag58.xml"/><Relationship Id="rId13" Type="http://schemas.openxmlformats.org/officeDocument/2006/relationships/image" Target="../media/image19.png"/><Relationship Id="rId12" Type="http://schemas.openxmlformats.org/officeDocument/2006/relationships/tags" Target="../tags/tag57.xml"/><Relationship Id="rId11" Type="http://schemas.openxmlformats.org/officeDocument/2006/relationships/image" Target="../media/image18.png"/><Relationship Id="rId10" Type="http://schemas.openxmlformats.org/officeDocument/2006/relationships/tags" Target="../tags/tag56.xml"/><Relationship Id="rId1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image" Target="../media/image28.png"/><Relationship Id="rId3" Type="http://schemas.openxmlformats.org/officeDocument/2006/relationships/tags" Target="../tags/tag60.xml"/><Relationship Id="rId2" Type="http://schemas.openxmlformats.org/officeDocument/2006/relationships/image" Target="../media/image8.pn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29.png"/><Relationship Id="rId11" Type="http://schemas.openxmlformats.org/officeDocument/2006/relationships/tags" Target="../tags/tag66.xml"/><Relationship Id="rId10" Type="http://schemas.openxmlformats.org/officeDocument/2006/relationships/image" Target="../media/image10.pn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30.png"/><Relationship Id="rId7" Type="http://schemas.openxmlformats.org/officeDocument/2006/relationships/image" Target="../media/image10.png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../media/image28.png"/><Relationship Id="rId3" Type="http://schemas.openxmlformats.org/officeDocument/2006/relationships/tags" Target="../tags/tag67.xml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10.png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image" Target="../media/image28.png"/><Relationship Id="rId3" Type="http://schemas.openxmlformats.org/officeDocument/2006/relationships/tags" Target="../tags/tag70.xml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10.png"/><Relationship Id="rId3" Type="http://schemas.openxmlformats.org/officeDocument/2006/relationships/tags" Target="../tags/tag74.xml"/><Relationship Id="rId2" Type="http://schemas.openxmlformats.org/officeDocument/2006/relationships/image" Target="../media/image8.png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77.xml"/><Relationship Id="rId7" Type="http://schemas.openxmlformats.org/officeDocument/2006/relationships/image" Target="../media/image28.png"/><Relationship Id="rId6" Type="http://schemas.openxmlformats.org/officeDocument/2006/relationships/tags" Target="../tags/tag76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Relationship Id="rId3" Type="http://schemas.openxmlformats.org/officeDocument/2006/relationships/tags" Target="../tags/tag75.xml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0.png"/><Relationship Id="rId7" Type="http://schemas.openxmlformats.org/officeDocument/2006/relationships/image" Target="../media/image24.png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4.png"/><Relationship Id="rId7" Type="http://schemas.openxmlformats.org/officeDocument/2006/relationships/tags" Target="../tags/tag83.xml"/><Relationship Id="rId6" Type="http://schemas.openxmlformats.org/officeDocument/2006/relationships/image" Target="../media/image10.png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6" Type="http://schemas.openxmlformats.org/officeDocument/2006/relationships/notesSlide" Target="../notesSlides/notesSlide18.xml"/><Relationship Id="rId15" Type="http://schemas.openxmlformats.org/officeDocument/2006/relationships/slideLayout" Target="../slideLayouts/slideLayout3.xml"/><Relationship Id="rId14" Type="http://schemas.openxmlformats.org/officeDocument/2006/relationships/image" Target="../media/image10.png"/><Relationship Id="rId13" Type="http://schemas.openxmlformats.org/officeDocument/2006/relationships/image" Target="../media/image14.png"/><Relationship Id="rId12" Type="http://schemas.openxmlformats.org/officeDocument/2006/relationships/tags" Target="../tags/tag89.xml"/><Relationship Id="rId11" Type="http://schemas.openxmlformats.org/officeDocument/2006/relationships/image" Target="../media/image24.png"/><Relationship Id="rId10" Type="http://schemas.openxmlformats.org/officeDocument/2006/relationships/tags" Target="../tags/tag88.xml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6.jpeg"/><Relationship Id="rId1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58000"/>
            <a:ext cx="12192000" cy="90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 rot="5400000" flipH="1">
            <a:off x="-180000" y="6138000"/>
            <a:ext cx="900000" cy="540000"/>
          </a:xfrm>
          <a:prstGeom prst="round2SameRect">
            <a:avLst>
              <a:gd name="adj1" fmla="val 27924"/>
              <a:gd name="adj2" fmla="val 0"/>
            </a:avLst>
          </a:prstGeom>
          <a:gradFill flip="none" rotWithShape="1">
            <a:gsLst>
              <a:gs pos="0">
                <a:srgbClr val="2C53FC"/>
              </a:gs>
              <a:gs pos="51000">
                <a:srgbClr val="2C53FC"/>
              </a:gs>
              <a:gs pos="97000">
                <a:srgbClr val="766BFD"/>
              </a:gs>
              <a:gs pos="100000">
                <a:srgbClr val="766BFD"/>
              </a:gs>
            </a:gsLst>
            <a:lin ang="16200000" scaled="1"/>
          </a:gradFill>
        </p:spPr>
      </p:sp>
      <p:pic>
        <p:nvPicPr>
          <p:cNvPr id="4" name="Image 0" descr="https://kimi-img.moonshot.cn/pub/slides/slides_tmpl/image/25-10-09-17:04:53-d3jnld8s8jdo4os5dja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367" y="6306662"/>
            <a:ext cx="202678" cy="2026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63900" y="6422513"/>
            <a:ext cx="5664200" cy="0"/>
          </a:xfrm>
          <a:prstGeom prst="line">
            <a:avLst/>
          </a:prstGeom>
          <a:noFill/>
          <a:ln w="19050">
            <a:solidFill>
              <a:srgbClr val="E3E1FF">
                <a:alpha val="70196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 rot="17760000">
            <a:off x="10877550" y="88265"/>
            <a:ext cx="1242695" cy="1242695"/>
          </a:xfrm>
          <a:prstGeom prst="ellipse">
            <a:avLst/>
          </a:prstGeom>
          <a:gradFill flip="none" rotWithShape="1">
            <a:gsLst>
              <a:gs pos="0">
                <a:srgbClr val="766BFD">
                  <a:alpha val="34000"/>
                </a:srgbClr>
              </a:gs>
              <a:gs pos="76000">
                <a:srgbClr val="766BFD">
                  <a:alpha val="3000"/>
                </a:srgbClr>
              </a:gs>
              <a:gs pos="100000">
                <a:srgbClr val="766BFD">
                  <a:alpha val="3000"/>
                </a:srgbClr>
              </a:gs>
            </a:gsLst>
            <a:lin ang="0" scaled="1"/>
          </a:gradFill>
        </p:spPr>
      </p:sp>
      <p:pic>
        <p:nvPicPr>
          <p:cNvPr id="7" name="Image 1" descr="https://kimi-img.moonshot.cn/pub/slides/slides_tmpl/image/25-10-09-17:04:53-d3jnld8s8jdo4os5dj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830580"/>
            <a:ext cx="12191365" cy="51504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7115" y="1177925"/>
            <a:ext cx="6099810" cy="1370330"/>
          </a:xfrm>
          <a:prstGeom prst="rect">
            <a:avLst/>
          </a:prstGeom>
          <a:noFill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微信小程序开发</a:t>
            </a:r>
            <a:endParaRPr lang="en-US" sz="5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-189297" y="6063925"/>
            <a:ext cx="2880000" cy="504000"/>
          </a:xfrm>
          <a:custGeom>
            <a:avLst/>
            <a:gdLst/>
            <a:ahLst/>
            <a:cxnLst/>
            <a:rect l="l" t="t" r="r" b="b"/>
            <a:pathLst>
              <a:path w="2880000" h="504000">
                <a:moveTo>
                  <a:pt x="0" y="0"/>
                </a:moveTo>
                <a:lnTo>
                  <a:pt x="2880000" y="0"/>
                </a:lnTo>
                <a:lnTo>
                  <a:pt x="2880000" y="504000"/>
                </a:lnTo>
                <a:lnTo>
                  <a:pt x="0" y="504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10" name="Text 6"/>
          <p:cNvSpPr/>
          <p:nvPr/>
        </p:nvSpPr>
        <p:spPr>
          <a:xfrm>
            <a:off x="1577273" y="6156000"/>
            <a:ext cx="2880000" cy="504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教师：王亚萍</a:t>
            </a:r>
            <a:endParaRPr 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1254760" y="3003550"/>
            <a:ext cx="4415790" cy="10655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C53FC"/>
              </a:gs>
              <a:gs pos="87000">
                <a:srgbClr val="36BFE6"/>
              </a:gs>
              <a:gs pos="100000">
                <a:srgbClr val="36BFE6"/>
              </a:gs>
            </a:gsLst>
            <a:lin ang="0" scaled="1"/>
          </a:gradFill>
        </p:spPr>
      </p:sp>
      <p:sp>
        <p:nvSpPr>
          <p:cNvPr id="12" name="Text 8"/>
          <p:cNvSpPr/>
          <p:nvPr/>
        </p:nvSpPr>
        <p:spPr>
          <a:xfrm>
            <a:off x="1676400" y="3263265"/>
            <a:ext cx="4584065" cy="5454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第1章 小程序概述</a:t>
            </a:r>
            <a:endParaRPr 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Image 2" descr="https://kimi-img.moonshot.cn/pub/slides/slides_tmpl/image/25-10-09-17:04:55-d3jnldos8jdo4os5dj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670550" y="932180"/>
            <a:ext cx="7790180" cy="43821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99" y="0"/>
            <a:ext cx="4067175" cy="6858000"/>
          </a:xfrm>
          <a:custGeom>
            <a:avLst/>
            <a:gdLst/>
            <a:ahLst/>
            <a:cxnLst/>
            <a:rect l="l" t="t" r="r" b="b"/>
            <a:pathLst>
              <a:path w="4067175" h="6858000">
                <a:moveTo>
                  <a:pt x="0" y="0"/>
                </a:moveTo>
                <a:lnTo>
                  <a:pt x="4067175" y="0"/>
                </a:lnTo>
                <a:lnTo>
                  <a:pt x="40671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>
              <a:alpha val="5098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A90E2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COURSE OUTLINE</a:t>
            </a:r>
            <a:endParaRPr lang="en-US" sz="1200" b="1" kern="0" spc="60" dirty="0">
              <a:solidFill>
                <a:srgbClr val="4A90E2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课程大纲</a:t>
            </a:r>
            <a:endParaRPr lang="en-US" sz="3600" b="1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7" name="Shape 4"/>
          <p:cNvSpPr/>
          <p:nvPr/>
        </p:nvSpPr>
        <p:spPr>
          <a:xfrm>
            <a:off x="400050" y="1638300"/>
            <a:ext cx="5581650" cy="2305050"/>
          </a:xfrm>
          <a:custGeom>
            <a:avLst/>
            <a:gdLst/>
            <a:ahLst/>
            <a:cxnLst/>
            <a:rect l="l" t="t" r="r" b="b"/>
            <a:pathLst>
              <a:path w="5581650" h="2305050">
                <a:moveTo>
                  <a:pt x="38100" y="0"/>
                </a:moveTo>
                <a:lnTo>
                  <a:pt x="5429240" y="0"/>
                </a:lnTo>
                <a:cubicBezTo>
                  <a:pt x="5513414" y="0"/>
                  <a:pt x="5581650" y="68236"/>
                  <a:pt x="5581650" y="152410"/>
                </a:cubicBezTo>
                <a:lnTo>
                  <a:pt x="5581650" y="2152640"/>
                </a:lnTo>
                <a:cubicBezTo>
                  <a:pt x="5581650" y="2236814"/>
                  <a:pt x="5513414" y="2305050"/>
                  <a:pt x="5429240" y="2305050"/>
                </a:cubicBezTo>
                <a:lnTo>
                  <a:pt x="38100" y="2305050"/>
                </a:lnTo>
                <a:cubicBezTo>
                  <a:pt x="17072" y="2305050"/>
                  <a:pt x="0" y="2287978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400050" y="1638300"/>
            <a:ext cx="38100" cy="2305050"/>
          </a:xfrm>
          <a:custGeom>
            <a:avLst/>
            <a:gdLst/>
            <a:ahLst/>
            <a:cxnLst/>
            <a:rect l="l" t="t" r="r" b="b"/>
            <a:pathLst>
              <a:path w="38100" h="2305050">
                <a:moveTo>
                  <a:pt x="38100" y="0"/>
                </a:moveTo>
                <a:lnTo>
                  <a:pt x="38100" y="0"/>
                </a:lnTo>
                <a:lnTo>
                  <a:pt x="38100" y="2305050"/>
                </a:lnTo>
                <a:lnTo>
                  <a:pt x="38100" y="2305050"/>
                </a:lnTo>
                <a:cubicBezTo>
                  <a:pt x="17072" y="2305050"/>
                  <a:pt x="0" y="2287978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9" name="Shape 6"/>
          <p:cNvSpPr/>
          <p:nvPr/>
        </p:nvSpPr>
        <p:spPr>
          <a:xfrm>
            <a:off x="7239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" name="Text 7"/>
          <p:cNvSpPr/>
          <p:nvPr/>
        </p:nvSpPr>
        <p:spPr>
          <a:xfrm>
            <a:off x="652463" y="194310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01</a:t>
            </a:r>
            <a:endParaRPr lang="en-US" sz="225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85900" y="194310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认识微信</a:t>
            </a:r>
            <a:r>
              <a:rPr lang="zh-CN" altLang="en-US" sz="24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小程序</a:t>
            </a:r>
            <a:endParaRPr lang="zh-CN" altLang="en-US" sz="2400" b="1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485900" y="2362200"/>
            <a:ext cx="4267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rgbClr val="333333">
                    <a:alpha val="7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介绍小程序的概念、优点、类型、发展现状及发展前景。</a:t>
            </a:r>
            <a:endParaRPr lang="en-US" sz="1400" dirty="0">
              <a:solidFill>
                <a:srgbClr val="333333">
                  <a:alpha val="7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360805" y="3063240"/>
            <a:ext cx="137604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endParaRPr lang="en-US" sz="1400" dirty="0">
              <a:solidFill>
                <a:srgbClr val="4A90E2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933065" y="3009900"/>
            <a:ext cx="159893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 algn="l">
              <a:lnSpc>
                <a:spcPct val="120000"/>
              </a:lnSpc>
              <a:buClrTx/>
              <a:buSzTx/>
              <a:buFontTx/>
            </a:pPr>
            <a:endParaRPr lang="en-US" sz="1050" dirty="0">
              <a:solidFill>
                <a:srgbClr val="007BFF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229350" y="1638300"/>
            <a:ext cx="5581650" cy="2305050"/>
          </a:xfrm>
          <a:custGeom>
            <a:avLst/>
            <a:gdLst/>
            <a:ahLst/>
            <a:cxnLst/>
            <a:rect l="l" t="t" r="r" b="b"/>
            <a:pathLst>
              <a:path w="5581650" h="2305050">
                <a:moveTo>
                  <a:pt x="38100" y="0"/>
                </a:moveTo>
                <a:lnTo>
                  <a:pt x="5429240" y="0"/>
                </a:lnTo>
                <a:cubicBezTo>
                  <a:pt x="5513414" y="0"/>
                  <a:pt x="5581650" y="68236"/>
                  <a:pt x="5581650" y="152410"/>
                </a:cubicBezTo>
                <a:lnTo>
                  <a:pt x="5581650" y="2152640"/>
                </a:lnTo>
                <a:cubicBezTo>
                  <a:pt x="5581650" y="2236814"/>
                  <a:pt x="5513414" y="2305050"/>
                  <a:pt x="5429240" y="2305050"/>
                </a:cubicBezTo>
                <a:lnTo>
                  <a:pt x="38100" y="2305050"/>
                </a:lnTo>
                <a:cubicBezTo>
                  <a:pt x="17072" y="2305050"/>
                  <a:pt x="0" y="2287978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29350" y="1638300"/>
            <a:ext cx="38100" cy="2305050"/>
          </a:xfrm>
          <a:custGeom>
            <a:avLst/>
            <a:gdLst/>
            <a:ahLst/>
            <a:cxnLst/>
            <a:rect l="l" t="t" r="r" b="b"/>
            <a:pathLst>
              <a:path w="38100" h="2305050">
                <a:moveTo>
                  <a:pt x="38100" y="0"/>
                </a:moveTo>
                <a:lnTo>
                  <a:pt x="38100" y="0"/>
                </a:lnTo>
                <a:lnTo>
                  <a:pt x="38100" y="2305050"/>
                </a:lnTo>
                <a:lnTo>
                  <a:pt x="38100" y="2305050"/>
                </a:lnTo>
                <a:cubicBezTo>
                  <a:pt x="17072" y="2305050"/>
                  <a:pt x="0" y="2287978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19" name="Shape 16"/>
          <p:cNvSpPr/>
          <p:nvPr/>
        </p:nvSpPr>
        <p:spPr>
          <a:xfrm>
            <a:off x="65532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20" name="Text 17"/>
          <p:cNvSpPr/>
          <p:nvPr/>
        </p:nvSpPr>
        <p:spPr>
          <a:xfrm>
            <a:off x="6481763" y="194310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02</a:t>
            </a:r>
            <a:endParaRPr lang="en-US" sz="225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315200" y="194310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开发</a:t>
            </a:r>
            <a:r>
              <a:rPr lang="zh-CN" altLang="en-US" sz="24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准备</a:t>
            </a:r>
            <a:endParaRPr lang="zh-CN" altLang="en-US" sz="2400" b="1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315200" y="2362200"/>
            <a:ext cx="4267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3333">
                    <a:alpha val="7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  <a:sym typeface="+mn-ea"/>
              </a:rPr>
              <a:t>完成小程序账号注册、开发者工具安装，熟悉开发环境界面布局</a:t>
            </a:r>
            <a:r>
              <a:rPr lang="zh-CN" altLang="en-US" sz="1400" dirty="0">
                <a:solidFill>
                  <a:srgbClr val="333333">
                    <a:alpha val="7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  <a:sym typeface="+mn-ea"/>
              </a:rPr>
              <a:t>，</a:t>
            </a:r>
            <a:r>
              <a:rPr lang="en-US" sz="1400" dirty="0">
                <a:solidFill>
                  <a:srgbClr val="333333">
                    <a:alpha val="7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理解小程序四文件协同工作机制。</a:t>
            </a:r>
            <a:endParaRPr lang="en-US" sz="1400" dirty="0">
              <a:solidFill>
                <a:srgbClr val="333333">
                  <a:alpha val="7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419975" y="342900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24" name="Text 21"/>
          <p:cNvSpPr/>
          <p:nvPr/>
        </p:nvSpPr>
        <p:spPr>
          <a:xfrm>
            <a:off x="7419975" y="3429000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7B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目录结构</a:t>
            </a:r>
            <a:endParaRPr lang="en-US" sz="1050" dirty="0">
              <a:solidFill>
                <a:srgbClr val="007BFF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00050" y="4171950"/>
            <a:ext cx="5581650" cy="2305050"/>
          </a:xfrm>
          <a:custGeom>
            <a:avLst/>
            <a:gdLst/>
            <a:ahLst/>
            <a:cxnLst/>
            <a:rect l="l" t="t" r="r" b="b"/>
            <a:pathLst>
              <a:path w="5581650" h="2305050">
                <a:moveTo>
                  <a:pt x="38100" y="0"/>
                </a:moveTo>
                <a:lnTo>
                  <a:pt x="5429240" y="0"/>
                </a:lnTo>
                <a:cubicBezTo>
                  <a:pt x="5513414" y="0"/>
                  <a:pt x="5581650" y="68236"/>
                  <a:pt x="5581650" y="152410"/>
                </a:cubicBezTo>
                <a:lnTo>
                  <a:pt x="5581650" y="2152640"/>
                </a:lnTo>
                <a:cubicBezTo>
                  <a:pt x="5581650" y="2236814"/>
                  <a:pt x="5513414" y="2305050"/>
                  <a:pt x="5429240" y="2305050"/>
                </a:cubicBezTo>
                <a:lnTo>
                  <a:pt x="38100" y="2305050"/>
                </a:lnTo>
                <a:cubicBezTo>
                  <a:pt x="17072" y="2305050"/>
                  <a:pt x="0" y="2287978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400050" y="4171950"/>
            <a:ext cx="38100" cy="2305050"/>
          </a:xfrm>
          <a:custGeom>
            <a:avLst/>
            <a:gdLst/>
            <a:ahLst/>
            <a:cxnLst/>
            <a:rect l="l" t="t" r="r" b="b"/>
            <a:pathLst>
              <a:path w="38100" h="2305050">
                <a:moveTo>
                  <a:pt x="38100" y="0"/>
                </a:moveTo>
                <a:lnTo>
                  <a:pt x="38100" y="0"/>
                </a:lnTo>
                <a:lnTo>
                  <a:pt x="38100" y="2305050"/>
                </a:lnTo>
                <a:lnTo>
                  <a:pt x="38100" y="2305050"/>
                </a:lnTo>
                <a:cubicBezTo>
                  <a:pt x="17072" y="2305050"/>
                  <a:pt x="0" y="2287978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0C2EE"/>
          </a:solidFill>
        </p:spPr>
      </p:sp>
      <p:sp>
        <p:nvSpPr>
          <p:cNvPr id="29" name="Shape 26"/>
          <p:cNvSpPr/>
          <p:nvPr/>
        </p:nvSpPr>
        <p:spPr>
          <a:xfrm>
            <a:off x="723900" y="4476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0C2EE"/>
          </a:solidFill>
        </p:spPr>
      </p:sp>
      <p:sp>
        <p:nvSpPr>
          <p:cNvPr id="30" name="Text 27"/>
          <p:cNvSpPr/>
          <p:nvPr/>
        </p:nvSpPr>
        <p:spPr>
          <a:xfrm>
            <a:off x="652463" y="447675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03</a:t>
            </a:r>
            <a:endParaRPr lang="en-US" sz="225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485900" y="447675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sz="24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核心语法</a:t>
            </a:r>
            <a:r>
              <a:rPr lang="zh-CN" altLang="en-US" sz="24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讲解</a:t>
            </a:r>
            <a:endParaRPr lang="zh-CN" altLang="en-US" sz="2400" b="1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485900" y="4895850"/>
            <a:ext cx="4267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3333">
                    <a:alpha val="7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系统学习</a:t>
            </a:r>
            <a:r>
              <a:rPr lang="en-US" sz="1400" dirty="0">
                <a:solidFill>
                  <a:srgbClr val="333333">
                    <a:alpha val="7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JSON配置</a:t>
            </a:r>
            <a:r>
              <a:rPr lang="zh-CN" altLang="en-US" sz="1400" dirty="0">
                <a:solidFill>
                  <a:srgbClr val="333333">
                    <a:alpha val="7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sz="1400" dirty="0">
                <a:solidFill>
                  <a:srgbClr val="333333">
                    <a:alpha val="7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WXML模板语法、WXSS样式语言、JS交互逻辑，建立完整技术栈认知。</a:t>
            </a:r>
            <a:endParaRPr lang="en-US" sz="1400" dirty="0">
              <a:solidFill>
                <a:srgbClr val="333333">
                  <a:alpha val="7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1485900" y="5543550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0C2EE">
              <a:alpha val="10196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1485900" y="5543550"/>
            <a:ext cx="6953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0C2EE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WXML</a:t>
            </a:r>
            <a:endParaRPr lang="en-US" sz="1050" dirty="0">
              <a:solidFill>
                <a:srgbClr val="80C2EE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2191643" y="5543550"/>
            <a:ext cx="600075" cy="266700"/>
          </a:xfrm>
          <a:custGeom>
            <a:avLst/>
            <a:gdLst/>
            <a:ahLst/>
            <a:cxnLst/>
            <a:rect l="l" t="t" r="r" b="b"/>
            <a:pathLst>
              <a:path w="600075" h="266700">
                <a:moveTo>
                  <a:pt x="133350" y="0"/>
                </a:moveTo>
                <a:lnTo>
                  <a:pt x="466725" y="0"/>
                </a:lnTo>
                <a:cubicBezTo>
                  <a:pt x="540323" y="0"/>
                  <a:pt x="600075" y="59752"/>
                  <a:pt x="600075" y="133350"/>
                </a:cubicBezTo>
                <a:lnTo>
                  <a:pt x="600075" y="133350"/>
                </a:lnTo>
                <a:cubicBezTo>
                  <a:pt x="600075" y="206948"/>
                  <a:pt x="540323" y="266700"/>
                  <a:pt x="4667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0C2EE">
              <a:alpha val="10196"/>
            </a:srgbClr>
          </a:solidFill>
        </p:spPr>
      </p:sp>
      <p:sp>
        <p:nvSpPr>
          <p:cNvPr id="36" name="Text 33"/>
          <p:cNvSpPr/>
          <p:nvPr/>
        </p:nvSpPr>
        <p:spPr>
          <a:xfrm>
            <a:off x="2191643" y="5543550"/>
            <a:ext cx="6667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0C2EE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WXSS</a:t>
            </a:r>
            <a:endParaRPr lang="en-US" sz="1050" dirty="0">
              <a:solidFill>
                <a:srgbClr val="80C2EE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2867224" y="5543550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498" y="0"/>
                  <a:pt x="857250" y="59752"/>
                  <a:pt x="857250" y="133350"/>
                </a:cubicBezTo>
                <a:lnTo>
                  <a:pt x="857250" y="133350"/>
                </a:lnTo>
                <a:cubicBezTo>
                  <a:pt x="857250" y="206948"/>
                  <a:pt x="797498" y="266700"/>
                  <a:pt x="7239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0C2EE">
              <a:alpha val="10196"/>
            </a:srgbClr>
          </a:solidFill>
        </p:spPr>
      </p:sp>
      <p:sp>
        <p:nvSpPr>
          <p:cNvPr id="38" name="Text 35"/>
          <p:cNvSpPr/>
          <p:nvPr/>
        </p:nvSpPr>
        <p:spPr>
          <a:xfrm>
            <a:off x="2867224" y="5543550"/>
            <a:ext cx="9239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0C2EE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JavaScript</a:t>
            </a:r>
            <a:endParaRPr lang="en-US" sz="1050" dirty="0">
              <a:solidFill>
                <a:srgbClr val="80C2EE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229350" y="4171950"/>
            <a:ext cx="5581650" cy="2305050"/>
          </a:xfrm>
          <a:custGeom>
            <a:avLst/>
            <a:gdLst/>
            <a:ahLst/>
            <a:cxnLst/>
            <a:rect l="l" t="t" r="r" b="b"/>
            <a:pathLst>
              <a:path w="5581650" h="2305050">
                <a:moveTo>
                  <a:pt x="38100" y="0"/>
                </a:moveTo>
                <a:lnTo>
                  <a:pt x="5429240" y="0"/>
                </a:lnTo>
                <a:cubicBezTo>
                  <a:pt x="5513414" y="0"/>
                  <a:pt x="5581650" y="68236"/>
                  <a:pt x="5581650" y="152410"/>
                </a:cubicBezTo>
                <a:lnTo>
                  <a:pt x="5581650" y="2152640"/>
                </a:lnTo>
                <a:cubicBezTo>
                  <a:pt x="5581650" y="2236814"/>
                  <a:pt x="5513414" y="2305050"/>
                  <a:pt x="5429240" y="2305050"/>
                </a:cubicBezTo>
                <a:lnTo>
                  <a:pt x="38100" y="2305050"/>
                </a:lnTo>
                <a:cubicBezTo>
                  <a:pt x="17072" y="2305050"/>
                  <a:pt x="0" y="2287978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29350" y="4171950"/>
            <a:ext cx="38100" cy="2305050"/>
          </a:xfrm>
          <a:custGeom>
            <a:avLst/>
            <a:gdLst/>
            <a:ahLst/>
            <a:cxnLst/>
            <a:rect l="l" t="t" r="r" b="b"/>
            <a:pathLst>
              <a:path w="38100" h="2305050">
                <a:moveTo>
                  <a:pt x="38100" y="0"/>
                </a:moveTo>
                <a:lnTo>
                  <a:pt x="38100" y="0"/>
                </a:lnTo>
                <a:lnTo>
                  <a:pt x="38100" y="2305050"/>
                </a:lnTo>
                <a:lnTo>
                  <a:pt x="38100" y="2305050"/>
                </a:lnTo>
                <a:cubicBezTo>
                  <a:pt x="17072" y="2305050"/>
                  <a:pt x="0" y="2287978"/>
                  <a:pt x="0" y="2266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41" name="Shape 38"/>
          <p:cNvSpPr/>
          <p:nvPr/>
        </p:nvSpPr>
        <p:spPr>
          <a:xfrm>
            <a:off x="6553200" y="4476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42" name="Text 39"/>
          <p:cNvSpPr/>
          <p:nvPr/>
        </p:nvSpPr>
        <p:spPr>
          <a:xfrm>
            <a:off x="6481763" y="447675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04</a:t>
            </a:r>
            <a:endParaRPr lang="en-US" sz="225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7315200" y="4476750"/>
            <a:ext cx="4305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sz="24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实战案例练习</a:t>
            </a:r>
            <a:endParaRPr lang="en-US" sz="2400" b="1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7315200" y="4895850"/>
            <a:ext cx="4267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3333">
                    <a:alpha val="7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动手实现待办事项列表小程序，将理论知识转化为实际开发能力。</a:t>
            </a:r>
            <a:endParaRPr lang="en-US" sz="1400" dirty="0">
              <a:solidFill>
                <a:srgbClr val="333333">
                  <a:alpha val="7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7315200" y="5543550"/>
            <a:ext cx="800100" cy="266700"/>
          </a:xfrm>
          <a:custGeom>
            <a:avLst/>
            <a:gdLst/>
            <a:ahLst/>
            <a:cxnLst/>
            <a:rect l="l" t="t" r="r" b="b"/>
            <a:pathLst>
              <a:path w="800100" h="266700">
                <a:moveTo>
                  <a:pt x="133350" y="0"/>
                </a:moveTo>
                <a:lnTo>
                  <a:pt x="666750" y="0"/>
                </a:lnTo>
                <a:cubicBezTo>
                  <a:pt x="740348" y="0"/>
                  <a:pt x="800100" y="59752"/>
                  <a:pt x="800100" y="133350"/>
                </a:cubicBezTo>
                <a:lnTo>
                  <a:pt x="800100" y="133350"/>
                </a:lnTo>
                <a:cubicBezTo>
                  <a:pt x="800100" y="206948"/>
                  <a:pt x="740348" y="266700"/>
                  <a:pt x="6667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</p:sp>
      <p:sp>
        <p:nvSpPr>
          <p:cNvPr id="46" name="Text 43"/>
          <p:cNvSpPr/>
          <p:nvPr/>
        </p:nvSpPr>
        <p:spPr>
          <a:xfrm>
            <a:off x="7315200" y="5543550"/>
            <a:ext cx="8667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0E2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Todo List</a:t>
            </a:r>
            <a:endParaRPr lang="en-US" sz="1050" dirty="0">
              <a:solidFill>
                <a:srgbClr val="4A90E2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8187333" y="554355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</p:sp>
      <p:sp>
        <p:nvSpPr>
          <p:cNvPr id="48" name="Text 45"/>
          <p:cNvSpPr/>
          <p:nvPr/>
        </p:nvSpPr>
        <p:spPr>
          <a:xfrm>
            <a:off x="8187333" y="5543550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90E2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完整实战</a:t>
            </a:r>
            <a:endParaRPr lang="en-US" sz="1050" dirty="0">
              <a:solidFill>
                <a:srgbClr val="4A90E2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49" name="Shape 30"/>
          <p:cNvSpPr/>
          <p:nvPr/>
        </p:nvSpPr>
        <p:spPr>
          <a:xfrm>
            <a:off x="4095750" y="5543550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0C2EE">
              <a:alpha val="10196"/>
            </a:srgbClr>
          </a:solidFill>
        </p:spPr>
      </p:sp>
      <p:sp>
        <p:nvSpPr>
          <p:cNvPr id="50" name="Text 31"/>
          <p:cNvSpPr/>
          <p:nvPr/>
        </p:nvSpPr>
        <p:spPr>
          <a:xfrm>
            <a:off x="4168140" y="5543550"/>
            <a:ext cx="6953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0C2EE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JSON</a:t>
            </a:r>
            <a:endParaRPr lang="en-US" sz="1050" dirty="0">
              <a:solidFill>
                <a:srgbClr val="80C2EE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7419975" y="3009900"/>
            <a:ext cx="1225550" cy="32004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sz="1050" dirty="0">
                <a:solidFill>
                  <a:srgbClr val="007B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申请小程序账号</a:t>
            </a:r>
            <a:endParaRPr lang="en-US" sz="1050" dirty="0">
              <a:solidFill>
                <a:srgbClr val="007BFF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8949055" y="3063240"/>
            <a:ext cx="202628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sz="1050" dirty="0">
                <a:solidFill>
                  <a:srgbClr val="007B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安装微信小程序开发者工具</a:t>
            </a:r>
            <a:endParaRPr lang="en-US" sz="1050" dirty="0">
              <a:solidFill>
                <a:srgbClr val="007BFF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55" name="Shape 20"/>
          <p:cNvSpPr/>
          <p:nvPr/>
        </p:nvSpPr>
        <p:spPr>
          <a:xfrm>
            <a:off x="8985250" y="3009900"/>
            <a:ext cx="1824355" cy="36576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7BFF">
              <a:alpha val="10196"/>
            </a:srgbClr>
          </a:solidFill>
        </p:spPr>
      </p:sp>
      <p:sp>
        <p:nvSpPr>
          <p:cNvPr id="56" name="Shape 10"/>
          <p:cNvSpPr/>
          <p:nvPr/>
        </p:nvSpPr>
        <p:spPr>
          <a:xfrm>
            <a:off x="1511300" y="2956560"/>
            <a:ext cx="1225550" cy="32004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0E2">
              <a:alpha val="10196"/>
            </a:srgbClr>
          </a:solidFill>
        </p:spPr>
        <p:txBody>
          <a:bodyPr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050" dirty="0">
                <a:solidFill>
                  <a:srgbClr val="007B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微信</a:t>
            </a:r>
            <a:r>
              <a:rPr lang="en-US" sz="1050" dirty="0">
                <a:solidFill>
                  <a:srgbClr val="007B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小程序</a:t>
            </a:r>
            <a:r>
              <a:rPr lang="zh-CN" altLang="en-US" sz="1050" dirty="0">
                <a:solidFill>
                  <a:srgbClr val="007B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概述</a:t>
            </a:r>
            <a:endParaRPr lang="zh-CN" altLang="en-US" sz="1050" dirty="0">
              <a:solidFill>
                <a:srgbClr val="007BFF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575" y="1033780"/>
            <a:ext cx="3197860" cy="883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74715" y="2646045"/>
            <a:ext cx="5841365" cy="602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4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</a:t>
            </a:r>
            <a:r>
              <a:rPr lang="zh-CN" altLang="en-US" sz="4000" b="1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认识微信小程序</a:t>
            </a:r>
            <a:endParaRPr lang="en-US" sz="4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Image 2" descr="https://kimi-img.moonshot.cn/pub/slides/slides_tmpl/image/25-10-09-17:04:54-d3jnldgs8jdo4os5djm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458470" y="471805"/>
            <a:ext cx="469900" cy="49403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277350" y="850900"/>
            <a:ext cx="1064260" cy="830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6000" b="1" dirty="0">
                <a:solidFill>
                  <a:srgbClr val="0D0D0D"/>
                </a:solidFill>
                <a:latin typeface="方正舒体" panose="02010601030101010101" charset="-122"/>
                <a:ea typeface="方正舒体" panose="02010601030101010101" charset="-122"/>
                <a:cs typeface="MiSans" pitchFamily="34" charset="-120"/>
              </a:rPr>
              <a:t>1</a:t>
            </a:r>
            <a:endParaRPr lang="en-US" sz="6000" b="1" dirty="0">
              <a:solidFill>
                <a:srgbClr val="0D0D0D"/>
              </a:solidFill>
              <a:latin typeface="方正舒体" panose="02010601030101010101" charset="-122"/>
              <a:ea typeface="方正舒体" panose="02010601030101010101" charset="-122"/>
              <a:cs typeface="MiSans" pitchFamily="34" charset="-120"/>
            </a:endParaRPr>
          </a:p>
        </p:txBody>
      </p:sp>
      <p:pic>
        <p:nvPicPr>
          <p:cNvPr id="8" name="Image 3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56870"/>
            <a:ext cx="1314450" cy="257175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10-09-17:04:54-d3jnldgs8jdo4os5djn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30200" y="6569075"/>
            <a:ext cx="13208000" cy="2889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0-d3jnlf0s8jdo4os5djr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50595" y="1675765"/>
            <a:ext cx="4923790" cy="44126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7:04:54-d3jnldgs8jdo4os5djl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205" y="513080"/>
            <a:ext cx="6061710" cy="883920"/>
          </a:xfrm>
          <a:prstGeom prst="rect">
            <a:avLst/>
          </a:prstGeom>
        </p:spPr>
      </p:pic>
      <p:sp>
        <p:nvSpPr>
          <p:cNvPr id="4" name="Shape 0"/>
          <p:cNvSpPr/>
          <p:nvPr>
            <p:custDataLst>
              <p:tags r:id="rId5"/>
            </p:custDataLst>
          </p:nvPr>
        </p:nvSpPr>
        <p:spPr>
          <a:xfrm>
            <a:off x="6384925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/>
              </a:gs>
              <a:gs pos="46000">
                <a:srgbClr val="FFFFFF"/>
              </a:gs>
              <a:gs pos="100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</p:spPr>
      </p:sp>
      <p:sp>
        <p:nvSpPr>
          <p:cNvPr id="5" name="Text 1"/>
          <p:cNvSpPr/>
          <p:nvPr>
            <p:custDataLst>
              <p:tags r:id="rId6"/>
            </p:custDataLst>
          </p:nvPr>
        </p:nvSpPr>
        <p:spPr>
          <a:xfrm>
            <a:off x="1337310" y="3305175"/>
            <a:ext cx="4108450" cy="1740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微信小程序，简称小程序，是一种不需要下载安装即可使用的应用，它实现了应用”触手可及”的梦想，用户扫一扫或搜一下即可打开应用。</a:t>
            </a:r>
            <a:endParaRPr lang="en-US" sz="20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2"/>
          <p:cNvSpPr/>
          <p:nvPr>
            <p:custDataLst>
              <p:tags r:id="rId7"/>
            </p:custDataLst>
          </p:nvPr>
        </p:nvSpPr>
        <p:spPr>
          <a:xfrm>
            <a:off x="1363345" y="41008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7" name="Text 3"/>
          <p:cNvSpPr/>
          <p:nvPr>
            <p:custDataLst>
              <p:tags r:id="rId8"/>
            </p:custDataLst>
          </p:nvPr>
        </p:nvSpPr>
        <p:spPr>
          <a:xfrm>
            <a:off x="6774180" y="3677920"/>
            <a:ext cx="4156710" cy="2026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说明：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小程序的使用：打开微信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扫一扫或者是搜索小程序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进入小程序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小程序是需要下载安装的，小程序大小占用小，用户感觉不到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3.2017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年大小限制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，目前单个文件最大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2M 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超过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也是可以的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需要分包加载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0" y="482600"/>
            <a:ext cx="12192000" cy="830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lang="zh-CN" altLang="en-US" sz="32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什么是小程序</a:t>
            </a:r>
            <a:endParaRPr lang="zh-CN" altLang="en-US" sz="3200" b="1" dirty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Image 2" descr="https://kimi-img.moonshot.cn/pub/slides/slides_tmpl/image/25-10-09-17:04:54-d3jnldgs8jdo4os5djk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61985" y="1905000"/>
            <a:ext cx="1181100" cy="1181100"/>
          </a:xfrm>
          <a:prstGeom prst="rect">
            <a:avLst/>
          </a:prstGeom>
        </p:spPr>
      </p:pic>
      <p:pic>
        <p:nvPicPr>
          <p:cNvPr id="11" name="Image 3" descr="https://kimi-img.moonshot.cn/pub/slides/slides_tmpl/image/25-10-09-17:05:00-d3jnlf0s8jdo4os5djr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752090" y="1943100"/>
            <a:ext cx="1153795" cy="11537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k0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10405" y="2032635"/>
            <a:ext cx="3282315" cy="32823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7:05:03-d3jnlfos8jdo4os5dk5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184900" y="3866515"/>
            <a:ext cx="5066030" cy="254190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7:05:03-d3jnlfos8jdo4os5dk5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184900" y="1250950"/>
            <a:ext cx="5066030" cy="254190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7:05:03-d3jnlfos8jdo4os5dk50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34085" y="3866515"/>
            <a:ext cx="5066030" cy="2541905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10-09-17:05:03-d3jnlfos8jdo4os5dk50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34085" y="1249045"/>
            <a:ext cx="5066030" cy="2541905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9"/>
            </p:custDataLst>
          </p:nvPr>
        </p:nvSpPr>
        <p:spPr>
          <a:xfrm>
            <a:off x="1317625" y="1871345"/>
            <a:ext cx="4344670" cy="1311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 fontAlgn="auto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传统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APP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会占用大量手机内存空间，而小程序无需安装，其代码和数据存储在云端，不会占用用户手机本地存储，能有效释放手机空间，让手机运行更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流畅，对于内存较小的手机用户来说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尤为重要。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 1"/>
          <p:cNvSpPr/>
          <p:nvPr>
            <p:custDataLst>
              <p:tags r:id="rId10"/>
            </p:custDataLst>
          </p:nvPr>
        </p:nvSpPr>
        <p:spPr>
          <a:xfrm>
            <a:off x="1317625" y="1323340"/>
            <a:ext cx="4298950" cy="534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节省手机内存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 2"/>
          <p:cNvSpPr/>
          <p:nvPr>
            <p:custDataLst>
              <p:tags r:id="rId11"/>
            </p:custDataLst>
          </p:nvPr>
        </p:nvSpPr>
        <p:spPr>
          <a:xfrm>
            <a:off x="6532880" y="1871345"/>
            <a:ext cx="4369435" cy="1311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小程序无需像传统APP那样下载安装，用户只需在微信搜索或扫描二维码即可直接使用，省去了繁琐的下载流程，降低用户使用门槛，让用户能够更加便捷地获取所需服务，提升用户体验。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" name="Text 3"/>
          <p:cNvSpPr/>
          <p:nvPr>
            <p:custDataLst>
              <p:tags r:id="rId12"/>
            </p:custDataLst>
          </p:nvPr>
        </p:nvSpPr>
        <p:spPr>
          <a:xfrm>
            <a:off x="6516370" y="1323340"/>
            <a:ext cx="4298950" cy="534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无需下载安装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 4"/>
          <p:cNvSpPr/>
          <p:nvPr/>
        </p:nvSpPr>
        <p:spPr>
          <a:xfrm>
            <a:off x="1640205" y="339725"/>
            <a:ext cx="348742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1.2 </a:t>
            </a:r>
            <a:r>
              <a:rPr lang="zh-CN" altLang="en-US" sz="32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小程序</a:t>
            </a:r>
            <a:r>
              <a:rPr lang="zh-CN" altLang="en-US" sz="32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优势</a:t>
            </a:r>
            <a:endParaRPr lang="zh-CN" altLang="en-US" sz="3200" b="1" dirty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" name="Text 5"/>
          <p:cNvSpPr/>
          <p:nvPr>
            <p:custDataLst>
              <p:tags r:id="rId13"/>
            </p:custDataLst>
          </p:nvPr>
        </p:nvSpPr>
        <p:spPr>
          <a:xfrm>
            <a:off x="1334135" y="4509770"/>
            <a:ext cx="4369435" cy="1311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小程序采用轻量级架构，代码简洁，加载速度快，用户打开后能迅速进入使用界面，无需长时间等待。这种快速响应的特性符合现代用户快节奏的生活需求，能够提高用户对服务的满意度和忠诚度。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 6"/>
          <p:cNvSpPr/>
          <p:nvPr>
            <p:custDataLst>
              <p:tags r:id="rId14"/>
            </p:custDataLst>
          </p:nvPr>
        </p:nvSpPr>
        <p:spPr>
          <a:xfrm>
            <a:off x="1317625" y="3961765"/>
            <a:ext cx="4298950" cy="534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快速加载使用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 7"/>
          <p:cNvSpPr/>
          <p:nvPr>
            <p:custDataLst>
              <p:tags r:id="rId15"/>
            </p:custDataLst>
          </p:nvPr>
        </p:nvSpPr>
        <p:spPr>
          <a:xfrm>
            <a:off x="6532880" y="4510405"/>
            <a:ext cx="4369435" cy="1311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小程序具有良好的跨平台兼容性，不仅可以在微信平台上运行，还能在支付宝、百度等多个主流平台上使用。这使得开发者能够一次开发，多平台发布，扩大了用户覆盖范围，提高了小程序的传播效率和使用价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600" dirty="0"/>
          </a:p>
        </p:txBody>
      </p:sp>
      <p:sp>
        <p:nvSpPr>
          <p:cNvPr id="15" name="Text 8"/>
          <p:cNvSpPr/>
          <p:nvPr>
            <p:custDataLst>
              <p:tags r:id="rId16"/>
            </p:custDataLst>
          </p:nvPr>
        </p:nvSpPr>
        <p:spPr>
          <a:xfrm>
            <a:off x="6516370" y="3962400"/>
            <a:ext cx="4298950" cy="534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多平台兼容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" name="Image 5" descr="https://kimi-img.moonshot.cn/pub/slides/slides_tmpl/image/25-10-09-17:05:01-d3jnlf8s8jdo4os5dk00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20055" y="3111500"/>
            <a:ext cx="1179830" cy="1179830"/>
          </a:xfrm>
          <a:prstGeom prst="rect">
            <a:avLst/>
          </a:prstGeom>
        </p:spPr>
      </p:pic>
      <p:pic>
        <p:nvPicPr>
          <p:cNvPr id="17" name="Image 6" descr="https://kimi-img.moonshot.cn/pub/slides/slides_tmpl/image/25-10-09-17:05:01-d3jnlf8s8jdo4os5dk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6380" y="-2811780"/>
            <a:ext cx="4383405" cy="4383405"/>
          </a:xfrm>
          <a:prstGeom prst="rect">
            <a:avLst/>
          </a:prstGeom>
        </p:spPr>
      </p:pic>
      <p:pic>
        <p:nvPicPr>
          <p:cNvPr id="18" name="Image 7" descr="https://kimi-img.moonshot.cn/pub/slides/slides_tmpl/image/25-10-09-17:05:01-d3jnlf8s8jdo4os5dk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00" y="3111500"/>
            <a:ext cx="4383405" cy="43834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>
            <p:custDataLst>
              <p:tags r:id="rId2"/>
            </p:custDataLst>
          </p:nvPr>
        </p:nvSpPr>
        <p:spPr>
          <a:xfrm>
            <a:off x="380365" y="1541780"/>
            <a:ext cx="281368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</p:spPr>
      </p:sp>
      <p:sp>
        <p:nvSpPr>
          <p:cNvPr id="3" name="Text 1"/>
          <p:cNvSpPr/>
          <p:nvPr>
            <p:custDataLst>
              <p:tags r:id="rId3"/>
            </p:custDataLst>
          </p:nvPr>
        </p:nvSpPr>
        <p:spPr>
          <a:xfrm>
            <a:off x="380365" y="2198727"/>
            <a:ext cx="281368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电商类小程序</a:t>
            </a:r>
            <a:endParaRPr lang="zh-CN" altLang="en-US" sz="20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4"/>
            </p:custDataLst>
          </p:nvPr>
        </p:nvSpPr>
        <p:spPr>
          <a:xfrm>
            <a:off x="544195" y="2767965"/>
            <a:ext cx="2486025" cy="316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 fontAlgn="auto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电商类小程序为</a:t>
            </a:r>
            <a:r>
              <a:rPr lang="zh-CN" altLang="en-US" sz="16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商家提供了线上销售平台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，用户可以在小程序中浏览商品、下单购买、支付结算等。它具有购物流程便捷、营销活动丰富等特点，能够帮助商家降低运营成本，提高销售效率，拓展销售渠道，增加用户粘性。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0365" y="418465"/>
            <a:ext cx="6456680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1.3 </a:t>
            </a:r>
            <a:r>
              <a:rPr lang="zh-CN" altLang="en-US" sz="40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小程序</a:t>
            </a:r>
            <a:r>
              <a:rPr lang="zh-CN" altLang="en-US" sz="40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类型</a:t>
            </a:r>
            <a:endParaRPr lang="zh-CN" altLang="en-US" sz="4000" b="1" dirty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Shape 4"/>
          <p:cNvSpPr/>
          <p:nvPr>
            <p:custDataLst>
              <p:tags r:id="rId5"/>
            </p:custDataLst>
          </p:nvPr>
        </p:nvSpPr>
        <p:spPr>
          <a:xfrm>
            <a:off x="3278505" y="1950720"/>
            <a:ext cx="2813685" cy="4514850"/>
          </a:xfrm>
          <a:prstGeom prst="roundRect">
            <a:avLst>
              <a:gd name="adj" fmla="val 7194"/>
            </a:avLst>
          </a:prstGeom>
          <a:solidFill>
            <a:srgbClr val="FFFFFF"/>
          </a:solidFill>
        </p:spPr>
      </p:sp>
      <p:sp>
        <p:nvSpPr>
          <p:cNvPr id="7" name="Text 5"/>
          <p:cNvSpPr/>
          <p:nvPr>
            <p:custDataLst>
              <p:tags r:id="rId6"/>
            </p:custDataLst>
          </p:nvPr>
        </p:nvSpPr>
        <p:spPr>
          <a:xfrm>
            <a:off x="3278505" y="2622907"/>
            <a:ext cx="2813685" cy="3683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  <a:sym typeface="+mn-ea"/>
              </a:rPr>
              <a:t>服务类小程序</a:t>
            </a:r>
            <a:endParaRPr lang="zh-CN" altLang="en-US" sz="1600" b="1" dirty="0">
              <a:solidFill>
                <a:schemeClr val="accent5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  <a:sym typeface="+mn-ea"/>
            </a:endParaRPr>
          </a:p>
        </p:txBody>
      </p:sp>
      <p:sp>
        <p:nvSpPr>
          <p:cNvPr id="8" name="Shape 6"/>
          <p:cNvSpPr/>
          <p:nvPr>
            <p:custDataLst>
              <p:tags r:id="rId7"/>
            </p:custDataLst>
          </p:nvPr>
        </p:nvSpPr>
        <p:spPr>
          <a:xfrm>
            <a:off x="3440430" y="3238500"/>
            <a:ext cx="2486025" cy="31623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 7"/>
          <p:cNvSpPr/>
          <p:nvPr>
            <p:custDataLst>
              <p:tags r:id="rId8"/>
            </p:custDataLst>
          </p:nvPr>
        </p:nvSpPr>
        <p:spPr>
          <a:xfrm>
            <a:off x="3442335" y="3176905"/>
            <a:ext cx="2486025" cy="316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服务类小程序涵盖了</a:t>
            </a:r>
            <a:r>
              <a:rPr lang="zh-CN" altLang="en-US" sz="16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各种生活服务领域，如餐饮预订、酒店住宿、家政服务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等。用户可以通过小程序快速预约服务、查看服务进度、评价服务质量等。这类小程序为用户提供了便捷的生活服务解决方案，提升了生活品质。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Shape 8"/>
          <p:cNvSpPr/>
          <p:nvPr>
            <p:custDataLst>
              <p:tags r:id="rId9"/>
            </p:custDataLst>
          </p:nvPr>
        </p:nvSpPr>
        <p:spPr>
          <a:xfrm>
            <a:off x="6172200" y="1542415"/>
            <a:ext cx="281368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</p:spPr>
      </p:sp>
      <p:sp>
        <p:nvSpPr>
          <p:cNvPr id="11" name="Text 9"/>
          <p:cNvSpPr/>
          <p:nvPr>
            <p:custDataLst>
              <p:tags r:id="rId10"/>
            </p:custDataLst>
          </p:nvPr>
        </p:nvSpPr>
        <p:spPr>
          <a:xfrm>
            <a:off x="6172200" y="2214602"/>
            <a:ext cx="281368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  <a:sym typeface="+mn-ea"/>
              </a:rPr>
              <a:t>资讯类小程序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11"/>
            </p:custDataLst>
          </p:nvPr>
        </p:nvSpPr>
        <p:spPr>
          <a:xfrm>
            <a:off x="6336030" y="2768600"/>
            <a:ext cx="2486025" cy="316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资讯类小程序为用户提供</a:t>
            </a:r>
            <a:r>
              <a:rPr lang="zh-CN" altLang="en-US" sz="16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新闻、文章、视频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等各类资讯内容。它具有内容更新及时、分类清晰、阅读体验好等特点，用户可以根据自己的兴趣选择关注的资讯领域，随时随地获取最新信息，满足用户对资讯的需求。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Shape 11"/>
          <p:cNvSpPr/>
          <p:nvPr>
            <p:custDataLst>
              <p:tags r:id="rId12"/>
            </p:custDataLst>
          </p:nvPr>
        </p:nvSpPr>
        <p:spPr>
          <a:xfrm>
            <a:off x="9068435" y="1950720"/>
            <a:ext cx="2813685" cy="4514850"/>
          </a:xfrm>
          <a:prstGeom prst="roundRect">
            <a:avLst>
              <a:gd name="adj" fmla="val 7194"/>
            </a:avLst>
          </a:prstGeom>
          <a:solidFill>
            <a:srgbClr val="FFFFFF"/>
          </a:solidFill>
        </p:spPr>
      </p:sp>
      <p:sp>
        <p:nvSpPr>
          <p:cNvPr id="14" name="Text 12"/>
          <p:cNvSpPr/>
          <p:nvPr>
            <p:custDataLst>
              <p:tags r:id="rId13"/>
            </p:custDataLst>
          </p:nvPr>
        </p:nvSpPr>
        <p:spPr>
          <a:xfrm>
            <a:off x="9068435" y="2622907"/>
            <a:ext cx="2813685" cy="3683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  <a:sym typeface="+mn-ea"/>
              </a:rPr>
              <a:t>工具类小程序</a:t>
            </a:r>
            <a:endParaRPr lang="zh-CN" altLang="en-US" sz="1600" b="1" dirty="0">
              <a:solidFill>
                <a:schemeClr val="accent5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  <a:sym typeface="+mn-ea"/>
            </a:endParaRPr>
          </a:p>
        </p:txBody>
      </p:sp>
      <p:sp>
        <p:nvSpPr>
          <p:cNvPr id="15" name="Shape 13"/>
          <p:cNvSpPr/>
          <p:nvPr>
            <p:custDataLst>
              <p:tags r:id="rId14"/>
            </p:custDataLst>
          </p:nvPr>
        </p:nvSpPr>
        <p:spPr>
          <a:xfrm>
            <a:off x="9232265" y="3176905"/>
            <a:ext cx="2486025" cy="31623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>
            <p:custDataLst>
              <p:tags r:id="rId15"/>
            </p:custDataLst>
          </p:nvPr>
        </p:nvSpPr>
        <p:spPr>
          <a:xfrm>
            <a:off x="9232265" y="3176905"/>
            <a:ext cx="2486025" cy="316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工具类小程序包括</a:t>
            </a:r>
            <a:r>
              <a:rPr lang="zh-CN" altLang="en-US" sz="16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计算器、日历、翻译工具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等，为用户提供实用的功能服务。它们通常具有操作简单、功能强大、无需安装等特点，能够满足用户在特定场景下的工具需求，提高用户的工作效率和生活便利性。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7" name="Image 0" descr="https://kimi-img.moonshot.cn/pub/slides/slides_tmpl/image/25-10-09-17:05:03-d3jnlfos8jdo4os5dka0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210945" y="1541780"/>
            <a:ext cx="959485" cy="474980"/>
          </a:xfrm>
          <a:prstGeom prst="rect">
            <a:avLst/>
          </a:prstGeom>
        </p:spPr>
      </p:pic>
      <p:pic>
        <p:nvPicPr>
          <p:cNvPr id="18" name="Image 1" descr="https://kimi-img.moonshot.cn/pub/slides/slides_tmpl/image/25-10-09-17:05:03-d3jnlfos8jdo4os5dkb0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203700" y="1950720"/>
            <a:ext cx="959485" cy="474980"/>
          </a:xfrm>
          <a:prstGeom prst="rect">
            <a:avLst/>
          </a:prstGeom>
        </p:spPr>
      </p:pic>
      <p:pic>
        <p:nvPicPr>
          <p:cNvPr id="19" name="Image 2" descr="https://kimi-img.moonshot.cn/pub/slides/slides_tmpl/image/25-10-09-17:05:03-d3jnlfos8jdo4os5dkbg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7099300" y="1542415"/>
            <a:ext cx="959485" cy="474980"/>
          </a:xfrm>
          <a:prstGeom prst="rect">
            <a:avLst/>
          </a:prstGeom>
        </p:spPr>
      </p:pic>
      <p:pic>
        <p:nvPicPr>
          <p:cNvPr id="20" name="Image 3" descr="https://kimi-img.moonshot.cn/pub/slides/slides_tmpl/image/25-10-09-17:05:03-d3jnlfos8jdo4os5dkc0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9994900" y="1950720"/>
            <a:ext cx="959485" cy="4749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3-d3jnld8s8jdo4os5dj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30" y="644525"/>
            <a:ext cx="11545570" cy="57023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7:05:01-d3jnlf8s8jdo4os5djv0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2694306" y="1958974"/>
            <a:ext cx="6032500" cy="5461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7:05:01-d3jnlf8s8jdo4os5djv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2694306" y="3928744"/>
            <a:ext cx="6032500" cy="5461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42415" y="813435"/>
            <a:ext cx="4553585" cy="830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1.4 </a:t>
            </a:r>
            <a:r>
              <a:rPr lang="zh-CN" altLang="en-US" sz="36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小程序发展</a:t>
            </a:r>
            <a:r>
              <a:rPr lang="zh-CN" altLang="en-US" sz="36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现状</a:t>
            </a:r>
            <a:endParaRPr lang="zh-CN" altLang="en-US" sz="3600" b="1" dirty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Text 1"/>
          <p:cNvSpPr/>
          <p:nvPr>
            <p:custDataLst>
              <p:tags r:id="rId6"/>
            </p:custDataLst>
          </p:nvPr>
        </p:nvSpPr>
        <p:spPr>
          <a:xfrm>
            <a:off x="2770505" y="2047875"/>
            <a:ext cx="5926455" cy="1384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just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据官方数据显示，2018年微信小程序覆盖了200个细分行业，小程序活跃用户达2.1亿，年交易增长超过600%，创造商业价值超过5000亿，到2020年微信小程序日活跃量突破4亿，微信小程序全年交易额同比增长100%。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 3"/>
          <p:cNvSpPr/>
          <p:nvPr>
            <p:custDataLst>
              <p:tags r:id="rId7"/>
            </p:custDataLst>
          </p:nvPr>
        </p:nvSpPr>
        <p:spPr>
          <a:xfrm>
            <a:off x="2770505" y="4587875"/>
            <a:ext cx="7731760" cy="1470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用户量大，用户粘度高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同类小程序不断行生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 4"/>
          <p:cNvSpPr/>
          <p:nvPr>
            <p:custDataLst>
              <p:tags r:id="rId8"/>
            </p:custDataLst>
          </p:nvPr>
        </p:nvSpPr>
        <p:spPr>
          <a:xfrm>
            <a:off x="2770505" y="3928745"/>
            <a:ext cx="7732395" cy="582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发展现状总结</a:t>
            </a:r>
            <a:endParaRPr lang="zh-CN" altLang="en-US" sz="20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10" name="Shape 5"/>
          <p:cNvSpPr/>
          <p:nvPr>
            <p:custDataLst>
              <p:tags r:id="rId9"/>
            </p:custDataLst>
          </p:nvPr>
        </p:nvSpPr>
        <p:spPr>
          <a:xfrm>
            <a:off x="1807845" y="2538095"/>
            <a:ext cx="0" cy="147066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pic>
        <p:nvPicPr>
          <p:cNvPr id="11" name="Image 3" descr="https://kimi-img.moonshot.cn/pub/slides/slides_tmpl/image/25-10-09-17:04:54-d3jnldgs8jdo4os5djkg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310005" y="3591560"/>
            <a:ext cx="996315" cy="996315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7:04:54-d3jnldgs8jdo4os5djk0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310005" y="1821180"/>
            <a:ext cx="996315" cy="9963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940" y="306070"/>
            <a:ext cx="6991350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1.5 </a:t>
            </a:r>
            <a:r>
              <a:rPr lang="zh-CN" altLang="en-US" sz="44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小程序发展</a:t>
            </a:r>
            <a:r>
              <a:rPr lang="zh-CN" altLang="en-US" sz="44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前景</a:t>
            </a:r>
            <a:endParaRPr lang="zh-CN" altLang="en-US" sz="4400" b="1" dirty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Shape 1"/>
          <p:cNvSpPr/>
          <p:nvPr>
            <p:custDataLst>
              <p:tags r:id="rId2"/>
            </p:custDataLst>
          </p:nvPr>
        </p:nvSpPr>
        <p:spPr>
          <a:xfrm>
            <a:off x="923049" y="1763356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>
            <p:custDataLst>
              <p:tags r:id="rId3"/>
            </p:custDataLst>
          </p:nvPr>
        </p:nvSpPr>
        <p:spPr>
          <a:xfrm>
            <a:off x="922413" y="4440732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6531602" y="1763356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>
            <p:custDataLst>
              <p:tags r:id="rId5"/>
            </p:custDataLst>
          </p:nvPr>
        </p:nvSpPr>
        <p:spPr>
          <a:xfrm>
            <a:off x="6531602" y="4440732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>
            <p:custDataLst>
              <p:tags r:id="rId6"/>
            </p:custDataLst>
          </p:nvPr>
        </p:nvSpPr>
        <p:spPr>
          <a:xfrm>
            <a:off x="922655" y="2308860"/>
            <a:ext cx="4789805" cy="1311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更多用户和创业者纷纷涌入小程序，电商、美食、外卖、旅游类小程序增加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6531610" y="2315210"/>
            <a:ext cx="4789805" cy="1311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微信小程序官方将继续助力生态交易增长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892810" y="4984750"/>
            <a:ext cx="4789805" cy="1311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继续往轻量化方向发展，朝用户的核心需求靠拢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6507480" y="4998720"/>
            <a:ext cx="4789805" cy="1311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随着人工智能技术在技术层以及平台层的完善，未来视觉识别、自然语言理解、语音识别等人工智能将会作为支持来服务于小程序的运营者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Image 0" descr="https://kimi-img.moonshot.cn/pub/slides/slides_tmpl/image/25-10-09-17:05:03-d3jnlfos8jdo4os5dka0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23290" y="1271905"/>
            <a:ext cx="959485" cy="474980"/>
          </a:xfrm>
          <a:prstGeom prst="rect">
            <a:avLst/>
          </a:prstGeom>
        </p:spPr>
      </p:pic>
      <p:pic>
        <p:nvPicPr>
          <p:cNvPr id="16" name="Image 1" descr="https://kimi-img.moonshot.cn/pub/slides/slides_tmpl/image/25-10-09-17:05:03-d3jnlfos8jdo4os5dkb0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531610" y="1278255"/>
            <a:ext cx="959485" cy="474980"/>
          </a:xfrm>
          <a:prstGeom prst="rect">
            <a:avLst/>
          </a:prstGeom>
        </p:spPr>
      </p:pic>
      <p:pic>
        <p:nvPicPr>
          <p:cNvPr id="17" name="Image 2" descr="https://kimi-img.moonshot.cn/pub/slides/slides_tmpl/image/25-10-09-17:05:03-d3jnlfos8jdo4os5dkbg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923290" y="3947795"/>
            <a:ext cx="959485" cy="474980"/>
          </a:xfrm>
          <a:prstGeom prst="rect">
            <a:avLst/>
          </a:prstGeom>
        </p:spPr>
      </p:pic>
      <p:pic>
        <p:nvPicPr>
          <p:cNvPr id="18" name="Image 3" descr="https://kimi-img.moonshot.cn/pub/slides/slides_tmpl/image/25-10-09-17:05:03-d3jnlfos8jdo4os5dkc0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531610" y="3961765"/>
            <a:ext cx="959485" cy="4749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155" y="1602105"/>
            <a:ext cx="4384040" cy="1295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75" y="3355340"/>
            <a:ext cx="4839970" cy="19754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r>
              <a:rPr lang="en-US" altLang="zh-CN" sz="32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2.1 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注册小程序账号</a:t>
            </a:r>
            <a:endParaRPr lang="zh-CN" altLang="en-US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 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安装开发者工具</a:t>
            </a:r>
            <a:endParaRPr lang="zh-CN" altLang="en-US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2.3 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创建项目</a:t>
            </a:r>
            <a:endParaRPr lang="zh-CN" altLang="en-US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338310" y="1388745"/>
            <a:ext cx="1624965" cy="17221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7298055" y="1257935"/>
            <a:ext cx="4168140" cy="2097405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01A3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02 开发</a:t>
            </a:r>
            <a:r>
              <a:rPr lang="zh-CN" altLang="en-US" sz="4800" dirty="0">
                <a:solidFill>
                  <a:srgbClr val="001A3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前</a:t>
            </a:r>
            <a:r>
              <a:rPr lang="en-US" sz="4800" dirty="0">
                <a:solidFill>
                  <a:srgbClr val="001A3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准备</a:t>
            </a:r>
            <a:endParaRPr lang="zh-CN" alt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sz="4800" b="1" dirty="0">
              <a:solidFill>
                <a:srgbClr val="0D0D0D"/>
              </a:solidFill>
              <a:latin typeface="方正舒体" panose="02010601030101010101" charset="-122"/>
              <a:ea typeface="方正舒体" panose="02010601030101010101" charset="-122"/>
              <a:cs typeface="MiSans" pitchFamily="34" charset="-120"/>
            </a:endParaRPr>
          </a:p>
        </p:txBody>
      </p:sp>
      <p:pic>
        <p:nvPicPr>
          <p:cNvPr id="6" name="Image 1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15" y="256540"/>
            <a:ext cx="1314450" cy="25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5" y="525780"/>
            <a:ext cx="6061710" cy="88392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7:05:01-d3jnlf8s8jdo4os5dju0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14350" y="3383915"/>
            <a:ext cx="6358255" cy="265811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7:05:01-d3jnlf8s8jdo4os5dju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0215" y="1419225"/>
            <a:ext cx="6412865" cy="2011045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6"/>
            </p:custDataLst>
          </p:nvPr>
        </p:nvSpPr>
        <p:spPr>
          <a:xfrm>
            <a:off x="803275" y="1977390"/>
            <a:ext cx="5988050" cy="11811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重点：注册使用邮箱注册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未被微信公众平台注册，未被微信开放平台注册，未被个人微信号绑定的邮箱，如果被绑定了需要解绑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使用其他邮箱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1"/>
          <p:cNvSpPr/>
          <p:nvPr>
            <p:custDataLst>
              <p:tags r:id="rId7"/>
            </p:custDataLst>
          </p:nvPr>
        </p:nvSpPr>
        <p:spPr>
          <a:xfrm>
            <a:off x="772795" y="3970655"/>
            <a:ext cx="2935605" cy="14611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第一步：选择小程序注册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第二步：使用邮箱注册账号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激活邮箱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第四步：设置主体类型为个人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 2"/>
          <p:cNvSpPr/>
          <p:nvPr/>
        </p:nvSpPr>
        <p:spPr>
          <a:xfrm>
            <a:off x="803275" y="697230"/>
            <a:ext cx="608838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2.1 </a:t>
            </a:r>
            <a:r>
              <a:rPr lang="zh-CN" alt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注册微信小程序开发账号</a:t>
            </a:r>
            <a:endParaRPr lang="zh-CN" altLang="en-US" sz="3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 3"/>
          <p:cNvSpPr/>
          <p:nvPr>
            <p:custDataLst>
              <p:tags r:id="rId8"/>
            </p:custDataLst>
          </p:nvPr>
        </p:nvSpPr>
        <p:spPr>
          <a:xfrm>
            <a:off x="803275" y="1578332"/>
            <a:ext cx="609600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微信公众平台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https://mp.weixin.qq.com/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 4"/>
          <p:cNvSpPr/>
          <p:nvPr>
            <p:custDataLst>
              <p:tags r:id="rId9"/>
            </p:custDataLst>
          </p:nvPr>
        </p:nvSpPr>
        <p:spPr>
          <a:xfrm>
            <a:off x="803275" y="3571597"/>
            <a:ext cx="609600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注册流程（参考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word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文档）</a:t>
            </a:r>
            <a:endParaRPr lang="en-US" sz="2000" dirty="0"/>
          </a:p>
        </p:txBody>
      </p:sp>
      <p:pic>
        <p:nvPicPr>
          <p:cNvPr id="10" name="Image 3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0640" y="254000"/>
            <a:ext cx="1314450" cy="257175"/>
          </a:xfrm>
          <a:prstGeom prst="rect">
            <a:avLst/>
          </a:prstGeom>
        </p:spPr>
      </p:pic>
      <p:sp>
        <p:nvSpPr>
          <p:cNvPr id="13" name="Text 1"/>
          <p:cNvSpPr/>
          <p:nvPr>
            <p:custDataLst>
              <p:tags r:id="rId11"/>
            </p:custDataLst>
          </p:nvPr>
        </p:nvSpPr>
        <p:spPr>
          <a:xfrm>
            <a:off x="3797300" y="3970655"/>
            <a:ext cx="2737485" cy="14611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第五步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登记管理员信息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第六步：确认主体信息不可变更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4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2763" y="1578293"/>
            <a:ext cx="5273675" cy="4082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5" y="525780"/>
            <a:ext cx="6061710" cy="883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7:05:01-d3jnlf8s8jdo4os5dju0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0215" y="1419225"/>
            <a:ext cx="11049635" cy="1779270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5"/>
            </p:custDataLst>
          </p:nvPr>
        </p:nvSpPr>
        <p:spPr>
          <a:xfrm>
            <a:off x="803275" y="2499360"/>
            <a:ext cx="5988050" cy="6591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 2"/>
          <p:cNvSpPr/>
          <p:nvPr/>
        </p:nvSpPr>
        <p:spPr>
          <a:xfrm>
            <a:off x="803275" y="697230"/>
            <a:ext cx="608838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2.2 </a:t>
            </a:r>
            <a:r>
              <a:rPr lang="zh-CN" alt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安装开发者工具</a:t>
            </a:r>
            <a:endParaRPr lang="zh-CN" altLang="en-US" sz="3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 3"/>
          <p:cNvSpPr/>
          <p:nvPr>
            <p:custDataLst>
              <p:tags r:id="rId6"/>
            </p:custDataLst>
          </p:nvPr>
        </p:nvSpPr>
        <p:spPr>
          <a:xfrm>
            <a:off x="776605" y="1899285"/>
            <a:ext cx="10735945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开发者工具下载地址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https://developers.weixin.qq.com/miniprogram/dev/devtools/download.html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Image 3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0640" y="254000"/>
            <a:ext cx="1314450" cy="257175"/>
          </a:xfrm>
          <a:prstGeom prst="rect">
            <a:avLst/>
          </a:prstGeom>
        </p:spPr>
      </p:pic>
      <p:pic>
        <p:nvPicPr>
          <p:cNvPr id="11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5780" y="3336925"/>
            <a:ext cx="5470525" cy="3123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5" y="525780"/>
            <a:ext cx="6061710" cy="88392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7:05:01-d3jnlf8s8jdo4os5dju0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3400" y="1438910"/>
            <a:ext cx="6358255" cy="5315585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5"/>
            </p:custDataLst>
          </p:nvPr>
        </p:nvSpPr>
        <p:spPr>
          <a:xfrm>
            <a:off x="803275" y="2499360"/>
            <a:ext cx="5988050" cy="6591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1"/>
          <p:cNvSpPr/>
          <p:nvPr>
            <p:custDataLst>
              <p:tags r:id="rId6"/>
            </p:custDataLst>
          </p:nvPr>
        </p:nvSpPr>
        <p:spPr>
          <a:xfrm>
            <a:off x="772795" y="2088515"/>
            <a:ext cx="5878830" cy="33432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、打开微信开发者工具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--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》使用微信扫描二维码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、创建项目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填写名字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路径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-APPID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不使用云开发【使用腾讯云的云函数，服务器等等，需要花钱】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不使用模版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 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小程序id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小程序后台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--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》开发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--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》开发管理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--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》开发设置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--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》开发者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ID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-AppID(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小程序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ID) 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-AppSecret(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小程序密钥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 2"/>
          <p:cNvSpPr/>
          <p:nvPr/>
        </p:nvSpPr>
        <p:spPr>
          <a:xfrm>
            <a:off x="803275" y="697230"/>
            <a:ext cx="608838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2.3 </a:t>
            </a:r>
            <a:r>
              <a:rPr lang="zh-CN" alt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创建项目</a:t>
            </a:r>
            <a:endParaRPr lang="zh-CN" altLang="en-US" sz="3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 4"/>
          <p:cNvSpPr/>
          <p:nvPr>
            <p:custDataLst>
              <p:tags r:id="rId7"/>
            </p:custDataLst>
          </p:nvPr>
        </p:nvSpPr>
        <p:spPr>
          <a:xfrm>
            <a:off x="803275" y="1818640"/>
            <a:ext cx="6096000" cy="54038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创建项目流程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10" name="Image 3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0640" y="254000"/>
            <a:ext cx="1314450" cy="257175"/>
          </a:xfrm>
          <a:prstGeom prst="rect">
            <a:avLst/>
          </a:prstGeom>
        </p:spPr>
      </p:pic>
      <p:pic>
        <p:nvPicPr>
          <p:cNvPr id="16" name="图片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7045" y="1280478"/>
            <a:ext cx="5269230" cy="5180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45" y="196850"/>
            <a:ext cx="6061710" cy="883920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3"/>
            </p:custDataLst>
          </p:nvPr>
        </p:nvSpPr>
        <p:spPr>
          <a:xfrm>
            <a:off x="803275" y="2499360"/>
            <a:ext cx="5988050" cy="6591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 2"/>
          <p:cNvSpPr/>
          <p:nvPr/>
        </p:nvSpPr>
        <p:spPr>
          <a:xfrm>
            <a:off x="1071245" y="346710"/>
            <a:ext cx="608838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2.3 </a:t>
            </a:r>
            <a:r>
              <a:rPr lang="zh-CN" alt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小程序主界面</a:t>
            </a:r>
            <a:r>
              <a:rPr lang="zh-CN" alt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介绍</a:t>
            </a:r>
            <a:endParaRPr lang="zh-CN" altLang="en-US" sz="3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Image 3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0640" y="254000"/>
            <a:ext cx="1314450" cy="2571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540" y="1208405"/>
            <a:ext cx="8801100" cy="52654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45" y="196850"/>
            <a:ext cx="6061710" cy="883920"/>
          </a:xfrm>
          <a:prstGeom prst="rect">
            <a:avLst/>
          </a:prstGeom>
        </p:spPr>
      </p:pic>
      <p:sp>
        <p:nvSpPr>
          <p:cNvPr id="5" name="Text 0"/>
          <p:cNvSpPr/>
          <p:nvPr>
            <p:custDataLst>
              <p:tags r:id="rId3"/>
            </p:custDataLst>
          </p:nvPr>
        </p:nvSpPr>
        <p:spPr>
          <a:xfrm>
            <a:off x="803275" y="2499360"/>
            <a:ext cx="5988050" cy="6591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 2"/>
          <p:cNvSpPr/>
          <p:nvPr/>
        </p:nvSpPr>
        <p:spPr>
          <a:xfrm>
            <a:off x="1071245" y="346710"/>
            <a:ext cx="608838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2.4 </a:t>
            </a:r>
            <a:r>
              <a:rPr lang="zh-CN" alt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小程序目录</a:t>
            </a:r>
            <a:r>
              <a:rPr lang="zh-CN" altLang="en-US" sz="3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</a:t>
            </a:r>
            <a:endParaRPr lang="zh-CN" altLang="en-US" sz="3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Image 3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0640" y="254000"/>
            <a:ext cx="1314450" cy="257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7650" y="1965325"/>
            <a:ext cx="6616700" cy="453390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10-09-17:05:01-d3jnlf8s8jdo4os5dju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71500" y="1195070"/>
            <a:ext cx="11049635" cy="655955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8"/>
            </p:custDataLst>
          </p:nvPr>
        </p:nvSpPr>
        <p:spPr>
          <a:xfrm>
            <a:off x="840740" y="1169988"/>
            <a:ext cx="10697845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微信官方文档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https://developers.weixin.qq.com/miniprogram/dev/reference/configuration/app.html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155" y="1602105"/>
            <a:ext cx="4904105" cy="1295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75" y="3355340"/>
            <a:ext cx="4839970" cy="19754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r>
              <a:rPr lang="en-US" altLang="zh-CN" sz="32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3.1 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JSON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</a:t>
            </a:r>
            <a:endParaRPr lang="zh-CN" altLang="en-US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3.2 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WXML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模板</a:t>
            </a:r>
            <a:endParaRPr lang="zh-CN" altLang="en-US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3.3 </a:t>
            </a: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WXSS</a:t>
            </a:r>
            <a:r>
              <a:rPr lang="zh-CN" altLang="en-US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样式</a:t>
            </a:r>
            <a:endParaRPr lang="zh-CN" altLang="en-US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sz="3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3.4 JS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交互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逻辑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338310" y="1388745"/>
            <a:ext cx="1624965" cy="17221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7298055" y="1257935"/>
            <a:ext cx="4688205" cy="2097405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01A3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03 </a:t>
            </a:r>
            <a:r>
              <a:rPr lang="zh-CN" altLang="en-US" sz="4800" dirty="0">
                <a:solidFill>
                  <a:srgbClr val="001A3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核心语法讲解</a:t>
            </a:r>
            <a:endParaRPr lang="zh-CN" alt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sz="4800" b="1" dirty="0">
              <a:solidFill>
                <a:srgbClr val="0D0D0D"/>
              </a:solidFill>
              <a:latin typeface="方正舒体" panose="02010601030101010101" charset="-122"/>
              <a:ea typeface="方正舒体" panose="02010601030101010101" charset="-122"/>
              <a:cs typeface="MiSans" pitchFamily="34" charset="-120"/>
            </a:endParaRPr>
          </a:p>
        </p:txBody>
      </p:sp>
      <p:pic>
        <p:nvPicPr>
          <p:cNvPr id="6" name="Image 1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15" y="256540"/>
            <a:ext cx="1314450" cy="25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3-d3jnld8s8jdo4os5dj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85" y="1582420"/>
            <a:ext cx="12054205" cy="491998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7:04:54-d3jnldgs8jdo4os5djn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355" y="541655"/>
            <a:ext cx="12192000" cy="17799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9730" y="537845"/>
            <a:ext cx="11339830" cy="1610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3.1 JSON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配置（</a:t>
            </a:r>
            <a:r>
              <a:rPr 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JSON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不是编程语言而是一种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数据格式）</a:t>
            </a:r>
            <a:endParaRPr lang="zh-CN" altLang="en-US" sz="20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endParaRPr lang="zh-CN" altLang="en-US" sz="2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 1"/>
          <p:cNvSpPr/>
          <p:nvPr>
            <p:custDataLst>
              <p:tags r:id="rId4"/>
            </p:custDataLst>
          </p:nvPr>
        </p:nvSpPr>
        <p:spPr>
          <a:xfrm>
            <a:off x="803910" y="2437130"/>
            <a:ext cx="10490835" cy="21202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、数据格式：数据以「</a:t>
            </a:r>
            <a:r>
              <a:rPr lang="zh-CN" altLang="en-US" sz="16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键值对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」形式存在，键（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）和值（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value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）之间用</a:t>
            </a:r>
            <a:r>
              <a:rPr lang="zh-CN" altLang="en-US" sz="16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冒号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分隔，键必须用</a:t>
            </a:r>
            <a:r>
              <a:rPr lang="zh-CN" altLang="en-US" sz="16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双引号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包裹；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、数据分隔：多个键值对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/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数组元素之间用</a:t>
            </a:r>
            <a:r>
              <a:rPr lang="en-US" altLang="zh-CN" sz="16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,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分隔，最后一个元素后不能加逗号（新手最容易错）；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、容器类型：对象：用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{}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包裹（对应小程序里的配置、单个数据对象）；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数组：用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[]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包裹（对应列表类数据，比如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tabBar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list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）；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、值的类型：只能是以下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6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种，不能有函数、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undefined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、注释等：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字符串（必须双引号包裹，如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"name": "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首页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）；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数字（整数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/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小数，如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"size": 24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）；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布尔值（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true/false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，小写，如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"custom": true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）；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数组（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[]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"list": [1,2,3]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）；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{}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"tabBar": {}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）；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null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（空值，小写，如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"resource_id": null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 3"/>
          <p:cNvSpPr/>
          <p:nvPr>
            <p:custDataLst>
              <p:tags r:id="rId5"/>
            </p:custDataLst>
          </p:nvPr>
        </p:nvSpPr>
        <p:spPr>
          <a:xfrm>
            <a:off x="1601470" y="1654493"/>
            <a:ext cx="950722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核心语法规则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「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键值对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+ 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双引号包裹键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+ 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逗号分隔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+ 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无注释」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Image 4" descr="https://kimi-img.moonshot.cn/pub/slides/slides_tmpl/image/25-10-09-17:04:54-d3jnldgs8jdo4os5djk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17550" y="1450340"/>
            <a:ext cx="807720" cy="807720"/>
          </a:xfrm>
          <a:prstGeom prst="rect">
            <a:avLst/>
          </a:prstGeom>
        </p:spPr>
      </p:pic>
      <p:pic>
        <p:nvPicPr>
          <p:cNvPr id="13" name="Image 6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0640" y="254000"/>
            <a:ext cx="1314450" cy="25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3-d3jnld8s8jdo4os5dj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85" y="1582420"/>
            <a:ext cx="12054205" cy="491998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7:04:54-d3jnldgs8jdo4os5djn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355" y="541655"/>
            <a:ext cx="12192000" cy="17799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9730" y="537845"/>
            <a:ext cx="11339830" cy="1610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3.1 JSON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配置（</a:t>
            </a:r>
            <a:r>
              <a:rPr 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JSON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不是编程语言而是一种</a:t>
            </a: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数据格式）</a:t>
            </a:r>
            <a:endParaRPr lang="zh-CN" altLang="en-US" sz="20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endParaRPr lang="zh-CN" altLang="en-US" sz="2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 1"/>
          <p:cNvSpPr/>
          <p:nvPr>
            <p:custDataLst>
              <p:tags r:id="rId4"/>
            </p:custDataLst>
          </p:nvPr>
        </p:nvSpPr>
        <p:spPr>
          <a:xfrm>
            <a:off x="803910" y="2437130"/>
            <a:ext cx="10490835" cy="21202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参考地址：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https://developers.weixin.qq.com/miniprogram/dev/reference/configuration/app.html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app.json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"entryPagePath": "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pages/index/index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",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"pages": [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"pages/index/index",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"pages/find/find",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"pages/my/my"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 3"/>
          <p:cNvSpPr/>
          <p:nvPr>
            <p:custDataLst>
              <p:tags r:id="rId5"/>
            </p:custDataLst>
          </p:nvPr>
        </p:nvSpPr>
        <p:spPr>
          <a:xfrm>
            <a:off x="1601470" y="1654493"/>
            <a:ext cx="950722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app.json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「小程序全局配置，包括页面路径、表现、网络超时、底部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tab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」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Image 6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640" y="254000"/>
            <a:ext cx="1314450" cy="25717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7:04:54-d3jnldgs8jdo4os5djk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20725" y="1450975"/>
            <a:ext cx="806400" cy="8064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274945" y="2915285"/>
            <a:ext cx="596328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"window": {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"navigationBarTitleText": "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功能演示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", #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标题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"navigationBarBackgroundColor": "#0000FF", #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颜色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"enablePullDownRefresh": false, #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是否带下拉刷新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"backgroundColor": "#00FFFF", #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下拉刷新颜色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"backgroundTextStyle": "dark" # light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，下拉刷新的点点什么颜色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3-d3jnld8s8jdo4os5dj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85" y="2201545"/>
            <a:ext cx="12054205" cy="430085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7:04:54-d3jnldgs8jdo4os5djn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892175"/>
            <a:ext cx="12192000" cy="22955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59980" y="1010920"/>
            <a:ext cx="4147820" cy="1610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3.2 WXML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模板</a:t>
            </a:r>
            <a:endParaRPr lang="en-US" sz="1600" dirty="0"/>
          </a:p>
        </p:txBody>
      </p:sp>
      <p:sp>
        <p:nvSpPr>
          <p:cNvPr id="5" name="Text 1"/>
          <p:cNvSpPr/>
          <p:nvPr>
            <p:custDataLst>
              <p:tags r:id="rId4"/>
            </p:custDataLst>
          </p:nvPr>
        </p:nvSpPr>
        <p:spPr>
          <a:xfrm>
            <a:off x="1712595" y="4150995"/>
            <a:ext cx="5217160" cy="1470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altLang="zh-CN" sz="1600" dirty="0"/>
              <a:t>  &lt;view class="container"&gt;</a:t>
            </a:r>
            <a:endParaRPr lang="en-US" altLang="zh-CN" sz="1600" dirty="0"/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    {{word1}}</a:t>
            </a:r>
            <a:endParaRPr lang="en-US" altLang="zh-CN" sz="1600" dirty="0"/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  &lt;/view&gt;</a:t>
            </a:r>
            <a:endParaRPr lang="en-US" altLang="zh-CN" sz="1600" dirty="0"/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  &lt;view wx:if="{{true}}"&gt;{{word2}}&lt;/view&gt;</a:t>
            </a:r>
            <a:endParaRPr lang="en-US" altLang="zh-CN" sz="1600" dirty="0"/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  &lt;checkbox&gt;</a:t>
            </a:r>
            <a:r>
              <a:rPr lang="zh-CN" altLang="en-US" sz="1600" dirty="0"/>
              <a:t>同意</a:t>
            </a:r>
            <a:r>
              <a:rPr lang="en-US" altLang="zh-CN" sz="1600" dirty="0"/>
              <a:t>&lt;/checkbox&gt;</a:t>
            </a:r>
            <a:endParaRPr lang="en-US" altLang="zh-CN" sz="1600" dirty="0"/>
          </a:p>
          <a:p>
            <a:pPr algn="just">
              <a:lnSpc>
                <a:spcPct val="150000"/>
              </a:lnSpc>
            </a:pPr>
            <a:r>
              <a:rPr lang="en-US" altLang="zh-CN" sz="1600" dirty="0"/>
              <a:t>&lt;/scroll-view&gt;</a:t>
            </a:r>
            <a:endParaRPr lang="en-US" altLang="zh-CN" sz="1600" dirty="0"/>
          </a:p>
        </p:txBody>
      </p:sp>
      <p:sp>
        <p:nvSpPr>
          <p:cNvPr id="6" name="Text 2"/>
          <p:cNvSpPr/>
          <p:nvPr>
            <p:custDataLst>
              <p:tags r:id="rId5"/>
            </p:custDataLst>
          </p:nvPr>
        </p:nvSpPr>
        <p:spPr>
          <a:xfrm>
            <a:off x="7819390" y="4363085"/>
            <a:ext cx="3836035" cy="1470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数据绑定（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{{}}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插值语法）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条件渲染（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wx:if /wx:elif /wx:else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列表渲染（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wx:for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事件绑定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 3"/>
          <p:cNvSpPr/>
          <p:nvPr>
            <p:custDataLst>
              <p:tags r:id="rId6"/>
            </p:custDataLst>
          </p:nvPr>
        </p:nvSpPr>
        <p:spPr>
          <a:xfrm>
            <a:off x="1712595" y="3751937"/>
            <a:ext cx="609600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标签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属性构成</a:t>
            </a:r>
            <a:endParaRPr lang="zh-CN" altLang="en-US" sz="20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 4"/>
          <p:cNvSpPr/>
          <p:nvPr>
            <p:custDataLst>
              <p:tags r:id="rId7"/>
            </p:custDataLst>
          </p:nvPr>
        </p:nvSpPr>
        <p:spPr>
          <a:xfrm>
            <a:off x="7623810" y="3597950"/>
            <a:ext cx="609600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WXML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JS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中的数据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/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逻辑绑定，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实现动态渲染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Image 2" descr="https://kimi-img.moonshot.cn/pub/slides/slides_tmpl/image/25-10-09-17:05:00-d3jnlf0s8jdo4os5djs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04800" y="247650"/>
            <a:ext cx="6280785" cy="342265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10-09-17:04:59-d3jnleos8jdo4os5djp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9705" y="1226820"/>
            <a:ext cx="4796790" cy="2614295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10-09-17:04:54-d3jnldgs8jdo4os5djk0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4875" y="3524250"/>
            <a:ext cx="807720" cy="807720"/>
          </a:xfrm>
          <a:prstGeom prst="rect">
            <a:avLst/>
          </a:prstGeom>
        </p:spPr>
      </p:pic>
      <p:pic>
        <p:nvPicPr>
          <p:cNvPr id="12" name="Image 5" descr="https://kimi-img.moonshot.cn/pub/slides/slides_tmpl/image/25-10-09-17:04:54-d3jnldgs8jdo4os5djkg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816090" y="3524250"/>
            <a:ext cx="807720" cy="807720"/>
          </a:xfrm>
          <a:prstGeom prst="rect">
            <a:avLst/>
          </a:prstGeom>
        </p:spPr>
      </p:pic>
      <p:pic>
        <p:nvPicPr>
          <p:cNvPr id="13" name="Image 6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00640" y="254000"/>
            <a:ext cx="1314450" cy="25717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691755" y="239014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描述页面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结构</a:t>
            </a: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4:54-d3jnldgs8jdo4os5dj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225" y="1602105"/>
            <a:ext cx="2609850" cy="1295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7100" y="2999740"/>
            <a:ext cx="5514975" cy="19754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5400" dirty="0">
                <a:solidFill>
                  <a:srgbClr val="001A3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实战案例练习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338310" y="1388745"/>
            <a:ext cx="1624965" cy="17221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9338310" y="1277620"/>
            <a:ext cx="1624965" cy="17221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9600" dirty="0">
                <a:solidFill>
                  <a:srgbClr val="FFFFFF"/>
                </a:solidFill>
                <a:latin typeface="方正舒体" panose="02010601030101010101" charset="-122"/>
                <a:ea typeface="方正舒体" panose="02010601030101010101" charset="-122"/>
                <a:cs typeface="MiSans" pitchFamily="34" charset="-120"/>
              </a:rPr>
              <a:t>04</a:t>
            </a:r>
            <a:endParaRPr lang="en-US" sz="1600" dirty="0">
              <a:latin typeface="方正舒体" panose="02010601030101010101" charset="-122"/>
              <a:ea typeface="方正舒体" panose="02010601030101010101" charset="-122"/>
            </a:endParaRPr>
          </a:p>
        </p:txBody>
      </p:sp>
      <p:pic>
        <p:nvPicPr>
          <p:cNvPr id="6" name="Image 1" descr="https://kimi-img.moonshot.cn/pub/slides/slides_tmpl/image/25-10-09-17:04:54-d3jnldgs8jdo4os5dj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15" y="256540"/>
            <a:ext cx="1314450" cy="25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775" y="-27305"/>
            <a:ext cx="2921000" cy="6070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55" y="113030"/>
            <a:ext cx="4563110" cy="42138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600" y="365760"/>
            <a:ext cx="3568700" cy="3448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190" y="3998595"/>
            <a:ext cx="2643505" cy="24612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05:01-d3jnlf8s8jdo4os5dju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pic>
        <p:nvPicPr>
          <p:cNvPr id="3" name="Image 1" descr="https://kimi-web-img.moonshot.cn/img/pic.616pic.com/b0badf1caa6f1e712bf0802c9e6e1178b6e8fcb9.jpg"/>
          <p:cNvPicPr>
            <a:picLocks noChangeAspect="1"/>
          </p:cNvPicPr>
          <p:nvPr/>
        </p:nvPicPr>
        <p:blipFill>
          <a:blip r:embed="rId2">
            <a:alphaModFix amt="20000"/>
          </a:blip>
          <a:srcRect l="26874" r="2687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90E2">
                  <a:alpha val="1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7BFF">
                  <a:alpha val="10000"/>
                </a:srgbClr>
              </a:gs>
            </a:gsLst>
            <a:lin ang="2700000" scaled="1"/>
          </a:gradFill>
        </p:spPr>
      </p:sp>
      <p:sp>
        <p:nvSpPr>
          <p:cNvPr id="5" name="Shape 1"/>
          <p:cNvSpPr/>
          <p:nvPr/>
        </p:nvSpPr>
        <p:spPr>
          <a:xfrm>
            <a:off x="381000" y="290513"/>
            <a:ext cx="2867025" cy="495300"/>
          </a:xfrm>
          <a:custGeom>
            <a:avLst/>
            <a:gdLst/>
            <a:ahLst/>
            <a:cxnLst/>
            <a:rect l="l" t="t" r="r" b="b"/>
            <a:pathLst>
              <a:path w="2867025" h="495300">
                <a:moveTo>
                  <a:pt x="247650" y="0"/>
                </a:moveTo>
                <a:lnTo>
                  <a:pt x="2619375" y="0"/>
                </a:lnTo>
                <a:cubicBezTo>
                  <a:pt x="2756057" y="0"/>
                  <a:pt x="2867025" y="110968"/>
                  <a:pt x="2867025" y="247650"/>
                </a:cubicBezTo>
                <a:lnTo>
                  <a:pt x="2867025" y="247650"/>
                </a:lnTo>
                <a:cubicBezTo>
                  <a:pt x="2867025" y="384332"/>
                  <a:pt x="2756057" y="495300"/>
                  <a:pt x="2619375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Shape 2"/>
          <p:cNvSpPr/>
          <p:nvPr/>
        </p:nvSpPr>
        <p:spPr>
          <a:xfrm>
            <a:off x="633413" y="43021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3"/>
          <p:cNvSpPr/>
          <p:nvPr/>
        </p:nvSpPr>
        <p:spPr>
          <a:xfrm>
            <a:off x="676275" y="290513"/>
            <a:ext cx="2667000" cy="495300"/>
          </a:xfrm>
          <a:prstGeom prst="rect">
            <a:avLst/>
          </a:prstGeom>
          <a:noFill/>
        </p:spPr>
        <p:txBody>
          <a:bodyPr wrap="square" lIns="228600" tIns="114300" rIns="228600" bIns="11430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开启你的小程序开发之旅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81000" y="1319213"/>
            <a:ext cx="54864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33333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恭喜你完成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A90E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第一课学习！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81000" y="2690813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" name="Text 6"/>
          <p:cNvSpPr/>
          <p:nvPr/>
        </p:nvSpPr>
        <p:spPr>
          <a:xfrm>
            <a:off x="381000" y="3052763"/>
            <a:ext cx="53530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33333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你已经掌握了小程序开发的基础知识，接下来是实践和探索的时刻。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81000" y="3976687"/>
            <a:ext cx="5257800" cy="762000"/>
          </a:xfrm>
          <a:custGeom>
            <a:avLst/>
            <a:gdLst/>
            <a:ahLst/>
            <a:cxnLst/>
            <a:rect l="l" t="t" r="r" b="b"/>
            <a:pathLst>
              <a:path w="5257800" h="762000">
                <a:moveTo>
                  <a:pt x="114300" y="0"/>
                </a:moveTo>
                <a:lnTo>
                  <a:pt x="5143500" y="0"/>
                </a:lnTo>
                <a:cubicBezTo>
                  <a:pt x="5206584" y="0"/>
                  <a:pt x="5257800" y="51216"/>
                  <a:pt x="5257800" y="114300"/>
                </a:cubicBezTo>
                <a:lnTo>
                  <a:pt x="5257800" y="647700"/>
                </a:lnTo>
                <a:cubicBezTo>
                  <a:pt x="5257800" y="710784"/>
                  <a:pt x="5206584" y="762000"/>
                  <a:pt x="51435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33400" y="41290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3" name="Shape 9"/>
          <p:cNvSpPr/>
          <p:nvPr/>
        </p:nvSpPr>
        <p:spPr>
          <a:xfrm>
            <a:off x="654844" y="42624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19794"/>
                </a:moveTo>
                <a:lnTo>
                  <a:pt x="56666" y="68014"/>
                </a:lnTo>
                <a:cubicBezTo>
                  <a:pt x="54955" y="69912"/>
                  <a:pt x="55029" y="72851"/>
                  <a:pt x="56852" y="74675"/>
                </a:cubicBezTo>
                <a:cubicBezTo>
                  <a:pt x="68200" y="86023"/>
                  <a:pt x="86618" y="86023"/>
                  <a:pt x="97966" y="74675"/>
                </a:cubicBezTo>
                <a:lnTo>
                  <a:pt x="109798" y="62843"/>
                </a:lnTo>
                <a:cubicBezTo>
                  <a:pt x="111361" y="61280"/>
                  <a:pt x="113333" y="60424"/>
                  <a:pt x="115342" y="60275"/>
                </a:cubicBezTo>
                <a:cubicBezTo>
                  <a:pt x="117872" y="60052"/>
                  <a:pt x="120476" y="60908"/>
                  <a:pt x="122411" y="62843"/>
                </a:cubicBezTo>
                <a:lnTo>
                  <a:pt x="188119" y="127992"/>
                </a:lnTo>
                <a:lnTo>
                  <a:pt x="214313" y="107156"/>
                </a:lnTo>
                <a:lnTo>
                  <a:pt x="214313" y="0"/>
                </a:lnTo>
                <a:lnTo>
                  <a:pt x="172641" y="23812"/>
                </a:lnTo>
                <a:lnTo>
                  <a:pt x="163785" y="17897"/>
                </a:lnTo>
                <a:cubicBezTo>
                  <a:pt x="157907" y="13990"/>
                  <a:pt x="151023" y="11906"/>
                  <a:pt x="143954" y="11906"/>
                </a:cubicBezTo>
                <a:lnTo>
                  <a:pt x="117760" y="11906"/>
                </a:lnTo>
                <a:cubicBezTo>
                  <a:pt x="117351" y="11906"/>
                  <a:pt x="116904" y="11906"/>
                  <a:pt x="116495" y="11943"/>
                </a:cubicBezTo>
                <a:cubicBezTo>
                  <a:pt x="110207" y="12278"/>
                  <a:pt x="104291" y="15106"/>
                  <a:pt x="100050" y="19794"/>
                </a:cubicBezTo>
                <a:close/>
                <a:moveTo>
                  <a:pt x="43383" y="56071"/>
                </a:moveTo>
                <a:lnTo>
                  <a:pt x="83121" y="11906"/>
                </a:lnTo>
                <a:lnTo>
                  <a:pt x="68387" y="11906"/>
                </a:lnTo>
                <a:cubicBezTo>
                  <a:pt x="58899" y="11906"/>
                  <a:pt x="49820" y="15664"/>
                  <a:pt x="43123" y="22361"/>
                </a:cubicBezTo>
                <a:lnTo>
                  <a:pt x="0" y="71438"/>
                </a:lnTo>
                <a:lnTo>
                  <a:pt x="0" y="202406"/>
                </a:lnTo>
                <a:lnTo>
                  <a:pt x="53578" y="151805"/>
                </a:lnTo>
                <a:lnTo>
                  <a:pt x="58192" y="155637"/>
                </a:lnTo>
                <a:cubicBezTo>
                  <a:pt x="66749" y="162781"/>
                  <a:pt x="77539" y="166688"/>
                  <a:pt x="88664" y="166688"/>
                </a:cubicBezTo>
                <a:lnTo>
                  <a:pt x="94506" y="166688"/>
                </a:lnTo>
                <a:lnTo>
                  <a:pt x="91901" y="164083"/>
                </a:lnTo>
                <a:cubicBezTo>
                  <a:pt x="88404" y="160586"/>
                  <a:pt x="88404" y="154930"/>
                  <a:pt x="91901" y="151470"/>
                </a:cubicBezTo>
                <a:cubicBezTo>
                  <a:pt x="95399" y="148010"/>
                  <a:pt x="101054" y="147972"/>
                  <a:pt x="104515" y="151470"/>
                </a:cubicBezTo>
                <a:lnTo>
                  <a:pt x="119769" y="166725"/>
                </a:lnTo>
                <a:lnTo>
                  <a:pt x="123118" y="166725"/>
                </a:lnTo>
                <a:cubicBezTo>
                  <a:pt x="130225" y="166725"/>
                  <a:pt x="137182" y="165125"/>
                  <a:pt x="143508" y="162148"/>
                </a:cubicBezTo>
                <a:lnTo>
                  <a:pt x="133573" y="152177"/>
                </a:lnTo>
                <a:cubicBezTo>
                  <a:pt x="130076" y="148679"/>
                  <a:pt x="130076" y="143024"/>
                  <a:pt x="133573" y="139564"/>
                </a:cubicBezTo>
                <a:cubicBezTo>
                  <a:pt x="137071" y="136103"/>
                  <a:pt x="142726" y="136066"/>
                  <a:pt x="146186" y="139564"/>
                </a:cubicBezTo>
                <a:lnTo>
                  <a:pt x="158093" y="151470"/>
                </a:lnTo>
                <a:lnTo>
                  <a:pt x="164604" y="144959"/>
                </a:lnTo>
                <a:cubicBezTo>
                  <a:pt x="167915" y="141647"/>
                  <a:pt x="168883" y="136847"/>
                  <a:pt x="167432" y="132643"/>
                </a:cubicBezTo>
                <a:lnTo>
                  <a:pt x="116123" y="81744"/>
                </a:lnTo>
                <a:lnTo>
                  <a:pt x="110579" y="87288"/>
                </a:lnTo>
                <a:cubicBezTo>
                  <a:pt x="92236" y="105631"/>
                  <a:pt x="62545" y="105631"/>
                  <a:pt x="44202" y="87288"/>
                </a:cubicBezTo>
                <a:cubicBezTo>
                  <a:pt x="35644" y="78730"/>
                  <a:pt x="35309" y="65001"/>
                  <a:pt x="43383" y="5603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0"/>
          <p:cNvSpPr/>
          <p:nvPr/>
        </p:nvSpPr>
        <p:spPr>
          <a:xfrm>
            <a:off x="1143000" y="4148137"/>
            <a:ext cx="2076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多动手实践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43000" y="4376738"/>
            <a:ext cx="2066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完成课后练习，尝试修改案例代码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81000" y="4891088"/>
            <a:ext cx="5257800" cy="762000"/>
          </a:xfrm>
          <a:custGeom>
            <a:avLst/>
            <a:gdLst/>
            <a:ahLst/>
            <a:cxnLst/>
            <a:rect l="l" t="t" r="r" b="b"/>
            <a:pathLst>
              <a:path w="5257800" h="762000">
                <a:moveTo>
                  <a:pt x="114300" y="0"/>
                </a:moveTo>
                <a:lnTo>
                  <a:pt x="5143500" y="0"/>
                </a:lnTo>
                <a:cubicBezTo>
                  <a:pt x="5206584" y="0"/>
                  <a:pt x="5257800" y="51216"/>
                  <a:pt x="5257800" y="114300"/>
                </a:cubicBezTo>
                <a:lnTo>
                  <a:pt x="5257800" y="647700"/>
                </a:lnTo>
                <a:cubicBezTo>
                  <a:pt x="5257800" y="710784"/>
                  <a:pt x="5206584" y="762000"/>
                  <a:pt x="51435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3400" y="50434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BFF"/>
          </a:solidFill>
        </p:spPr>
      </p:sp>
      <p:sp>
        <p:nvSpPr>
          <p:cNvPr id="18" name="Shape 14"/>
          <p:cNvSpPr/>
          <p:nvPr/>
        </p:nvSpPr>
        <p:spPr>
          <a:xfrm>
            <a:off x="678656" y="517683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15"/>
          <p:cNvSpPr/>
          <p:nvPr/>
        </p:nvSpPr>
        <p:spPr>
          <a:xfrm>
            <a:off x="1143000" y="5062538"/>
            <a:ext cx="2895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查阅官方文档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143000" y="5291455"/>
            <a:ext cx="368173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developers.weixin.qq.com 是最权威的学习资源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81000" y="5805488"/>
            <a:ext cx="5257800" cy="762000"/>
          </a:xfrm>
          <a:custGeom>
            <a:avLst/>
            <a:gdLst/>
            <a:ahLst/>
            <a:cxnLst/>
            <a:rect l="l" t="t" r="r" b="b"/>
            <a:pathLst>
              <a:path w="5257800" h="762000">
                <a:moveTo>
                  <a:pt x="114300" y="0"/>
                </a:moveTo>
                <a:lnTo>
                  <a:pt x="5143500" y="0"/>
                </a:lnTo>
                <a:cubicBezTo>
                  <a:pt x="5206584" y="0"/>
                  <a:pt x="5257800" y="51216"/>
                  <a:pt x="5257800" y="114300"/>
                </a:cubicBezTo>
                <a:lnTo>
                  <a:pt x="5257800" y="647700"/>
                </a:lnTo>
                <a:cubicBezTo>
                  <a:pt x="5257800" y="710784"/>
                  <a:pt x="5206584" y="762000"/>
                  <a:pt x="51435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33400" y="59578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0C2EE"/>
          </a:solidFill>
        </p:spPr>
      </p:sp>
      <p:sp>
        <p:nvSpPr>
          <p:cNvPr id="23" name="Shape 19"/>
          <p:cNvSpPr/>
          <p:nvPr/>
        </p:nvSpPr>
        <p:spPr>
          <a:xfrm>
            <a:off x="642938" y="609123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0"/>
          <p:cNvSpPr/>
          <p:nvPr/>
        </p:nvSpPr>
        <p:spPr>
          <a:xfrm>
            <a:off x="1143000" y="5976938"/>
            <a:ext cx="2343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加入开发者社区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143000" y="6205538"/>
            <a:ext cx="2333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3333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关注微信开发者社区，与同行交流经验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7772400" y="933450"/>
            <a:ext cx="2362200" cy="2895600"/>
          </a:xfrm>
          <a:custGeom>
            <a:avLst/>
            <a:gdLst/>
            <a:ahLst/>
            <a:cxnLst/>
            <a:rect l="l" t="t" r="r" b="b"/>
            <a:pathLst>
              <a:path w="2362200" h="2895600">
                <a:moveTo>
                  <a:pt x="1181100" y="0"/>
                </a:moveTo>
                <a:lnTo>
                  <a:pt x="1181100" y="0"/>
                </a:lnTo>
                <a:cubicBezTo>
                  <a:pt x="1832967" y="0"/>
                  <a:pt x="2362200" y="529233"/>
                  <a:pt x="2362200" y="1181100"/>
                </a:cubicBezTo>
                <a:lnTo>
                  <a:pt x="2362200" y="1714500"/>
                </a:lnTo>
                <a:cubicBezTo>
                  <a:pt x="2362200" y="2366367"/>
                  <a:pt x="1832967" y="2895600"/>
                  <a:pt x="1181100" y="2895600"/>
                </a:cubicBezTo>
                <a:lnTo>
                  <a:pt x="1181100" y="2895600"/>
                </a:lnTo>
                <a:cubicBezTo>
                  <a:pt x="529233" y="2895600"/>
                  <a:pt x="0" y="2366367"/>
                  <a:pt x="0" y="1714500"/>
                </a:cubicBezTo>
                <a:lnTo>
                  <a:pt x="0" y="1181100"/>
                </a:lnTo>
                <a:cubicBezTo>
                  <a:pt x="0" y="529233"/>
                  <a:pt x="529233" y="0"/>
                  <a:pt x="11811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27" name="Shape 23"/>
          <p:cNvSpPr/>
          <p:nvPr/>
        </p:nvSpPr>
        <p:spPr>
          <a:xfrm>
            <a:off x="8077200" y="1238250"/>
            <a:ext cx="1752600" cy="2286000"/>
          </a:xfrm>
          <a:custGeom>
            <a:avLst/>
            <a:gdLst/>
            <a:ahLst/>
            <a:cxnLst/>
            <a:rect l="l" t="t" r="r" b="b"/>
            <a:pathLst>
              <a:path w="1752600" h="2286000">
                <a:moveTo>
                  <a:pt x="228592" y="0"/>
                </a:moveTo>
                <a:lnTo>
                  <a:pt x="1524008" y="0"/>
                </a:lnTo>
                <a:cubicBezTo>
                  <a:pt x="1650256" y="0"/>
                  <a:pt x="1752600" y="102344"/>
                  <a:pt x="1752600" y="228592"/>
                </a:cubicBezTo>
                <a:lnTo>
                  <a:pt x="1752600" y="2057408"/>
                </a:lnTo>
                <a:cubicBezTo>
                  <a:pt x="1752600" y="2183656"/>
                  <a:pt x="1650256" y="2286000"/>
                  <a:pt x="1524008" y="2286000"/>
                </a:cubicBezTo>
                <a:lnTo>
                  <a:pt x="228592" y="2286000"/>
                </a:lnTo>
                <a:cubicBezTo>
                  <a:pt x="102344" y="2286000"/>
                  <a:pt x="0" y="2183656"/>
                  <a:pt x="0" y="2057408"/>
                </a:cubicBezTo>
                <a:lnTo>
                  <a:pt x="0" y="228592"/>
                </a:lnTo>
                <a:cubicBezTo>
                  <a:pt x="0" y="102344"/>
                  <a:pt x="102344" y="0"/>
                  <a:pt x="22859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610600" y="1543050"/>
            <a:ext cx="685800" cy="914400"/>
          </a:xfrm>
          <a:custGeom>
            <a:avLst/>
            <a:gdLst/>
            <a:ahLst/>
            <a:cxnLst/>
            <a:rect l="l" t="t" r="r" b="b"/>
            <a:pathLst>
              <a:path w="685800" h="914400">
                <a:moveTo>
                  <a:pt x="28575" y="114300"/>
                </a:moveTo>
                <a:cubicBezTo>
                  <a:pt x="28575" y="51256"/>
                  <a:pt x="79831" y="0"/>
                  <a:pt x="142875" y="0"/>
                </a:cubicBezTo>
                <a:lnTo>
                  <a:pt x="542925" y="0"/>
                </a:lnTo>
                <a:cubicBezTo>
                  <a:pt x="605969" y="0"/>
                  <a:pt x="657225" y="51256"/>
                  <a:pt x="657225" y="114300"/>
                </a:cubicBezTo>
                <a:lnTo>
                  <a:pt x="657225" y="800100"/>
                </a:lnTo>
                <a:cubicBezTo>
                  <a:pt x="657225" y="863144"/>
                  <a:pt x="605969" y="914400"/>
                  <a:pt x="542925" y="914400"/>
                </a:cubicBezTo>
                <a:lnTo>
                  <a:pt x="142875" y="914400"/>
                </a:lnTo>
                <a:cubicBezTo>
                  <a:pt x="79831" y="914400"/>
                  <a:pt x="28575" y="863144"/>
                  <a:pt x="28575" y="800100"/>
                </a:cubicBezTo>
                <a:lnTo>
                  <a:pt x="28575" y="114300"/>
                </a:lnTo>
                <a:close/>
                <a:moveTo>
                  <a:pt x="142875" y="114300"/>
                </a:moveTo>
                <a:lnTo>
                  <a:pt x="142875" y="657225"/>
                </a:lnTo>
                <a:lnTo>
                  <a:pt x="542925" y="657225"/>
                </a:lnTo>
                <a:lnTo>
                  <a:pt x="542925" y="114300"/>
                </a:lnTo>
                <a:lnTo>
                  <a:pt x="142875" y="114300"/>
                </a:lnTo>
                <a:close/>
                <a:moveTo>
                  <a:pt x="342900" y="842963"/>
                </a:moveTo>
                <a:cubicBezTo>
                  <a:pt x="374511" y="842963"/>
                  <a:pt x="400050" y="817424"/>
                  <a:pt x="400050" y="785813"/>
                </a:cubicBezTo>
                <a:cubicBezTo>
                  <a:pt x="400050" y="754201"/>
                  <a:pt x="374511" y="728663"/>
                  <a:pt x="342900" y="728663"/>
                </a:cubicBezTo>
                <a:cubicBezTo>
                  <a:pt x="311289" y="728663"/>
                  <a:pt x="285750" y="754201"/>
                  <a:pt x="285750" y="785813"/>
                </a:cubicBezTo>
                <a:cubicBezTo>
                  <a:pt x="285750" y="817424"/>
                  <a:pt x="311289" y="842963"/>
                  <a:pt x="342900" y="842963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29" name="Text 25"/>
          <p:cNvSpPr/>
          <p:nvPr/>
        </p:nvSpPr>
        <p:spPr>
          <a:xfrm>
            <a:off x="8324850" y="2609850"/>
            <a:ext cx="1257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你的第一个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小程序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7317482" y="4476750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7317482" y="4819650"/>
            <a:ext cx="295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57.95,&quot;left&quot;:71.3,&quot;top&quot;:131.95,&quot;width&quot;:822.55}"/>
</p:tagLst>
</file>

<file path=ppt/tags/tag2.xml><?xml version="1.0" encoding="utf-8"?>
<p:tagLst xmlns:p="http://schemas.openxmlformats.org/presentationml/2006/main">
  <p:tag name="KSO_WM_DIAGRAM_VIRTUALLY_FRAME" val="{&quot;height&quot;:357.95,&quot;left&quot;:71.3,&quot;top&quot;:131.95,&quot;width&quot;:822.55}"/>
</p:tagLst>
</file>

<file path=ppt/tags/tag3.xml><?xml version="1.0" encoding="utf-8"?>
<p:tagLst xmlns:p="http://schemas.openxmlformats.org/presentationml/2006/main">
  <p:tag name="KSO_WM_DIAGRAM_VIRTUALLY_FRAME" val="{&quot;height&quot;:357.95,&quot;left&quot;:71.3,&quot;top&quot;:131.95,&quot;width&quot;:822.55}"/>
</p:tagLst>
</file>

<file path=ppt/tags/tag4.xml><?xml version="1.0" encoding="utf-8"?>
<p:tagLst xmlns:p="http://schemas.openxmlformats.org/presentationml/2006/main">
  <p:tag name="KSO_WM_DIAGRAM_VIRTUALLY_FRAME" val="{&quot;height&quot;:357.95,&quot;left&quot;:71.3,&quot;top&quot;:131.95,&quot;width&quot;:822.55}"/>
</p:tagLst>
</file>

<file path=ppt/tags/tag5.xml><?xml version="1.0" encoding="utf-8"?>
<p:tagLst xmlns:p="http://schemas.openxmlformats.org/presentationml/2006/main">
  <p:tag name="KSO_WM_DIAGRAM_VIRTUALLY_FRAME" val="{&quot;height&quot;:357.95,&quot;left&quot;:71.3,&quot;top&quot;:131.95,&quot;width&quot;:822.55}"/>
</p:tagLst>
</file>

<file path=ppt/tags/tag6.xml><?xml version="1.0" encoding="utf-8"?>
<p:tagLst xmlns:p="http://schemas.openxmlformats.org/presentationml/2006/main">
  <p:tag name="KSO_WM_DIAGRAM_VIRTUALLY_FRAME" val="{&quot;height&quot;:357.95,&quot;left&quot;:71.3,&quot;top&quot;:131.95,&quot;width&quot;:822.55}"/>
</p:tagLst>
</file>

<file path=ppt/tags/tag7.xml><?xml version="1.0" encoding="utf-8"?>
<p:tagLst xmlns:p="http://schemas.openxmlformats.org/presentationml/2006/main">
  <p:tag name="KSO_WM_DIAGRAM_VIRTUALLY_FRAME" val="{&quot;height&quot;:357.95,&quot;left&quot;:71.3,&quot;top&quot;:131.95,&quot;width&quot;:822.55}"/>
</p:tagLst>
</file>

<file path=ppt/tags/tag8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9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10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11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12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13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14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15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16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17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18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19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20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21.xml><?xml version="1.0" encoding="utf-8"?>
<p:tagLst xmlns:p="http://schemas.openxmlformats.org/presentationml/2006/main">
  <p:tag name="KSO_WM_DIAGRAM_VIRTUALLY_FRAME" val="{&quot;height&quot;:406.25,&quot;left&quot;:73.55,&quot;top&quot;:98.35,&quot;width&quot;:812.35}"/>
</p:tagLst>
</file>

<file path=ppt/tags/tag22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23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24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25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26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27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28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29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30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31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32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33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34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35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36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37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38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39.xml><?xml version="1.0" encoding="utf-8"?>
<p:tagLst xmlns:p="http://schemas.openxmlformats.org/presentationml/2006/main">
  <p:tag name="KSO_WM_DIAGRAM_VIRTUALLY_FRAME" val="{&quot;height&quot;:387.7,&quot;left&quot;:29.95,&quot;top&quot;:121.4,&quot;width&quot;:905.65}"/>
</p:tagLst>
</file>

<file path=ppt/tags/tag40.xml><?xml version="1.0" encoding="utf-8"?>
<p:tagLst xmlns:p="http://schemas.openxmlformats.org/presentationml/2006/main">
  <p:tag name="KSO_WM_DIAGRAM_VIRTUALLY_FRAME" val="{&quot;height&quot;:333.65,&quot;left&quot;:103.15,&quot;top&quot;:143.4,&quot;width&quot;:723.85}"/>
</p:tagLst>
</file>

<file path=ppt/tags/tag41.xml><?xml version="1.0" encoding="utf-8"?>
<p:tagLst xmlns:p="http://schemas.openxmlformats.org/presentationml/2006/main">
  <p:tag name="KSO_WM_DIAGRAM_VIRTUALLY_FRAME" val="{&quot;height&quot;:333.65,&quot;left&quot;:103.15,&quot;top&quot;:143.4,&quot;width&quot;:723.85}"/>
</p:tagLst>
</file>

<file path=ppt/tags/tag42.xml><?xml version="1.0" encoding="utf-8"?>
<p:tagLst xmlns:p="http://schemas.openxmlformats.org/presentationml/2006/main">
  <p:tag name="KSO_WM_DIAGRAM_VIRTUALLY_FRAME" val="{&quot;height&quot;:333.65,&quot;left&quot;:103.15,&quot;top&quot;:143.4,&quot;width&quot;:723.85}"/>
</p:tagLst>
</file>

<file path=ppt/tags/tag43.xml><?xml version="1.0" encoding="utf-8"?>
<p:tagLst xmlns:p="http://schemas.openxmlformats.org/presentationml/2006/main">
  <p:tag name="KSO_WM_DIAGRAM_VIRTUALLY_FRAME" val="{&quot;height&quot;:333.65,&quot;left&quot;:103.15,&quot;top&quot;:143.4,&quot;width&quot;:723.85}"/>
</p:tagLst>
</file>

<file path=ppt/tags/tag44.xml><?xml version="1.0" encoding="utf-8"?>
<p:tagLst xmlns:p="http://schemas.openxmlformats.org/presentationml/2006/main">
  <p:tag name="KSO_WM_DIAGRAM_VIRTUALLY_FRAME" val="{&quot;height&quot;:333.65,&quot;left&quot;:103.15,&quot;top&quot;:143.4,&quot;width&quot;:723.85}"/>
</p:tagLst>
</file>

<file path=ppt/tags/tag45.xml><?xml version="1.0" encoding="utf-8"?>
<p:tagLst xmlns:p="http://schemas.openxmlformats.org/presentationml/2006/main">
  <p:tag name="KSO_WM_DIAGRAM_VIRTUALLY_FRAME" val="{&quot;height&quot;:333.65,&quot;left&quot;:103.15,&quot;top&quot;:143.4,&quot;width&quot;:723.85}"/>
</p:tagLst>
</file>

<file path=ppt/tags/tag46.xml><?xml version="1.0" encoding="utf-8"?>
<p:tagLst xmlns:p="http://schemas.openxmlformats.org/presentationml/2006/main">
  <p:tag name="KSO_WM_DIAGRAM_VIRTUALLY_FRAME" val="{&quot;height&quot;:333.65,&quot;left&quot;:103.15,&quot;top&quot;:143.4,&quot;width&quot;:723.85}"/>
</p:tagLst>
</file>

<file path=ppt/tags/tag47.xml><?xml version="1.0" encoding="utf-8"?>
<p:tagLst xmlns:p="http://schemas.openxmlformats.org/presentationml/2006/main">
  <p:tag name="KSO_WM_DIAGRAM_VIRTUALLY_FRAME" val="{&quot;height&quot;:333.65,&quot;left&quot;:103.15,&quot;top&quot;:143.4,&quot;width&quot;:723.85}"/>
</p:tagLst>
</file>

<file path=ppt/tags/tag48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49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50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51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52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53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54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55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56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57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58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59.xml><?xml version="1.0" encoding="utf-8"?>
<p:tagLst xmlns:p="http://schemas.openxmlformats.org/presentationml/2006/main">
  <p:tag name="KSO_WM_DIAGRAM_VIRTUALLY_FRAME" val="{&quot;height&quot;:396.75,&quot;left&quot;:70.3,&quot;top&quot;:100.15,&quot;width&quot;:821.1818897637795}"/>
</p:tagLst>
</file>

<file path=ppt/tags/tag60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61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62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63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64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65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66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67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68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69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70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71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72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73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74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75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76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77.xml><?xml version="1.0" encoding="utf-8"?>
<p:tagLst xmlns:p="http://schemas.openxmlformats.org/presentationml/2006/main">
  <p:tag name="KSO_WM_DIAGRAM_VIRTUALLY_FRAME" val="{&quot;height&quot;:364,&quot;left&quot;:35.45,&quot;top&quot;:111.75,&quot;width&quot;:527.3}"/>
</p:tagLst>
</file>

<file path=ppt/tags/tag78.xml><?xml version="1.0" encoding="utf-8"?>
<p:tagLst xmlns:p="http://schemas.openxmlformats.org/presentationml/2006/main">
  <p:tag name="KSO_WM_DIAGRAM_VIRTUALLY_FRAME" val="{&quot;height&quot;:212.6,&quot;left&quot;:53,&quot;top&quot;:211.8,&quot;width&quot;:1027.9}"/>
</p:tagLst>
</file>

<file path=ppt/tags/tag79.xml><?xml version="1.0" encoding="utf-8"?>
<p:tagLst xmlns:p="http://schemas.openxmlformats.org/presentationml/2006/main">
  <p:tag name="KSO_WM_DIAGRAM_VIRTUALLY_FRAME" val="{&quot;height&quot;:212.6,&quot;left&quot;:53,&quot;top&quot;:211.8,&quot;width&quot;:1027.9}"/>
</p:tagLst>
</file>

<file path=ppt/tags/tag80.xml><?xml version="1.0" encoding="utf-8"?>
<p:tagLst xmlns:p="http://schemas.openxmlformats.org/presentationml/2006/main">
  <p:tag name="KSO_WM_DIAGRAM_VIRTUALLY_FRAME" val="{&quot;height&quot;:212.6,&quot;left&quot;:53,&quot;top&quot;:211.8,&quot;width&quot;:1027.9}"/>
</p:tagLst>
</file>

<file path=ppt/tags/tag81.xml><?xml version="1.0" encoding="utf-8"?>
<p:tagLst xmlns:p="http://schemas.openxmlformats.org/presentationml/2006/main">
  <p:tag name="KSO_WM_DIAGRAM_VIRTUALLY_FRAME" val="{&quot;height&quot;:212.6,&quot;left&quot;:53,&quot;top&quot;:211.8,&quot;width&quot;:1027.9}"/>
</p:tagLst>
</file>

<file path=ppt/tags/tag82.xml><?xml version="1.0" encoding="utf-8"?>
<p:tagLst xmlns:p="http://schemas.openxmlformats.org/presentationml/2006/main">
  <p:tag name="KSO_WM_DIAGRAM_VIRTUALLY_FRAME" val="{&quot;height&quot;:212.6,&quot;left&quot;:53,&quot;top&quot;:211.8,&quot;width&quot;:1027.9}"/>
</p:tagLst>
</file>

<file path=ppt/tags/tag83.xml><?xml version="1.0" encoding="utf-8"?>
<p:tagLst xmlns:p="http://schemas.openxmlformats.org/presentationml/2006/main">
  <p:tag name="KSO_WM_DIAGRAM_VIRTUALLY_FRAME" val="{&quot;height&quot;:333.65,&quot;left&quot;:103.15,&quot;top&quot;:143.4,&quot;width&quot;:723.85}"/>
</p:tagLst>
</file>

<file path=ppt/tags/tag84.xml><?xml version="1.0" encoding="utf-8"?>
<p:tagLst xmlns:p="http://schemas.openxmlformats.org/presentationml/2006/main">
  <p:tag name="KSO_WM_DIAGRAM_VIRTUALLY_FRAME" val="{&quot;height&quot;:181.85,&quot;left&quot;:52.4,&quot;top&quot;:277.5,&quot;width&quot;:1027.9}"/>
</p:tagLst>
</file>

<file path=ppt/tags/tag85.xml><?xml version="1.0" encoding="utf-8"?>
<p:tagLst xmlns:p="http://schemas.openxmlformats.org/presentationml/2006/main">
  <p:tag name="KSO_WM_DIAGRAM_VIRTUALLY_FRAME" val="{&quot;height&quot;:181.85,&quot;left&quot;:52.4,&quot;top&quot;:277.5,&quot;width&quot;:1027.9}"/>
</p:tagLst>
</file>

<file path=ppt/tags/tag86.xml><?xml version="1.0" encoding="utf-8"?>
<p:tagLst xmlns:p="http://schemas.openxmlformats.org/presentationml/2006/main">
  <p:tag name="KSO_WM_DIAGRAM_VIRTUALLY_FRAME" val="{&quot;height&quot;:181.85,&quot;left&quot;:52.4,&quot;top&quot;:277.5,&quot;width&quot;:1027.9}"/>
</p:tagLst>
</file>

<file path=ppt/tags/tag87.xml><?xml version="1.0" encoding="utf-8"?>
<p:tagLst xmlns:p="http://schemas.openxmlformats.org/presentationml/2006/main">
  <p:tag name="KSO_WM_DIAGRAM_VIRTUALLY_FRAME" val="{&quot;height&quot;:181.85,&quot;left&quot;:52.4,&quot;top&quot;:277.5,&quot;width&quot;:1027.9}"/>
</p:tagLst>
</file>

<file path=ppt/tags/tag88.xml><?xml version="1.0" encoding="utf-8"?>
<p:tagLst xmlns:p="http://schemas.openxmlformats.org/presentationml/2006/main">
  <p:tag name="KSO_WM_DIAGRAM_VIRTUALLY_FRAME" val="{&quot;height&quot;:181.85,&quot;left&quot;:52.4,&quot;top&quot;:277.5,&quot;width&quot;:1027.9}"/>
</p:tagLst>
</file>

<file path=ppt/tags/tag89.xml><?xml version="1.0" encoding="utf-8"?>
<p:tagLst xmlns:p="http://schemas.openxmlformats.org/presentationml/2006/main">
  <p:tag name="KSO_WM_DIAGRAM_VIRTUALLY_FRAME" val="{&quot;height&quot;:181.85,&quot;left&quot;:52.4,&quot;top&quot;:277.5,&quot;width&quot;:1027.9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3611</Words>
  <Application>WPS 演示</Application>
  <PresentationFormat>On-screen Show (16:9)</PresentationFormat>
  <Paragraphs>274</Paragraphs>
  <Slides>21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宋体</vt:lpstr>
      <vt:lpstr>Wingdings</vt:lpstr>
      <vt:lpstr>MiSans</vt:lpstr>
      <vt:lpstr>Segoe Print</vt:lpstr>
      <vt:lpstr>MiSans</vt:lpstr>
      <vt:lpstr>MiSans</vt:lpstr>
      <vt:lpstr>微软雅黑</vt:lpstr>
      <vt:lpstr>微软雅黑</vt:lpstr>
      <vt:lpstr>Calibri</vt:lpstr>
      <vt:lpstr>Arial Unicode MS</vt:lpstr>
      <vt:lpstr>等线</vt:lpstr>
      <vt:lpstr>Alimama ShuHeiTi</vt:lpstr>
      <vt:lpstr>Alimama ShuHeiTi</vt:lpstr>
      <vt:lpstr>Alimama ShuHeiTi</vt:lpstr>
      <vt:lpstr>MingLiU-ExtB</vt:lpstr>
      <vt:lpstr>方正舒体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微信小程序第一课</dc:title>
  <dc:creator>Kimi</dc:creator>
  <dc:subject>微信小程序第一课</dc:subject>
  <cp:lastModifiedBy>王亚萍</cp:lastModifiedBy>
  <cp:revision>24</cp:revision>
  <dcterms:created xsi:type="dcterms:W3CDTF">2026-03-09T12:23:00Z</dcterms:created>
  <dcterms:modified xsi:type="dcterms:W3CDTF">2026-03-09T18:01:34Z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{"Label":"微信小程序第一课","ContentProducer":"001191110108MACG2KBH8F10000","ProduceID":"19cd27f8-7672-83fa-8000-000074701f8e","ReservedCode1":"","ContentPropagator":"001191110108MACG2KBH8F20000","PropagateID":"19cd27f8-7672-83fa-8000-000074701f8e","ReservedCode2":""}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B068CAC96B5B48E982B8527F04548091_13</vt:lpwstr>
  </property>
</Properties>
</file>