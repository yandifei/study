
<file path=[Content_Types].xml><?xml version="1.0" encoding="utf-8"?>
<Types xmlns="http://schemas.openxmlformats.org/package/2006/content-types">
  <Default Extension="jpeg" ContentType="image/jpeg"/>
  <Default Extension="tiff" ContentType="image/tif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95" name="Shape 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测试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 hasCustomPrompt="1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 hasCustomPrompt="1"/>
          </p:nvPr>
        </p:nvSpPr>
        <p:spPr>
          <a:xfrm>
            <a:off x="722312" y="3305176"/>
            <a:ext cx="7772401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 hasCustomPrompt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 hasCustomPrompt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 hasCustomPrompt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/>
          <p:nvPr>
            <p:ph type="body" sz="quarter" idx="13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 hasCustomPrompt="1"/>
          </p:nvPr>
        </p:nvSpPr>
        <p:spPr>
          <a:xfrm>
            <a:off x="457201" y="204786"/>
            <a:ext cx="3008314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idx="1" hasCustomPrompt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文本占位符 3"/>
          <p:cNvSpPr/>
          <p:nvPr>
            <p:ph type="body" sz="half" idx="13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 hasCustomPrompt="1"/>
          </p:nvPr>
        </p:nvSpPr>
        <p:spPr>
          <a:xfrm>
            <a:off x="1792288" y="3600450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83" name="图片占位符 2"/>
          <p:cNvSpPr/>
          <p:nvPr>
            <p:ph type="pic" sz="half" idx="13"/>
          </p:nvPr>
        </p:nvSpPr>
        <p:spPr>
          <a:xfrm>
            <a:off x="1792288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84" name="正文级别 1…"/>
          <p:cNvSpPr txBox="1"/>
          <p:nvPr>
            <p:ph type="body" sz="quarter" idx="1" hasCustomPrompt="1"/>
          </p:nvPr>
        </p:nvSpPr>
        <p:spPr>
          <a:xfrm>
            <a:off x="1792288" y="4025503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13144" y="4772454"/>
            <a:ext cx="273657" cy="2642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图片 4" descr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24" y="2074845"/>
            <a:ext cx="7786742" cy="106841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8" name="TextBox 5"/>
          <p:cNvSpPr txBox="1"/>
          <p:nvPr/>
        </p:nvSpPr>
        <p:spPr>
          <a:xfrm>
            <a:off x="1955483" y="2378216"/>
            <a:ext cx="5166361" cy="510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智慧校园考试系统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1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需求分析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q 具备用户管理功能，包括用户注册、登录和退出等功能；…"/>
          <p:cNvSpPr txBox="1"/>
          <p:nvPr/>
        </p:nvSpPr>
        <p:spPr>
          <a:xfrm>
            <a:off x="1208762" y="1195069"/>
            <a:ext cx="6401356" cy="368554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indent="338455" algn="just" defTabSz="457200">
              <a:lnSpc>
                <a:spcPts val="3100"/>
              </a:lnSpc>
              <a:defRPr sz="1335">
                <a:latin typeface="Times"/>
                <a:ea typeface="Times"/>
                <a:cs typeface="Times"/>
                <a:sym typeface="Times"/>
              </a:defRPr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defTabSz="457200">
              <a:lnSpc>
                <a:spcPts val="3100"/>
              </a:lnSpc>
              <a:spcBef>
                <a:spcPts val="1200"/>
              </a:spcBef>
              <a:defRPr sz="1335">
                <a:latin typeface="Times"/>
                <a:ea typeface="Times"/>
                <a:cs typeface="Times"/>
                <a:sym typeface="Times"/>
              </a:defRPr>
            </a:pPr>
            <a:r>
              <a:rPr sz="1065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具备用户管理功能，包括用户注册、登录和退出等功能；</a:t>
            </a:r>
            <a:endParaRPr sz="1200"/>
          </a:p>
          <a:p>
            <a:pPr defTabSz="457200">
              <a:lnSpc>
                <a:spcPts val="3100"/>
              </a:lnSpc>
              <a:spcBef>
                <a:spcPts val="1200"/>
              </a:spcBef>
              <a:defRPr sz="1335">
                <a:latin typeface="Times"/>
                <a:ea typeface="Times"/>
                <a:cs typeface="Times"/>
                <a:sym typeface="Times"/>
              </a:defRPr>
            </a:pPr>
            <a:r>
              <a:rPr sz="1065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具备邮件激活功能，用户注册完成后，需要登录邮箱激活；</a:t>
            </a:r>
            <a:endParaRPr sz="1200"/>
          </a:p>
          <a:p>
            <a:pPr defTabSz="457200">
              <a:lnSpc>
                <a:spcPts val="3100"/>
              </a:lnSpc>
              <a:spcBef>
                <a:spcPts val="1200"/>
              </a:spcBef>
              <a:defRPr sz="1335">
                <a:latin typeface="Times"/>
                <a:ea typeface="Times"/>
                <a:cs typeface="Times"/>
                <a:sym typeface="Times"/>
              </a:defRPr>
            </a:pPr>
            <a:r>
              <a:rPr sz="1065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具备分类功能，用户选择某类知识进行答题；</a:t>
            </a:r>
            <a:endParaRPr sz="1200"/>
          </a:p>
          <a:p>
            <a:pPr defTabSz="457200">
              <a:lnSpc>
                <a:spcPts val="3100"/>
              </a:lnSpc>
              <a:spcBef>
                <a:spcPts val="1200"/>
              </a:spcBef>
              <a:defRPr sz="1335">
                <a:latin typeface="Times"/>
                <a:ea typeface="Times"/>
                <a:cs typeface="Times"/>
                <a:sym typeface="Times"/>
              </a:defRPr>
            </a:pPr>
            <a:r>
              <a:rPr sz="1065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具备机构注册功能，允许机构用户进行注册，注册成功后可自主出题；</a:t>
            </a:r>
            <a:endParaRPr sz="1200"/>
          </a:p>
          <a:p>
            <a:pPr defTabSz="457200">
              <a:lnSpc>
                <a:spcPts val="3100"/>
              </a:lnSpc>
              <a:spcBef>
                <a:spcPts val="1200"/>
              </a:spcBef>
              <a:defRPr sz="1335">
                <a:latin typeface="Times"/>
                <a:ea typeface="Times"/>
                <a:cs typeface="Times"/>
                <a:sym typeface="Times"/>
              </a:defRPr>
            </a:pPr>
            <a:r>
              <a:rPr sz="1065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具备快速出题功能，机构用户可下载题库模板，根据模板创建题目，上传题库；</a:t>
            </a:r>
            <a:endParaRPr sz="1200"/>
          </a:p>
          <a:p>
            <a:pPr defTabSz="457200">
              <a:lnSpc>
                <a:spcPts val="3100"/>
              </a:lnSpc>
              <a:spcBef>
                <a:spcPts val="1200"/>
              </a:spcBef>
              <a:defRPr sz="1335">
                <a:latin typeface="Times"/>
                <a:ea typeface="Times"/>
                <a:cs typeface="Times"/>
                <a:sym typeface="Times"/>
              </a:defRPr>
            </a:pPr>
            <a:r>
              <a:rPr sz="1065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具备配置考试功能，机构用户可以配置考试信息，如设置考试题目、时间等内容；</a:t>
            </a:r>
            <a:endParaRPr sz="1200"/>
          </a:p>
          <a:p>
            <a:pPr defTabSz="457200">
              <a:lnSpc>
                <a:spcPts val="3100"/>
              </a:lnSpc>
              <a:spcBef>
                <a:spcPts val="1200"/>
              </a:spcBef>
              <a:defRPr sz="1335">
                <a:latin typeface="Times"/>
                <a:ea typeface="Times"/>
                <a:cs typeface="Times"/>
                <a:sym typeface="Times"/>
              </a:defRPr>
            </a:pPr>
            <a:r>
              <a:rPr sz="1065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具备答题功能，用户参与考试后，可以选择上一题和下一题； </a:t>
            </a:r>
            <a:endParaRPr sz="1200"/>
          </a:p>
          <a:p>
            <a:pPr defTabSz="457200">
              <a:lnSpc>
                <a:spcPts val="3100"/>
              </a:lnSpc>
              <a:spcBef>
                <a:spcPts val="1200"/>
              </a:spcBef>
              <a:defRPr sz="1335">
                <a:latin typeface="Times"/>
                <a:ea typeface="Times"/>
                <a:cs typeface="Times"/>
                <a:sym typeface="Times"/>
              </a:defRPr>
            </a:pPr>
            <a:r>
              <a:rPr sz="1065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具备评分功能，用户答完所有题目后，显示用户考试结果。</a:t>
            </a:r>
            <a:endParaRPr sz="1200"/>
          </a:p>
          <a:p>
            <a:pPr defTabSz="457200">
              <a:lnSpc>
                <a:spcPts val="3100"/>
              </a:lnSpc>
              <a:spcBef>
                <a:spcPts val="1200"/>
              </a:spcBef>
              <a:defRPr sz="1335">
                <a:latin typeface="Times"/>
                <a:ea typeface="Times"/>
                <a:cs typeface="Times"/>
                <a:sym typeface="Times"/>
              </a:defRPr>
            </a:pPr>
            <a:r>
              <a:rPr sz="1065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具备排行榜功能，用户可以通过排行榜，查看考试成绩。</a:t>
            </a:r>
          </a:p>
        </p:txBody>
      </p:sp>
      <p:sp>
        <p:nvSpPr>
          <p:cNvPr id="104" name="为实现用户在线考试答题的需求，智慧校园考试系统需要具备如下功能："/>
          <p:cNvSpPr txBox="1"/>
          <p:nvPr/>
        </p:nvSpPr>
        <p:spPr>
          <a:xfrm>
            <a:off x="879263" y="1054100"/>
            <a:ext cx="5861474" cy="3327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indent="338455" algn="just" defTabSz="457200">
              <a:lnSpc>
                <a:spcPts val="3100"/>
              </a:lnSpc>
              <a:defRPr sz="1335">
                <a:latin typeface="Times"/>
                <a:ea typeface="Times"/>
                <a:cs typeface="Times"/>
                <a:sym typeface="Times"/>
              </a:defRPr>
            </a:lvl1pPr>
          </a:lstStyle>
          <a:p>
            <a:r>
              <a:t>为实现用户在线考试答题的需求，智慧校园考试系统需要具备如下功能：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7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系统设计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4"/>
          <p:cNvGrpSpPr/>
          <p:nvPr/>
        </p:nvGrpSpPr>
        <p:grpSpPr>
          <a:xfrm>
            <a:off x="76199" y="819149"/>
            <a:ext cx="8879238" cy="662942"/>
            <a:chOff x="0" y="0"/>
            <a:chExt cx="8879235" cy="662940"/>
          </a:xfrm>
        </p:grpSpPr>
        <p:sp>
          <p:nvSpPr>
            <p:cNvPr id="109" name="标题 8"/>
            <p:cNvSpPr txBox="1"/>
            <p:nvPr/>
          </p:nvSpPr>
          <p:spPr>
            <a:xfrm>
              <a:off x="1112520" y="0"/>
              <a:ext cx="7766716" cy="662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系统功能结构</a:t>
              </a:r>
            </a:p>
          </p:txBody>
        </p:sp>
        <p:pic>
          <p:nvPicPr>
            <p:cNvPr id="110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76200"/>
              <a:ext cx="1066800" cy="45561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pic>
        <p:nvPicPr>
          <p:cNvPr id="112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30" y="1389027"/>
            <a:ext cx="7227666" cy="308064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age2.tiff" descr="image2.tif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9" y="995575"/>
            <a:ext cx="8096917" cy="342919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17" name="组合 4"/>
          <p:cNvGrpSpPr/>
          <p:nvPr/>
        </p:nvGrpSpPr>
        <p:grpSpPr>
          <a:xfrm>
            <a:off x="76199" y="819149"/>
            <a:ext cx="8879238" cy="662942"/>
            <a:chOff x="0" y="0"/>
            <a:chExt cx="8879235" cy="662940"/>
          </a:xfrm>
        </p:grpSpPr>
        <p:sp>
          <p:nvSpPr>
            <p:cNvPr id="115" name="标题 8"/>
            <p:cNvSpPr txBox="1"/>
            <p:nvPr/>
          </p:nvSpPr>
          <p:spPr>
            <a:xfrm>
              <a:off x="1112520" y="0"/>
              <a:ext cx="7766716" cy="662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系统业务流程</a:t>
              </a:r>
            </a:p>
          </p:txBody>
        </p:sp>
        <p:pic>
          <p:nvPicPr>
            <p:cNvPr id="116" name="Picture 4" descr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6200"/>
              <a:ext cx="1066800" cy="45561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组合 4"/>
          <p:cNvGrpSpPr/>
          <p:nvPr/>
        </p:nvGrpSpPr>
        <p:grpSpPr>
          <a:xfrm>
            <a:off x="76199" y="819149"/>
            <a:ext cx="8879238" cy="662942"/>
            <a:chOff x="0" y="0"/>
            <a:chExt cx="8879235" cy="662940"/>
          </a:xfrm>
        </p:grpSpPr>
        <p:sp>
          <p:nvSpPr>
            <p:cNvPr id="119" name="标题 8"/>
            <p:cNvSpPr txBox="1"/>
            <p:nvPr/>
          </p:nvSpPr>
          <p:spPr>
            <a:xfrm>
              <a:off x="1112520" y="0"/>
              <a:ext cx="7766716" cy="662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系统预览</a:t>
              </a:r>
            </a:p>
          </p:txBody>
        </p:sp>
        <p:pic>
          <p:nvPicPr>
            <p:cNvPr id="120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76200"/>
              <a:ext cx="1066800" cy="45561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pic>
        <p:nvPicPr>
          <p:cNvPr id="12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265" y="1538583"/>
            <a:ext cx="4899106" cy="327573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5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系统开发必备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组合 4"/>
          <p:cNvGrpSpPr/>
          <p:nvPr/>
        </p:nvGrpSpPr>
        <p:grpSpPr>
          <a:xfrm>
            <a:off x="76199" y="819149"/>
            <a:ext cx="8879238" cy="662942"/>
            <a:chOff x="0" y="0"/>
            <a:chExt cx="8879235" cy="662940"/>
          </a:xfrm>
        </p:grpSpPr>
        <p:sp>
          <p:nvSpPr>
            <p:cNvPr id="127" name="标题 8"/>
            <p:cNvSpPr txBox="1"/>
            <p:nvPr/>
          </p:nvSpPr>
          <p:spPr>
            <a:xfrm>
              <a:off x="1112520" y="0"/>
              <a:ext cx="7766716" cy="662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开发工具准备</a:t>
              </a:r>
            </a:p>
          </p:txBody>
        </p:sp>
        <p:pic>
          <p:nvPicPr>
            <p:cNvPr id="128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76200"/>
              <a:ext cx="1066800" cy="45561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0" name="q 操作系统：Windows 7及以上或者 Linux。…"/>
          <p:cNvSpPr txBox="1"/>
          <p:nvPr/>
        </p:nvSpPr>
        <p:spPr>
          <a:xfrm>
            <a:off x="1117751" y="1249475"/>
            <a:ext cx="5473065" cy="44640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indent="338455" algn="just" defTabSz="457200">
              <a:lnSpc>
                <a:spcPts val="3800"/>
              </a:lnSpc>
              <a:defRPr sz="1935">
                <a:latin typeface="Times"/>
                <a:ea typeface="Times"/>
                <a:cs typeface="Times"/>
                <a:sym typeface="Times"/>
              </a:defRPr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defTabSz="457200">
              <a:lnSpc>
                <a:spcPts val="3800"/>
              </a:lnSpc>
              <a:spcBef>
                <a:spcPts val="1200"/>
              </a:spcBef>
              <a:defRPr sz="1935">
                <a:latin typeface="Times"/>
                <a:ea typeface="Times"/>
                <a:cs typeface="Times"/>
                <a:sym typeface="Times"/>
              </a:defRPr>
            </a:pPr>
            <a:r>
              <a:rPr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操作系统：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Windows</a:t>
            </a:r>
            <a:r>
              <a:t> 7及以上或者 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</a:t>
            </a:r>
            <a:r>
              <a:t>inux。</a:t>
            </a:r>
          </a:p>
          <a:p>
            <a:pPr defTabSz="457200">
              <a:lnSpc>
                <a:spcPts val="3900"/>
              </a:lnSpc>
              <a:spcBef>
                <a:spcPts val="1200"/>
              </a:spcBef>
              <a:defRPr sz="1935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rPr>
                <a:latin typeface="Times"/>
                <a:ea typeface="Times"/>
                <a:cs typeface="Times"/>
                <a:sym typeface="Times"/>
              </a:rPr>
              <a:t>虚拟环境：</a:t>
            </a:r>
            <a:r>
              <a:t>virtualenv</a:t>
            </a:r>
            <a:r>
              <a:rPr>
                <a:latin typeface="Times"/>
                <a:ea typeface="Times"/>
                <a:cs typeface="Times"/>
                <a:sym typeface="Times"/>
              </a:rPr>
              <a:t>或者</a:t>
            </a:r>
            <a:r>
              <a:t>Anaconda</a:t>
            </a:r>
            <a:r>
              <a:rPr>
                <a:latin typeface="Times"/>
                <a:ea typeface="Times"/>
                <a:cs typeface="Times"/>
                <a:sym typeface="Times"/>
              </a:rPr>
              <a:t>。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defTabSz="457200">
              <a:lnSpc>
                <a:spcPts val="3900"/>
              </a:lnSpc>
              <a:spcBef>
                <a:spcPts val="1200"/>
              </a:spcBef>
              <a:defRPr sz="1935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rPr>
                <a:latin typeface="Times"/>
                <a:ea typeface="Times"/>
                <a:cs typeface="Times"/>
                <a:sym typeface="Times"/>
              </a:rPr>
              <a:t>数据库和驱动：</a:t>
            </a:r>
            <a:r>
              <a:t>MySQL + PyMySQL</a:t>
            </a:r>
            <a:r>
              <a:rPr>
                <a:latin typeface="Times"/>
                <a:ea typeface="Times"/>
                <a:cs typeface="Times"/>
                <a:sym typeface="Times"/>
              </a:rPr>
              <a:t>、Redis。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defTabSz="457200">
              <a:lnSpc>
                <a:spcPts val="3800"/>
              </a:lnSpc>
              <a:spcBef>
                <a:spcPts val="1200"/>
              </a:spcBef>
              <a:defRPr sz="1935">
                <a:latin typeface="Times"/>
                <a:ea typeface="Times"/>
                <a:cs typeface="Times"/>
                <a:sym typeface="Times"/>
              </a:defRPr>
            </a:pPr>
            <a:r>
              <a:rPr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开发工具：PyCharm。</a:t>
            </a:r>
          </a:p>
          <a:p>
            <a:pPr defTabSz="457200">
              <a:lnSpc>
                <a:spcPts val="3900"/>
              </a:lnSpc>
              <a:spcBef>
                <a:spcPts val="1200"/>
              </a:spcBef>
              <a:defRPr sz="1935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rPr>
                <a:latin typeface="Times"/>
                <a:ea typeface="Times"/>
                <a:cs typeface="Times"/>
                <a:sym typeface="Times"/>
              </a:rPr>
              <a:t>开发框架：</a:t>
            </a:r>
            <a:r>
              <a:t>Django </a:t>
            </a:r>
            <a:r>
              <a:rPr lang="en-US"/>
              <a:t>3</a:t>
            </a:r>
            <a:r>
              <a:t>.1 + Bootstrap + jQuery</a:t>
            </a:r>
            <a:r>
              <a:rPr>
                <a:latin typeface="Times"/>
                <a:ea typeface="Times"/>
                <a:cs typeface="Times"/>
                <a:sym typeface="Times"/>
              </a:rPr>
              <a:t>。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defTabSz="457200">
              <a:lnSpc>
                <a:spcPts val="3800"/>
              </a:lnSpc>
              <a:spcBef>
                <a:spcPts val="1200"/>
              </a:spcBef>
              <a:defRPr sz="1935">
                <a:latin typeface="Times"/>
                <a:ea typeface="Times"/>
                <a:cs typeface="Times"/>
                <a:sym typeface="Times"/>
              </a:defRPr>
            </a:pPr>
            <a:r>
              <a:rPr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 </a:t>
            </a:r>
            <a:r>
              <a:t>浏览器：C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hrome</a:t>
            </a:r>
            <a:r>
              <a:t>浏览器。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4"/>
          <p:cNvGrpSpPr/>
          <p:nvPr/>
        </p:nvGrpSpPr>
        <p:grpSpPr>
          <a:xfrm>
            <a:off x="76199" y="819149"/>
            <a:ext cx="8879238" cy="662942"/>
            <a:chOff x="0" y="0"/>
            <a:chExt cx="8879235" cy="662940"/>
          </a:xfrm>
        </p:grpSpPr>
        <p:sp>
          <p:nvSpPr>
            <p:cNvPr id="132" name="标题 8"/>
            <p:cNvSpPr txBox="1"/>
            <p:nvPr/>
          </p:nvSpPr>
          <p:spPr>
            <a:xfrm>
              <a:off x="1112520" y="0"/>
              <a:ext cx="7766716" cy="662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文件夹组织结构</a:t>
              </a:r>
            </a:p>
          </p:txBody>
        </p:sp>
        <p:pic>
          <p:nvPicPr>
            <p:cNvPr id="133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76200"/>
              <a:ext cx="1066800" cy="45561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7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技术准备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0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文件上传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&lt;form method=&quot;post&quot; action=&quot;&quot; enctype=&quot;multipart/form-data&quot; &gt;…"/>
          <p:cNvSpPr txBox="1"/>
          <p:nvPr/>
        </p:nvSpPr>
        <p:spPr>
          <a:xfrm>
            <a:off x="899776" y="1838960"/>
            <a:ext cx="8136928" cy="1755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defTabSz="457200">
              <a:lnSpc>
                <a:spcPts val="4700"/>
              </a:lnSpc>
              <a:defRPr sz="1700">
                <a:solidFill>
                  <a:srgbClr val="262626"/>
                </a:solidFill>
                <a:latin typeface="Times"/>
                <a:ea typeface="Times"/>
                <a:cs typeface="Times"/>
                <a:sym typeface="Times"/>
              </a:defRPr>
            </a:pPr>
          </a:p>
          <a:p>
            <a:pPr defTabSz="457200">
              <a:lnSpc>
                <a:spcPts val="3400"/>
              </a:lnSpc>
              <a:defRPr sz="1700">
                <a:solidFill>
                  <a:srgbClr val="66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22863A"/>
                </a:solidFill>
              </a:rPr>
              <a:t>&lt;form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6F42C1"/>
                </a:solidFill>
              </a:rPr>
              <a:t>method</a:t>
            </a:r>
            <a:r>
              <a:rPr>
                <a:solidFill>
                  <a:srgbClr val="595959"/>
                </a:solidFill>
              </a:rPr>
              <a:t>=</a:t>
            </a:r>
            <a:r>
              <a:t>"post"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6F42C1"/>
                </a:solidFill>
              </a:rPr>
              <a:t>action</a:t>
            </a:r>
            <a:r>
              <a:rPr>
                <a:solidFill>
                  <a:srgbClr val="595959"/>
                </a:solidFill>
              </a:rPr>
              <a:t>=</a:t>
            </a:r>
            <a:r>
              <a:t>""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6F42C1"/>
                </a:solidFill>
              </a:rPr>
              <a:t>enctype</a:t>
            </a:r>
            <a:r>
              <a:rPr>
                <a:solidFill>
                  <a:srgbClr val="595959"/>
                </a:solidFill>
              </a:rPr>
              <a:t>=</a:t>
            </a:r>
            <a:r>
              <a:t>"multipart/form-data"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22863A"/>
                </a:solidFill>
              </a:rPr>
              <a:t>&gt;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400"/>
              </a:lnSpc>
              <a:defRPr sz="17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{% csrf_token %}</a:t>
            </a:r>
          </a:p>
          <a:p>
            <a:pPr defTabSz="457200">
              <a:lnSpc>
                <a:spcPts val="3400"/>
              </a:lnSpc>
              <a:defRPr sz="1700">
                <a:solidFill>
                  <a:srgbClr val="66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595959"/>
                </a:solidFill>
              </a:rPr>
              <a:t>    </a:t>
            </a:r>
            <a:r>
              <a:rPr>
                <a:solidFill>
                  <a:srgbClr val="22863A"/>
                </a:solidFill>
              </a:rPr>
              <a:t>&lt;input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6F42C1"/>
                </a:solidFill>
              </a:rPr>
              <a:t>type</a:t>
            </a:r>
            <a:r>
              <a:rPr>
                <a:solidFill>
                  <a:srgbClr val="595959"/>
                </a:solidFill>
              </a:rPr>
              <a:t>=</a:t>
            </a:r>
            <a:r>
              <a:t>"file"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6F42C1"/>
                </a:solidFill>
              </a:rPr>
              <a:t>name</a:t>
            </a:r>
            <a:r>
              <a:rPr>
                <a:solidFill>
                  <a:srgbClr val="595959"/>
                </a:solidFill>
              </a:rPr>
              <a:t>=</a:t>
            </a:r>
            <a:r>
              <a:t>"template"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22863A"/>
                </a:solidFill>
              </a:rPr>
              <a:t>/&gt;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400"/>
              </a:lnSpc>
              <a:defRPr sz="1700">
                <a:solidFill>
                  <a:srgbClr val="66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595959"/>
                </a:solidFill>
              </a:rPr>
              <a:t>    </a:t>
            </a:r>
            <a:r>
              <a:rPr>
                <a:solidFill>
                  <a:srgbClr val="22863A"/>
                </a:solidFill>
              </a:rPr>
              <a:t>&lt;input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6F42C1"/>
                </a:solidFill>
              </a:rPr>
              <a:t>type</a:t>
            </a:r>
            <a:r>
              <a:rPr>
                <a:solidFill>
                  <a:srgbClr val="595959"/>
                </a:solidFill>
              </a:rPr>
              <a:t>=</a:t>
            </a:r>
            <a:r>
              <a:t>"submit"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6F42C1"/>
                </a:solidFill>
              </a:rPr>
              <a:t>value</a:t>
            </a:r>
            <a:r>
              <a:rPr>
                <a:solidFill>
                  <a:srgbClr val="595959"/>
                </a:solidFill>
              </a:rPr>
              <a:t>=</a:t>
            </a:r>
            <a:r>
              <a:t>"提交"</a:t>
            </a:r>
            <a:r>
              <a:rPr>
                <a:solidFill>
                  <a:srgbClr val="22863A"/>
                </a:solidFill>
              </a:rPr>
              <a:t>/&gt;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400"/>
              </a:lnSpc>
              <a:defRPr sz="1700">
                <a:solidFill>
                  <a:srgbClr val="22863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&lt;/form&gt;</a:t>
            </a:r>
          </a:p>
        </p:txBody>
      </p:sp>
      <p:sp>
        <p:nvSpPr>
          <p:cNvPr id="143" name="1.创建Form表单"/>
          <p:cNvSpPr txBox="1"/>
          <p:nvPr/>
        </p:nvSpPr>
        <p:spPr>
          <a:xfrm>
            <a:off x="537209" y="1630679"/>
            <a:ext cx="1883981" cy="4089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indent="169545" algn="just" defTabSz="457200">
              <a:lnSpc>
                <a:spcPts val="3600"/>
              </a:lnSpc>
              <a:defRPr sz="1835">
                <a:latin typeface="Times"/>
                <a:ea typeface="Times"/>
                <a:cs typeface="Times"/>
                <a:sym typeface="Times"/>
              </a:defRPr>
            </a:lvl1pPr>
          </a:lstStyle>
          <a:p>
            <a:r>
              <a:t>1.创建Form表单</a:t>
            </a:r>
          </a:p>
        </p:txBody>
      </p:sp>
      <p:grpSp>
        <p:nvGrpSpPr>
          <p:cNvPr id="146" name="组合 4"/>
          <p:cNvGrpSpPr/>
          <p:nvPr/>
        </p:nvGrpSpPr>
        <p:grpSpPr>
          <a:xfrm>
            <a:off x="141285" y="809493"/>
            <a:ext cx="8861430" cy="559278"/>
            <a:chOff x="0" y="0"/>
            <a:chExt cx="8861428" cy="559276"/>
          </a:xfrm>
        </p:grpSpPr>
        <p:sp>
          <p:nvSpPr>
            <p:cNvPr id="144" name="标题 8"/>
            <p:cNvSpPr/>
            <p:nvPr/>
          </p:nvSpPr>
          <p:spPr>
            <a:xfrm>
              <a:off x="1094712" y="0"/>
              <a:ext cx="7766717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上传Excel文件</a:t>
              </a:r>
            </a:p>
          </p:txBody>
        </p:sp>
        <p:pic>
          <p:nvPicPr>
            <p:cNvPr id="145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3663"/>
              <a:ext cx="1066800" cy="45561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2.创建视图函数"/>
          <p:cNvSpPr txBox="1"/>
          <p:nvPr/>
        </p:nvSpPr>
        <p:spPr>
          <a:xfrm>
            <a:off x="537209" y="1630679"/>
            <a:ext cx="1845100" cy="4089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indent="169545" algn="just" defTabSz="457200">
              <a:lnSpc>
                <a:spcPts val="3600"/>
              </a:lnSpc>
              <a:defRPr sz="1835">
                <a:latin typeface="Times"/>
                <a:ea typeface="Times"/>
                <a:cs typeface="Times"/>
                <a:sym typeface="Times"/>
              </a:defRPr>
            </a:lvl1pPr>
          </a:lstStyle>
          <a:p>
            <a:r>
              <a:t>2.创建视图函数</a:t>
            </a:r>
          </a:p>
        </p:txBody>
      </p:sp>
      <p:grpSp>
        <p:nvGrpSpPr>
          <p:cNvPr id="151" name="组合 4"/>
          <p:cNvGrpSpPr/>
          <p:nvPr/>
        </p:nvGrpSpPr>
        <p:grpSpPr>
          <a:xfrm>
            <a:off x="141285" y="809493"/>
            <a:ext cx="8861430" cy="559278"/>
            <a:chOff x="0" y="0"/>
            <a:chExt cx="8861428" cy="559276"/>
          </a:xfrm>
        </p:grpSpPr>
        <p:sp>
          <p:nvSpPr>
            <p:cNvPr id="149" name="标题 8"/>
            <p:cNvSpPr/>
            <p:nvPr/>
          </p:nvSpPr>
          <p:spPr>
            <a:xfrm>
              <a:off x="1094712" y="0"/>
              <a:ext cx="7766717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上传Excel文件</a:t>
              </a:r>
            </a:p>
          </p:txBody>
        </p:sp>
        <p:pic>
          <p:nvPicPr>
            <p:cNvPr id="150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3663"/>
              <a:ext cx="1066800" cy="45561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52" name="def upload_bank(request):…"/>
          <p:cNvSpPr txBox="1"/>
          <p:nvPr/>
        </p:nvSpPr>
        <p:spPr>
          <a:xfrm>
            <a:off x="892281" y="1501139"/>
            <a:ext cx="7664238" cy="3990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defTabSz="457200">
              <a:lnSpc>
                <a:spcPts val="4000"/>
              </a:lnSpc>
              <a:defRPr sz="1400">
                <a:solidFill>
                  <a:srgbClr val="262626"/>
                </a:solidFill>
                <a:latin typeface="Times"/>
                <a:ea typeface="Times"/>
                <a:cs typeface="Times"/>
                <a:sym typeface="Times"/>
              </a:defRPr>
            </a:pPr>
            <a:br/>
          </a:p>
          <a:p>
            <a:pPr defTabSz="457200">
              <a:lnSpc>
                <a:spcPts val="2800"/>
              </a:lnSpc>
              <a:defRPr sz="1200">
                <a:solidFill>
                  <a:srgbClr val="005CC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D73A49"/>
                </a:solidFill>
              </a:rPr>
              <a:t>def</a:t>
            </a:r>
            <a:r>
              <a:rPr>
                <a:solidFill>
                  <a:srgbClr val="595959"/>
                </a:solidFill>
              </a:rPr>
              <a:t> </a:t>
            </a:r>
            <a:r>
              <a:t>upload_bank</a:t>
            </a:r>
            <a:r>
              <a:rPr>
                <a:solidFill>
                  <a:srgbClr val="595959"/>
                </a:solidFill>
              </a:rPr>
              <a:t>(request):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669900"/>
                </a:solidFill>
              </a:rPr>
              <a:t>"""</a:t>
            </a:r>
            <a:endParaRPr>
              <a:solidFill>
                <a:srgbClr val="669900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66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上传文件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66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"""</a:t>
            </a:r>
            <a:r>
              <a:rPr>
                <a:solidFill>
                  <a:srgbClr val="595959"/>
                </a:solidFill>
              </a:rPr>
              <a:t> 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template </a:t>
            </a:r>
            <a:r>
              <a:rPr>
                <a:solidFill>
                  <a:srgbClr val="D73A49"/>
                </a:solidFill>
              </a:rPr>
              <a:t>=</a:t>
            </a:r>
            <a:r>
              <a:t> request.</a:t>
            </a:r>
            <a:r>
              <a:rPr>
                <a:solidFill>
                  <a:srgbClr val="005CC5"/>
                </a:solidFill>
              </a:rPr>
              <a:t>FILES</a:t>
            </a:r>
            <a:r>
              <a:t>.</a:t>
            </a:r>
            <a:r>
              <a:rPr>
                <a:solidFill>
                  <a:srgbClr val="005CC5"/>
                </a:solidFill>
              </a:rPr>
              <a:t>get</a:t>
            </a:r>
            <a:r>
              <a:t>(</a:t>
            </a:r>
            <a:r>
              <a:rPr>
                <a:solidFill>
                  <a:srgbClr val="669900"/>
                </a:solidFill>
              </a:rPr>
              <a:t>'template'</a:t>
            </a:r>
            <a:r>
              <a:t>, </a:t>
            </a:r>
            <a:r>
              <a:rPr>
                <a:solidFill>
                  <a:srgbClr val="D73A49"/>
                </a:solidFill>
              </a:rPr>
              <a:t>None</a:t>
            </a:r>
            <a:r>
              <a:t>)  </a:t>
            </a:r>
            <a:r>
              <a:rPr>
                <a:solidFill>
                  <a:srgbClr val="6A737D"/>
                </a:solidFill>
              </a:rPr>
              <a:t># 获取模板文件</a:t>
            </a:r>
            <a:endParaRPr>
              <a:solidFill>
                <a:srgbClr val="6A737D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D73A49"/>
                </a:solidFill>
              </a:rPr>
              <a:t>if</a:t>
            </a:r>
            <a:r>
              <a:t> </a:t>
            </a:r>
            <a:r>
              <a:rPr>
                <a:solidFill>
                  <a:srgbClr val="D73A49"/>
                </a:solidFill>
              </a:rPr>
              <a:t>not</a:t>
            </a:r>
            <a:r>
              <a:t> template:  </a:t>
            </a:r>
            <a:r>
              <a:rPr>
                <a:solidFill>
                  <a:srgbClr val="6A737D"/>
                </a:solidFill>
              </a:rPr>
              <a:t># 模板不存在</a:t>
            </a:r>
            <a:endParaRPr>
              <a:solidFill>
                <a:srgbClr val="6A737D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D73A49"/>
                </a:solidFill>
              </a:rPr>
              <a:t>return</a:t>
            </a:r>
            <a:r>
              <a:t> render(request, </a:t>
            </a:r>
            <a:r>
              <a:rPr>
                <a:solidFill>
                  <a:srgbClr val="669900"/>
                </a:solidFill>
              </a:rPr>
              <a:t>'err.html'</a:t>
            </a:r>
            <a:r>
              <a:t>, FileNotFound)</a:t>
            </a:r>
          </a:p>
          <a:p>
            <a:pPr defTabSz="457200">
              <a:lnSpc>
                <a:spcPts val="2800"/>
              </a:lnSpc>
              <a:defRPr sz="1200">
                <a:solidFill>
                  <a:srgbClr val="6A737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595959"/>
                </a:solidFill>
              </a:rPr>
              <a:t>    </a:t>
            </a:r>
            <a:r>
              <a:rPr>
                <a:solidFill>
                  <a:srgbClr val="D73A49"/>
                </a:solidFill>
              </a:rPr>
              <a:t>if</a:t>
            </a:r>
            <a:r>
              <a:rPr>
                <a:solidFill>
                  <a:srgbClr val="595959"/>
                </a:solidFill>
              </a:rPr>
              <a:t> template.</a:t>
            </a:r>
            <a:r>
              <a:rPr>
                <a:solidFill>
                  <a:srgbClr val="005CC5"/>
                </a:solidFill>
              </a:rPr>
              <a:t>name</a:t>
            </a:r>
            <a:r>
              <a:rPr>
                <a:solidFill>
                  <a:srgbClr val="595959"/>
                </a:solidFill>
              </a:rPr>
              <a:t>.</a:t>
            </a:r>
            <a:r>
              <a:rPr>
                <a:solidFill>
                  <a:srgbClr val="005CC5"/>
                </a:solidFill>
              </a:rPr>
              <a:t>split</a:t>
            </a:r>
            <a:r>
              <a:rPr>
                <a:solidFill>
                  <a:srgbClr val="595959"/>
                </a:solidFill>
              </a:rPr>
              <a:t>(</a:t>
            </a:r>
            <a:r>
              <a:rPr>
                <a:solidFill>
                  <a:srgbClr val="669900"/>
                </a:solidFill>
              </a:rPr>
              <a:t>'.'</a:t>
            </a:r>
            <a:r>
              <a:rPr>
                <a:solidFill>
                  <a:srgbClr val="595959"/>
                </a:solidFill>
              </a:rPr>
              <a:t>)[</a:t>
            </a:r>
            <a:r>
              <a:rPr>
                <a:solidFill>
                  <a:srgbClr val="D73A49"/>
                </a:solidFill>
              </a:rPr>
              <a:t>-</a:t>
            </a:r>
            <a:r>
              <a:rPr>
                <a:solidFill>
                  <a:srgbClr val="005CC5"/>
                </a:solidFill>
              </a:rPr>
              <a:t>1</a:t>
            </a:r>
            <a:r>
              <a:rPr>
                <a:solidFill>
                  <a:srgbClr val="595959"/>
                </a:solidFill>
              </a:rPr>
              <a:t>] </a:t>
            </a:r>
            <a:r>
              <a:rPr>
                <a:solidFill>
                  <a:srgbClr val="D73A49"/>
                </a:solidFill>
              </a:rPr>
              <a:t>not</a:t>
            </a:r>
            <a:r>
              <a:rPr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D73A49"/>
                </a:solidFill>
              </a:rPr>
              <a:t>in</a:t>
            </a:r>
            <a:r>
              <a:rPr>
                <a:solidFill>
                  <a:srgbClr val="595959"/>
                </a:solidFill>
              </a:rPr>
              <a:t> [</a:t>
            </a:r>
            <a:r>
              <a:rPr>
                <a:solidFill>
                  <a:srgbClr val="669900"/>
                </a:solidFill>
              </a:rPr>
              <a:t>'xls'</a:t>
            </a:r>
            <a:r>
              <a:rPr>
                <a:solidFill>
                  <a:srgbClr val="595959"/>
                </a:solidFill>
              </a:rPr>
              <a:t>, </a:t>
            </a:r>
            <a:r>
              <a:rPr>
                <a:solidFill>
                  <a:srgbClr val="669900"/>
                </a:solidFill>
              </a:rPr>
              <a:t>'xlsx'</a:t>
            </a:r>
            <a:r>
              <a:rPr>
                <a:solidFill>
                  <a:srgbClr val="595959"/>
                </a:solidFill>
              </a:rPr>
              <a:t>]:  </a:t>
            </a:r>
            <a:r>
              <a:t># 模板格式为xls或者xlsx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D73A49"/>
                </a:solidFill>
              </a:rPr>
              <a:t>return</a:t>
            </a:r>
            <a:r>
              <a:t> render(request, </a:t>
            </a:r>
            <a:r>
              <a:rPr>
                <a:solidFill>
                  <a:srgbClr val="669900"/>
                </a:solidFill>
              </a:rPr>
              <a:t>'err.html'</a:t>
            </a:r>
            <a:r>
              <a:t>, FileTypeError)</a:t>
            </a: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D73A49"/>
                </a:solidFill>
              </a:rPr>
              <a:t>if</a:t>
            </a:r>
            <a:r>
              <a:t> </a:t>
            </a:r>
            <a:r>
              <a:rPr>
                <a:solidFill>
                  <a:srgbClr val="D73A49"/>
                </a:solidFill>
              </a:rPr>
              <a:t>not</a:t>
            </a:r>
            <a:r>
              <a:t> os.</a:t>
            </a:r>
            <a:r>
              <a:rPr>
                <a:solidFill>
                  <a:srgbClr val="005CC5"/>
                </a:solidFill>
              </a:rPr>
              <a:t>path</a:t>
            </a:r>
            <a:r>
              <a:t>.</a:t>
            </a:r>
            <a:r>
              <a:rPr>
                <a:solidFill>
                  <a:srgbClr val="005CC5"/>
                </a:solidFill>
              </a:rPr>
              <a:t>exists</a:t>
            </a:r>
            <a:r>
              <a:t>(settings.</a:t>
            </a:r>
            <a:r>
              <a:rPr>
                <a:solidFill>
                  <a:srgbClr val="005CC5"/>
                </a:solidFill>
              </a:rPr>
              <a:t>BANK_REPO</a:t>
            </a:r>
            <a:r>
              <a:t>):</a:t>
            </a: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os.</a:t>
            </a:r>
            <a:r>
              <a:rPr>
                <a:solidFill>
                  <a:srgbClr val="005CC5"/>
                </a:solidFill>
              </a:rPr>
              <a:t>mkdir</a:t>
            </a:r>
            <a:r>
              <a:t>(settings.</a:t>
            </a:r>
            <a:r>
              <a:rPr>
                <a:solidFill>
                  <a:srgbClr val="005CC5"/>
                </a:solidFill>
              </a:rPr>
              <a:t>BANK_REPO</a:t>
            </a:r>
            <a:r>
              <a:t>)  </a:t>
            </a:r>
            <a:r>
              <a:rPr>
                <a:solidFill>
                  <a:srgbClr val="6A737D"/>
                </a:solidFill>
              </a:rPr>
              <a:t># 不存在该目录则创建</a:t>
            </a:r>
            <a:endParaRPr>
              <a:solidFill>
                <a:srgbClr val="6A737D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final_path </a:t>
            </a:r>
            <a:r>
              <a:rPr>
                <a:solidFill>
                  <a:srgbClr val="D73A49"/>
                </a:solidFill>
              </a:rPr>
              <a:t>=</a:t>
            </a:r>
            <a:r>
              <a:t> settings.</a:t>
            </a:r>
            <a:r>
              <a:rPr>
                <a:solidFill>
                  <a:srgbClr val="005CC5"/>
                </a:solidFill>
              </a:rPr>
              <a:t>BANK_REPO</a:t>
            </a:r>
            <a:r>
              <a:t> </a:t>
            </a:r>
            <a:r>
              <a:rPr>
                <a:solidFill>
                  <a:srgbClr val="D73A49"/>
                </a:solidFill>
              </a:rPr>
              <a:t>+</a:t>
            </a:r>
            <a:r>
              <a:t> </a:t>
            </a:r>
            <a:r>
              <a:rPr>
                <a:solidFill>
                  <a:srgbClr val="669900"/>
                </a:solidFill>
              </a:rPr>
              <a:t>'.xlsx'</a:t>
            </a:r>
            <a:r>
              <a:t>  </a:t>
            </a:r>
            <a:r>
              <a:rPr>
                <a:solidFill>
                  <a:srgbClr val="6A737D"/>
                </a:solidFill>
              </a:rPr>
              <a:t># 生成文件名</a:t>
            </a:r>
            <a:endParaRPr>
              <a:solidFill>
                <a:srgbClr val="6A737D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D73A49"/>
                </a:solidFill>
              </a:rPr>
              <a:t>with</a:t>
            </a:r>
            <a:r>
              <a:t> </a:t>
            </a:r>
            <a:r>
              <a:rPr>
                <a:solidFill>
                  <a:srgbClr val="6F42C1"/>
                </a:solidFill>
              </a:rPr>
              <a:t>open</a:t>
            </a:r>
            <a:r>
              <a:t>(final_path, </a:t>
            </a:r>
            <a:r>
              <a:rPr>
                <a:solidFill>
                  <a:srgbClr val="669900"/>
                </a:solidFill>
              </a:rPr>
              <a:t>'wb+'</a:t>
            </a:r>
            <a:r>
              <a:t>) </a:t>
            </a:r>
            <a:r>
              <a:rPr>
                <a:solidFill>
                  <a:srgbClr val="D73A49"/>
                </a:solidFill>
              </a:rPr>
              <a:t>as</a:t>
            </a:r>
            <a:r>
              <a:t> f:  </a:t>
            </a:r>
            <a:r>
              <a:rPr>
                <a:solidFill>
                  <a:srgbClr val="6A737D"/>
                </a:solidFill>
              </a:rPr>
              <a:t># 保存到目录</a:t>
            </a:r>
            <a:endParaRPr>
              <a:solidFill>
                <a:srgbClr val="6A737D"/>
              </a:solidFill>
            </a:endParaRPr>
          </a:p>
          <a:p>
            <a:pPr defTabSz="457200">
              <a:lnSpc>
                <a:spcPts val="2800"/>
              </a:lnSpc>
              <a:defRPr sz="12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f.</a:t>
            </a:r>
            <a:r>
              <a:rPr>
                <a:solidFill>
                  <a:srgbClr val="005CC5"/>
                </a:solidFill>
              </a:rPr>
              <a:t>write</a:t>
            </a:r>
            <a:r>
              <a:t>(template.</a:t>
            </a:r>
            <a:r>
              <a:rPr>
                <a:solidFill>
                  <a:srgbClr val="005CC5"/>
                </a:solidFill>
              </a:rPr>
              <a:t>read</a:t>
            </a:r>
            <a:r>
              <a:t>()</a:t>
            </a:r>
          </a:p>
          <a:p>
            <a:pPr defTabSz="457200">
              <a:lnSpc>
                <a:spcPts val="4000"/>
              </a:lnSpc>
              <a:defRPr sz="1400">
                <a:solidFill>
                  <a:srgbClr val="262626"/>
                </a:solidFill>
                <a:latin typeface="Times"/>
                <a:ea typeface="Times"/>
                <a:cs typeface="Times"/>
                <a:sym typeface="Times"/>
              </a:defRPr>
            </a:p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5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使用xlrd读取Excel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data = xlrd.open_workbook('excelFile.xls') # 打开一个Excel文件…"/>
          <p:cNvSpPr txBox="1"/>
          <p:nvPr/>
        </p:nvSpPr>
        <p:spPr>
          <a:xfrm>
            <a:off x="1141730" y="1524000"/>
            <a:ext cx="7542273" cy="17932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defTabSz="457200">
              <a:lnSpc>
                <a:spcPts val="4000"/>
              </a:lnSpc>
              <a:defRPr sz="1400">
                <a:solidFill>
                  <a:srgbClr val="262626"/>
                </a:solidFill>
                <a:latin typeface="Times"/>
                <a:ea typeface="Times"/>
                <a:cs typeface="Times"/>
                <a:sym typeface="Times"/>
              </a:defRPr>
            </a:pPr>
          </a:p>
          <a:p>
            <a:pPr defTabSz="457200">
              <a:lnSpc>
                <a:spcPts val="3300"/>
              </a:lnSpc>
              <a:defRPr sz="1600">
                <a:solidFill>
                  <a:srgbClr val="66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595959"/>
                </a:solidFill>
              </a:rPr>
              <a:t>data </a:t>
            </a:r>
            <a:r>
              <a:rPr>
                <a:solidFill>
                  <a:srgbClr val="D73A49"/>
                </a:solidFill>
              </a:rPr>
              <a:t>=</a:t>
            </a:r>
            <a:r>
              <a:rPr>
                <a:solidFill>
                  <a:srgbClr val="595959"/>
                </a:solidFill>
              </a:rPr>
              <a:t> xlrd.</a:t>
            </a:r>
            <a:r>
              <a:rPr>
                <a:solidFill>
                  <a:srgbClr val="005CC5"/>
                </a:solidFill>
              </a:rPr>
              <a:t>open_workbook</a:t>
            </a:r>
            <a:r>
              <a:rPr>
                <a:solidFill>
                  <a:srgbClr val="595959"/>
                </a:solidFill>
              </a:rPr>
              <a:t>(</a:t>
            </a:r>
            <a:r>
              <a:t>'excelFile.xls'</a:t>
            </a:r>
            <a:r>
              <a:rPr>
                <a:solidFill>
                  <a:srgbClr val="595959"/>
                </a:solidFill>
              </a:rPr>
              <a:t>) </a:t>
            </a:r>
            <a:r>
              <a:rPr>
                <a:solidFill>
                  <a:srgbClr val="6A737D"/>
                </a:solidFill>
              </a:rPr>
              <a:t># 打开一个Excel文件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6A737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获取工作表相关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table </a:t>
            </a:r>
            <a:r>
              <a:rPr>
                <a:solidFill>
                  <a:srgbClr val="D73A49"/>
                </a:solidFill>
              </a:rPr>
              <a:t>=</a:t>
            </a:r>
            <a:r>
              <a:t> data.</a:t>
            </a:r>
            <a:r>
              <a:rPr>
                <a:solidFill>
                  <a:srgbClr val="005CC5"/>
                </a:solidFill>
              </a:rPr>
              <a:t>sheets</a:t>
            </a:r>
            <a:r>
              <a:t>()[</a:t>
            </a:r>
            <a:r>
              <a:rPr>
                <a:solidFill>
                  <a:srgbClr val="005CC5"/>
                </a:solidFill>
              </a:rPr>
              <a:t>0</a:t>
            </a:r>
            <a:r>
              <a:t>]          </a:t>
            </a:r>
            <a:r>
              <a:rPr>
                <a:solidFill>
                  <a:srgbClr val="6A737D"/>
                </a:solidFill>
              </a:rPr>
              <a:t>#通过索引顺序获取</a:t>
            </a:r>
            <a:endParaRPr>
              <a:solidFill>
                <a:srgbClr val="6A737D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005CC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595959"/>
                </a:solidFill>
              </a:rPr>
              <a:t>table </a:t>
            </a:r>
            <a:r>
              <a:rPr>
                <a:solidFill>
                  <a:srgbClr val="D73A49"/>
                </a:solidFill>
              </a:rPr>
              <a:t>=</a:t>
            </a:r>
            <a:r>
              <a:rPr>
                <a:solidFill>
                  <a:srgbClr val="595959"/>
                </a:solidFill>
              </a:rPr>
              <a:t> data.</a:t>
            </a:r>
            <a:r>
              <a:t>sheet_by_index</a:t>
            </a:r>
            <a:r>
              <a:rPr>
                <a:solidFill>
                  <a:srgbClr val="595959"/>
                </a:solidFill>
              </a:rPr>
              <a:t>(</a:t>
            </a:r>
            <a:r>
              <a:t>0</a:t>
            </a:r>
            <a:r>
              <a:rPr>
                <a:solidFill>
                  <a:srgbClr val="595959"/>
                </a:solidFill>
              </a:rPr>
              <a:t>) </a:t>
            </a:r>
            <a:r>
              <a:rPr>
                <a:solidFill>
                  <a:srgbClr val="6A737D"/>
                </a:solidFill>
              </a:rPr>
              <a:t>#通过索引顺序获取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005CC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595959"/>
                </a:solidFill>
              </a:rPr>
              <a:t>table </a:t>
            </a:r>
            <a:r>
              <a:rPr>
                <a:solidFill>
                  <a:srgbClr val="D73A49"/>
                </a:solidFill>
              </a:rPr>
              <a:t>=</a:t>
            </a:r>
            <a:r>
              <a:rPr>
                <a:solidFill>
                  <a:srgbClr val="595959"/>
                </a:solidFill>
              </a:rPr>
              <a:t> data.</a:t>
            </a:r>
            <a:r>
              <a:t>sheet_by_name</a:t>
            </a:r>
            <a:r>
              <a:rPr>
                <a:solidFill>
                  <a:srgbClr val="595959"/>
                </a:solidFill>
              </a:rPr>
              <a:t>(</a:t>
            </a:r>
            <a:r>
              <a:rPr>
                <a:solidFill>
                  <a:srgbClr val="669900"/>
                </a:solidFill>
              </a:rPr>
              <a:t>u'Sheet1'</a:t>
            </a:r>
            <a:r>
              <a:rPr>
                <a:solidFill>
                  <a:srgbClr val="595959"/>
                </a:solidFill>
              </a:rPr>
              <a:t>)</a:t>
            </a:r>
            <a:r>
              <a:rPr>
                <a:solidFill>
                  <a:srgbClr val="6A737D"/>
                </a:solidFill>
              </a:rPr>
              <a:t>#通过名称获取</a:t>
            </a:r>
            <a:endParaRPr>
              <a:solidFill>
                <a:srgbClr val="6A737D"/>
              </a:solidFill>
            </a:endParaRPr>
          </a:p>
        </p:txBody>
      </p:sp>
      <p:grpSp>
        <p:nvGrpSpPr>
          <p:cNvPr id="160" name="组合 4"/>
          <p:cNvGrpSpPr/>
          <p:nvPr/>
        </p:nvGrpSpPr>
        <p:grpSpPr>
          <a:xfrm>
            <a:off x="141285" y="809493"/>
            <a:ext cx="8861430" cy="559278"/>
            <a:chOff x="0" y="0"/>
            <a:chExt cx="8861428" cy="559276"/>
          </a:xfrm>
        </p:grpSpPr>
        <p:sp>
          <p:nvSpPr>
            <p:cNvPr id="158" name="标题 8"/>
            <p:cNvSpPr/>
            <p:nvPr/>
          </p:nvSpPr>
          <p:spPr>
            <a:xfrm>
              <a:off x="1094712" y="0"/>
              <a:ext cx="7766717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xlrd基本用法</a:t>
              </a:r>
            </a:p>
          </p:txBody>
        </p:sp>
        <p:pic>
          <p:nvPicPr>
            <p:cNvPr id="159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3663"/>
              <a:ext cx="1066800" cy="45561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# 获取整行和整列的值（数组）…"/>
          <p:cNvSpPr txBox="1"/>
          <p:nvPr/>
        </p:nvSpPr>
        <p:spPr>
          <a:xfrm>
            <a:off x="1258262" y="1687829"/>
            <a:ext cx="3884276" cy="2377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defTabSz="457200">
              <a:lnSpc>
                <a:spcPts val="3300"/>
              </a:lnSpc>
              <a:defRPr sz="1600">
                <a:solidFill>
                  <a:srgbClr val="6A737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获取整行和整列的值（数组）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005CC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595959"/>
                </a:solidFill>
              </a:rPr>
              <a:t>table.</a:t>
            </a:r>
            <a:r>
              <a:t>row_values</a:t>
            </a:r>
            <a:r>
              <a:rPr>
                <a:solidFill>
                  <a:srgbClr val="595959"/>
                </a:solidFill>
              </a:rPr>
              <a:t>(i)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005CC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595959"/>
                </a:solidFill>
              </a:rPr>
              <a:t>table.</a:t>
            </a:r>
            <a:r>
              <a:t>col_values</a:t>
            </a:r>
            <a:r>
              <a:rPr>
                <a:solidFill>
                  <a:srgbClr val="595959"/>
                </a:solidFill>
              </a:rPr>
              <a:t>(i)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6A737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行数和列数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nrows </a:t>
            </a:r>
            <a:r>
              <a:rPr>
                <a:solidFill>
                  <a:srgbClr val="D73A49"/>
                </a:solidFill>
              </a:rPr>
              <a:t>=</a:t>
            </a:r>
            <a:r>
              <a:t> table.</a:t>
            </a:r>
            <a:r>
              <a:rPr>
                <a:solidFill>
                  <a:srgbClr val="005CC5"/>
                </a:solidFill>
              </a:rPr>
              <a:t>nrows</a:t>
            </a:r>
            <a:endParaRPr>
              <a:solidFill>
                <a:srgbClr val="005CC5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ncols </a:t>
            </a:r>
            <a:r>
              <a:rPr>
                <a:solidFill>
                  <a:srgbClr val="D73A49"/>
                </a:solidFill>
              </a:rPr>
              <a:t>=</a:t>
            </a:r>
            <a:r>
              <a:t> table.</a:t>
            </a:r>
            <a:r>
              <a:rPr>
                <a:solidFill>
                  <a:srgbClr val="005CC5"/>
                </a:solidFill>
              </a:rPr>
              <a:t>ncols</a:t>
            </a:r>
            <a:endParaRPr>
              <a:solidFill>
                <a:srgbClr val="005CC5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6A737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行列表数据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D73A49"/>
                </a:solidFill>
              </a:rPr>
              <a:t>for</a:t>
            </a:r>
            <a:r>
              <a:t> i </a:t>
            </a:r>
            <a:r>
              <a:rPr>
                <a:solidFill>
                  <a:srgbClr val="D73A49"/>
                </a:solidFill>
              </a:rPr>
              <a:t>in</a:t>
            </a:r>
            <a:r>
              <a:t> </a:t>
            </a:r>
            <a:r>
              <a:rPr>
                <a:solidFill>
                  <a:srgbClr val="6F42C1"/>
                </a:solidFill>
              </a:rPr>
              <a:t>range</a:t>
            </a:r>
            <a:r>
              <a:t>(nrows ):</a:t>
            </a:r>
          </a:p>
          <a:p>
            <a:pPr defTabSz="457200">
              <a:lnSpc>
                <a:spcPts val="3300"/>
              </a:lnSpc>
              <a:defRPr sz="1600">
                <a:solidFill>
                  <a:srgbClr val="005CC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595959"/>
                </a:solidFill>
              </a:rPr>
              <a:t>      </a:t>
            </a:r>
            <a:r>
              <a:rPr>
                <a:solidFill>
                  <a:srgbClr val="6F42C1"/>
                </a:solidFill>
              </a:rPr>
              <a:t>print</a:t>
            </a:r>
            <a:r>
              <a:rPr>
                <a:solidFill>
                  <a:srgbClr val="595959"/>
                </a:solidFill>
              </a:rPr>
              <a:t> table.</a:t>
            </a:r>
            <a:r>
              <a:t>row_values</a:t>
            </a:r>
            <a:r>
              <a:rPr>
                <a:solidFill>
                  <a:srgbClr val="595959"/>
                </a:solidFill>
              </a:rPr>
              <a:t>(i)</a:t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165" name="组合 4"/>
          <p:cNvGrpSpPr/>
          <p:nvPr/>
        </p:nvGrpSpPr>
        <p:grpSpPr>
          <a:xfrm>
            <a:off x="141285" y="809493"/>
            <a:ext cx="8861430" cy="559278"/>
            <a:chOff x="0" y="0"/>
            <a:chExt cx="8861428" cy="559276"/>
          </a:xfrm>
        </p:grpSpPr>
        <p:sp>
          <p:nvSpPr>
            <p:cNvPr id="163" name="标题 8"/>
            <p:cNvSpPr/>
            <p:nvPr/>
          </p:nvSpPr>
          <p:spPr>
            <a:xfrm>
              <a:off x="1094712" y="0"/>
              <a:ext cx="7766717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xlrd基本用法</a:t>
              </a:r>
            </a:p>
          </p:txBody>
        </p:sp>
        <p:pic>
          <p:nvPicPr>
            <p:cNvPr id="164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3663"/>
              <a:ext cx="1066800" cy="45561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组合 4"/>
          <p:cNvGrpSpPr/>
          <p:nvPr/>
        </p:nvGrpSpPr>
        <p:grpSpPr>
          <a:xfrm>
            <a:off x="141285" y="809493"/>
            <a:ext cx="8861430" cy="559278"/>
            <a:chOff x="0" y="0"/>
            <a:chExt cx="8861428" cy="559276"/>
          </a:xfrm>
        </p:grpSpPr>
        <p:sp>
          <p:nvSpPr>
            <p:cNvPr id="167" name="标题 8"/>
            <p:cNvSpPr/>
            <p:nvPr/>
          </p:nvSpPr>
          <p:spPr>
            <a:xfrm>
              <a:off x="1094712" y="0"/>
              <a:ext cx="7766717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xlrd基本用法</a:t>
              </a:r>
            </a:p>
          </p:txBody>
        </p:sp>
        <p:pic>
          <p:nvPicPr>
            <p:cNvPr id="168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3663"/>
              <a:ext cx="1066800" cy="45561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70" name="# 单元格相关…"/>
          <p:cNvSpPr txBox="1"/>
          <p:nvPr/>
        </p:nvSpPr>
        <p:spPr>
          <a:xfrm>
            <a:off x="1278651" y="1526539"/>
            <a:ext cx="4006216" cy="18567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defTabSz="457200">
              <a:lnSpc>
                <a:spcPts val="3300"/>
              </a:lnSpc>
              <a:defRPr sz="1600">
                <a:solidFill>
                  <a:srgbClr val="005CC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6A737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单元格相关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cell_A1 </a:t>
            </a:r>
            <a:r>
              <a:rPr>
                <a:solidFill>
                  <a:srgbClr val="D73A49"/>
                </a:solidFill>
              </a:rPr>
              <a:t>=</a:t>
            </a:r>
            <a:r>
              <a:t> table.</a:t>
            </a:r>
            <a:r>
              <a:rPr>
                <a:solidFill>
                  <a:srgbClr val="005CC5"/>
                </a:solidFill>
              </a:rPr>
              <a:t>cell</a:t>
            </a:r>
            <a:r>
              <a:t>(</a:t>
            </a:r>
            <a:r>
              <a:rPr>
                <a:solidFill>
                  <a:srgbClr val="005CC5"/>
                </a:solidFill>
              </a:rPr>
              <a:t>0</a:t>
            </a:r>
            <a:r>
              <a:t>,</a:t>
            </a:r>
            <a:r>
              <a:rPr>
                <a:solidFill>
                  <a:srgbClr val="005CC5"/>
                </a:solidFill>
              </a:rPr>
              <a:t>0</a:t>
            </a:r>
            <a:r>
              <a:t>).</a:t>
            </a:r>
            <a:r>
              <a:rPr>
                <a:solidFill>
                  <a:srgbClr val="005CC5"/>
                </a:solidFill>
              </a:rPr>
              <a:t>value</a:t>
            </a:r>
            <a:endParaRPr>
              <a:solidFill>
                <a:srgbClr val="005CC5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cell_C4 </a:t>
            </a:r>
            <a:r>
              <a:rPr>
                <a:solidFill>
                  <a:srgbClr val="D73A49"/>
                </a:solidFill>
              </a:rPr>
              <a:t>=</a:t>
            </a:r>
            <a:r>
              <a:t> table.</a:t>
            </a:r>
            <a:r>
              <a:rPr>
                <a:solidFill>
                  <a:srgbClr val="005CC5"/>
                </a:solidFill>
              </a:rPr>
              <a:t>cell</a:t>
            </a:r>
            <a:r>
              <a:t>(</a:t>
            </a:r>
            <a:r>
              <a:rPr>
                <a:solidFill>
                  <a:srgbClr val="005CC5"/>
                </a:solidFill>
              </a:rPr>
              <a:t>2</a:t>
            </a:r>
            <a:r>
              <a:t>,</a:t>
            </a:r>
            <a:r>
              <a:rPr>
                <a:solidFill>
                  <a:srgbClr val="005CC5"/>
                </a:solidFill>
              </a:rPr>
              <a:t>3</a:t>
            </a:r>
            <a:r>
              <a:t>).</a:t>
            </a:r>
            <a:r>
              <a:rPr>
                <a:solidFill>
                  <a:srgbClr val="005CC5"/>
                </a:solidFill>
              </a:rPr>
              <a:t>value</a:t>
            </a:r>
            <a:endParaRPr>
              <a:solidFill>
                <a:srgbClr val="005CC5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6A737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使用行列索引</a:t>
            </a:r>
            <a:endParaRPr>
              <a:solidFill>
                <a:srgbClr val="595959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cell_A1 </a:t>
            </a:r>
            <a:r>
              <a:rPr>
                <a:solidFill>
                  <a:srgbClr val="D73A49"/>
                </a:solidFill>
              </a:rPr>
              <a:t>=</a:t>
            </a:r>
            <a:r>
              <a:t> table.</a:t>
            </a:r>
            <a:r>
              <a:rPr>
                <a:solidFill>
                  <a:srgbClr val="005CC5"/>
                </a:solidFill>
              </a:rPr>
              <a:t>row</a:t>
            </a:r>
            <a:r>
              <a:t>(</a:t>
            </a:r>
            <a:r>
              <a:rPr>
                <a:solidFill>
                  <a:srgbClr val="005CC5"/>
                </a:solidFill>
              </a:rPr>
              <a:t>0</a:t>
            </a:r>
            <a:r>
              <a:t>)[</a:t>
            </a:r>
            <a:r>
              <a:rPr>
                <a:solidFill>
                  <a:srgbClr val="005CC5"/>
                </a:solidFill>
              </a:rPr>
              <a:t>0</a:t>
            </a:r>
            <a:r>
              <a:t>].</a:t>
            </a:r>
            <a:r>
              <a:rPr>
                <a:solidFill>
                  <a:srgbClr val="005CC5"/>
                </a:solidFill>
              </a:rPr>
              <a:t>value</a:t>
            </a:r>
            <a:endParaRPr>
              <a:solidFill>
                <a:srgbClr val="005CC5"/>
              </a:solidFill>
            </a:endParaRPr>
          </a:p>
          <a:p>
            <a:pPr defTabSz="457200">
              <a:lnSpc>
                <a:spcPts val="3300"/>
              </a:lnSpc>
              <a:defRPr sz="1600">
                <a:solidFill>
                  <a:srgbClr val="5959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cell_A2 </a:t>
            </a:r>
            <a:r>
              <a:rPr>
                <a:solidFill>
                  <a:srgbClr val="D73A49"/>
                </a:solidFill>
              </a:rPr>
              <a:t>=</a:t>
            </a:r>
            <a:r>
              <a:t> table.</a:t>
            </a:r>
            <a:r>
              <a:rPr>
                <a:solidFill>
                  <a:srgbClr val="005CC5"/>
                </a:solidFill>
              </a:rPr>
              <a:t>col</a:t>
            </a:r>
            <a:r>
              <a:t>(</a:t>
            </a:r>
            <a:r>
              <a:rPr>
                <a:solidFill>
                  <a:srgbClr val="005CC5"/>
                </a:solidFill>
              </a:rPr>
              <a:t>1</a:t>
            </a:r>
            <a:r>
              <a:t>)[</a:t>
            </a:r>
            <a:r>
              <a:rPr>
                <a:solidFill>
                  <a:srgbClr val="005CC5"/>
                </a:solidFill>
              </a:rPr>
              <a:t>0</a:t>
            </a:r>
            <a:r>
              <a:t>].</a:t>
            </a:r>
            <a:r>
              <a:rPr>
                <a:solidFill>
                  <a:srgbClr val="005CC5"/>
                </a:solidFill>
              </a:rPr>
              <a:t>value</a:t>
            </a:r>
            <a:endParaRPr>
              <a:solidFill>
                <a:srgbClr val="005CC5"/>
              </a:solidFill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组合 4"/>
          <p:cNvGrpSpPr/>
          <p:nvPr/>
        </p:nvGrpSpPr>
        <p:grpSpPr>
          <a:xfrm>
            <a:off x="76200" y="791686"/>
            <a:ext cx="8852525" cy="559277"/>
            <a:chOff x="0" y="0"/>
            <a:chExt cx="8852525" cy="559276"/>
          </a:xfrm>
        </p:grpSpPr>
        <p:sp>
          <p:nvSpPr>
            <p:cNvPr id="172" name="标题 8"/>
            <p:cNvSpPr/>
            <p:nvPr/>
          </p:nvSpPr>
          <p:spPr>
            <a:xfrm>
              <a:off x="1085809" y="0"/>
              <a:ext cx="7766717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长轮询</a:t>
              </a:r>
            </a:p>
          </p:txBody>
        </p:sp>
        <p:pic>
          <p:nvPicPr>
            <p:cNvPr id="173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3663"/>
              <a:ext cx="1066800" cy="45561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pic>
        <p:nvPicPr>
          <p:cNvPr id="175" name="image14.png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622" y="1733872"/>
            <a:ext cx="3472756" cy="272890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8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数据库设计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组合 4"/>
          <p:cNvGrpSpPr/>
          <p:nvPr/>
        </p:nvGrpSpPr>
        <p:grpSpPr>
          <a:xfrm>
            <a:off x="141285" y="809493"/>
            <a:ext cx="8861430" cy="559278"/>
            <a:chOff x="0" y="0"/>
            <a:chExt cx="8861428" cy="559276"/>
          </a:xfrm>
        </p:grpSpPr>
        <p:sp>
          <p:nvSpPr>
            <p:cNvPr id="180" name="标题 8"/>
            <p:cNvSpPr/>
            <p:nvPr/>
          </p:nvSpPr>
          <p:spPr>
            <a:xfrm>
              <a:off x="1094712" y="0"/>
              <a:ext cx="7766717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数据表</a:t>
              </a:r>
            </a:p>
          </p:txBody>
        </p:sp>
        <p:pic>
          <p:nvPicPr>
            <p:cNvPr id="181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3663"/>
              <a:ext cx="1066800" cy="45561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graphicFrame>
        <p:nvGraphicFramePr>
          <p:cNvPr id="183" name="表格"/>
          <p:cNvGraphicFramePr/>
          <p:nvPr/>
        </p:nvGraphicFramePr>
        <p:xfrm>
          <a:off x="1018897" y="2197100"/>
          <a:ext cx="7106204" cy="1592610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1520150"/>
                <a:gridCol w="1896189"/>
                <a:gridCol w="3689865"/>
              </a:tblGrid>
              <a:tr h="265434">
                <a:tc>
                  <a:txBody>
                    <a:bodyPr/>
                    <a:lstStyle/>
                    <a:p>
                      <a:pPr algn="ctr" defTabSz="457200">
                        <a:lnSpc>
                          <a:spcPts val="26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表名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ts val="26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含义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ts val="26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作用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t_group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135">
                          <a:sym typeface="Calibri" panose="020F0502020204030204"/>
                        </a:defRPr>
                      </a:pPr>
                      <a:r>
                        <a:t>用户组表</a:t>
                      </a: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135">
                          <a:sym typeface="Calibri" panose="020F0502020204030204"/>
                        </a:defRPr>
                      </a:pPr>
                      <a:r>
                        <a:t>用于存储用户组信息</a:t>
                      </a: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t_user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用户表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600"/>
                        </a:lnSpc>
                        <a:spcBef>
                          <a:spcPts val="200"/>
                        </a:spcBef>
                        <a:defRPr sz="1135">
                          <a:sym typeface="Calibri" panose="020F0502020204030204"/>
                        </a:defRPr>
                      </a:pPr>
                      <a:r>
                        <a:t>用于存储用户信息</a:t>
                      </a: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t_tag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标签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600"/>
                        </a:lnSpc>
                        <a:spcBef>
                          <a:spcPts val="200"/>
                        </a:spcBef>
                        <a:defRPr sz="1135">
                          <a:sym typeface="Calibri" panose="020F0502020204030204"/>
                        </a:defRPr>
                      </a:pPr>
                      <a:r>
                        <a:t>用于存储标签信息</a:t>
                      </a: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t_question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问题表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600"/>
                        </a:lnSpc>
                        <a:spcBef>
                          <a:spcPts val="200"/>
                        </a:spcBef>
                        <a:defRPr sz="1135">
                          <a:sym typeface="Calibri" panose="020F0502020204030204"/>
                        </a:defRPr>
                      </a:pPr>
                      <a:r>
                        <a:t>用于存储问题信息</a:t>
                      </a: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t_answer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1135">
                          <a:sym typeface="Calibri" panose="020F0502020204030204"/>
                        </a:rPr>
                        <a:t>答案表</a:t>
                      </a:r>
                      <a:endParaRPr sz="1135">
                        <a:sym typeface="Calibri" panose="020F0502020204030204"/>
                      </a:endParaRP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2500"/>
                        </a:lnSpc>
                        <a:spcBef>
                          <a:spcPts val="200"/>
                        </a:spcBef>
                        <a:defRPr sz="1135">
                          <a:sym typeface="Calibri" panose="020F0502020204030204"/>
                        </a:defRPr>
                      </a:pPr>
                      <a:r>
                        <a:t>用于存储答案回复信息</a:t>
                      </a:r>
                    </a:p>
                  </a:txBody>
                  <a:tcPr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组合 4"/>
          <p:cNvGrpSpPr/>
          <p:nvPr/>
        </p:nvGrpSpPr>
        <p:grpSpPr>
          <a:xfrm>
            <a:off x="141285" y="809493"/>
            <a:ext cx="8861430" cy="559278"/>
            <a:chOff x="0" y="0"/>
            <a:chExt cx="8861428" cy="559276"/>
          </a:xfrm>
        </p:grpSpPr>
        <p:sp>
          <p:nvSpPr>
            <p:cNvPr id="185" name="标题 8"/>
            <p:cNvSpPr/>
            <p:nvPr/>
          </p:nvSpPr>
          <p:spPr>
            <a:xfrm>
              <a:off x="1094712" y="0"/>
              <a:ext cx="7766717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r>
                <a:t>数据表模型</a:t>
              </a:r>
            </a:p>
          </p:txBody>
        </p:sp>
        <p:pic>
          <p:nvPicPr>
            <p:cNvPr id="186" name="Picture 4" descr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3663"/>
              <a:ext cx="1066800" cy="45561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pic>
        <p:nvPicPr>
          <p:cNvPr id="188" name="image15.png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971" y="1486418"/>
            <a:ext cx="3808058" cy="341324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1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7.6  用户系统设计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用户注册"/>
          <p:cNvSpPr/>
          <p:nvPr/>
        </p:nvSpPr>
        <p:spPr>
          <a:xfrm>
            <a:off x="1618773" y="2234207"/>
            <a:ext cx="1476694" cy="675086"/>
          </a:xfrm>
          <a:prstGeom prst="roundRect">
            <a:avLst>
              <a:gd name="adj" fmla="val 2821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lvl1pPr algn="ctr"/>
          </a:lstStyle>
          <a:p>
            <a:r>
              <a:t>用户注册</a:t>
            </a:r>
          </a:p>
        </p:txBody>
      </p:sp>
      <p:sp>
        <p:nvSpPr>
          <p:cNvPr id="194" name="用户登录"/>
          <p:cNvSpPr/>
          <p:nvPr/>
        </p:nvSpPr>
        <p:spPr>
          <a:xfrm>
            <a:off x="3879373" y="2234207"/>
            <a:ext cx="1476694" cy="675086"/>
          </a:xfrm>
          <a:prstGeom prst="roundRect">
            <a:avLst>
              <a:gd name="adj" fmla="val 2821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lvl1pPr algn="ctr"/>
          </a:lstStyle>
          <a:p>
            <a:r>
              <a:t>用户登录</a:t>
            </a:r>
          </a:p>
        </p:txBody>
      </p:sp>
      <p:sp>
        <p:nvSpPr>
          <p:cNvPr id="195" name="用户注销"/>
          <p:cNvSpPr/>
          <p:nvPr/>
        </p:nvSpPr>
        <p:spPr>
          <a:xfrm>
            <a:off x="6048533" y="2234207"/>
            <a:ext cx="1476694" cy="675086"/>
          </a:xfrm>
          <a:prstGeom prst="roundRect">
            <a:avLst>
              <a:gd name="adj" fmla="val 2821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lvl1pPr algn="ctr"/>
          </a:lstStyle>
          <a:p>
            <a:r>
              <a:t>用户注销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3" animBg="1" advAuto="0"/>
      <p:bldP spid="194" grpId="2" animBg="1" advAuto="0"/>
      <p:bldP spid="193" grpId="1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8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问题模块设计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47821"/>
            <a:ext cx="6172200" cy="1647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1" name="TextBox 9"/>
          <p:cNvSpPr txBox="1"/>
          <p:nvPr/>
        </p:nvSpPr>
        <p:spPr>
          <a:xfrm>
            <a:off x="2385471" y="2310139"/>
            <a:ext cx="3694774" cy="599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答案长轮询设计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>
        <p:push/>
      </p:transition>
    </mc:Choice>
    <mc:Fallback>
      <p:transition spd="med">
        <p:push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WPS 演示</Application>
  <PresentationFormat/>
  <Paragraphs>159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Arial</vt:lpstr>
      <vt:lpstr>微软雅黑</vt:lpstr>
      <vt:lpstr>Times</vt:lpstr>
      <vt:lpstr>Times New Roman</vt:lpstr>
      <vt:lpstr>Wingdings</vt:lpstr>
      <vt:lpstr>Arial Unicode MS</vt:lpstr>
      <vt:lpstr>Courier</vt:lpstr>
      <vt:lpstr>Times New Roman</vt:lpstr>
      <vt:lpstr>Courier New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方任农</cp:lastModifiedBy>
  <cp:revision>1</cp:revision>
  <dcterms:created xsi:type="dcterms:W3CDTF">2025-12-10T14:32:18Z</dcterms:created>
  <dcterms:modified xsi:type="dcterms:W3CDTF">2025-12-10T14:32:19Z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2052-11.8.2.8053</vt:lpwstr>
  </property>
</Properties>
</file>