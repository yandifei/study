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73"/>
  </p:handoutMasterIdLst>
  <p:sldIdLst>
    <p:sldId id="325" r:id="rId4"/>
    <p:sldId id="264" r:id="rId6"/>
    <p:sldId id="1171" r:id="rId7"/>
    <p:sldId id="926" r:id="rId8"/>
    <p:sldId id="928" r:id="rId9"/>
    <p:sldId id="927" r:id="rId10"/>
    <p:sldId id="942" r:id="rId11"/>
    <p:sldId id="962" r:id="rId12"/>
    <p:sldId id="963" r:id="rId13"/>
    <p:sldId id="964" r:id="rId14"/>
    <p:sldId id="965" r:id="rId15"/>
    <p:sldId id="966" r:id="rId16"/>
    <p:sldId id="967" r:id="rId17"/>
    <p:sldId id="968" r:id="rId18"/>
    <p:sldId id="969" r:id="rId19"/>
    <p:sldId id="970" r:id="rId20"/>
    <p:sldId id="971" r:id="rId21"/>
    <p:sldId id="973" r:id="rId22"/>
    <p:sldId id="976" r:id="rId23"/>
    <p:sldId id="972" r:id="rId24"/>
    <p:sldId id="980" r:id="rId25"/>
    <p:sldId id="981" r:id="rId26"/>
    <p:sldId id="982" r:id="rId27"/>
    <p:sldId id="983" r:id="rId28"/>
    <p:sldId id="984" r:id="rId29"/>
    <p:sldId id="985" r:id="rId30"/>
    <p:sldId id="986" r:id="rId31"/>
    <p:sldId id="987" r:id="rId32"/>
    <p:sldId id="988" r:id="rId33"/>
    <p:sldId id="989" r:id="rId34"/>
    <p:sldId id="991" r:id="rId35"/>
    <p:sldId id="992" r:id="rId36"/>
    <p:sldId id="993" r:id="rId37"/>
    <p:sldId id="994" r:id="rId38"/>
    <p:sldId id="1259" r:id="rId39"/>
    <p:sldId id="1260" r:id="rId40"/>
    <p:sldId id="1261" r:id="rId41"/>
    <p:sldId id="1262" r:id="rId42"/>
    <p:sldId id="1263" r:id="rId43"/>
    <p:sldId id="1264" r:id="rId44"/>
    <p:sldId id="1265" r:id="rId45"/>
    <p:sldId id="1266" r:id="rId46"/>
    <p:sldId id="1267" r:id="rId47"/>
    <p:sldId id="1268" r:id="rId48"/>
    <p:sldId id="1269" r:id="rId49"/>
    <p:sldId id="1272" r:id="rId50"/>
    <p:sldId id="995" r:id="rId51"/>
    <p:sldId id="996" r:id="rId52"/>
    <p:sldId id="997" r:id="rId53"/>
    <p:sldId id="998" r:id="rId54"/>
    <p:sldId id="999" r:id="rId55"/>
    <p:sldId id="1000" r:id="rId56"/>
    <p:sldId id="1001" r:id="rId57"/>
    <p:sldId id="1002" r:id="rId58"/>
    <p:sldId id="1157" r:id="rId59"/>
    <p:sldId id="1158" r:id="rId60"/>
    <p:sldId id="1159" r:id="rId61"/>
    <p:sldId id="1160" r:id="rId62"/>
    <p:sldId id="1161" r:id="rId63"/>
    <p:sldId id="1162" r:id="rId64"/>
    <p:sldId id="1163" r:id="rId65"/>
    <p:sldId id="1164" r:id="rId66"/>
    <p:sldId id="1165" r:id="rId67"/>
    <p:sldId id="1166" r:id="rId68"/>
    <p:sldId id="1167" r:id="rId69"/>
    <p:sldId id="1168" r:id="rId70"/>
    <p:sldId id="338" r:id="rId71"/>
    <p:sldId id="326" r:id="rId72"/>
  </p:sldIdLst>
  <p:sldSz cx="12190095" cy="6859270"/>
  <p:notesSz cx="6858000" cy="9144000"/>
  <p:custDataLst>
    <p:tags r:id="rId78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2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72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方思" initials="mfs" lastIdx="1" clrIdx="0"/>
  <p:cmAuthor id="2" name="LD" initials="L" lastIdx="2" clrIdx="1"/>
  <p:cmAuthor id="3" name="Lv0593" initials="L" lastIdx="15" clrIdx="2"/>
  <p:cmAuthor id="4" name="Administrator" initials="A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AFAFA"/>
    <a:srgbClr val="F2F2F2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94590" autoAdjust="0"/>
  </p:normalViewPr>
  <p:slideViewPr>
    <p:cSldViewPr showGuides="1">
      <p:cViewPr varScale="1">
        <p:scale>
          <a:sx n="82" d="100"/>
          <a:sy n="82" d="100"/>
        </p:scale>
        <p:origin x="126" y="138"/>
      </p:cViewPr>
      <p:guideLst>
        <p:guide orient="horz" pos="2272"/>
        <p:guide pos="619"/>
        <p:guide pos="72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3028"/>
        <p:guide pos="2216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8" Type="http://schemas.openxmlformats.org/officeDocument/2006/relationships/tags" Target="tags/tag35.xml"/><Relationship Id="rId77" Type="http://schemas.openxmlformats.org/officeDocument/2006/relationships/commentAuthors" Target="commentAuthors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5794"/>
            <a:ext cx="12190413" cy="2413577"/>
            <a:chOff x="170694" y="178255"/>
            <a:chExt cx="3936004" cy="779007"/>
          </a:xfrm>
        </p:grpSpPr>
        <p:sp>
          <p:nvSpPr>
            <p:cNvPr id="44" name="等腰三角形 43"/>
            <p:cNvSpPr/>
            <p:nvPr/>
          </p:nvSpPr>
          <p:spPr>
            <a:xfrm>
              <a:off x="1270819" y="178255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70694" y="600746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666" y="178257"/>
              <a:ext cx="1100951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8484731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756764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620748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5028797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892781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1" Type="http://schemas.openxmlformats.org/officeDocument/2006/relationships/notesSlide" Target="../notesSlides/notesSlide20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slideLayout" Target="../slideLayouts/slideLayout10.xml"/><Relationship Id="rId5" Type="http://schemas.openxmlformats.org/officeDocument/2006/relationships/slide" Target="slide1.xml"/><Relationship Id="rId4" Type="http://schemas.openxmlformats.org/officeDocument/2006/relationships/slide" Target="slide49.xml"/><Relationship Id="rId3" Type="http://schemas.openxmlformats.org/officeDocument/2006/relationships/slide" Target="slide48.xml"/><Relationship Id="rId2" Type="http://schemas.openxmlformats.org/officeDocument/2006/relationships/slide" Target="slide34.xml"/><Relationship Id="rId1" Type="http://schemas.openxmlformats.org/officeDocument/2006/relationships/slide" Target="slide3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3503295" y="2637790"/>
            <a:ext cx="550418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第1章 软件测试基础</a:t>
            </a:r>
            <a:endParaRPr sz="4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598920" y="3933825"/>
            <a:ext cx="352425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软件测试（第</a:t>
            </a:r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</a:t>
            </a:r>
            <a:r>
              <a:rPr 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>
            <p:custDataLst>
              <p:tags r:id="rId1"/>
            </p:custDataLst>
          </p:nvPr>
        </p:nvGrpSpPr>
        <p:grpSpPr>
          <a:xfrm>
            <a:off x="1847206" y="1949228"/>
            <a:ext cx="7920001" cy="688075"/>
            <a:chOff x="978872" y="1800500"/>
            <a:chExt cx="6018237" cy="515937"/>
          </a:xfrm>
        </p:grpSpPr>
        <p:sp>
          <p:nvSpPr>
            <p:cNvPr id="81" name="Pentagon 3"/>
            <p:cNvSpPr/>
            <p:nvPr>
              <p:custDataLst>
                <p:tags r:id="rId2"/>
              </p:custDataLst>
            </p:nvPr>
          </p:nvSpPr>
          <p:spPr bwMode="auto">
            <a:xfrm>
              <a:off x="978872" y="1800500"/>
              <a:ext cx="6018237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理解软件测试基本概念</a:t>
              </a:r>
              <a:endPara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>
              <p:custDataLst>
                <p:tags r:id="rId3"/>
              </p:custDataLst>
            </p:nvPr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4"/>
            </p:custDataLst>
          </p:nvPr>
        </p:nvGrpSpPr>
        <p:grpSpPr>
          <a:xfrm>
            <a:off x="1852295" y="2819400"/>
            <a:ext cx="792000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>
              <p:custDataLst>
                <p:tags r:id="rId5"/>
              </p:custDataLst>
            </p:nvPr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en-US" altLang="zh-CN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熟悉软件测试基本理论</a:t>
              </a:r>
              <a:r>
                <a:rPr lang="en-US" altLang="zh-CN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endPara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>
              <p:custDataLst>
                <p:tags r:id="rId6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1852295" y="3717290"/>
            <a:ext cx="7920000" cy="688340"/>
            <a:chOff x="978872" y="1800500"/>
            <a:chExt cx="5471124" cy="515937"/>
          </a:xfrm>
        </p:grpSpPr>
        <p:sp>
          <p:nvSpPr>
            <p:cNvPr id="3" name="Pentagon 3"/>
            <p:cNvSpPr/>
            <p:nvPr>
              <p:custDataLst>
                <p:tags r:id="rId8"/>
              </p:custDataLst>
            </p:nvPr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en-US" altLang="zh-CN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</a:t>
              </a:r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掌握软件测试流程</a:t>
              </a:r>
              <a:endPara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9"/>
              </p:custDataLst>
            </p:nvPr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631106" y="2205504"/>
            <a:ext cx="9039080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现在已经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步入了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“智能化时代”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人们的工作与生活已经离不开软件，每天都会与各种各样的软件打交道。软件与其他产品一样都有质量要求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要想保证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软件产品的质量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，除了要求开发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遵守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最重要的手段就是软件测试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。本章将针对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软件与软件测试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概述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了解软件生命周期的划分，能够描述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软件生命周期的6个阶段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软件生命周期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软件生命周期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82767" y="1270164"/>
            <a:ext cx="10441160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通常，可将</a:t>
            </a:r>
            <a:r>
              <a:rPr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软件生命周期</a:t>
            </a:r>
            <a:r>
              <a:rPr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划分为</a:t>
            </a:r>
            <a:r>
              <a:rPr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6个阶段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1329177" y="25566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问题定义</a:t>
            </a:r>
            <a:endParaRPr lang="zh-CN" altLang="en-US" sz="2000" b="1" kern="1200" dirty="0"/>
          </a:p>
        </p:txBody>
      </p:sp>
      <p:sp>
        <p:nvSpPr>
          <p:cNvPr id="6" name="任意多边形 5"/>
          <p:cNvSpPr/>
          <p:nvPr/>
        </p:nvSpPr>
        <p:spPr>
          <a:xfrm>
            <a:off x="2943961" y="25566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需求分析</a:t>
            </a:r>
            <a:endParaRPr lang="zh-CN" altLang="en-US" sz="2000" b="1" kern="1200" dirty="0"/>
          </a:p>
        </p:txBody>
      </p:sp>
      <p:sp>
        <p:nvSpPr>
          <p:cNvPr id="8" name="任意多边形 7"/>
          <p:cNvSpPr/>
          <p:nvPr/>
        </p:nvSpPr>
        <p:spPr>
          <a:xfrm>
            <a:off x="4558745" y="2556679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软件设计</a:t>
            </a:r>
            <a:endParaRPr lang="zh-CN" altLang="en-US" sz="2000" b="1" kern="1200" dirty="0"/>
          </a:p>
        </p:txBody>
      </p:sp>
      <p:sp>
        <p:nvSpPr>
          <p:cNvPr id="10" name="任意多边形 9"/>
          <p:cNvSpPr/>
          <p:nvPr/>
        </p:nvSpPr>
        <p:spPr>
          <a:xfrm>
            <a:off x="6173529" y="25760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软件开发</a:t>
            </a:r>
            <a:endParaRPr lang="zh-CN" altLang="en-US" sz="2000" b="1" kern="1200" dirty="0"/>
          </a:p>
        </p:txBody>
      </p:sp>
      <p:sp>
        <p:nvSpPr>
          <p:cNvPr id="12" name="任意多边形 11"/>
          <p:cNvSpPr/>
          <p:nvPr/>
        </p:nvSpPr>
        <p:spPr>
          <a:xfrm>
            <a:off x="7788313" y="25760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软件测试</a:t>
            </a:r>
            <a:endParaRPr lang="zh-CN" altLang="en-US" sz="2000" b="1" kern="1200" dirty="0"/>
          </a:p>
        </p:txBody>
      </p:sp>
      <p:sp>
        <p:nvSpPr>
          <p:cNvPr id="13" name="任意多边形 12"/>
          <p:cNvSpPr/>
          <p:nvPr/>
        </p:nvSpPr>
        <p:spPr>
          <a:xfrm>
            <a:off x="2401570" y="2893060"/>
            <a:ext cx="495935" cy="3429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9" name="任意多边形 18"/>
          <p:cNvSpPr/>
          <p:nvPr/>
        </p:nvSpPr>
        <p:spPr>
          <a:xfrm>
            <a:off x="9403097" y="2565919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/>
              <a:t>软件维护</a:t>
            </a:r>
            <a:endParaRPr lang="zh-CN" altLang="en-US" sz="2000" b="1" kern="1200" dirty="0"/>
          </a:p>
        </p:txBody>
      </p:sp>
      <p:sp>
        <p:nvSpPr>
          <p:cNvPr id="22" name="任意多边形 21"/>
          <p:cNvSpPr/>
          <p:nvPr/>
        </p:nvSpPr>
        <p:spPr>
          <a:xfrm>
            <a:off x="4016461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3" name="任意多边形 22"/>
          <p:cNvSpPr/>
          <p:nvPr/>
        </p:nvSpPr>
        <p:spPr>
          <a:xfrm>
            <a:off x="5631245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4" name="任意多边形 23"/>
          <p:cNvSpPr/>
          <p:nvPr/>
        </p:nvSpPr>
        <p:spPr>
          <a:xfrm>
            <a:off x="7246029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6" name="任意多边形 25"/>
          <p:cNvSpPr/>
          <p:nvPr/>
        </p:nvSpPr>
        <p:spPr>
          <a:xfrm>
            <a:off x="8860813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4079240" y="2133600"/>
            <a:ext cx="6864985" cy="2972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瀑布模型、快速原型、迭代模型、螺旋模型和敏捷模型</a:t>
            </a:r>
            <a:endParaRPr 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软件测试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概述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78830" y="3362960"/>
            <a:ext cx="5876290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简介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描述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软件测试的发展过程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软件测试简介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软件测试的发展过程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软件测试简介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91" y="2421794"/>
            <a:ext cx="10027065" cy="1664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2072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目的</a:t>
            </a:r>
            <a:r>
              <a:rPr lang="zh-CN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能够从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3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个角度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归纳软件测试目的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软件测试的目的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软件开发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软件测试与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需求的角度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可以将软件测试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目的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归结为以下3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软件测试的目的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矩形: 剪去单角 444"/>
          <p:cNvSpPr/>
          <p:nvPr/>
        </p:nvSpPr>
        <p:spPr bwMode="auto">
          <a:xfrm>
            <a:off x="4671972" y="1943930"/>
            <a:ext cx="2982018" cy="45756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7" name="矩形 45"/>
          <p:cNvSpPr>
            <a:spLocks noChangeArrowheads="1"/>
          </p:cNvSpPr>
          <p:nvPr/>
        </p:nvSpPr>
        <p:spPr bwMode="auto">
          <a:xfrm>
            <a:off x="4671761" y="638093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任意多边形: 形状 445"/>
          <p:cNvSpPr/>
          <p:nvPr/>
        </p:nvSpPr>
        <p:spPr bwMode="auto">
          <a:xfrm>
            <a:off x="6901744" y="1943930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矩形: 剪去单角 437"/>
          <p:cNvSpPr/>
          <p:nvPr/>
        </p:nvSpPr>
        <p:spPr bwMode="auto">
          <a:xfrm>
            <a:off x="1209675" y="1943735"/>
            <a:ext cx="2981960" cy="4575175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矩形 42"/>
          <p:cNvSpPr>
            <a:spLocks noChangeArrowheads="1"/>
          </p:cNvSpPr>
          <p:nvPr/>
        </p:nvSpPr>
        <p:spPr bwMode="auto">
          <a:xfrm>
            <a:off x="1209956" y="638157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ko-KR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: 剪去单角 455"/>
          <p:cNvSpPr/>
          <p:nvPr/>
        </p:nvSpPr>
        <p:spPr bwMode="auto">
          <a:xfrm>
            <a:off x="8133988" y="1943930"/>
            <a:ext cx="2982018" cy="45756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8133988" y="6398487"/>
            <a:ext cx="2982018" cy="136811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4" name="任意多边形: 形状 456"/>
          <p:cNvSpPr/>
          <p:nvPr/>
        </p:nvSpPr>
        <p:spPr bwMode="auto">
          <a:xfrm>
            <a:off x="10364704" y="1943930"/>
            <a:ext cx="751302" cy="804634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20" tIns="60960" rIns="121920" bIns="6096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</a:t>
            </a:r>
            <a:endParaRPr lang="en-US" altLang="ko-KR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1426192" y="3629730"/>
            <a:ext cx="2643099" cy="2677656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从软件开发角度来说，软件测试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通过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找到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帮助开发人员找到开发过程中存在的问题，包括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软件开发的模式、工具、技术等方面存在的问题与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不足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，从而预防缺陷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的产生。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1426191" y="3130441"/>
            <a:ext cx="2643100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1</a:t>
            </a:r>
            <a:r>
              <a:rPr lang="zh-CN" altLang="en-US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.从软件开发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4887998" y="3629730"/>
            <a:ext cx="2643099" cy="2308324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软件测试角度来说，主要目的是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使用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最少的人力、物力、时间等找到软件中隐藏的缺陷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，保证软件的质量，也为以后软件测试积累丰富的经验。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4887996" y="3130441"/>
            <a:ext cx="2503209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</a:t>
            </a:r>
            <a:r>
              <a:rPr lang="zh-CN" altLang="en-US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.从软件测试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8352632" y="3629730"/>
            <a:ext cx="2643099" cy="193802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用户需求角度来说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软件测试能够检验软件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是否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符合用户需求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，对软件质量进行评估和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度量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，可为用户评审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软件提供有力的依据。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8352630" y="3130441"/>
            <a:ext cx="2494575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</a:t>
            </a:r>
            <a:r>
              <a:rPr lang="zh-CN" altLang="en-US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.从用户需求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1" name="任意多边形: 形状 43"/>
          <p:cNvSpPr/>
          <p:nvPr/>
        </p:nvSpPr>
        <p:spPr bwMode="auto">
          <a:xfrm>
            <a:off x="5695276" y="2291379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: 形状 39"/>
          <p:cNvSpPr/>
          <p:nvPr/>
        </p:nvSpPr>
        <p:spPr bwMode="auto">
          <a:xfrm>
            <a:off x="9158919" y="2256988"/>
            <a:ext cx="399247" cy="542306"/>
          </a:xfrm>
          <a:custGeom>
            <a:avLst/>
            <a:gdLst>
              <a:gd name="T0" fmla="*/ 204156 w 21600"/>
              <a:gd name="T1" fmla="*/ 258980 h 21600"/>
              <a:gd name="T2" fmla="*/ 204156 w 21600"/>
              <a:gd name="T3" fmla="*/ 258980 h 21600"/>
              <a:gd name="T4" fmla="*/ 204156 w 21600"/>
              <a:gd name="T5" fmla="*/ 258980 h 21600"/>
              <a:gd name="T6" fmla="*/ 204156 w 21600"/>
              <a:gd name="T7" fmla="*/ 258980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8003" y="6729"/>
                </a:moveTo>
                <a:cubicBezTo>
                  <a:pt x="17891" y="6790"/>
                  <a:pt x="17842" y="6883"/>
                  <a:pt x="17842" y="6994"/>
                </a:cubicBezTo>
                <a:cubicBezTo>
                  <a:pt x="17842" y="7080"/>
                  <a:pt x="17901" y="7139"/>
                  <a:pt x="18015" y="7191"/>
                </a:cubicBezTo>
                <a:cubicBezTo>
                  <a:pt x="18122" y="7230"/>
                  <a:pt x="18344" y="7284"/>
                  <a:pt x="18697" y="7352"/>
                </a:cubicBezTo>
                <a:cubicBezTo>
                  <a:pt x="19207" y="7434"/>
                  <a:pt x="19552" y="7540"/>
                  <a:pt x="19715" y="7661"/>
                </a:cubicBezTo>
                <a:cubicBezTo>
                  <a:pt x="19899" y="7775"/>
                  <a:pt x="19976" y="7963"/>
                  <a:pt x="19976" y="8220"/>
                </a:cubicBezTo>
                <a:cubicBezTo>
                  <a:pt x="19976" y="8479"/>
                  <a:pt x="19851" y="8684"/>
                  <a:pt x="19591" y="8842"/>
                </a:cubicBezTo>
                <a:cubicBezTo>
                  <a:pt x="19332" y="8993"/>
                  <a:pt x="18985" y="9069"/>
                  <a:pt x="18546" y="9069"/>
                </a:cubicBezTo>
                <a:cubicBezTo>
                  <a:pt x="18091" y="9069"/>
                  <a:pt x="17748" y="8987"/>
                  <a:pt x="17505" y="8826"/>
                </a:cubicBezTo>
                <a:cubicBezTo>
                  <a:pt x="17256" y="8660"/>
                  <a:pt x="17122" y="8433"/>
                  <a:pt x="17105" y="8130"/>
                </a:cubicBezTo>
                <a:lnTo>
                  <a:pt x="17814" y="8130"/>
                </a:lnTo>
                <a:cubicBezTo>
                  <a:pt x="17814" y="8283"/>
                  <a:pt x="17879" y="8395"/>
                  <a:pt x="18015" y="8471"/>
                </a:cubicBezTo>
                <a:cubicBezTo>
                  <a:pt x="18132" y="8553"/>
                  <a:pt x="18312" y="8592"/>
                  <a:pt x="18546" y="8592"/>
                </a:cubicBezTo>
                <a:cubicBezTo>
                  <a:pt x="18773" y="8592"/>
                  <a:pt x="18957" y="8562"/>
                  <a:pt x="19091" y="8501"/>
                </a:cubicBezTo>
                <a:cubicBezTo>
                  <a:pt x="19217" y="8442"/>
                  <a:pt x="19283" y="8356"/>
                  <a:pt x="19283" y="8253"/>
                </a:cubicBezTo>
                <a:cubicBezTo>
                  <a:pt x="19283" y="8152"/>
                  <a:pt x="19234" y="8078"/>
                  <a:pt x="19148" y="8024"/>
                </a:cubicBezTo>
                <a:cubicBezTo>
                  <a:pt x="19054" y="7973"/>
                  <a:pt x="18860" y="7926"/>
                  <a:pt x="18555" y="7874"/>
                </a:cubicBezTo>
                <a:cubicBezTo>
                  <a:pt x="18003" y="7775"/>
                  <a:pt x="17623" y="7669"/>
                  <a:pt x="17440" y="7554"/>
                </a:cubicBezTo>
                <a:cubicBezTo>
                  <a:pt x="17256" y="7442"/>
                  <a:pt x="17161" y="7268"/>
                  <a:pt x="17161" y="7024"/>
                </a:cubicBezTo>
                <a:cubicBezTo>
                  <a:pt x="17161" y="6759"/>
                  <a:pt x="17278" y="6550"/>
                  <a:pt x="17527" y="6388"/>
                </a:cubicBezTo>
                <a:cubicBezTo>
                  <a:pt x="17776" y="6230"/>
                  <a:pt x="18103" y="6154"/>
                  <a:pt x="18524" y="6154"/>
                </a:cubicBezTo>
                <a:cubicBezTo>
                  <a:pt x="18919" y="6154"/>
                  <a:pt x="19234" y="6230"/>
                  <a:pt x="19487" y="6397"/>
                </a:cubicBezTo>
                <a:cubicBezTo>
                  <a:pt x="19737" y="6563"/>
                  <a:pt x="19868" y="6785"/>
                  <a:pt x="19899" y="7063"/>
                </a:cubicBezTo>
                <a:lnTo>
                  <a:pt x="19179" y="7063"/>
                </a:lnTo>
                <a:cubicBezTo>
                  <a:pt x="19169" y="6926"/>
                  <a:pt x="19091" y="6820"/>
                  <a:pt x="18967" y="6747"/>
                </a:cubicBezTo>
                <a:cubicBezTo>
                  <a:pt x="18832" y="6670"/>
                  <a:pt x="18648" y="6631"/>
                  <a:pt x="18437" y="6631"/>
                </a:cubicBezTo>
                <a:cubicBezTo>
                  <a:pt x="18257" y="6631"/>
                  <a:pt x="18103" y="6661"/>
                  <a:pt x="18003" y="6729"/>
                </a:cubicBezTo>
                <a:cubicBezTo>
                  <a:pt x="18003" y="6729"/>
                  <a:pt x="18003" y="6729"/>
                  <a:pt x="18003" y="6729"/>
                </a:cubicBezTo>
                <a:close/>
                <a:moveTo>
                  <a:pt x="15761" y="7344"/>
                </a:moveTo>
                <a:cubicBezTo>
                  <a:pt x="15665" y="7405"/>
                  <a:pt x="15528" y="7434"/>
                  <a:pt x="15338" y="7434"/>
                </a:cubicBezTo>
                <a:lnTo>
                  <a:pt x="14490" y="7434"/>
                </a:lnTo>
                <a:lnTo>
                  <a:pt x="14490" y="6707"/>
                </a:lnTo>
                <a:lnTo>
                  <a:pt x="15366" y="6707"/>
                </a:lnTo>
                <a:cubicBezTo>
                  <a:pt x="15549" y="6707"/>
                  <a:pt x="15675" y="6738"/>
                  <a:pt x="15768" y="6798"/>
                </a:cubicBezTo>
                <a:cubicBezTo>
                  <a:pt x="15865" y="6857"/>
                  <a:pt x="15902" y="6950"/>
                  <a:pt x="15902" y="7070"/>
                </a:cubicBezTo>
                <a:cubicBezTo>
                  <a:pt x="15902" y="7191"/>
                  <a:pt x="15855" y="7284"/>
                  <a:pt x="15761" y="7344"/>
                </a:cubicBezTo>
                <a:cubicBezTo>
                  <a:pt x="15761" y="7344"/>
                  <a:pt x="15761" y="7344"/>
                  <a:pt x="15761" y="7344"/>
                </a:cubicBezTo>
                <a:close/>
                <a:moveTo>
                  <a:pt x="16633" y="6994"/>
                </a:moveTo>
                <a:cubicBezTo>
                  <a:pt x="16633" y="6769"/>
                  <a:pt x="16526" y="6579"/>
                  <a:pt x="16326" y="6435"/>
                </a:cubicBezTo>
                <a:cubicBezTo>
                  <a:pt x="16124" y="6299"/>
                  <a:pt x="15855" y="6230"/>
                  <a:pt x="15518" y="6230"/>
                </a:cubicBezTo>
                <a:lnTo>
                  <a:pt x="13751" y="6230"/>
                </a:lnTo>
                <a:lnTo>
                  <a:pt x="13751" y="8993"/>
                </a:lnTo>
                <a:lnTo>
                  <a:pt x="14490" y="8993"/>
                </a:lnTo>
                <a:lnTo>
                  <a:pt x="14490" y="7904"/>
                </a:lnTo>
                <a:lnTo>
                  <a:pt x="15210" y="7904"/>
                </a:lnTo>
                <a:cubicBezTo>
                  <a:pt x="15432" y="7904"/>
                  <a:pt x="15577" y="7926"/>
                  <a:pt x="15665" y="7980"/>
                </a:cubicBezTo>
                <a:cubicBezTo>
                  <a:pt x="15761" y="8032"/>
                  <a:pt x="15800" y="8122"/>
                  <a:pt x="15800" y="8245"/>
                </a:cubicBezTo>
                <a:lnTo>
                  <a:pt x="15806" y="8494"/>
                </a:lnTo>
                <a:cubicBezTo>
                  <a:pt x="15806" y="8609"/>
                  <a:pt x="15815" y="8706"/>
                  <a:pt x="15837" y="8805"/>
                </a:cubicBezTo>
                <a:cubicBezTo>
                  <a:pt x="15855" y="8895"/>
                  <a:pt x="15865" y="8963"/>
                  <a:pt x="15886" y="8987"/>
                </a:cubicBezTo>
                <a:lnTo>
                  <a:pt x="16692" y="8987"/>
                </a:lnTo>
                <a:lnTo>
                  <a:pt x="16692" y="8919"/>
                </a:lnTo>
                <a:cubicBezTo>
                  <a:pt x="16633" y="8895"/>
                  <a:pt x="16585" y="8864"/>
                  <a:pt x="16575" y="8826"/>
                </a:cubicBezTo>
                <a:cubicBezTo>
                  <a:pt x="16547" y="8788"/>
                  <a:pt x="16538" y="8720"/>
                  <a:pt x="16526" y="8638"/>
                </a:cubicBezTo>
                <a:lnTo>
                  <a:pt x="16519" y="8184"/>
                </a:lnTo>
                <a:cubicBezTo>
                  <a:pt x="16508" y="7963"/>
                  <a:pt x="16401" y="7805"/>
                  <a:pt x="16202" y="7707"/>
                </a:cubicBezTo>
                <a:cubicBezTo>
                  <a:pt x="16174" y="7691"/>
                  <a:pt x="16135" y="7685"/>
                  <a:pt x="16086" y="7661"/>
                </a:cubicBezTo>
                <a:cubicBezTo>
                  <a:pt x="16163" y="7639"/>
                  <a:pt x="16230" y="7609"/>
                  <a:pt x="16298" y="7579"/>
                </a:cubicBezTo>
                <a:cubicBezTo>
                  <a:pt x="16519" y="7456"/>
                  <a:pt x="16633" y="7260"/>
                  <a:pt x="16633" y="6994"/>
                </a:cubicBezTo>
                <a:cubicBezTo>
                  <a:pt x="16633" y="6994"/>
                  <a:pt x="16633" y="6994"/>
                  <a:pt x="16633" y="6994"/>
                </a:cubicBezTo>
                <a:close/>
                <a:moveTo>
                  <a:pt x="12311" y="8993"/>
                </a:moveTo>
                <a:lnTo>
                  <a:pt x="12311" y="7737"/>
                </a:lnTo>
                <a:lnTo>
                  <a:pt x="10936" y="7737"/>
                </a:lnTo>
                <a:lnTo>
                  <a:pt x="10936" y="8993"/>
                </a:lnTo>
                <a:lnTo>
                  <a:pt x="10200" y="8993"/>
                </a:lnTo>
                <a:lnTo>
                  <a:pt x="10200" y="6230"/>
                </a:lnTo>
                <a:lnTo>
                  <a:pt x="10936" y="6230"/>
                </a:lnTo>
                <a:lnTo>
                  <a:pt x="10936" y="7268"/>
                </a:lnTo>
                <a:lnTo>
                  <a:pt x="12311" y="7268"/>
                </a:lnTo>
                <a:lnTo>
                  <a:pt x="12311" y="6230"/>
                </a:lnTo>
                <a:lnTo>
                  <a:pt x="13033" y="6230"/>
                </a:lnTo>
                <a:lnTo>
                  <a:pt x="13033" y="8993"/>
                </a:lnTo>
                <a:cubicBezTo>
                  <a:pt x="13033" y="8993"/>
                  <a:pt x="12311" y="8993"/>
                  <a:pt x="12311" y="8993"/>
                </a:cubicBezTo>
                <a:close/>
                <a:moveTo>
                  <a:pt x="16086" y="3348"/>
                </a:moveTo>
                <a:lnTo>
                  <a:pt x="16135" y="3271"/>
                </a:lnTo>
                <a:lnTo>
                  <a:pt x="17787" y="1111"/>
                </a:lnTo>
                <a:lnTo>
                  <a:pt x="17787" y="3348"/>
                </a:lnTo>
                <a:cubicBezTo>
                  <a:pt x="17787" y="3348"/>
                  <a:pt x="16086" y="3348"/>
                  <a:pt x="16086" y="3348"/>
                </a:cubicBezTo>
                <a:close/>
                <a:moveTo>
                  <a:pt x="17787" y="5367"/>
                </a:moveTo>
                <a:lnTo>
                  <a:pt x="19104" y="5367"/>
                </a:lnTo>
                <a:lnTo>
                  <a:pt x="19104" y="4180"/>
                </a:lnTo>
                <a:lnTo>
                  <a:pt x="19868" y="4180"/>
                </a:lnTo>
                <a:lnTo>
                  <a:pt x="19868" y="3348"/>
                </a:lnTo>
                <a:lnTo>
                  <a:pt x="19104" y="3348"/>
                </a:lnTo>
                <a:lnTo>
                  <a:pt x="19104" y="0"/>
                </a:lnTo>
                <a:lnTo>
                  <a:pt x="17613" y="0"/>
                </a:lnTo>
                <a:lnTo>
                  <a:pt x="15106" y="3271"/>
                </a:lnTo>
                <a:lnTo>
                  <a:pt x="15106" y="4180"/>
                </a:lnTo>
                <a:lnTo>
                  <a:pt x="17787" y="4180"/>
                </a:lnTo>
                <a:cubicBezTo>
                  <a:pt x="17787" y="4180"/>
                  <a:pt x="17787" y="5367"/>
                  <a:pt x="17787" y="5367"/>
                </a:cubicBezTo>
                <a:close/>
                <a:moveTo>
                  <a:pt x="14415" y="5367"/>
                </a:moveTo>
                <a:lnTo>
                  <a:pt x="9776" y="5367"/>
                </a:lnTo>
                <a:lnTo>
                  <a:pt x="9776" y="5360"/>
                </a:lnTo>
                <a:cubicBezTo>
                  <a:pt x="9776" y="4876"/>
                  <a:pt x="9929" y="4451"/>
                  <a:pt x="10247" y="4095"/>
                </a:cubicBezTo>
                <a:cubicBezTo>
                  <a:pt x="10563" y="3746"/>
                  <a:pt x="11159" y="3340"/>
                  <a:pt x="12024" y="2853"/>
                </a:cubicBezTo>
                <a:cubicBezTo>
                  <a:pt x="12410" y="2643"/>
                  <a:pt x="12676" y="2443"/>
                  <a:pt x="12841" y="2271"/>
                </a:cubicBezTo>
                <a:cubicBezTo>
                  <a:pt x="13003" y="2089"/>
                  <a:pt x="13081" y="1892"/>
                  <a:pt x="13081" y="1674"/>
                </a:cubicBezTo>
                <a:cubicBezTo>
                  <a:pt x="13081" y="1440"/>
                  <a:pt x="12995" y="1243"/>
                  <a:pt x="12820" y="1106"/>
                </a:cubicBezTo>
                <a:cubicBezTo>
                  <a:pt x="12648" y="954"/>
                  <a:pt x="12416" y="885"/>
                  <a:pt x="12121" y="885"/>
                </a:cubicBezTo>
                <a:cubicBezTo>
                  <a:pt x="11824" y="885"/>
                  <a:pt x="11581" y="976"/>
                  <a:pt x="11419" y="1158"/>
                </a:cubicBezTo>
                <a:cubicBezTo>
                  <a:pt x="11235" y="1342"/>
                  <a:pt x="11159" y="1590"/>
                  <a:pt x="11169" y="1892"/>
                </a:cubicBezTo>
                <a:lnTo>
                  <a:pt x="9863" y="1892"/>
                </a:lnTo>
                <a:cubicBezTo>
                  <a:pt x="9842" y="1317"/>
                  <a:pt x="10038" y="855"/>
                  <a:pt x="10449" y="514"/>
                </a:cubicBezTo>
                <a:cubicBezTo>
                  <a:pt x="10851" y="175"/>
                  <a:pt x="11419" y="0"/>
                  <a:pt x="12139" y="0"/>
                </a:cubicBezTo>
                <a:cubicBezTo>
                  <a:pt x="12801" y="0"/>
                  <a:pt x="13348" y="159"/>
                  <a:pt x="13779" y="470"/>
                </a:cubicBezTo>
                <a:cubicBezTo>
                  <a:pt x="14194" y="786"/>
                  <a:pt x="14415" y="1188"/>
                  <a:pt x="14415" y="1679"/>
                </a:cubicBezTo>
                <a:cubicBezTo>
                  <a:pt x="14415" y="2089"/>
                  <a:pt x="14290" y="2430"/>
                  <a:pt x="14051" y="2695"/>
                </a:cubicBezTo>
                <a:cubicBezTo>
                  <a:pt x="13810" y="2960"/>
                  <a:pt x="13358" y="3263"/>
                  <a:pt x="12697" y="3595"/>
                </a:cubicBezTo>
                <a:cubicBezTo>
                  <a:pt x="12080" y="3907"/>
                  <a:pt x="11668" y="4180"/>
                  <a:pt x="11438" y="4429"/>
                </a:cubicBezTo>
                <a:lnTo>
                  <a:pt x="11438" y="4437"/>
                </a:lnTo>
                <a:lnTo>
                  <a:pt x="14415" y="4437"/>
                </a:lnTo>
                <a:cubicBezTo>
                  <a:pt x="14415" y="4437"/>
                  <a:pt x="14415" y="5367"/>
                  <a:pt x="14415" y="5367"/>
                </a:cubicBezTo>
                <a:close/>
                <a:moveTo>
                  <a:pt x="11045" y="20298"/>
                </a:moveTo>
                <a:cubicBezTo>
                  <a:pt x="11045" y="21008"/>
                  <a:pt x="10314" y="21600"/>
                  <a:pt x="9403" y="21600"/>
                </a:cubicBezTo>
                <a:cubicBezTo>
                  <a:pt x="8489" y="21600"/>
                  <a:pt x="7750" y="21008"/>
                  <a:pt x="7750" y="20298"/>
                </a:cubicBezTo>
                <a:cubicBezTo>
                  <a:pt x="7750" y="19577"/>
                  <a:pt x="8489" y="18995"/>
                  <a:pt x="9403" y="18995"/>
                </a:cubicBezTo>
                <a:cubicBezTo>
                  <a:pt x="10314" y="18995"/>
                  <a:pt x="11045" y="19577"/>
                  <a:pt x="11045" y="20298"/>
                </a:cubicBezTo>
                <a:cubicBezTo>
                  <a:pt x="11045" y="20298"/>
                  <a:pt x="11045" y="20298"/>
                  <a:pt x="11045" y="20298"/>
                </a:cubicBezTo>
                <a:close/>
                <a:moveTo>
                  <a:pt x="5175" y="20298"/>
                </a:moveTo>
                <a:cubicBezTo>
                  <a:pt x="5175" y="21008"/>
                  <a:pt x="4448" y="21600"/>
                  <a:pt x="3541" y="21600"/>
                </a:cubicBezTo>
                <a:cubicBezTo>
                  <a:pt x="2625" y="21600"/>
                  <a:pt x="1882" y="21008"/>
                  <a:pt x="1882" y="20298"/>
                </a:cubicBezTo>
                <a:cubicBezTo>
                  <a:pt x="1882" y="19577"/>
                  <a:pt x="2625" y="18995"/>
                  <a:pt x="3541" y="18995"/>
                </a:cubicBezTo>
                <a:cubicBezTo>
                  <a:pt x="4448" y="18995"/>
                  <a:pt x="5175" y="19577"/>
                  <a:pt x="5175" y="20298"/>
                </a:cubicBezTo>
                <a:cubicBezTo>
                  <a:pt x="5175" y="20298"/>
                  <a:pt x="5175" y="20298"/>
                  <a:pt x="5175" y="20298"/>
                </a:cubicBezTo>
                <a:close/>
                <a:moveTo>
                  <a:pt x="21600" y="12006"/>
                </a:moveTo>
                <a:cubicBezTo>
                  <a:pt x="21600" y="12259"/>
                  <a:pt x="21339" y="12460"/>
                  <a:pt x="21021" y="12460"/>
                </a:cubicBezTo>
                <a:lnTo>
                  <a:pt x="16990" y="12460"/>
                </a:lnTo>
                <a:lnTo>
                  <a:pt x="13714" y="18359"/>
                </a:lnTo>
                <a:cubicBezTo>
                  <a:pt x="13627" y="18526"/>
                  <a:pt x="13417" y="18624"/>
                  <a:pt x="13184" y="18624"/>
                </a:cubicBezTo>
                <a:lnTo>
                  <a:pt x="847" y="18624"/>
                </a:lnTo>
                <a:cubicBezTo>
                  <a:pt x="523" y="18624"/>
                  <a:pt x="264" y="18428"/>
                  <a:pt x="264" y="18177"/>
                </a:cubicBezTo>
                <a:cubicBezTo>
                  <a:pt x="264" y="17928"/>
                  <a:pt x="523" y="17723"/>
                  <a:pt x="847" y="17723"/>
                </a:cubicBezTo>
                <a:lnTo>
                  <a:pt x="12810" y="17723"/>
                </a:lnTo>
                <a:lnTo>
                  <a:pt x="16086" y="11824"/>
                </a:lnTo>
                <a:cubicBezTo>
                  <a:pt x="16174" y="11657"/>
                  <a:pt x="16384" y="11554"/>
                  <a:pt x="16613" y="11554"/>
                </a:cubicBezTo>
                <a:lnTo>
                  <a:pt x="21021" y="11554"/>
                </a:lnTo>
                <a:cubicBezTo>
                  <a:pt x="21339" y="11554"/>
                  <a:pt x="21600" y="11758"/>
                  <a:pt x="21600" y="12006"/>
                </a:cubicBezTo>
                <a:cubicBezTo>
                  <a:pt x="21600" y="12006"/>
                  <a:pt x="21600" y="12006"/>
                  <a:pt x="21600" y="12006"/>
                </a:cubicBezTo>
                <a:close/>
                <a:moveTo>
                  <a:pt x="3650" y="4466"/>
                </a:moveTo>
                <a:cubicBezTo>
                  <a:pt x="5034" y="4466"/>
                  <a:pt x="6147" y="5345"/>
                  <a:pt x="6147" y="6435"/>
                </a:cubicBezTo>
                <a:lnTo>
                  <a:pt x="6147" y="9675"/>
                </a:lnTo>
                <a:lnTo>
                  <a:pt x="1158" y="9675"/>
                </a:lnTo>
                <a:lnTo>
                  <a:pt x="1158" y="6435"/>
                </a:lnTo>
                <a:cubicBezTo>
                  <a:pt x="1158" y="5345"/>
                  <a:pt x="2273" y="4466"/>
                  <a:pt x="3650" y="4466"/>
                </a:cubicBezTo>
                <a:cubicBezTo>
                  <a:pt x="3650" y="4466"/>
                  <a:pt x="3650" y="4466"/>
                  <a:pt x="3650" y="4466"/>
                </a:cubicBezTo>
                <a:close/>
                <a:moveTo>
                  <a:pt x="10936" y="11113"/>
                </a:moveTo>
                <a:lnTo>
                  <a:pt x="5982" y="15080"/>
                </a:lnTo>
                <a:cubicBezTo>
                  <a:pt x="4963" y="13984"/>
                  <a:pt x="5059" y="12430"/>
                  <a:pt x="6310" y="11431"/>
                </a:cubicBezTo>
                <a:cubicBezTo>
                  <a:pt x="6992" y="10888"/>
                  <a:pt x="7903" y="10585"/>
                  <a:pt x="8872" y="10585"/>
                </a:cubicBezTo>
                <a:cubicBezTo>
                  <a:pt x="9620" y="10590"/>
                  <a:pt x="10341" y="10772"/>
                  <a:pt x="10936" y="11113"/>
                </a:cubicBezTo>
                <a:cubicBezTo>
                  <a:pt x="10936" y="11113"/>
                  <a:pt x="10936" y="11113"/>
                  <a:pt x="10936" y="11113"/>
                </a:cubicBezTo>
                <a:close/>
                <a:moveTo>
                  <a:pt x="11438" y="15405"/>
                </a:moveTo>
                <a:cubicBezTo>
                  <a:pt x="10228" y="16366"/>
                  <a:pt x="8201" y="16481"/>
                  <a:pt x="6809" y="15716"/>
                </a:cubicBezTo>
                <a:lnTo>
                  <a:pt x="11765" y="11750"/>
                </a:lnTo>
                <a:cubicBezTo>
                  <a:pt x="12784" y="12856"/>
                  <a:pt x="12685" y="14398"/>
                  <a:pt x="11438" y="15405"/>
                </a:cubicBezTo>
                <a:cubicBezTo>
                  <a:pt x="11438" y="15405"/>
                  <a:pt x="11438" y="15405"/>
                  <a:pt x="11438" y="15405"/>
                </a:cubicBezTo>
                <a:close/>
                <a:moveTo>
                  <a:pt x="1158" y="14082"/>
                </a:moveTo>
                <a:lnTo>
                  <a:pt x="1158" y="10585"/>
                </a:lnTo>
                <a:lnTo>
                  <a:pt x="5811" y="10585"/>
                </a:lnTo>
                <a:cubicBezTo>
                  <a:pt x="5704" y="10652"/>
                  <a:pt x="5590" y="10720"/>
                  <a:pt x="5493" y="10794"/>
                </a:cubicBezTo>
                <a:cubicBezTo>
                  <a:pt x="3821" y="12135"/>
                  <a:pt x="3713" y="14218"/>
                  <a:pt x="5109" y="15670"/>
                </a:cubicBezTo>
                <a:cubicBezTo>
                  <a:pt x="4686" y="15913"/>
                  <a:pt x="4187" y="16050"/>
                  <a:pt x="3650" y="16050"/>
                </a:cubicBezTo>
                <a:cubicBezTo>
                  <a:pt x="2273" y="16050"/>
                  <a:pt x="1158" y="15170"/>
                  <a:pt x="1158" y="14082"/>
                </a:cubicBezTo>
                <a:cubicBezTo>
                  <a:pt x="1158" y="14082"/>
                  <a:pt x="1158" y="14082"/>
                  <a:pt x="1158" y="14082"/>
                </a:cubicBezTo>
                <a:close/>
                <a:moveTo>
                  <a:pt x="3650" y="16958"/>
                </a:moveTo>
                <a:cubicBezTo>
                  <a:pt x="4485" y="16958"/>
                  <a:pt x="5271" y="16732"/>
                  <a:pt x="5916" y="16323"/>
                </a:cubicBezTo>
                <a:cubicBezTo>
                  <a:pt x="6761" y="16852"/>
                  <a:pt x="7778" y="17155"/>
                  <a:pt x="8872" y="17155"/>
                </a:cubicBezTo>
                <a:cubicBezTo>
                  <a:pt x="10151" y="17155"/>
                  <a:pt x="11360" y="16761"/>
                  <a:pt x="12252" y="16041"/>
                </a:cubicBezTo>
                <a:cubicBezTo>
                  <a:pt x="14088" y="14573"/>
                  <a:pt x="14067" y="12195"/>
                  <a:pt x="12204" y="10750"/>
                </a:cubicBezTo>
                <a:cubicBezTo>
                  <a:pt x="11304" y="10059"/>
                  <a:pt x="10123" y="9675"/>
                  <a:pt x="8872" y="9675"/>
                </a:cubicBezTo>
                <a:cubicBezTo>
                  <a:pt x="8326" y="9675"/>
                  <a:pt x="7799" y="9764"/>
                  <a:pt x="7297" y="9902"/>
                </a:cubicBezTo>
                <a:lnTo>
                  <a:pt x="7297" y="6435"/>
                </a:lnTo>
                <a:cubicBezTo>
                  <a:pt x="7297" y="4846"/>
                  <a:pt x="5667" y="3557"/>
                  <a:pt x="3650" y="3557"/>
                </a:cubicBezTo>
                <a:cubicBezTo>
                  <a:pt x="1639" y="3557"/>
                  <a:pt x="0" y="4846"/>
                  <a:pt x="0" y="6435"/>
                </a:cubicBezTo>
                <a:lnTo>
                  <a:pt x="0" y="14082"/>
                </a:lnTo>
                <a:cubicBezTo>
                  <a:pt x="0" y="15670"/>
                  <a:pt x="1639" y="16958"/>
                  <a:pt x="3650" y="16958"/>
                </a:cubicBezTo>
                <a:cubicBezTo>
                  <a:pt x="3650" y="16958"/>
                  <a:pt x="3650" y="16958"/>
                  <a:pt x="3650" y="1695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20720"/>
            <a:ext cx="587629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分类</a:t>
            </a:r>
            <a:r>
              <a:rPr lang="zh-CN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从</a:t>
            </a:r>
            <a:r>
              <a:rPr lang="zh-CN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不同</a:t>
            </a:r>
            <a:r>
              <a:rPr lang="zh-CN" altLang="en-US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角度归纳</a:t>
            </a:r>
            <a:r>
              <a:rPr lang="zh-CN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</a:t>
            </a:r>
            <a:r>
              <a:rPr lang="zh-CN" altLang="en-US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缺陷的分类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1104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按照不同的分类标准可以将软件测试分为很多不同的种类。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按照测试阶段分类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5379143" y="3421074"/>
            <a:ext cx="1414667" cy="1619124"/>
            <a:chOff x="5379142" y="2991066"/>
            <a:chExt cx="1414667" cy="1619124"/>
          </a:xfrm>
        </p:grpSpPr>
        <p:sp>
          <p:nvSpPr>
            <p:cNvPr id="4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3563871" y="3629417"/>
            <a:ext cx="1414667" cy="1619124"/>
            <a:chOff x="3563871" y="3199409"/>
            <a:chExt cx="1414666" cy="1619124"/>
          </a:xfrm>
        </p:grpSpPr>
        <p:sp>
          <p:nvSpPr>
            <p:cNvPr id="7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Group 11"/>
          <p:cNvGrpSpPr/>
          <p:nvPr/>
        </p:nvGrpSpPr>
        <p:grpSpPr>
          <a:xfrm>
            <a:off x="1743076" y="3421074"/>
            <a:ext cx="1414667" cy="1619124"/>
            <a:chOff x="1743076" y="2991066"/>
            <a:chExt cx="1414666" cy="1619124"/>
          </a:xfrm>
        </p:grpSpPr>
        <p:sp>
          <p:nvSpPr>
            <p:cNvPr id="10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7199937" y="3629417"/>
            <a:ext cx="1414667" cy="1619125"/>
            <a:chOff x="7199937" y="3199409"/>
            <a:chExt cx="1414666" cy="1619125"/>
          </a:xfrm>
        </p:grpSpPr>
        <p:sp>
          <p:nvSpPr>
            <p:cNvPr id="13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16"/>
          <p:cNvGrpSpPr/>
          <p:nvPr/>
        </p:nvGrpSpPr>
        <p:grpSpPr>
          <a:xfrm>
            <a:off x="9015209" y="3421074"/>
            <a:ext cx="1414667" cy="1619124"/>
            <a:chOff x="9015209" y="2991066"/>
            <a:chExt cx="1414666" cy="1619124"/>
          </a:xfrm>
        </p:grpSpPr>
        <p:sp>
          <p:nvSpPr>
            <p:cNvPr id="16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Text Placeholder 4"/>
          <p:cNvSpPr txBox="1"/>
          <p:nvPr/>
        </p:nvSpPr>
        <p:spPr>
          <a:xfrm>
            <a:off x="1845000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单元测试</a:t>
            </a:r>
            <a:endParaRPr lang="en-GB" altLang="zh-CN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Text Placeholder 4"/>
          <p:cNvSpPr txBox="1"/>
          <p:nvPr/>
        </p:nvSpPr>
        <p:spPr>
          <a:xfrm>
            <a:off x="3663032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冒烟测试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Text Placeholder 4"/>
          <p:cNvSpPr txBox="1"/>
          <p:nvPr/>
        </p:nvSpPr>
        <p:spPr>
          <a:xfrm>
            <a:off x="5480353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集成测试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1" name="Text Placeholder 4"/>
          <p:cNvSpPr txBox="1"/>
          <p:nvPr/>
        </p:nvSpPr>
        <p:spPr>
          <a:xfrm>
            <a:off x="7298385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系统测试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2" name="Text Placeholder 4"/>
          <p:cNvSpPr txBox="1"/>
          <p:nvPr/>
        </p:nvSpPr>
        <p:spPr>
          <a:xfrm>
            <a:off x="9117133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验收测试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1294833" y="2349241"/>
            <a:ext cx="2328369" cy="565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单元测试大多是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开发人员进行的自测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3119670" y="5587199"/>
            <a:ext cx="2328369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冒烟测试是指软件构建版本建立后，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对系统的基本功能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进行简单的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4924023" y="2133341"/>
            <a:ext cx="2328369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集成测试是冒烟测试之后进行的测试，用于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验证软件是否满足设计需求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6726700" y="5559847"/>
            <a:ext cx="2221332" cy="11818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将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其与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其他系统的成分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（如数据库、硬件和操作人员等）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组合在一起进行测试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8552757" y="2106036"/>
            <a:ext cx="2328369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逐行逐字的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按照说明书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的描述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对软件产品进行测试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确保其符合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用户</a:t>
            </a:r>
            <a:r>
              <a: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的各项要求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739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按照测试技术分类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4895" y="1721485"/>
            <a:ext cx="10060305" cy="2092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黑盒测试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黑盒测试又叫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数据驱动测试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基于需求规格说明书的功能测试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，它把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当作一个有输入与输出的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黑匣子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输入的数据能输出预期的结果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，不必关心程序内部是怎样实现的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注重于测试软件的功能性需求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。黑盒测试如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对象 30"/>
          <p:cNvGraphicFramePr/>
          <p:nvPr/>
        </p:nvGraphicFramePr>
        <p:xfrm>
          <a:off x="2854960" y="3862070"/>
          <a:ext cx="6097905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0" name="" r:id="rId1" imgW="2438400" imgH="807085" progId="Visio.Drawing.11">
                  <p:embed/>
                </p:oleObj>
              </mc:Choice>
              <mc:Fallback>
                <p:oleObj name="" r:id="rId1" imgW="2438400" imgH="807085" progId="Visio.Drawing.11">
                  <p:embed/>
                  <p:pic>
                    <p:nvPicPr>
                      <p:cNvPr id="0" name="图片 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4960" y="3862070"/>
                        <a:ext cx="6097905" cy="205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8880" y="909955"/>
            <a:ext cx="10060305" cy="2092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盒测试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白盒测试又叫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透明盒测试、结构测试、逻辑驱动测试或基于代码的测试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，它是指测试人员了解软件程序的逻辑结构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、路径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运行过程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，在测试时，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按照程序的执行路径得出结果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。白盒测试把软件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（程序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）当作一个透明的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测试人员清楚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知道从输入到输出的每一步过程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。白盒测试如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927350" y="3429635"/>
          <a:ext cx="6150610" cy="323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4" name="" r:id="rId1" imgW="3173730" imgH="1622425" progId="Visio.Drawing.11">
                  <p:embed/>
                </p:oleObj>
              </mc:Choice>
              <mc:Fallback>
                <p:oleObj name="" r:id="rId1" imgW="3173730" imgH="1622425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350" y="3429635"/>
                        <a:ext cx="6150610" cy="3236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837565"/>
            <a:ext cx="10060305" cy="2455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盒测试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灰盒测试是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介于黑盒测试与白盒测试之间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的一种软件测试方法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由方法和工具组成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，这些方法和工具取决于应用程序内部交互的环境。灰盒测试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通常用于集成测试阶段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，测试人员在使用灰盒测试方法时，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不仅需要关注输入、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输出的正确性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需要关注程序内部的情况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，通常根据一些现象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、事件、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标志来判断内部的运行状态。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9205" y="3717925"/>
            <a:ext cx="9659620" cy="271716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等线" panose="02010600030101010101" charset="-122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703070" y="3493135"/>
            <a:ext cx="103759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215" y="3392805"/>
            <a:ext cx="837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4780" y="4077970"/>
            <a:ext cx="919924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相对于黑盒测试来说，</a:t>
            </a:r>
            <a:r>
              <a:rPr lang="en-US" alt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对测试人员的要求会更高一点，它</a:t>
            </a:r>
            <a:r>
              <a:rPr lang="en-US" altLang="zh-CN" sz="1800" dirty="0" smtClean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要求测试人员具有一定的编程能力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，而且要</a:t>
            </a:r>
            <a:r>
              <a:rPr lang="en-US" alt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熟悉各种脚本语言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。但是在企业中，黑盒测试与白盒测试并不是界限分明的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，在测试一款软件时往往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黑盒测试与白盒测试相结合对软件进行完整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全面的测试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灰盒测试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虽然没有白盒测试详细、完整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</a:t>
            </a:r>
            <a:r>
              <a:rPr lang="en-US" altLang="zh-CN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比黑盒测试更关注程序的内部逻辑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，能够用于黑盒测试以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测试的效率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98171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按照软件质量特性分类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按照软件质量特性可以将软件测试分为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032038" y="2892741"/>
            <a:ext cx="4590014" cy="1475522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317357" y="3216520"/>
            <a:ext cx="401937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功能测试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软件的功能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是否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满足用户的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，包括准确性、易用性、适合性、互操作性等。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0" name="原创设计师QQ598969553          _5"/>
          <p:cNvSpPr/>
          <p:nvPr/>
        </p:nvSpPr>
        <p:spPr>
          <a:xfrm>
            <a:off x="6404132" y="2913684"/>
            <a:ext cx="4590014" cy="1475522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687542" y="2658695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1918752" y="2708485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原创设计师QQ598969553          _8"/>
          <p:cNvSpPr/>
          <p:nvPr/>
        </p:nvSpPr>
        <p:spPr>
          <a:xfrm>
            <a:off x="7031067" y="2636828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2856" tIns="22856" rIns="22856" bIns="22856" numCol="1" spcCol="1270" anchor="ctr" anchorCtr="0">
            <a:noAutofit/>
          </a:bodyPr>
          <a:lstStyle/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800">
              <a:solidFill>
                <a:srgbClr val="FFFFFF"/>
              </a:solidFill>
              <a:latin typeface="Lato Light"/>
              <a:cs typeface="Lato Light"/>
              <a:sym typeface="+mn-lt"/>
            </a:endParaRPr>
          </a:p>
        </p:txBody>
      </p:sp>
      <p:sp>
        <p:nvSpPr>
          <p:cNvPr id="14" name="原创设计师QQ598969553          _9"/>
          <p:cNvSpPr txBox="1"/>
          <p:nvPr/>
        </p:nvSpPr>
        <p:spPr>
          <a:xfrm>
            <a:off x="7271800" y="2663657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性能测试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原创设计师QQ598969553          _10"/>
          <p:cNvSpPr/>
          <p:nvPr/>
        </p:nvSpPr>
        <p:spPr>
          <a:xfrm>
            <a:off x="6455206" y="3173318"/>
            <a:ext cx="458020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性能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测试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软件的性能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是否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满足用户的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，包括负载测试、压力测试、兼容性测试、可移植性测试和健壮性测试等。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98171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 按照自动化程度分类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按照自动化程度可以将软件测试分为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手工测试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自动化测试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031875" y="2892425"/>
            <a:ext cx="4589780" cy="174752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365081" y="3242275"/>
            <a:ext cx="3923367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手工测试是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测试人员编写与执行测试用例的过程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。手工测试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比较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耗时、费力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，而且测试人员如果在疲惫状态下，很难保证测试的效果。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0" name="原创设计师QQ598969553          _5"/>
          <p:cNvSpPr/>
          <p:nvPr/>
        </p:nvSpPr>
        <p:spPr>
          <a:xfrm>
            <a:off x="6375400" y="2829560"/>
            <a:ext cx="4589780" cy="181038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687542" y="2658695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1918752" y="2708485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手工测试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原创设计师QQ598969553          _8"/>
          <p:cNvSpPr/>
          <p:nvPr/>
        </p:nvSpPr>
        <p:spPr>
          <a:xfrm>
            <a:off x="7031067" y="2636828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2856" tIns="22856" rIns="22856" bIns="22856" numCol="1" spcCol="1270" anchor="ctr" anchorCtr="0">
            <a:noAutofit/>
          </a:bodyPr>
          <a:lstStyle/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800">
              <a:solidFill>
                <a:srgbClr val="FFFFFF"/>
              </a:solidFill>
              <a:latin typeface="Lato Light"/>
              <a:cs typeface="Lato Light"/>
              <a:sym typeface="+mn-lt"/>
            </a:endParaRPr>
          </a:p>
        </p:txBody>
      </p:sp>
      <p:sp>
        <p:nvSpPr>
          <p:cNvPr id="14" name="原创设计师QQ598969553          _9"/>
          <p:cNvSpPr txBox="1"/>
          <p:nvPr/>
        </p:nvSpPr>
        <p:spPr>
          <a:xfrm>
            <a:off x="7243230" y="2689098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自动化测试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原创设计师QQ598969553          _10"/>
          <p:cNvSpPr/>
          <p:nvPr/>
        </p:nvSpPr>
        <p:spPr>
          <a:xfrm>
            <a:off x="6708886" y="3227161"/>
            <a:ext cx="4066320" cy="1387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自动化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测试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借助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脚本、自动化测试工具等完成相应的测试工作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也需要人工的参与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，但是它可以将要执行的测试代码或流程写成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脚本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，通过执行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脚本完成整个测试工作。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049655" y="2932430"/>
            <a:ext cx="9904095" cy="3779520"/>
            <a:chOff x="1766" y="4042"/>
            <a:chExt cx="15597" cy="5952"/>
          </a:xfrm>
        </p:grpSpPr>
        <p:sp>
          <p:nvSpPr>
            <p:cNvPr id="36" name="矩形: 剪去单角 444"/>
            <p:cNvSpPr/>
            <p:nvPr>
              <p:custDataLst>
                <p:tags r:id="rId2"/>
              </p:custDataLst>
            </p:nvPr>
          </p:nvSpPr>
          <p:spPr bwMode="auto">
            <a:xfrm>
              <a:off x="7217" y="4042"/>
              <a:ext cx="4695" cy="595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矩形 4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217" y="9729"/>
              <a:ext cx="4696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任意多边形: 形状 445"/>
            <p:cNvSpPr/>
            <p:nvPr>
              <p:custDataLst>
                <p:tags r:id="rId4"/>
              </p:custDataLst>
            </p:nvPr>
          </p:nvSpPr>
          <p:spPr bwMode="auto">
            <a:xfrm>
              <a:off x="10728" y="4042"/>
              <a:ext cx="1185" cy="1269"/>
            </a:xfrm>
            <a:custGeom>
              <a:avLst/>
              <a:gdLst>
                <a:gd name="T0" fmla="*/ 719975 w 608"/>
                <a:gd name="T1" fmla="*/ 0 h 608"/>
                <a:gd name="T2" fmla="*/ 0 w 608"/>
                <a:gd name="T3" fmla="*/ 0 h 608"/>
                <a:gd name="T4" fmla="*/ 719975 w 608"/>
                <a:gd name="T5" fmla="*/ 719975 h 608"/>
                <a:gd name="T6" fmla="*/ 719975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00" tIns="60950" rIns="121900" bIns="60950"/>
            <a:lstStyle/>
            <a:p>
              <a:pPr algn="r"/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endPara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矩形: 剪去单角 437"/>
            <p:cNvSpPr/>
            <p:nvPr>
              <p:custDataLst>
                <p:tags r:id="rId5"/>
              </p:custDataLst>
            </p:nvPr>
          </p:nvSpPr>
          <p:spPr bwMode="auto">
            <a:xfrm>
              <a:off x="1766" y="4042"/>
              <a:ext cx="4695" cy="595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0" name="矩形 4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66" y="9758"/>
              <a:ext cx="4696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任意多边形: 形状 438"/>
            <p:cNvSpPr/>
            <p:nvPr>
              <p:custDataLst>
                <p:tags r:id="rId7"/>
              </p:custDataLst>
            </p:nvPr>
          </p:nvSpPr>
          <p:spPr bwMode="auto">
            <a:xfrm>
              <a:off x="5277" y="4042"/>
              <a:ext cx="1185" cy="1269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00" tIns="60950" rIns="121900" bIns="6095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endPara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矩形: 剪去单角 455"/>
            <p:cNvSpPr/>
            <p:nvPr>
              <p:custDataLst>
                <p:tags r:id="rId8"/>
              </p:custDataLst>
            </p:nvPr>
          </p:nvSpPr>
          <p:spPr bwMode="auto">
            <a:xfrm>
              <a:off x="12668" y="4042"/>
              <a:ext cx="4695" cy="595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9"/>
              </p:custDataLst>
            </p:nvPr>
          </p:nvSpPr>
          <p:spPr bwMode="auto">
            <a:xfrm>
              <a:off x="12668" y="9729"/>
              <a:ext cx="4695" cy="215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4" name="任意多边形: 形状 456"/>
            <p:cNvSpPr/>
            <p:nvPr>
              <p:custDataLst>
                <p:tags r:id="rId10"/>
              </p:custDataLst>
            </p:nvPr>
          </p:nvSpPr>
          <p:spPr bwMode="auto">
            <a:xfrm>
              <a:off x="16181" y="4042"/>
              <a:ext cx="1183" cy="1267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lIns="121900" tIns="60950" rIns="121900" bIns="60950">
              <a:normAutofit/>
            </a:bodyPr>
            <a:lstStyle/>
            <a:p>
              <a:pPr algn="r">
                <a:defRPr/>
              </a:pPr>
              <a:r>
                <a:rPr lang="en-US" altLang="ko-KR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3</a:t>
              </a:r>
              <a:endPara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11"/>
              </p:custDataLst>
            </p:nvPr>
          </p:nvSpPr>
          <p:spPr bwMode="auto">
            <a:xfrm>
              <a:off x="2107" y="669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界面类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测试</a:t>
              </a:r>
              <a:r>
                <a:rPr lang="zh-CN" altLang="en-US" sz="1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是指</a:t>
              </a:r>
              <a:r>
                <a:rPr lang="zh-CN" altLang="en-US" sz="160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验证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软件界面</a:t>
              </a:r>
              <a:r>
                <a:rPr lang="zh-CN" altLang="en-US" sz="16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是否</a:t>
              </a:r>
              <a:r>
                <a:rPr lang="zh-CN" altLang="en-US" sz="160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符合用户需求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，包括界面布局是否美观、按钮是否齐全等。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6" name="矩形 45"/>
            <p:cNvSpPr/>
            <p:nvPr>
              <p:custDataLst>
                <p:tags r:id="rId12"/>
              </p:custDataLst>
            </p:nvPr>
          </p:nvSpPr>
          <p:spPr bwMode="auto">
            <a:xfrm>
              <a:off x="2107" y="5910"/>
              <a:ext cx="3452" cy="915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界面测试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3"/>
              </p:custDataLst>
            </p:nvPr>
          </p:nvSpPr>
          <p:spPr bwMode="auto">
            <a:xfrm>
              <a:off x="7557" y="6696"/>
              <a:ext cx="4162" cy="3052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安全性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测试</a:t>
              </a:r>
              <a:r>
                <a:rPr lang="zh-CN" altLang="en-US" sz="1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是指</a:t>
              </a:r>
              <a:r>
                <a:rPr lang="zh-CN" altLang="en-US" sz="160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测试</a:t>
              </a:r>
              <a:r>
                <a:rPr lang="zh-CN" altLang="en-US" sz="16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软件</a:t>
              </a:r>
              <a:r>
                <a:rPr lang="zh-CN" altLang="en-US" sz="160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在受到没有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授权的内部或外部用户的攻击或恶意破坏时如何进行处理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，是否能保证软件与数据的安全。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14"/>
              </p:custDataLst>
            </p:nvPr>
          </p:nvSpPr>
          <p:spPr bwMode="auto">
            <a:xfrm>
              <a:off x="7557" y="591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安全性测试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15"/>
              </p:custDataLst>
            </p:nvPr>
          </p:nvSpPr>
          <p:spPr bwMode="auto">
            <a:xfrm>
              <a:off x="13013" y="6696"/>
              <a:ext cx="4162" cy="3054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文档测试以需求分析、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软件</a:t>
              </a:r>
              <a:r>
                <a:rPr lang="zh-CN" altLang="en-US" sz="1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设计文档、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用户手册、安装手册为主，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主要验证文档说明与实际软件之间是否存在差异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16"/>
              </p:custDataLst>
            </p:nvPr>
          </p:nvSpPr>
          <p:spPr bwMode="auto">
            <a:xfrm>
              <a:off x="13013" y="591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文档测试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1" name="任意多边形: 形状 43"/>
            <p:cNvSpPr/>
            <p:nvPr>
              <p:custDataLst>
                <p:tags r:id="rId17"/>
              </p:custDataLst>
            </p:nvPr>
          </p:nvSpPr>
          <p:spPr bwMode="auto">
            <a:xfrm>
              <a:off x="8829" y="4589"/>
              <a:ext cx="674" cy="722"/>
            </a:xfrm>
            <a:custGeom>
              <a:avLst/>
              <a:gdLst>
                <a:gd name="T0" fmla="*/ 218845 w 21551"/>
                <a:gd name="T1" fmla="*/ 218844 h 21600"/>
                <a:gd name="T2" fmla="*/ 218845 w 21551"/>
                <a:gd name="T3" fmla="*/ 218844 h 21600"/>
                <a:gd name="T4" fmla="*/ 218845 w 21551"/>
                <a:gd name="T5" fmla="*/ 218844 h 21600"/>
                <a:gd name="T6" fmla="*/ 218845 w 21551"/>
                <a:gd name="T7" fmla="*/ 21884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51" h="21600" extrusionOk="0">
                  <a:moveTo>
                    <a:pt x="19313" y="4353"/>
                  </a:moveTo>
                  <a:lnTo>
                    <a:pt x="16178" y="7496"/>
                  </a:lnTo>
                  <a:cubicBezTo>
                    <a:pt x="16034" y="7640"/>
                    <a:pt x="15980" y="7851"/>
                    <a:pt x="16036" y="8047"/>
                  </a:cubicBezTo>
                  <a:lnTo>
                    <a:pt x="18732" y="17470"/>
                  </a:lnTo>
                  <a:cubicBezTo>
                    <a:pt x="18788" y="17666"/>
                    <a:pt x="18734" y="17878"/>
                    <a:pt x="18590" y="18022"/>
                  </a:cubicBezTo>
                  <a:lnTo>
                    <a:pt x="17170" y="19445"/>
                  </a:lnTo>
                  <a:cubicBezTo>
                    <a:pt x="17059" y="19556"/>
                    <a:pt x="16916" y="19609"/>
                    <a:pt x="16775" y="19609"/>
                  </a:cubicBezTo>
                  <a:cubicBezTo>
                    <a:pt x="16581" y="19609"/>
                    <a:pt x="16390" y="19510"/>
                    <a:pt x="16285" y="19322"/>
                  </a:cubicBezTo>
                  <a:lnTo>
                    <a:pt x="12375" y="12317"/>
                  </a:lnTo>
                  <a:cubicBezTo>
                    <a:pt x="12271" y="12129"/>
                    <a:pt x="12079" y="12029"/>
                    <a:pt x="11886" y="12029"/>
                  </a:cubicBezTo>
                  <a:cubicBezTo>
                    <a:pt x="11744" y="12029"/>
                    <a:pt x="11602" y="12083"/>
                    <a:pt x="11491" y="12194"/>
                  </a:cubicBezTo>
                  <a:lnTo>
                    <a:pt x="8519" y="15172"/>
                  </a:lnTo>
                  <a:cubicBezTo>
                    <a:pt x="8388" y="15304"/>
                    <a:pt x="8330" y="15492"/>
                    <a:pt x="8365" y="15674"/>
                  </a:cubicBezTo>
                  <a:lnTo>
                    <a:pt x="8996" y="18989"/>
                  </a:lnTo>
                  <a:cubicBezTo>
                    <a:pt x="9031" y="19171"/>
                    <a:pt x="8973" y="19359"/>
                    <a:pt x="8842" y="19491"/>
                  </a:cubicBezTo>
                  <a:lnTo>
                    <a:pt x="8441" y="19893"/>
                  </a:lnTo>
                  <a:cubicBezTo>
                    <a:pt x="8330" y="20004"/>
                    <a:pt x="8187" y="20058"/>
                    <a:pt x="8046" y="20058"/>
                  </a:cubicBezTo>
                  <a:cubicBezTo>
                    <a:pt x="7852" y="20058"/>
                    <a:pt x="7661" y="19958"/>
                    <a:pt x="7556" y="19770"/>
                  </a:cubicBezTo>
                  <a:lnTo>
                    <a:pt x="5577" y="16226"/>
                  </a:lnTo>
                  <a:cubicBezTo>
                    <a:pt x="5526" y="16136"/>
                    <a:pt x="5452" y="16061"/>
                    <a:pt x="5362" y="16010"/>
                  </a:cubicBezTo>
                  <a:lnTo>
                    <a:pt x="1826" y="14027"/>
                  </a:lnTo>
                  <a:cubicBezTo>
                    <a:pt x="1502" y="13845"/>
                    <a:pt x="1441" y="13403"/>
                    <a:pt x="1703" y="13141"/>
                  </a:cubicBezTo>
                  <a:lnTo>
                    <a:pt x="2105" y="12738"/>
                  </a:lnTo>
                  <a:cubicBezTo>
                    <a:pt x="2211" y="12632"/>
                    <a:pt x="2354" y="12574"/>
                    <a:pt x="2501" y="12574"/>
                  </a:cubicBezTo>
                  <a:cubicBezTo>
                    <a:pt x="2536" y="12574"/>
                    <a:pt x="2571" y="12577"/>
                    <a:pt x="2606" y="12584"/>
                  </a:cubicBezTo>
                  <a:lnTo>
                    <a:pt x="5913" y="13216"/>
                  </a:lnTo>
                  <a:cubicBezTo>
                    <a:pt x="5948" y="13223"/>
                    <a:pt x="5983" y="13226"/>
                    <a:pt x="6018" y="13226"/>
                  </a:cubicBezTo>
                  <a:cubicBezTo>
                    <a:pt x="6165" y="13226"/>
                    <a:pt x="6308" y="13168"/>
                    <a:pt x="6414" y="13062"/>
                  </a:cubicBezTo>
                  <a:lnTo>
                    <a:pt x="9385" y="10083"/>
                  </a:lnTo>
                  <a:cubicBezTo>
                    <a:pt x="9648" y="9820"/>
                    <a:pt x="9587" y="9379"/>
                    <a:pt x="9263" y="9197"/>
                  </a:cubicBezTo>
                  <a:lnTo>
                    <a:pt x="2273" y="5278"/>
                  </a:lnTo>
                  <a:cubicBezTo>
                    <a:pt x="1949" y="5097"/>
                    <a:pt x="1888" y="4655"/>
                    <a:pt x="2150" y="4392"/>
                  </a:cubicBezTo>
                  <a:lnTo>
                    <a:pt x="3571" y="2968"/>
                  </a:lnTo>
                  <a:cubicBezTo>
                    <a:pt x="3677" y="2862"/>
                    <a:pt x="3820" y="2804"/>
                    <a:pt x="3966" y="2804"/>
                  </a:cubicBezTo>
                  <a:cubicBezTo>
                    <a:pt x="4018" y="2804"/>
                    <a:pt x="4070" y="2811"/>
                    <a:pt x="4121" y="2826"/>
                  </a:cubicBezTo>
                  <a:lnTo>
                    <a:pt x="13523" y="5528"/>
                  </a:lnTo>
                  <a:cubicBezTo>
                    <a:pt x="13574" y="5543"/>
                    <a:pt x="13625" y="5550"/>
                    <a:pt x="13677" y="5550"/>
                  </a:cubicBezTo>
                  <a:cubicBezTo>
                    <a:pt x="13823" y="5550"/>
                    <a:pt x="13966" y="5493"/>
                    <a:pt x="14073" y="5386"/>
                  </a:cubicBezTo>
                  <a:lnTo>
                    <a:pt x="17208" y="2243"/>
                  </a:lnTo>
                  <a:cubicBezTo>
                    <a:pt x="17593" y="1857"/>
                    <a:pt x="18321" y="1542"/>
                    <a:pt x="18937" y="1542"/>
                  </a:cubicBezTo>
                  <a:cubicBezTo>
                    <a:pt x="19252" y="1542"/>
                    <a:pt x="19538" y="1624"/>
                    <a:pt x="19734" y="1821"/>
                  </a:cubicBezTo>
                  <a:cubicBezTo>
                    <a:pt x="20316" y="2404"/>
                    <a:pt x="19895" y="3770"/>
                    <a:pt x="19313" y="4353"/>
                  </a:cubicBezTo>
                  <a:cubicBezTo>
                    <a:pt x="19313" y="4353"/>
                    <a:pt x="19313" y="4353"/>
                    <a:pt x="19313" y="4353"/>
                  </a:cubicBezTo>
                  <a:close/>
                  <a:moveTo>
                    <a:pt x="20822" y="731"/>
                  </a:moveTo>
                  <a:cubicBezTo>
                    <a:pt x="20557" y="465"/>
                    <a:pt x="20235" y="268"/>
                    <a:pt x="19866" y="145"/>
                  </a:cubicBezTo>
                  <a:cubicBezTo>
                    <a:pt x="19578" y="49"/>
                    <a:pt x="19266" y="0"/>
                    <a:pt x="18937" y="0"/>
                  </a:cubicBezTo>
                  <a:cubicBezTo>
                    <a:pt x="18441" y="0"/>
                    <a:pt x="17909" y="111"/>
                    <a:pt x="17399" y="322"/>
                  </a:cubicBezTo>
                  <a:cubicBezTo>
                    <a:pt x="16897" y="530"/>
                    <a:pt x="16455" y="817"/>
                    <a:pt x="16120" y="1153"/>
                  </a:cubicBezTo>
                  <a:lnTo>
                    <a:pt x="13392" y="3887"/>
                  </a:lnTo>
                  <a:lnTo>
                    <a:pt x="4545" y="1343"/>
                  </a:lnTo>
                  <a:cubicBezTo>
                    <a:pt x="4357" y="1289"/>
                    <a:pt x="4162" y="1262"/>
                    <a:pt x="3966" y="1262"/>
                  </a:cubicBezTo>
                  <a:cubicBezTo>
                    <a:pt x="3691" y="1262"/>
                    <a:pt x="3423" y="1315"/>
                    <a:pt x="3169" y="1420"/>
                  </a:cubicBezTo>
                  <a:cubicBezTo>
                    <a:pt x="2911" y="1526"/>
                    <a:pt x="2680" y="1680"/>
                    <a:pt x="2482" y="1878"/>
                  </a:cubicBezTo>
                  <a:lnTo>
                    <a:pt x="1062" y="3301"/>
                  </a:lnTo>
                  <a:cubicBezTo>
                    <a:pt x="828" y="3536"/>
                    <a:pt x="650" y="3827"/>
                    <a:pt x="549" y="4142"/>
                  </a:cubicBezTo>
                  <a:cubicBezTo>
                    <a:pt x="452" y="4442"/>
                    <a:pt x="424" y="4765"/>
                    <a:pt x="467" y="5077"/>
                  </a:cubicBezTo>
                  <a:cubicBezTo>
                    <a:pt x="511" y="5389"/>
                    <a:pt x="625" y="5693"/>
                    <a:pt x="799" y="5955"/>
                  </a:cubicBezTo>
                  <a:cubicBezTo>
                    <a:pt x="982" y="6230"/>
                    <a:pt x="1232" y="6462"/>
                    <a:pt x="1522" y="6624"/>
                  </a:cubicBezTo>
                  <a:lnTo>
                    <a:pt x="7382" y="9910"/>
                  </a:lnTo>
                  <a:lnTo>
                    <a:pt x="5692" y="11604"/>
                  </a:lnTo>
                  <a:lnTo>
                    <a:pt x="2894" y="11069"/>
                  </a:lnTo>
                  <a:cubicBezTo>
                    <a:pt x="2765" y="11044"/>
                    <a:pt x="2632" y="11031"/>
                    <a:pt x="2501" y="11031"/>
                  </a:cubicBezTo>
                  <a:cubicBezTo>
                    <a:pt x="2225" y="11031"/>
                    <a:pt x="1956" y="11085"/>
                    <a:pt x="1701" y="11190"/>
                  </a:cubicBezTo>
                  <a:cubicBezTo>
                    <a:pt x="1444" y="11296"/>
                    <a:pt x="1213" y="11450"/>
                    <a:pt x="1017" y="11647"/>
                  </a:cubicBezTo>
                  <a:lnTo>
                    <a:pt x="615" y="12050"/>
                  </a:lnTo>
                  <a:cubicBezTo>
                    <a:pt x="380" y="12285"/>
                    <a:pt x="203" y="12576"/>
                    <a:pt x="101" y="12891"/>
                  </a:cubicBezTo>
                  <a:cubicBezTo>
                    <a:pt x="5" y="13191"/>
                    <a:pt x="-23" y="13513"/>
                    <a:pt x="20" y="13826"/>
                  </a:cubicBezTo>
                  <a:cubicBezTo>
                    <a:pt x="63" y="14138"/>
                    <a:pt x="178" y="14441"/>
                    <a:pt x="352" y="14703"/>
                  </a:cubicBezTo>
                  <a:cubicBezTo>
                    <a:pt x="535" y="14979"/>
                    <a:pt x="785" y="15210"/>
                    <a:pt x="1074" y="15373"/>
                  </a:cubicBezTo>
                  <a:lnTo>
                    <a:pt x="4369" y="17221"/>
                  </a:lnTo>
                  <a:lnTo>
                    <a:pt x="6213" y="20524"/>
                  </a:lnTo>
                  <a:cubicBezTo>
                    <a:pt x="6584" y="21188"/>
                    <a:pt x="7286" y="21600"/>
                    <a:pt x="8046" y="21600"/>
                  </a:cubicBezTo>
                  <a:cubicBezTo>
                    <a:pt x="8606" y="21600"/>
                    <a:pt x="9132" y="21381"/>
                    <a:pt x="9529" y="20984"/>
                  </a:cubicBezTo>
                  <a:lnTo>
                    <a:pt x="9930" y="20581"/>
                  </a:lnTo>
                  <a:cubicBezTo>
                    <a:pt x="10422" y="20088"/>
                    <a:pt x="10638" y="19385"/>
                    <a:pt x="10508" y="18700"/>
                  </a:cubicBezTo>
                  <a:lnTo>
                    <a:pt x="9974" y="15896"/>
                  </a:lnTo>
                  <a:lnTo>
                    <a:pt x="11664" y="14201"/>
                  </a:lnTo>
                  <a:lnTo>
                    <a:pt x="14942" y="20075"/>
                  </a:lnTo>
                  <a:cubicBezTo>
                    <a:pt x="15313" y="20739"/>
                    <a:pt x="16015" y="21152"/>
                    <a:pt x="16775" y="21152"/>
                  </a:cubicBezTo>
                  <a:cubicBezTo>
                    <a:pt x="17335" y="21152"/>
                    <a:pt x="17861" y="20933"/>
                    <a:pt x="18258" y="20536"/>
                  </a:cubicBezTo>
                  <a:lnTo>
                    <a:pt x="19678" y="19113"/>
                  </a:lnTo>
                  <a:cubicBezTo>
                    <a:pt x="20217" y="18572"/>
                    <a:pt x="20422" y="17780"/>
                    <a:pt x="20211" y="17045"/>
                  </a:cubicBezTo>
                  <a:lnTo>
                    <a:pt x="17674" y="8178"/>
                  </a:lnTo>
                  <a:lnTo>
                    <a:pt x="20402" y="5443"/>
                  </a:lnTo>
                  <a:cubicBezTo>
                    <a:pt x="20900" y="4943"/>
                    <a:pt x="21298" y="4185"/>
                    <a:pt x="21464" y="3413"/>
                  </a:cubicBezTo>
                  <a:cubicBezTo>
                    <a:pt x="21559" y="2971"/>
                    <a:pt x="21577" y="2546"/>
                    <a:pt x="21517" y="2149"/>
                  </a:cubicBezTo>
                  <a:cubicBezTo>
                    <a:pt x="21432" y="1592"/>
                    <a:pt x="21192" y="1102"/>
                    <a:pt x="20822" y="731"/>
                  </a:cubicBezTo>
                  <a:cubicBezTo>
                    <a:pt x="20822" y="731"/>
                    <a:pt x="20822" y="731"/>
                    <a:pt x="20822" y="73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41"/>
            <p:cNvSpPr/>
            <p:nvPr>
              <p:custDataLst>
                <p:tags r:id="rId18"/>
              </p:custDataLst>
            </p:nvPr>
          </p:nvSpPr>
          <p:spPr bwMode="auto">
            <a:xfrm>
              <a:off x="3300" y="4625"/>
              <a:ext cx="726" cy="632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任意多边形: 形状 39"/>
            <p:cNvSpPr/>
            <p:nvPr>
              <p:custDataLst>
                <p:tags r:id="rId19"/>
              </p:custDataLst>
            </p:nvPr>
          </p:nvSpPr>
          <p:spPr bwMode="auto">
            <a:xfrm>
              <a:off x="14282" y="4535"/>
              <a:ext cx="629" cy="854"/>
            </a:xfrm>
            <a:custGeom>
              <a:avLst/>
              <a:gdLst>
                <a:gd name="T0" fmla="*/ 204156 w 21600"/>
                <a:gd name="T1" fmla="*/ 258980 h 21600"/>
                <a:gd name="T2" fmla="*/ 204156 w 21600"/>
                <a:gd name="T3" fmla="*/ 258980 h 21600"/>
                <a:gd name="T4" fmla="*/ 204156 w 21600"/>
                <a:gd name="T5" fmla="*/ 258980 h 21600"/>
                <a:gd name="T6" fmla="*/ 204156 w 21600"/>
                <a:gd name="T7" fmla="*/ 25898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3" y="6729"/>
                  </a:moveTo>
                  <a:cubicBezTo>
                    <a:pt x="17891" y="6790"/>
                    <a:pt x="17842" y="6883"/>
                    <a:pt x="17842" y="6994"/>
                  </a:cubicBezTo>
                  <a:cubicBezTo>
                    <a:pt x="17842" y="7080"/>
                    <a:pt x="17901" y="7139"/>
                    <a:pt x="18015" y="7191"/>
                  </a:cubicBezTo>
                  <a:cubicBezTo>
                    <a:pt x="18122" y="7230"/>
                    <a:pt x="18344" y="7284"/>
                    <a:pt x="18697" y="7352"/>
                  </a:cubicBezTo>
                  <a:cubicBezTo>
                    <a:pt x="19207" y="7434"/>
                    <a:pt x="19552" y="7540"/>
                    <a:pt x="19715" y="7661"/>
                  </a:cubicBezTo>
                  <a:cubicBezTo>
                    <a:pt x="19899" y="7775"/>
                    <a:pt x="19976" y="7963"/>
                    <a:pt x="19976" y="8220"/>
                  </a:cubicBezTo>
                  <a:cubicBezTo>
                    <a:pt x="19976" y="8479"/>
                    <a:pt x="19851" y="8684"/>
                    <a:pt x="19591" y="8842"/>
                  </a:cubicBezTo>
                  <a:cubicBezTo>
                    <a:pt x="19332" y="8993"/>
                    <a:pt x="18985" y="9069"/>
                    <a:pt x="18546" y="9069"/>
                  </a:cubicBezTo>
                  <a:cubicBezTo>
                    <a:pt x="18091" y="9069"/>
                    <a:pt x="17748" y="8987"/>
                    <a:pt x="17505" y="8826"/>
                  </a:cubicBezTo>
                  <a:cubicBezTo>
                    <a:pt x="17256" y="8660"/>
                    <a:pt x="17122" y="8433"/>
                    <a:pt x="17105" y="8130"/>
                  </a:cubicBezTo>
                  <a:lnTo>
                    <a:pt x="17814" y="8130"/>
                  </a:lnTo>
                  <a:cubicBezTo>
                    <a:pt x="17814" y="8283"/>
                    <a:pt x="17879" y="8395"/>
                    <a:pt x="18015" y="8471"/>
                  </a:cubicBezTo>
                  <a:cubicBezTo>
                    <a:pt x="18132" y="8553"/>
                    <a:pt x="18312" y="8592"/>
                    <a:pt x="18546" y="8592"/>
                  </a:cubicBezTo>
                  <a:cubicBezTo>
                    <a:pt x="18773" y="8592"/>
                    <a:pt x="18957" y="8562"/>
                    <a:pt x="19091" y="8501"/>
                  </a:cubicBezTo>
                  <a:cubicBezTo>
                    <a:pt x="19217" y="8442"/>
                    <a:pt x="19283" y="8356"/>
                    <a:pt x="19283" y="8253"/>
                  </a:cubicBezTo>
                  <a:cubicBezTo>
                    <a:pt x="19283" y="8152"/>
                    <a:pt x="19234" y="8078"/>
                    <a:pt x="19148" y="8024"/>
                  </a:cubicBezTo>
                  <a:cubicBezTo>
                    <a:pt x="19054" y="7973"/>
                    <a:pt x="18860" y="7926"/>
                    <a:pt x="18555" y="7874"/>
                  </a:cubicBezTo>
                  <a:cubicBezTo>
                    <a:pt x="18003" y="7775"/>
                    <a:pt x="17623" y="7669"/>
                    <a:pt x="17440" y="7554"/>
                  </a:cubicBezTo>
                  <a:cubicBezTo>
                    <a:pt x="17256" y="7442"/>
                    <a:pt x="17161" y="7268"/>
                    <a:pt x="17161" y="7024"/>
                  </a:cubicBezTo>
                  <a:cubicBezTo>
                    <a:pt x="17161" y="6759"/>
                    <a:pt x="17278" y="6550"/>
                    <a:pt x="17527" y="6388"/>
                  </a:cubicBezTo>
                  <a:cubicBezTo>
                    <a:pt x="17776" y="6230"/>
                    <a:pt x="18103" y="6154"/>
                    <a:pt x="18524" y="6154"/>
                  </a:cubicBezTo>
                  <a:cubicBezTo>
                    <a:pt x="18919" y="6154"/>
                    <a:pt x="19234" y="6230"/>
                    <a:pt x="19487" y="6397"/>
                  </a:cubicBezTo>
                  <a:cubicBezTo>
                    <a:pt x="19737" y="6563"/>
                    <a:pt x="19868" y="6785"/>
                    <a:pt x="19899" y="7063"/>
                  </a:cubicBezTo>
                  <a:lnTo>
                    <a:pt x="19179" y="7063"/>
                  </a:lnTo>
                  <a:cubicBezTo>
                    <a:pt x="19169" y="6926"/>
                    <a:pt x="19091" y="6820"/>
                    <a:pt x="18967" y="6747"/>
                  </a:cubicBezTo>
                  <a:cubicBezTo>
                    <a:pt x="18832" y="6670"/>
                    <a:pt x="18648" y="6631"/>
                    <a:pt x="18437" y="6631"/>
                  </a:cubicBezTo>
                  <a:cubicBezTo>
                    <a:pt x="18257" y="6631"/>
                    <a:pt x="18103" y="6661"/>
                    <a:pt x="18003" y="6729"/>
                  </a:cubicBezTo>
                  <a:cubicBezTo>
                    <a:pt x="18003" y="6729"/>
                    <a:pt x="18003" y="6729"/>
                    <a:pt x="18003" y="6729"/>
                  </a:cubicBezTo>
                  <a:close/>
                  <a:moveTo>
                    <a:pt x="15761" y="7344"/>
                  </a:moveTo>
                  <a:cubicBezTo>
                    <a:pt x="15665" y="7405"/>
                    <a:pt x="15528" y="7434"/>
                    <a:pt x="15338" y="7434"/>
                  </a:cubicBezTo>
                  <a:lnTo>
                    <a:pt x="14490" y="7434"/>
                  </a:lnTo>
                  <a:lnTo>
                    <a:pt x="14490" y="6707"/>
                  </a:lnTo>
                  <a:lnTo>
                    <a:pt x="15366" y="6707"/>
                  </a:lnTo>
                  <a:cubicBezTo>
                    <a:pt x="15549" y="6707"/>
                    <a:pt x="15675" y="6738"/>
                    <a:pt x="15768" y="6798"/>
                  </a:cubicBezTo>
                  <a:cubicBezTo>
                    <a:pt x="15865" y="6857"/>
                    <a:pt x="15902" y="6950"/>
                    <a:pt x="15902" y="7070"/>
                  </a:cubicBezTo>
                  <a:cubicBezTo>
                    <a:pt x="15902" y="7191"/>
                    <a:pt x="15855" y="7284"/>
                    <a:pt x="15761" y="7344"/>
                  </a:cubicBezTo>
                  <a:cubicBezTo>
                    <a:pt x="15761" y="7344"/>
                    <a:pt x="15761" y="7344"/>
                    <a:pt x="15761" y="7344"/>
                  </a:cubicBezTo>
                  <a:close/>
                  <a:moveTo>
                    <a:pt x="16633" y="6994"/>
                  </a:moveTo>
                  <a:cubicBezTo>
                    <a:pt x="16633" y="6769"/>
                    <a:pt x="16526" y="6579"/>
                    <a:pt x="16326" y="6435"/>
                  </a:cubicBezTo>
                  <a:cubicBezTo>
                    <a:pt x="16124" y="6299"/>
                    <a:pt x="15855" y="6230"/>
                    <a:pt x="15518" y="6230"/>
                  </a:cubicBezTo>
                  <a:lnTo>
                    <a:pt x="13751" y="6230"/>
                  </a:lnTo>
                  <a:lnTo>
                    <a:pt x="13751" y="8993"/>
                  </a:lnTo>
                  <a:lnTo>
                    <a:pt x="14490" y="8993"/>
                  </a:lnTo>
                  <a:lnTo>
                    <a:pt x="14490" y="7904"/>
                  </a:lnTo>
                  <a:lnTo>
                    <a:pt x="15210" y="7904"/>
                  </a:lnTo>
                  <a:cubicBezTo>
                    <a:pt x="15432" y="7904"/>
                    <a:pt x="15577" y="7926"/>
                    <a:pt x="15665" y="7980"/>
                  </a:cubicBezTo>
                  <a:cubicBezTo>
                    <a:pt x="15761" y="8032"/>
                    <a:pt x="15800" y="8122"/>
                    <a:pt x="15800" y="8245"/>
                  </a:cubicBezTo>
                  <a:lnTo>
                    <a:pt x="15806" y="8494"/>
                  </a:lnTo>
                  <a:cubicBezTo>
                    <a:pt x="15806" y="8609"/>
                    <a:pt x="15815" y="8706"/>
                    <a:pt x="15837" y="8805"/>
                  </a:cubicBezTo>
                  <a:cubicBezTo>
                    <a:pt x="15855" y="8895"/>
                    <a:pt x="15865" y="8963"/>
                    <a:pt x="15886" y="8987"/>
                  </a:cubicBezTo>
                  <a:lnTo>
                    <a:pt x="16692" y="8987"/>
                  </a:lnTo>
                  <a:lnTo>
                    <a:pt x="16692" y="8919"/>
                  </a:lnTo>
                  <a:cubicBezTo>
                    <a:pt x="16633" y="8895"/>
                    <a:pt x="16585" y="8864"/>
                    <a:pt x="16575" y="8826"/>
                  </a:cubicBezTo>
                  <a:cubicBezTo>
                    <a:pt x="16547" y="8788"/>
                    <a:pt x="16538" y="8720"/>
                    <a:pt x="16526" y="8638"/>
                  </a:cubicBezTo>
                  <a:lnTo>
                    <a:pt x="16519" y="8184"/>
                  </a:lnTo>
                  <a:cubicBezTo>
                    <a:pt x="16508" y="7963"/>
                    <a:pt x="16401" y="7805"/>
                    <a:pt x="16202" y="7707"/>
                  </a:cubicBezTo>
                  <a:cubicBezTo>
                    <a:pt x="16174" y="7691"/>
                    <a:pt x="16135" y="7685"/>
                    <a:pt x="16086" y="7661"/>
                  </a:cubicBezTo>
                  <a:cubicBezTo>
                    <a:pt x="16163" y="7639"/>
                    <a:pt x="16230" y="7609"/>
                    <a:pt x="16298" y="7579"/>
                  </a:cubicBezTo>
                  <a:cubicBezTo>
                    <a:pt x="16519" y="7456"/>
                    <a:pt x="16633" y="7260"/>
                    <a:pt x="16633" y="6994"/>
                  </a:cubicBezTo>
                  <a:cubicBezTo>
                    <a:pt x="16633" y="6994"/>
                    <a:pt x="16633" y="6994"/>
                    <a:pt x="16633" y="6994"/>
                  </a:cubicBezTo>
                  <a:close/>
                  <a:moveTo>
                    <a:pt x="12311" y="8993"/>
                  </a:moveTo>
                  <a:lnTo>
                    <a:pt x="12311" y="7737"/>
                  </a:lnTo>
                  <a:lnTo>
                    <a:pt x="10936" y="7737"/>
                  </a:lnTo>
                  <a:lnTo>
                    <a:pt x="10936" y="8993"/>
                  </a:lnTo>
                  <a:lnTo>
                    <a:pt x="10200" y="8993"/>
                  </a:lnTo>
                  <a:lnTo>
                    <a:pt x="10200" y="6230"/>
                  </a:lnTo>
                  <a:lnTo>
                    <a:pt x="10936" y="6230"/>
                  </a:lnTo>
                  <a:lnTo>
                    <a:pt x="10936" y="7268"/>
                  </a:lnTo>
                  <a:lnTo>
                    <a:pt x="12311" y="7268"/>
                  </a:lnTo>
                  <a:lnTo>
                    <a:pt x="12311" y="6230"/>
                  </a:lnTo>
                  <a:lnTo>
                    <a:pt x="13033" y="6230"/>
                  </a:lnTo>
                  <a:lnTo>
                    <a:pt x="13033" y="8993"/>
                  </a:lnTo>
                  <a:cubicBezTo>
                    <a:pt x="13033" y="8993"/>
                    <a:pt x="12311" y="8993"/>
                    <a:pt x="12311" y="8993"/>
                  </a:cubicBezTo>
                  <a:close/>
                  <a:moveTo>
                    <a:pt x="16086" y="3348"/>
                  </a:moveTo>
                  <a:lnTo>
                    <a:pt x="16135" y="3271"/>
                  </a:lnTo>
                  <a:lnTo>
                    <a:pt x="17787" y="1111"/>
                  </a:lnTo>
                  <a:lnTo>
                    <a:pt x="17787" y="3348"/>
                  </a:lnTo>
                  <a:cubicBezTo>
                    <a:pt x="17787" y="3348"/>
                    <a:pt x="16086" y="3348"/>
                    <a:pt x="16086" y="3348"/>
                  </a:cubicBezTo>
                  <a:close/>
                  <a:moveTo>
                    <a:pt x="17787" y="5367"/>
                  </a:moveTo>
                  <a:lnTo>
                    <a:pt x="19104" y="5367"/>
                  </a:lnTo>
                  <a:lnTo>
                    <a:pt x="19104" y="4180"/>
                  </a:lnTo>
                  <a:lnTo>
                    <a:pt x="19868" y="4180"/>
                  </a:lnTo>
                  <a:lnTo>
                    <a:pt x="19868" y="3348"/>
                  </a:lnTo>
                  <a:lnTo>
                    <a:pt x="19104" y="3348"/>
                  </a:lnTo>
                  <a:lnTo>
                    <a:pt x="19104" y="0"/>
                  </a:lnTo>
                  <a:lnTo>
                    <a:pt x="17613" y="0"/>
                  </a:lnTo>
                  <a:lnTo>
                    <a:pt x="15106" y="3271"/>
                  </a:lnTo>
                  <a:lnTo>
                    <a:pt x="15106" y="4180"/>
                  </a:lnTo>
                  <a:lnTo>
                    <a:pt x="17787" y="4180"/>
                  </a:lnTo>
                  <a:cubicBezTo>
                    <a:pt x="17787" y="4180"/>
                    <a:pt x="17787" y="5367"/>
                    <a:pt x="17787" y="5367"/>
                  </a:cubicBezTo>
                  <a:close/>
                  <a:moveTo>
                    <a:pt x="14415" y="5367"/>
                  </a:moveTo>
                  <a:lnTo>
                    <a:pt x="9776" y="5367"/>
                  </a:lnTo>
                  <a:lnTo>
                    <a:pt x="9776" y="5360"/>
                  </a:lnTo>
                  <a:cubicBezTo>
                    <a:pt x="9776" y="4876"/>
                    <a:pt x="9929" y="4451"/>
                    <a:pt x="10247" y="4095"/>
                  </a:cubicBezTo>
                  <a:cubicBezTo>
                    <a:pt x="10563" y="3746"/>
                    <a:pt x="11159" y="3340"/>
                    <a:pt x="12024" y="2853"/>
                  </a:cubicBezTo>
                  <a:cubicBezTo>
                    <a:pt x="12410" y="2643"/>
                    <a:pt x="12676" y="2443"/>
                    <a:pt x="12841" y="2271"/>
                  </a:cubicBezTo>
                  <a:cubicBezTo>
                    <a:pt x="13003" y="2089"/>
                    <a:pt x="13081" y="1892"/>
                    <a:pt x="13081" y="1674"/>
                  </a:cubicBezTo>
                  <a:cubicBezTo>
                    <a:pt x="13081" y="1440"/>
                    <a:pt x="12995" y="1243"/>
                    <a:pt x="12820" y="1106"/>
                  </a:cubicBezTo>
                  <a:cubicBezTo>
                    <a:pt x="12648" y="954"/>
                    <a:pt x="12416" y="885"/>
                    <a:pt x="12121" y="885"/>
                  </a:cubicBezTo>
                  <a:cubicBezTo>
                    <a:pt x="11824" y="885"/>
                    <a:pt x="11581" y="976"/>
                    <a:pt x="11419" y="1158"/>
                  </a:cubicBezTo>
                  <a:cubicBezTo>
                    <a:pt x="11235" y="1342"/>
                    <a:pt x="11159" y="1590"/>
                    <a:pt x="11169" y="1892"/>
                  </a:cubicBezTo>
                  <a:lnTo>
                    <a:pt x="9863" y="1892"/>
                  </a:lnTo>
                  <a:cubicBezTo>
                    <a:pt x="9842" y="1317"/>
                    <a:pt x="10038" y="855"/>
                    <a:pt x="10449" y="514"/>
                  </a:cubicBezTo>
                  <a:cubicBezTo>
                    <a:pt x="10851" y="175"/>
                    <a:pt x="11419" y="0"/>
                    <a:pt x="12139" y="0"/>
                  </a:cubicBezTo>
                  <a:cubicBezTo>
                    <a:pt x="12801" y="0"/>
                    <a:pt x="13348" y="159"/>
                    <a:pt x="13779" y="470"/>
                  </a:cubicBezTo>
                  <a:cubicBezTo>
                    <a:pt x="14194" y="786"/>
                    <a:pt x="14415" y="1188"/>
                    <a:pt x="14415" y="1679"/>
                  </a:cubicBezTo>
                  <a:cubicBezTo>
                    <a:pt x="14415" y="2089"/>
                    <a:pt x="14290" y="2430"/>
                    <a:pt x="14051" y="2695"/>
                  </a:cubicBezTo>
                  <a:cubicBezTo>
                    <a:pt x="13810" y="2960"/>
                    <a:pt x="13358" y="3263"/>
                    <a:pt x="12697" y="3595"/>
                  </a:cubicBezTo>
                  <a:cubicBezTo>
                    <a:pt x="12080" y="3907"/>
                    <a:pt x="11668" y="4180"/>
                    <a:pt x="11438" y="4429"/>
                  </a:cubicBezTo>
                  <a:lnTo>
                    <a:pt x="11438" y="4437"/>
                  </a:lnTo>
                  <a:lnTo>
                    <a:pt x="14415" y="4437"/>
                  </a:lnTo>
                  <a:cubicBezTo>
                    <a:pt x="14415" y="4437"/>
                    <a:pt x="14415" y="5367"/>
                    <a:pt x="14415" y="5367"/>
                  </a:cubicBezTo>
                  <a:close/>
                  <a:moveTo>
                    <a:pt x="11045" y="20298"/>
                  </a:moveTo>
                  <a:cubicBezTo>
                    <a:pt x="11045" y="21008"/>
                    <a:pt x="10314" y="21600"/>
                    <a:pt x="9403" y="21600"/>
                  </a:cubicBezTo>
                  <a:cubicBezTo>
                    <a:pt x="8489" y="21600"/>
                    <a:pt x="7750" y="21008"/>
                    <a:pt x="7750" y="20298"/>
                  </a:cubicBezTo>
                  <a:cubicBezTo>
                    <a:pt x="7750" y="19577"/>
                    <a:pt x="8489" y="18995"/>
                    <a:pt x="9403" y="18995"/>
                  </a:cubicBezTo>
                  <a:cubicBezTo>
                    <a:pt x="10314" y="18995"/>
                    <a:pt x="11045" y="19577"/>
                    <a:pt x="11045" y="20298"/>
                  </a:cubicBezTo>
                  <a:cubicBezTo>
                    <a:pt x="11045" y="20298"/>
                    <a:pt x="11045" y="20298"/>
                    <a:pt x="11045" y="20298"/>
                  </a:cubicBezTo>
                  <a:close/>
                  <a:moveTo>
                    <a:pt x="5175" y="20298"/>
                  </a:moveTo>
                  <a:cubicBezTo>
                    <a:pt x="5175" y="21008"/>
                    <a:pt x="4448" y="21600"/>
                    <a:pt x="3541" y="21600"/>
                  </a:cubicBezTo>
                  <a:cubicBezTo>
                    <a:pt x="2625" y="21600"/>
                    <a:pt x="1882" y="21008"/>
                    <a:pt x="1882" y="20298"/>
                  </a:cubicBezTo>
                  <a:cubicBezTo>
                    <a:pt x="1882" y="19577"/>
                    <a:pt x="2625" y="18995"/>
                    <a:pt x="3541" y="18995"/>
                  </a:cubicBezTo>
                  <a:cubicBezTo>
                    <a:pt x="4448" y="18995"/>
                    <a:pt x="5175" y="19577"/>
                    <a:pt x="5175" y="20298"/>
                  </a:cubicBezTo>
                  <a:cubicBezTo>
                    <a:pt x="5175" y="20298"/>
                    <a:pt x="5175" y="20298"/>
                    <a:pt x="5175" y="20298"/>
                  </a:cubicBezTo>
                  <a:close/>
                  <a:moveTo>
                    <a:pt x="21600" y="12006"/>
                  </a:moveTo>
                  <a:cubicBezTo>
                    <a:pt x="21600" y="12259"/>
                    <a:pt x="21339" y="12460"/>
                    <a:pt x="21021" y="12460"/>
                  </a:cubicBezTo>
                  <a:lnTo>
                    <a:pt x="16990" y="12460"/>
                  </a:lnTo>
                  <a:lnTo>
                    <a:pt x="13714" y="18359"/>
                  </a:lnTo>
                  <a:cubicBezTo>
                    <a:pt x="13627" y="18526"/>
                    <a:pt x="13417" y="18624"/>
                    <a:pt x="13184" y="18624"/>
                  </a:cubicBezTo>
                  <a:lnTo>
                    <a:pt x="847" y="18624"/>
                  </a:lnTo>
                  <a:cubicBezTo>
                    <a:pt x="523" y="18624"/>
                    <a:pt x="264" y="18428"/>
                    <a:pt x="264" y="18177"/>
                  </a:cubicBezTo>
                  <a:cubicBezTo>
                    <a:pt x="264" y="17928"/>
                    <a:pt x="523" y="17723"/>
                    <a:pt x="847" y="17723"/>
                  </a:cubicBezTo>
                  <a:lnTo>
                    <a:pt x="12810" y="17723"/>
                  </a:lnTo>
                  <a:lnTo>
                    <a:pt x="16086" y="11824"/>
                  </a:lnTo>
                  <a:cubicBezTo>
                    <a:pt x="16174" y="11657"/>
                    <a:pt x="16384" y="11554"/>
                    <a:pt x="16613" y="11554"/>
                  </a:cubicBezTo>
                  <a:lnTo>
                    <a:pt x="21021" y="11554"/>
                  </a:lnTo>
                  <a:cubicBezTo>
                    <a:pt x="21339" y="11554"/>
                    <a:pt x="21600" y="11758"/>
                    <a:pt x="21600" y="12006"/>
                  </a:cubicBezTo>
                  <a:cubicBezTo>
                    <a:pt x="21600" y="12006"/>
                    <a:pt x="21600" y="12006"/>
                    <a:pt x="21600" y="12006"/>
                  </a:cubicBezTo>
                  <a:close/>
                  <a:moveTo>
                    <a:pt x="3650" y="4466"/>
                  </a:moveTo>
                  <a:cubicBezTo>
                    <a:pt x="5034" y="4466"/>
                    <a:pt x="6147" y="5345"/>
                    <a:pt x="6147" y="6435"/>
                  </a:cubicBezTo>
                  <a:lnTo>
                    <a:pt x="6147" y="9675"/>
                  </a:lnTo>
                  <a:lnTo>
                    <a:pt x="1158" y="9675"/>
                  </a:lnTo>
                  <a:lnTo>
                    <a:pt x="1158" y="6435"/>
                  </a:lnTo>
                  <a:cubicBezTo>
                    <a:pt x="1158" y="5345"/>
                    <a:pt x="2273" y="4466"/>
                    <a:pt x="3650" y="4466"/>
                  </a:cubicBezTo>
                  <a:cubicBezTo>
                    <a:pt x="3650" y="4466"/>
                    <a:pt x="3650" y="4466"/>
                    <a:pt x="3650" y="4466"/>
                  </a:cubicBezTo>
                  <a:close/>
                  <a:moveTo>
                    <a:pt x="10936" y="11113"/>
                  </a:moveTo>
                  <a:lnTo>
                    <a:pt x="5982" y="15080"/>
                  </a:lnTo>
                  <a:cubicBezTo>
                    <a:pt x="4963" y="13984"/>
                    <a:pt x="5059" y="12430"/>
                    <a:pt x="6310" y="11431"/>
                  </a:cubicBezTo>
                  <a:cubicBezTo>
                    <a:pt x="6992" y="10888"/>
                    <a:pt x="7903" y="10585"/>
                    <a:pt x="8872" y="10585"/>
                  </a:cubicBezTo>
                  <a:cubicBezTo>
                    <a:pt x="9620" y="10590"/>
                    <a:pt x="10341" y="10772"/>
                    <a:pt x="10936" y="11113"/>
                  </a:cubicBezTo>
                  <a:cubicBezTo>
                    <a:pt x="10936" y="11113"/>
                    <a:pt x="10936" y="11113"/>
                    <a:pt x="10936" y="11113"/>
                  </a:cubicBezTo>
                  <a:close/>
                  <a:moveTo>
                    <a:pt x="11438" y="15405"/>
                  </a:moveTo>
                  <a:cubicBezTo>
                    <a:pt x="10228" y="16366"/>
                    <a:pt x="8201" y="16481"/>
                    <a:pt x="6809" y="15716"/>
                  </a:cubicBezTo>
                  <a:lnTo>
                    <a:pt x="11765" y="11750"/>
                  </a:lnTo>
                  <a:cubicBezTo>
                    <a:pt x="12784" y="12856"/>
                    <a:pt x="12685" y="14398"/>
                    <a:pt x="11438" y="15405"/>
                  </a:cubicBezTo>
                  <a:cubicBezTo>
                    <a:pt x="11438" y="15405"/>
                    <a:pt x="11438" y="15405"/>
                    <a:pt x="11438" y="15405"/>
                  </a:cubicBezTo>
                  <a:close/>
                  <a:moveTo>
                    <a:pt x="1158" y="14082"/>
                  </a:moveTo>
                  <a:lnTo>
                    <a:pt x="1158" y="10585"/>
                  </a:lnTo>
                  <a:lnTo>
                    <a:pt x="5811" y="10585"/>
                  </a:lnTo>
                  <a:cubicBezTo>
                    <a:pt x="5704" y="10652"/>
                    <a:pt x="5590" y="10720"/>
                    <a:pt x="5493" y="10794"/>
                  </a:cubicBezTo>
                  <a:cubicBezTo>
                    <a:pt x="3821" y="12135"/>
                    <a:pt x="3713" y="14218"/>
                    <a:pt x="5109" y="15670"/>
                  </a:cubicBezTo>
                  <a:cubicBezTo>
                    <a:pt x="4686" y="15913"/>
                    <a:pt x="4187" y="16050"/>
                    <a:pt x="3650" y="16050"/>
                  </a:cubicBezTo>
                  <a:cubicBezTo>
                    <a:pt x="2273" y="16050"/>
                    <a:pt x="1158" y="15170"/>
                    <a:pt x="1158" y="14082"/>
                  </a:cubicBezTo>
                  <a:cubicBezTo>
                    <a:pt x="1158" y="14082"/>
                    <a:pt x="1158" y="14082"/>
                    <a:pt x="1158" y="14082"/>
                  </a:cubicBezTo>
                  <a:close/>
                  <a:moveTo>
                    <a:pt x="3650" y="16958"/>
                  </a:moveTo>
                  <a:cubicBezTo>
                    <a:pt x="4485" y="16958"/>
                    <a:pt x="5271" y="16732"/>
                    <a:pt x="5916" y="16323"/>
                  </a:cubicBezTo>
                  <a:cubicBezTo>
                    <a:pt x="6761" y="16852"/>
                    <a:pt x="7778" y="17155"/>
                    <a:pt x="8872" y="17155"/>
                  </a:cubicBezTo>
                  <a:cubicBezTo>
                    <a:pt x="10151" y="17155"/>
                    <a:pt x="11360" y="16761"/>
                    <a:pt x="12252" y="16041"/>
                  </a:cubicBezTo>
                  <a:cubicBezTo>
                    <a:pt x="14088" y="14573"/>
                    <a:pt x="14067" y="12195"/>
                    <a:pt x="12204" y="10750"/>
                  </a:cubicBezTo>
                  <a:cubicBezTo>
                    <a:pt x="11304" y="10059"/>
                    <a:pt x="10123" y="9675"/>
                    <a:pt x="8872" y="9675"/>
                  </a:cubicBezTo>
                  <a:cubicBezTo>
                    <a:pt x="8326" y="9675"/>
                    <a:pt x="7799" y="9764"/>
                    <a:pt x="7297" y="9902"/>
                  </a:cubicBezTo>
                  <a:lnTo>
                    <a:pt x="7297" y="6435"/>
                  </a:lnTo>
                  <a:cubicBezTo>
                    <a:pt x="7297" y="4846"/>
                    <a:pt x="5667" y="3557"/>
                    <a:pt x="3650" y="3557"/>
                  </a:cubicBezTo>
                  <a:cubicBezTo>
                    <a:pt x="1639" y="3557"/>
                    <a:pt x="0" y="4846"/>
                    <a:pt x="0" y="6435"/>
                  </a:cubicBezTo>
                  <a:lnTo>
                    <a:pt x="0" y="14082"/>
                  </a:lnTo>
                  <a:cubicBezTo>
                    <a:pt x="0" y="15670"/>
                    <a:pt x="1639" y="16958"/>
                    <a:pt x="3650" y="16958"/>
                  </a:cubicBezTo>
                  <a:cubicBezTo>
                    <a:pt x="3650" y="16958"/>
                    <a:pt x="3650" y="16958"/>
                    <a:pt x="3650" y="1695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121410" y="83947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 按照测试项目分类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按照测试项目可以将软件测试分为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界面测试、功能测试、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易用性测试、兼容性测试、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性能测试、安全性测试、文档测试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，其中功能测试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性能测试前面已经介绍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下面主要介绍其他几种测试。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1410" y="839470"/>
            <a:ext cx="10060305" cy="1387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 其他分类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还有一些软件测试无法具体归到哪一类，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但在测试行业中也会经常进行这些测试，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lang="en-US" alt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α测试、β测试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、回归测试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、随机测试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等。具体介绍如下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452"/>
          <p:cNvSpPr/>
          <p:nvPr/>
        </p:nvSpPr>
        <p:spPr>
          <a:xfrm>
            <a:off x="1085482" y="3659048"/>
            <a:ext cx="2292817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1454"/>
          <p:cNvSpPr/>
          <p:nvPr/>
        </p:nvSpPr>
        <p:spPr>
          <a:xfrm>
            <a:off x="3632811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1456"/>
          <p:cNvSpPr/>
          <p:nvPr/>
        </p:nvSpPr>
        <p:spPr>
          <a:xfrm>
            <a:off x="6159692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1458"/>
          <p:cNvSpPr/>
          <p:nvPr/>
        </p:nvSpPr>
        <p:spPr>
          <a:xfrm>
            <a:off x="8707021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1460"/>
          <p:cNvSpPr/>
          <p:nvPr/>
        </p:nvSpPr>
        <p:spPr>
          <a:xfrm>
            <a:off x="1387985" y="2566028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Group 20"/>
          <p:cNvGrpSpPr/>
          <p:nvPr/>
        </p:nvGrpSpPr>
        <p:grpSpPr>
          <a:xfrm>
            <a:off x="1315749" y="2606260"/>
            <a:ext cx="474017" cy="474017"/>
            <a:chOff x="1369087" y="2088729"/>
            <a:chExt cx="474017" cy="474016"/>
          </a:xfrm>
        </p:grpSpPr>
        <p:sp>
          <p:nvSpPr>
            <p:cNvPr id="10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Shape 1465"/>
          <p:cNvSpPr/>
          <p:nvPr/>
        </p:nvSpPr>
        <p:spPr>
          <a:xfrm>
            <a:off x="3935315" y="2566028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hape 1468"/>
          <p:cNvSpPr/>
          <p:nvPr/>
        </p:nvSpPr>
        <p:spPr>
          <a:xfrm>
            <a:off x="6480065" y="2566165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Shape 1471"/>
          <p:cNvSpPr/>
          <p:nvPr/>
        </p:nvSpPr>
        <p:spPr>
          <a:xfrm>
            <a:off x="9031704" y="2567755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Group 32"/>
          <p:cNvGrpSpPr/>
          <p:nvPr/>
        </p:nvGrpSpPr>
        <p:grpSpPr>
          <a:xfrm>
            <a:off x="3853252" y="2606259"/>
            <a:ext cx="474017" cy="474017"/>
            <a:chOff x="3906591" y="2088732"/>
            <a:chExt cx="474017" cy="474017"/>
          </a:xfrm>
        </p:grpSpPr>
        <p:sp>
          <p:nvSpPr>
            <p:cNvPr id="16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7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18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Group 40"/>
          <p:cNvGrpSpPr/>
          <p:nvPr/>
        </p:nvGrpSpPr>
        <p:grpSpPr>
          <a:xfrm>
            <a:off x="8941626" y="2606259"/>
            <a:ext cx="474017" cy="474017"/>
            <a:chOff x="8994965" y="2088732"/>
            <a:chExt cx="474017" cy="474017"/>
          </a:xfrm>
        </p:grpSpPr>
        <p:sp>
          <p:nvSpPr>
            <p:cNvPr id="21" name="Shape 1476"/>
            <p:cNvSpPr/>
            <p:nvPr/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Text Placeholder 5"/>
          <p:cNvSpPr txBox="1"/>
          <p:nvPr/>
        </p:nvSpPr>
        <p:spPr>
          <a:xfrm>
            <a:off x="1350389" y="3120992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α测试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 Placeholder 6"/>
          <p:cNvSpPr txBox="1"/>
          <p:nvPr/>
        </p:nvSpPr>
        <p:spPr>
          <a:xfrm>
            <a:off x="1204595" y="4477385"/>
            <a:ext cx="2054225" cy="14363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α测试是指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对软件最初版本进行测试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测试人员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记录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软件最初版本在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使用过程中出现的错误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，整个测试过程是可控的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ext Placeholder 5"/>
          <p:cNvSpPr txBox="1"/>
          <p:nvPr/>
        </p:nvSpPr>
        <p:spPr>
          <a:xfrm>
            <a:off x="4023102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β测试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 Placeholder 5"/>
          <p:cNvSpPr txBox="1"/>
          <p:nvPr/>
        </p:nvSpPr>
        <p:spPr>
          <a:xfrm>
            <a:off x="9117762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随机测试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ext Placeholder 6"/>
          <p:cNvSpPr txBox="1"/>
          <p:nvPr/>
        </p:nvSpPr>
        <p:spPr>
          <a:xfrm>
            <a:off x="3871598" y="4779764"/>
            <a:ext cx="1863608" cy="11339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β测试是指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对上线之后的软件版本进行测试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由用户在使用过程中发现错误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问题并进行记录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，然后反馈给开发人员进行修复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Text Placeholder 6"/>
          <p:cNvSpPr txBox="1"/>
          <p:nvPr/>
        </p:nvSpPr>
        <p:spPr>
          <a:xfrm>
            <a:off x="6409055" y="4438015"/>
            <a:ext cx="1815465" cy="12490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确认原有的缺陷已经消除并且没有引入新的缺陷，这个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重新测试的过程称为回归测试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 Placeholder 6"/>
          <p:cNvSpPr txBox="1"/>
          <p:nvPr/>
        </p:nvSpPr>
        <p:spPr>
          <a:xfrm>
            <a:off x="8966258" y="4805347"/>
            <a:ext cx="1815245" cy="11086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随机测试是没有测试用例、检查列表、脚本或指令的测试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它主要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根据测试人员的经验对软件进行功能和性能抽查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 Placeholder 5"/>
          <p:cNvSpPr txBox="1"/>
          <p:nvPr/>
        </p:nvSpPr>
        <p:spPr>
          <a:xfrm>
            <a:off x="6561146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回归测试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Shape 1475"/>
          <p:cNvSpPr/>
          <p:nvPr/>
        </p:nvSpPr>
        <p:spPr>
          <a:xfrm>
            <a:off x="6397440" y="2606259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Shape 1480"/>
          <p:cNvSpPr/>
          <p:nvPr/>
        </p:nvSpPr>
        <p:spPr>
          <a:xfrm>
            <a:off x="6540952" y="2729317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测试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与软件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开发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2072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软件测试与软件开发的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内容</a:t>
            </a:r>
            <a:r>
              <a:rPr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，能够描述</a:t>
            </a:r>
            <a:r>
              <a:rPr lang="zh-CN" altLang="en-US"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两</a:t>
            </a:r>
            <a:r>
              <a:rPr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者之间的联系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zh-CN" altLang="en-US" sz="24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软件开发的关系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9919571" cy="3644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软件测试在项目各个阶段的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作用如下。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项目计划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阶段：负责从单元测试到系统测试的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整个测试阶段的监控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需求分析阶段：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确定测试需求分析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，即确定在项目中需要测试什么，同时制定系统测试计划。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概要设计与详细设计阶段：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制定单元测试计划和集成测试计划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编码阶段：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相应的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测试代码和测试脚本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测试阶段：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实施测试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相应的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271270" y="1557655"/>
            <a:ext cx="9634220" cy="369379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604645" y="1948815"/>
            <a:ext cx="8997315" cy="3390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贯穿软件项目的整个过程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，但它的实施过程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与软件开发的并不相同。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软件开发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是自顶向下、逐步细化的过程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，除此之外，软件开发中的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计划阶段的任务是定义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软件作用域，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软件需求分析阶段的任务是确定软件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信息域、功能和性能需求等，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软件设计阶段的任务是选定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编程语言、设计模块接口等。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与软件开发的实施过程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相反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它是自底向上、逐步集成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的过程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首先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进行单元测试，排除模块内部逻辑与功能上的缺陷，然后按照软件设计将模块集成并进行集成测试，检测子系统或系统结构上的错误，最后运行完整的系统，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进行系统测试，检验其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是否满足用户需求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927225" y="1323975"/>
            <a:ext cx="3513455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2032635" y="1341755"/>
            <a:ext cx="3277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14780" y="909955"/>
            <a:ext cx="8997315" cy="5918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软件测试与软件开发的关系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如下图所示。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2671445" y="1630045"/>
          <a:ext cx="6846570" cy="492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8" name="" r:id="rId1" imgW="4051935" imgH="2886710" progId="Visio.Drawing.11">
                  <p:embed/>
                </p:oleObj>
              </mc:Choice>
              <mc:Fallback>
                <p:oleObj name="" r:id="rId1" imgW="4051935" imgH="288671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1445" y="1630045"/>
                        <a:ext cx="6846570" cy="4921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2072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常见的软件测试模型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，能够列举4个常见的软件测试模型</a:t>
            </a:r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179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下面介绍4种比较重要的软件测试模型。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V模型</a:t>
            </a:r>
            <a:endParaRPr lang="zh-CN" altLang="en-US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V模型在20世纪80年代被提出，它是软件测试模型中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最具有代表性的模型之一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。V模型如下图所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206" y="2781794"/>
            <a:ext cx="5477904" cy="358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179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W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W模型是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由V模型演变而来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强调测试应伴随着整个软件生命周期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模型如下图所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对象 4"/>
          <p:cNvGraphicFramePr/>
          <p:nvPr/>
        </p:nvGraphicFramePr>
        <p:xfrm>
          <a:off x="2567305" y="2133600"/>
          <a:ext cx="6713855" cy="411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6" name="" r:id="rId1" imgW="4365625" imgH="2411730" progId="Visio.Drawing.11">
                  <p:embed/>
                </p:oleObj>
              </mc:Choice>
              <mc:Fallback>
                <p:oleObj name="" r:id="rId1" imgW="4365625" imgH="241173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7305" y="2133600"/>
                        <a:ext cx="6713855" cy="411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957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H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为了解决V模型与W模型存在的问题，有专家提出了H模型，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H模型将测试活动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完全独立出来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，形成一个完全独立的流程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，这个流程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将测试准备活动和测试执行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活动清晰地体现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模型如下图所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854960" y="3502025"/>
          <a:ext cx="6207760" cy="179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0" name="" r:id="rId1" imgW="3298825" imgH="977265" progId="Visio.Drawing.11">
                  <p:embed/>
                </p:oleObj>
              </mc:Choice>
              <mc:Fallback>
                <p:oleObj name="" r:id="rId1" imgW="3298825" imgH="977265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4960" y="3502025"/>
                        <a:ext cx="6207760" cy="179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920" y="1701800"/>
            <a:ext cx="9659620" cy="258254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等线" panose="02010600030101010101" charset="-122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708785" y="1477010"/>
            <a:ext cx="103759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52930" y="1376680"/>
            <a:ext cx="837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20495" y="2061845"/>
            <a:ext cx="91992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共介绍了3种软件测试模型，在实际测试工作中，测试人员更多的是结合W模型与H模型进行工作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软件各个方面的测试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W模型为准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800" dirty="0" smtClean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测试周期、测试计划和进度是以H模型为指导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测试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原则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1310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熟悉软件测试的原则，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能够归纳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软件测试的6个基本原则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软件测试的原则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669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行业公认的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6个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基本原则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软件测试的原则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4444423" y="2294584"/>
            <a:ext cx="1414667" cy="1619124"/>
            <a:chOff x="5379142" y="2991066"/>
            <a:chExt cx="1414667" cy="1619124"/>
          </a:xfrm>
        </p:grpSpPr>
        <p:sp>
          <p:nvSpPr>
            <p:cNvPr id="4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2629151" y="2502927"/>
            <a:ext cx="1414667" cy="1619124"/>
            <a:chOff x="3563871" y="3199409"/>
            <a:chExt cx="1414666" cy="1619124"/>
          </a:xfrm>
        </p:grpSpPr>
        <p:sp>
          <p:nvSpPr>
            <p:cNvPr id="7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Group 11"/>
          <p:cNvGrpSpPr/>
          <p:nvPr/>
        </p:nvGrpSpPr>
        <p:grpSpPr>
          <a:xfrm>
            <a:off x="808356" y="2294584"/>
            <a:ext cx="1414667" cy="1619124"/>
            <a:chOff x="1743076" y="2991066"/>
            <a:chExt cx="1414666" cy="1619124"/>
          </a:xfrm>
        </p:grpSpPr>
        <p:sp>
          <p:nvSpPr>
            <p:cNvPr id="10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6265217" y="2502927"/>
            <a:ext cx="1414667" cy="1619125"/>
            <a:chOff x="7199937" y="3199409"/>
            <a:chExt cx="1414666" cy="1619125"/>
          </a:xfrm>
        </p:grpSpPr>
        <p:sp>
          <p:nvSpPr>
            <p:cNvPr id="13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16"/>
          <p:cNvGrpSpPr/>
          <p:nvPr/>
        </p:nvGrpSpPr>
        <p:grpSpPr>
          <a:xfrm>
            <a:off x="8080489" y="2294584"/>
            <a:ext cx="1414667" cy="1619124"/>
            <a:chOff x="9015209" y="2991066"/>
            <a:chExt cx="1414666" cy="1619124"/>
          </a:xfrm>
        </p:grpSpPr>
        <p:sp>
          <p:nvSpPr>
            <p:cNvPr id="16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Text Placeholder 4"/>
          <p:cNvSpPr txBox="1"/>
          <p:nvPr/>
        </p:nvSpPr>
        <p:spPr>
          <a:xfrm>
            <a:off x="910280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1.测试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应基于用户需求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Text Placeholder 4"/>
          <p:cNvSpPr txBox="1"/>
          <p:nvPr/>
        </p:nvSpPr>
        <p:spPr>
          <a:xfrm>
            <a:off x="2728312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2.测试要尽早进行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Text Placeholder 4"/>
          <p:cNvSpPr txBox="1"/>
          <p:nvPr/>
        </p:nvSpPr>
        <p:spPr>
          <a:xfrm>
            <a:off x="4545633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3.不能做到穷尽测试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1" name="Text Placeholder 4"/>
          <p:cNvSpPr txBox="1"/>
          <p:nvPr/>
        </p:nvSpPr>
        <p:spPr>
          <a:xfrm>
            <a:off x="6311900" y="3072765"/>
            <a:ext cx="1557655" cy="2679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4.遵循GoodEnough原则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2" name="Text Placeholder 4"/>
          <p:cNvSpPr txBox="1"/>
          <p:nvPr/>
        </p:nvSpPr>
        <p:spPr>
          <a:xfrm>
            <a:off x="8182413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5.测试缺陷要符合“二八”定理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3" name="Group 15"/>
          <p:cNvGrpSpPr/>
          <p:nvPr/>
        </p:nvGrpSpPr>
        <p:grpSpPr>
          <a:xfrm>
            <a:off x="9917102" y="2499117"/>
            <a:ext cx="1414667" cy="1619125"/>
            <a:chOff x="7199937" y="3199409"/>
            <a:chExt cx="1414666" cy="1619125"/>
          </a:xfrm>
        </p:grpSpPr>
        <p:sp>
          <p:nvSpPr>
            <p:cNvPr id="25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7" name="Text Placeholder 4"/>
          <p:cNvSpPr txBox="1"/>
          <p:nvPr/>
        </p:nvSpPr>
        <p:spPr>
          <a:xfrm>
            <a:off x="10015550" y="30686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6.避免缺陷免疫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缺陷管理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了解软件缺陷产生的原因，能够描述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软件缺陷产生的5个主要原因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软件缺陷产生的原因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软件缺陷产生的原因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Group 337"/>
          <p:cNvGrpSpPr/>
          <p:nvPr/>
        </p:nvGrpSpPr>
        <p:grpSpPr>
          <a:xfrm>
            <a:off x="1069791" y="1845729"/>
            <a:ext cx="2196431" cy="1436124"/>
            <a:chOff x="1" y="0"/>
            <a:chExt cx="4392858" cy="2872248"/>
          </a:xfrm>
        </p:grpSpPr>
        <p:sp>
          <p:nvSpPr>
            <p:cNvPr id="3" name="Shape 333"/>
            <p:cNvSpPr/>
            <p:nvPr/>
          </p:nvSpPr>
          <p:spPr>
            <a:xfrm>
              <a:off x="1" y="0"/>
              <a:ext cx="4392858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Shape 335"/>
            <p:cNvSpPr/>
            <p:nvPr/>
          </p:nvSpPr>
          <p:spPr>
            <a:xfrm>
              <a:off x="1504026" y="1208122"/>
              <a:ext cx="2031998" cy="4914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需求不明确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Group 342"/>
          <p:cNvGrpSpPr/>
          <p:nvPr/>
        </p:nvGrpSpPr>
        <p:grpSpPr>
          <a:xfrm>
            <a:off x="2982770" y="1845729"/>
            <a:ext cx="2196431" cy="1436124"/>
            <a:chOff x="0" y="0"/>
            <a:chExt cx="4392859" cy="2872248"/>
          </a:xfrm>
        </p:grpSpPr>
        <p:sp>
          <p:nvSpPr>
            <p:cNvPr id="8" name="Shape 338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11" name="Shape 340"/>
            <p:cNvSpPr/>
            <p:nvPr/>
          </p:nvSpPr>
          <p:spPr>
            <a:xfrm>
              <a:off x="1194479" y="1289712"/>
              <a:ext cx="2852436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软件结构复杂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" name="Group 347"/>
          <p:cNvGrpSpPr/>
          <p:nvPr/>
        </p:nvGrpSpPr>
        <p:grpSpPr>
          <a:xfrm>
            <a:off x="4943011" y="1845729"/>
            <a:ext cx="2196431" cy="1436124"/>
            <a:chOff x="0" y="0"/>
            <a:chExt cx="4392859" cy="2872248"/>
          </a:xfrm>
        </p:grpSpPr>
        <p:sp>
          <p:nvSpPr>
            <p:cNvPr id="5" name="Shape 343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Shape 345"/>
            <p:cNvSpPr/>
            <p:nvPr/>
          </p:nvSpPr>
          <p:spPr>
            <a:xfrm>
              <a:off x="1086541" y="1289712"/>
              <a:ext cx="2972476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编码问题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Group 352"/>
          <p:cNvGrpSpPr/>
          <p:nvPr/>
        </p:nvGrpSpPr>
        <p:grpSpPr>
          <a:xfrm>
            <a:off x="6887104" y="1845729"/>
            <a:ext cx="2196429" cy="1436124"/>
            <a:chOff x="0" y="0"/>
            <a:chExt cx="4392859" cy="2872248"/>
          </a:xfrm>
        </p:grpSpPr>
        <p:sp>
          <p:nvSpPr>
            <p:cNvPr id="10" name="Shape 348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21" name="Shape 350"/>
            <p:cNvSpPr/>
            <p:nvPr/>
          </p:nvSpPr>
          <p:spPr>
            <a:xfrm>
              <a:off x="1186403" y="1289712"/>
              <a:ext cx="2924718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项目期限短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2" name="Group 357"/>
          <p:cNvGrpSpPr/>
          <p:nvPr/>
        </p:nvGrpSpPr>
        <p:grpSpPr>
          <a:xfrm>
            <a:off x="8858471" y="1845729"/>
            <a:ext cx="2196429" cy="1436124"/>
            <a:chOff x="0" y="0"/>
            <a:chExt cx="4392859" cy="2872248"/>
          </a:xfrm>
        </p:grpSpPr>
        <p:sp>
          <p:nvSpPr>
            <p:cNvPr id="23" name="Shape 353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Shape 355"/>
            <p:cNvSpPr/>
            <p:nvPr/>
          </p:nvSpPr>
          <p:spPr>
            <a:xfrm>
              <a:off x="1186405" y="1289715"/>
              <a:ext cx="3014432" cy="369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使用新技术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Group 360"/>
          <p:cNvGrpSpPr/>
          <p:nvPr/>
        </p:nvGrpSpPr>
        <p:grpSpPr>
          <a:xfrm>
            <a:off x="1955358" y="3076604"/>
            <a:ext cx="425297" cy="425297"/>
            <a:chOff x="0" y="0"/>
            <a:chExt cx="850594" cy="850594"/>
          </a:xfrm>
        </p:grpSpPr>
        <p:sp>
          <p:nvSpPr>
            <p:cNvPr id="28" name="Shape 358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9" name="Shape 359"/>
            <p:cNvSpPr/>
            <p:nvPr/>
          </p:nvSpPr>
          <p:spPr>
            <a:xfrm>
              <a:off x="300082" y="114147"/>
              <a:ext cx="250430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  <a:endParaRPr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0" name="Group 363"/>
          <p:cNvGrpSpPr/>
          <p:nvPr/>
        </p:nvGrpSpPr>
        <p:grpSpPr>
          <a:xfrm>
            <a:off x="3872374" y="3076604"/>
            <a:ext cx="425297" cy="425297"/>
            <a:chOff x="0" y="0"/>
            <a:chExt cx="850594" cy="850594"/>
          </a:xfrm>
        </p:grpSpPr>
        <p:sp>
          <p:nvSpPr>
            <p:cNvPr id="20" name="Shape 361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32" name="Shape 362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2</a:t>
              </a:r>
              <a:endParaRPr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3" name="Group 366"/>
          <p:cNvGrpSpPr/>
          <p:nvPr/>
        </p:nvGrpSpPr>
        <p:grpSpPr>
          <a:xfrm>
            <a:off x="5828578" y="3076604"/>
            <a:ext cx="425297" cy="425297"/>
            <a:chOff x="0" y="0"/>
            <a:chExt cx="850594" cy="850594"/>
          </a:xfrm>
        </p:grpSpPr>
        <p:sp>
          <p:nvSpPr>
            <p:cNvPr id="34" name="Shape 364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Shape 365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  <a:endParaRPr sz="16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6" name="Group 369"/>
          <p:cNvGrpSpPr/>
          <p:nvPr/>
        </p:nvGrpSpPr>
        <p:grpSpPr>
          <a:xfrm>
            <a:off x="7772670" y="3076604"/>
            <a:ext cx="425297" cy="425297"/>
            <a:chOff x="0" y="0"/>
            <a:chExt cx="850594" cy="850594"/>
          </a:xfrm>
        </p:grpSpPr>
        <p:sp>
          <p:nvSpPr>
            <p:cNvPr id="37" name="Shape 367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38" name="Shape 368"/>
            <p:cNvSpPr/>
            <p:nvPr/>
          </p:nvSpPr>
          <p:spPr>
            <a:xfrm>
              <a:off x="243825" y="114147"/>
              <a:ext cx="36294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4</a:t>
              </a:r>
              <a:endParaRPr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9" name="Group 372"/>
          <p:cNvGrpSpPr/>
          <p:nvPr/>
        </p:nvGrpSpPr>
        <p:grpSpPr>
          <a:xfrm>
            <a:off x="9744038" y="3076604"/>
            <a:ext cx="425297" cy="425297"/>
            <a:chOff x="0" y="0"/>
            <a:chExt cx="850594" cy="850594"/>
          </a:xfrm>
        </p:grpSpPr>
        <p:sp>
          <p:nvSpPr>
            <p:cNvPr id="40" name="Shape 370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1" name="Shape 371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endParaRPr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3" name="Shape 373"/>
          <p:cNvSpPr/>
          <p:nvPr/>
        </p:nvSpPr>
        <p:spPr>
          <a:xfrm>
            <a:off x="991235" y="3850005"/>
            <a:ext cx="1936750" cy="2654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需求不清晰或者开发人员对需求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理解不明确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导致软件在设计时偏离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的需求目标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造成软件功能或特征上的缺陷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。用户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频繁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变更需求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也会影响软件最终的质量。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Shape 376"/>
          <p:cNvSpPr/>
          <p:nvPr/>
        </p:nvSpPr>
        <p:spPr>
          <a:xfrm>
            <a:off x="3074035" y="3850005"/>
            <a:ext cx="1808480" cy="23637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如果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软件系统结构比较复杂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很难设计出具有很好层次结构或组件结构的框架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，就会导致软件在开发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、扩充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系统维护上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出现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困难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Shape 379"/>
          <p:cNvSpPr/>
          <p:nvPr/>
        </p:nvSpPr>
        <p:spPr>
          <a:xfrm>
            <a:off x="5029200" y="3850005"/>
            <a:ext cx="1773555" cy="2659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开发人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员水平参差不齐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，再加上开发过程中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缺乏有效的沟通和监督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问题累积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得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越来越多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，如果不能逐一解决这些问题，会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导致最终软件中存在很多缺陷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Shape 382"/>
          <p:cNvSpPr/>
          <p:nvPr/>
        </p:nvSpPr>
        <p:spPr>
          <a:xfrm>
            <a:off x="6895465" y="3850005"/>
            <a:ext cx="1889125" cy="235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606B83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现在大部分软件产品开发周期都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相对较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短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开发团队要在有限的时间内完成软件产品的开发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，压力非常大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开发人员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对待软件的态度是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“非严重就不解决”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Shape 385"/>
          <p:cNvSpPr/>
          <p:nvPr/>
        </p:nvSpPr>
        <p:spPr>
          <a:xfrm>
            <a:off x="8853170" y="3850005"/>
            <a:ext cx="1885950" cy="17727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新技术本身存在不足或开发人员对新技术掌握不精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都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会影响软件产品的开发过程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导致软件存在缺陷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软件缺陷产生的原因主要有以下5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软件缺陷的分类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，能够从不同角度归纳软件缺陷的分类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52"/>
          <p:cNvSpPr/>
          <p:nvPr/>
        </p:nvSpPr>
        <p:spPr>
          <a:xfrm>
            <a:off x="1138822" y="2887523"/>
            <a:ext cx="2292817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Shape 1454"/>
          <p:cNvSpPr/>
          <p:nvPr/>
        </p:nvSpPr>
        <p:spPr>
          <a:xfrm>
            <a:off x="3686151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1456"/>
          <p:cNvSpPr/>
          <p:nvPr/>
        </p:nvSpPr>
        <p:spPr>
          <a:xfrm>
            <a:off x="6213032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1458"/>
          <p:cNvSpPr/>
          <p:nvPr/>
        </p:nvSpPr>
        <p:spPr>
          <a:xfrm>
            <a:off x="8760361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Shape 1460"/>
          <p:cNvSpPr/>
          <p:nvPr/>
        </p:nvSpPr>
        <p:spPr>
          <a:xfrm>
            <a:off x="1441325" y="1794503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Group 20"/>
          <p:cNvGrpSpPr/>
          <p:nvPr/>
        </p:nvGrpSpPr>
        <p:grpSpPr>
          <a:xfrm>
            <a:off x="1369089" y="1834735"/>
            <a:ext cx="474017" cy="474017"/>
            <a:chOff x="1369087" y="2088729"/>
            <a:chExt cx="474017" cy="474016"/>
          </a:xfrm>
        </p:grpSpPr>
        <p:sp>
          <p:nvSpPr>
            <p:cNvPr id="8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0" name="Shape 1465"/>
          <p:cNvSpPr/>
          <p:nvPr/>
        </p:nvSpPr>
        <p:spPr>
          <a:xfrm>
            <a:off x="3988655" y="1794503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1468"/>
          <p:cNvSpPr/>
          <p:nvPr/>
        </p:nvSpPr>
        <p:spPr>
          <a:xfrm>
            <a:off x="6533405" y="1794640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1471"/>
          <p:cNvSpPr/>
          <p:nvPr/>
        </p:nvSpPr>
        <p:spPr>
          <a:xfrm>
            <a:off x="9085044" y="1796230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Group 32"/>
          <p:cNvGrpSpPr/>
          <p:nvPr/>
        </p:nvGrpSpPr>
        <p:grpSpPr>
          <a:xfrm>
            <a:off x="3906592" y="1834734"/>
            <a:ext cx="474017" cy="474017"/>
            <a:chOff x="3906591" y="2088732"/>
            <a:chExt cx="474017" cy="474017"/>
          </a:xfrm>
        </p:grpSpPr>
        <p:sp>
          <p:nvSpPr>
            <p:cNvPr id="14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5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16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Group 40"/>
          <p:cNvGrpSpPr/>
          <p:nvPr/>
        </p:nvGrpSpPr>
        <p:grpSpPr>
          <a:xfrm>
            <a:off x="8994966" y="1834734"/>
            <a:ext cx="474017" cy="474017"/>
            <a:chOff x="8994965" y="2088732"/>
            <a:chExt cx="474017" cy="474017"/>
          </a:xfrm>
        </p:grpSpPr>
        <p:sp>
          <p:nvSpPr>
            <p:cNvPr id="19" name="Shape 1476"/>
            <p:cNvSpPr/>
            <p:nvPr/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Text Placeholder 5"/>
          <p:cNvSpPr txBox="1"/>
          <p:nvPr/>
        </p:nvSpPr>
        <p:spPr>
          <a:xfrm>
            <a:off x="1403729" y="2349467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按照测试种类划分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 Placeholder 6"/>
          <p:cNvSpPr txBox="1"/>
          <p:nvPr/>
        </p:nvSpPr>
        <p:spPr>
          <a:xfrm>
            <a:off x="1258214" y="3687736"/>
            <a:ext cx="2054032" cy="12276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按照测试种类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可以将软件缺陷分为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界面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、性能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、安全性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、兼容性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 Placeholder 5"/>
          <p:cNvSpPr txBox="1"/>
          <p:nvPr/>
        </p:nvSpPr>
        <p:spPr>
          <a:xfrm>
            <a:off x="4076442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按照缺陷的严重程度划分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 Placeholder 5"/>
          <p:cNvSpPr txBox="1"/>
          <p:nvPr/>
        </p:nvSpPr>
        <p:spPr>
          <a:xfrm>
            <a:off x="9171102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按照缺陷的发生阶段划分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ext Placeholder 6"/>
          <p:cNvSpPr txBox="1"/>
          <p:nvPr/>
        </p:nvSpPr>
        <p:spPr>
          <a:xfrm>
            <a:off x="3943801" y="3641163"/>
            <a:ext cx="1815465" cy="1320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缺陷的严重程度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可以将缺陷划分为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严重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、一般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、次要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、建议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 Placeholder 6"/>
          <p:cNvSpPr txBox="1"/>
          <p:nvPr/>
        </p:nvSpPr>
        <p:spPr>
          <a:xfrm>
            <a:off x="6503949" y="3692598"/>
            <a:ext cx="1830463" cy="126936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缺陷的优先级</a:t>
            </a:r>
            <a:r>
              <a:rPr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不同可以将缺陷划分为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立即解决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、高优先级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、正常排队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、低优先级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ext Placeholder 6"/>
          <p:cNvSpPr txBox="1"/>
          <p:nvPr/>
        </p:nvSpPr>
        <p:spPr>
          <a:xfrm>
            <a:off x="9019598" y="4008239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缺陷的发生阶段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不同可以将缺陷划分为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需求阶段缺陷、构架阶段缺陷、设计阶段缺陷、编码阶段缺陷、测试阶段缺陷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 Placeholder 5"/>
          <p:cNvSpPr txBox="1"/>
          <p:nvPr/>
        </p:nvSpPr>
        <p:spPr>
          <a:xfrm>
            <a:off x="6614486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按照缺陷的优先级划分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Shape 1475"/>
          <p:cNvSpPr/>
          <p:nvPr/>
        </p:nvSpPr>
        <p:spPr>
          <a:xfrm>
            <a:off x="6450780" y="1834734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Shape 1480"/>
          <p:cNvSpPr/>
          <p:nvPr/>
        </p:nvSpPr>
        <p:spPr>
          <a:xfrm>
            <a:off x="6594292" y="1957792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不同的角度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划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分为不同的种类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具体划分如下。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软件缺陷的处理流程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，能够归纳处理软件缺陷的每个环节的内容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软件缺陷的处理流程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图所示。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206" y="1668494"/>
            <a:ext cx="4461524" cy="4686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055370" y="84455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软件缺陷处理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流程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的具体介绍如下。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（1）提交：测试人员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之后，将缺陷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提交给测试组长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（2）分配：测试组长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到测试人员提交的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之后，将其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移交给开发人员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（3）确认：开发人员接收到移交的缺陷之后，会与团队甚至测试人员一起商议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是否是一个缺陷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（4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）拒绝</a:t>
            </a:r>
            <a:r>
              <a:rPr 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延期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如果经过商议之后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不是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真正的缺陷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拒绝处理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此缺陷，</a:t>
            </a:r>
            <a:r>
              <a:rPr 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对其进行关闭处理。如果经过商议之后，确定其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真正的缺陷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，则可以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根据缺</a:t>
            </a:r>
            <a:endParaRPr sz="18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陷的严重程度或优先级等立即处理或延期处理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（5）处理：开发人员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（6）复测：开发人员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修改好缺陷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之后，测试人员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重新进行测试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（复测），检测缺陷是否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已经修改。如果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未被正确修改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重新提交缺陷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（7）关闭：测试人员重新测试之后，如果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缺陷已经被正确修改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，则将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缺陷关闭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，整个缺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陷处理完成。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07565" y="1701800"/>
            <a:ext cx="2557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软件缺陷报告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5140" y="2421890"/>
            <a:ext cx="6002020" cy="3230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在实际软件测试过程中，测试人员在提交软件测试时都会按照公司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的模板将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缺陷的详细情况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记录下来并生成软件缺陷报告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每个公司的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缺陷报告模板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并不相同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，但一般都会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缺陷的</a:t>
            </a:r>
            <a:r>
              <a:rPr lang="en-US" alt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类型、严重程度、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等，有时还会有测试人员的建议。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" y="2493645"/>
            <a:ext cx="2801620" cy="373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00"/>
            <a:ext cx="4747260" cy="467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内容占位符 2"/>
          <p:cNvSpPr txBox="1"/>
          <p:nvPr/>
        </p:nvSpPr>
        <p:spPr>
          <a:xfrm>
            <a:off x="3092099" y="1725581"/>
            <a:ext cx="1233467" cy="751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 意</a:t>
            </a:r>
            <a:endParaRPr lang="zh-CN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5230" y="2089785"/>
            <a:ext cx="6119976" cy="2679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在编写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缺陷报告时要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以下事项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这是缺陷的标识。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缺陷要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有重现步骤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一个缺陷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生成一份报告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缺陷报告</a:t>
            </a:r>
            <a:r>
              <a:rPr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要整洁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、完整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常见的软件缺陷管理工具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，能够列举3个常用的软件缺陷管理工具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常见的软件缺陷管理工具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常见的软件缺陷管理工具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" name="直接连接符 41"/>
          <p:cNvCxnSpPr/>
          <p:nvPr/>
        </p:nvCxnSpPr>
        <p:spPr>
          <a:xfrm flipH="1">
            <a:off x="3689671" y="156474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接连接符 42"/>
          <p:cNvCxnSpPr/>
          <p:nvPr/>
        </p:nvCxnSpPr>
        <p:spPr>
          <a:xfrm flipH="1">
            <a:off x="3689671" y="3305518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3"/>
          <p:cNvCxnSpPr/>
          <p:nvPr/>
        </p:nvCxnSpPr>
        <p:spPr>
          <a:xfrm flipH="1">
            <a:off x="3689671" y="5018594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4"/>
          <p:cNvCxnSpPr/>
          <p:nvPr/>
        </p:nvCxnSpPr>
        <p:spPr>
          <a:xfrm>
            <a:off x="3689671" y="1564739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椭圆 6"/>
          <p:cNvSpPr/>
          <p:nvPr/>
        </p:nvSpPr>
        <p:spPr>
          <a:xfrm>
            <a:off x="4883204" y="103305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883204" y="27516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83204" y="444506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965817" y="2843619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76"/>
          <p:cNvSpPr>
            <a:spLocks noEditPoints="1"/>
          </p:cNvSpPr>
          <p:nvPr/>
        </p:nvSpPr>
        <p:spPr bwMode="auto">
          <a:xfrm>
            <a:off x="5160853" y="3058492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975178" y="1125031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965816" y="4556695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5"/>
          <p:cNvSpPr>
            <a:spLocks noEditPoints="1"/>
          </p:cNvSpPr>
          <p:nvPr/>
        </p:nvSpPr>
        <p:spPr bwMode="auto">
          <a:xfrm>
            <a:off x="5190486" y="4683550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68"/>
          <p:cNvSpPr>
            <a:spLocks noEditPoints="1"/>
          </p:cNvSpPr>
          <p:nvPr/>
        </p:nvSpPr>
        <p:spPr bwMode="auto">
          <a:xfrm>
            <a:off x="5160852" y="1256764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33"/>
          <p:cNvSpPr txBox="1"/>
          <p:nvPr/>
        </p:nvSpPr>
        <p:spPr>
          <a:xfrm>
            <a:off x="6290996" y="1547783"/>
            <a:ext cx="4076056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Bugzilla是Mozilla公司提供的一款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免费的软件缺陷管理工具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。Bugzilla能够建立一个完整的缺陷跟踪体系，包括缺陷跟踪、记录、缺陷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、解决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情况等。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9"/>
          <p:cNvSpPr txBox="1"/>
          <p:nvPr/>
        </p:nvSpPr>
        <p:spPr>
          <a:xfrm>
            <a:off x="6302445" y="1125031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Bugzilla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33"/>
          <p:cNvSpPr txBox="1"/>
          <p:nvPr/>
        </p:nvSpPr>
        <p:spPr>
          <a:xfrm>
            <a:off x="6302445" y="3289146"/>
            <a:ext cx="4076056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禅</a:t>
            </a: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道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产品管理、项目管理、质量管理、缺陷管理、文档管理、组织管理和事务管理于一体，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是一款功能完备的项目管理软件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，完美地覆盖了项目管理的核心流程。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9"/>
          <p:cNvSpPr txBox="1"/>
          <p:nvPr/>
        </p:nvSpPr>
        <p:spPr>
          <a:xfrm>
            <a:off x="6313894" y="286639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2.禅道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33"/>
          <p:cNvSpPr txBox="1"/>
          <p:nvPr/>
        </p:nvSpPr>
        <p:spPr>
          <a:xfrm>
            <a:off x="6313894" y="4987457"/>
            <a:ext cx="4076056" cy="1474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zh-CN" altLang="en-US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16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ira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Atlassian公司开发的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跟踪工具，被广泛用于缺陷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</a:t>
            </a:r>
            <a:r>
              <a: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、用户服务、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需求收集、流程审批、任务跟踪、项目跟踪和敏捷管理等工作领域。是目前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比较流行的基于Java架构的管理工具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9"/>
          <p:cNvSpPr txBox="1"/>
          <p:nvPr/>
        </p:nvSpPr>
        <p:spPr>
          <a:xfrm>
            <a:off x="6325343" y="4564705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ira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1055370" y="2898775"/>
            <a:ext cx="2356485" cy="8686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个常用的软件缺陷管理工具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软件测试的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基本流程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1310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熟悉软件测试的基本流程，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归纳软件测试的5个基本流程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1485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不同类型的软件产品测试的方式和重点不一样，测试流程也会不一样。同样类型的软件产品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，不同公司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所制定的测试流程也会不一样。虽然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不同软件的详细测试步骤不同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但它们所遵循的最基本的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测试流程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通常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一样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任意多边形 27">
            <a:hlinkClick r:id="rId1" action="ppaction://hlinksldjump"/>
          </p:cNvPr>
          <p:cNvSpPr/>
          <p:nvPr/>
        </p:nvSpPr>
        <p:spPr>
          <a:xfrm>
            <a:off x="1209373" y="3173384"/>
            <a:ext cx="1645920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schemeClr val="bg1"/>
                </a:solidFill>
              </a:rPr>
              <a:t>分析测试需求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29" name="任意多边形 28">
            <a:hlinkClick r:id="rId2" action="ppaction://hlinksldjump"/>
          </p:cNvPr>
          <p:cNvSpPr/>
          <p:nvPr/>
        </p:nvSpPr>
        <p:spPr>
          <a:xfrm>
            <a:off x="3347207" y="3173384"/>
            <a:ext cx="1607818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schemeClr val="bg1"/>
                </a:solidFill>
              </a:rPr>
              <a:t>制定测试计划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0" name="任意多边形 29">
            <a:hlinkClick r:id="rId3" action="ppaction://hlinksldjump"/>
          </p:cNvPr>
          <p:cNvSpPr/>
          <p:nvPr/>
        </p:nvSpPr>
        <p:spPr>
          <a:xfrm>
            <a:off x="5446939" y="3214024"/>
            <a:ext cx="1518916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schemeClr val="bg1"/>
                </a:solidFill>
              </a:rPr>
              <a:t>设计测试用例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2" name="任意多边形 31">
            <a:hlinkClick r:id="rId4" action="ppaction://hlinksldjump"/>
          </p:cNvPr>
          <p:cNvSpPr/>
          <p:nvPr/>
        </p:nvSpPr>
        <p:spPr>
          <a:xfrm>
            <a:off x="7457772" y="3214024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 smtClean="0">
                <a:solidFill>
                  <a:schemeClr val="bg1"/>
                </a:solidFill>
              </a:rPr>
              <a:t>执行测试</a:t>
            </a:r>
            <a:endParaRPr lang="zh-CN" altLang="en-US" sz="2000" b="1" kern="1200" dirty="0" smtClean="0">
              <a:solidFill>
                <a:schemeClr val="bg1"/>
              </a:solidFill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2966115" y="335664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4" name="任意多边形 33"/>
          <p:cNvSpPr/>
          <p:nvPr/>
        </p:nvSpPr>
        <p:spPr>
          <a:xfrm>
            <a:off x="5065847" y="3394599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5" name="任意多边形 34"/>
          <p:cNvSpPr/>
          <p:nvPr/>
        </p:nvSpPr>
        <p:spPr>
          <a:xfrm>
            <a:off x="7076677" y="342663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6" name="任意多边形 35">
            <a:hlinkClick r:id="rId5" action="ppaction://hlinksldjump"/>
          </p:cNvPr>
          <p:cNvSpPr/>
          <p:nvPr/>
        </p:nvSpPr>
        <p:spPr>
          <a:xfrm>
            <a:off x="9407006" y="3213389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schemeClr val="bg1"/>
                </a:solidFill>
              </a:rPr>
              <a:t>编写测试报告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9008766" y="338599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81075"/>
            <a:ext cx="10046970" cy="3815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分析测试需求</a:t>
            </a:r>
            <a:endParaRPr lang="en-US" altLang="zh-CN" sz="2000" b="1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测试人员在制定测试计划之前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</a:t>
            </a:r>
            <a:r>
              <a:rPr 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先对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</a:t>
            </a:r>
            <a:r>
              <a:rPr 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进行分析，以便对要开发的软件产品有一个清晰的认识，从而</a:t>
            </a:r>
            <a:r>
              <a:rPr 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明确测试对象及测试工作的范围和测试重点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。在分析需求时还可以获取一些</a:t>
            </a:r>
            <a:r>
              <a:rPr 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测试数据，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将其</a:t>
            </a:r>
            <a:r>
              <a:rPr 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测试计划的基本依据，为后续的测试打好</a:t>
            </a:r>
            <a:r>
              <a:rPr 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基础。</a:t>
            </a:r>
            <a:endParaRPr lang="en-US" altLang="zh-CN" sz="180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分析测试需求其实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是对用户需求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进行测试，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可以发现用户需求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中不合理的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地方，例如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需求描述是否完整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、准确、无歧义，以及需求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优先级安排是否合理等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。测试人员一般会根据软件开发需求文档制作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一个需求规格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说明书检查列表，按照各个检查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项对用户需求进行分析、校验。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7170" y="1557020"/>
          <a:ext cx="8928036" cy="4560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9625"/>
                <a:gridCol w="5022411"/>
                <a:gridCol w="2448000"/>
                <a:gridCol w="648000"/>
              </a:tblGrid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检查项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检查结果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sz="18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是否覆盖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了</a:t>
                      </a: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提出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的所有需求项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用词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</a:t>
                      </a: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准确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语义是否存在歧义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是否清楚地描述了软件需要做什么以及不做什么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是否描述了软件的目标环境，包括软硬件环境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是否对需求项进行了合理的编号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需求项是否前后一致、彼此不冲突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76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是否清楚地说明了软件的每个输入、输出格式，以及输入与输出之间的对应关系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是否清晰地描述了软件系统的性能要求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803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需求的优先级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</a:t>
                      </a:r>
                      <a:r>
                        <a:rPr lang="zh-CN" alt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进行了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合理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分配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0075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是否描述了各种约束条件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是【】否【】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【】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6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14780" y="81661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软件需求规格说明书检查列表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如下表所示。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561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制定测试计划</a:t>
            </a:r>
            <a:endParaRPr lang="zh-CN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测试工作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贯穿于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整个软件生命周期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，是一项庞大而复杂的工作，需要制定一个完整且详细的测试计划作为指导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。测试计划中一般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要做好以下工作安排。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确定测试范围：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明确哪些对象是需要测试的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哪些对象是不需要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测试的。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制定测试策略：测试策略是测试计划中最重要的部分，它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将要测试的内容划分出不同的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优先级，以确定测试重点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，并根据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测试模块的特点和测试类型（如功能测试、性能测试）选定测试环境和测试方法（如人工测试、自动化测试）。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安排测试资源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：通过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考虑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难度、时间、工作量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等因素，对测试资源进行合理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，包括人员分配、工具配置等。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安排测试进度：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根据软件开发计划、产品的整体计划来安排测试工作的进度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，同时还要考虑各部分工作的变化。在安排工作进度时，最好在各项测试工作之间预留一个缓冲时间以应对计划变更。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预估测试风险：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罗列出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测试工作过程中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可能会出现的不确定因素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制定应对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策略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3411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r>
              <a:rPr 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用例</a:t>
            </a:r>
            <a:endParaRPr lang="zh-CN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测试用例（Test 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Case）是指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套详细的测试方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测试环境、测试步骤、测试数据和预期结果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。不同的公司会有不同的测试用例模板，虽然它们在风格和样式上有所不同，但本质上是一样的，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都包括测试用例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的基本要素。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测试用例编写的原则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是尽量用最少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的测试用例达到最大测试覆盖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率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。测试用例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常用的设计方法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包括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等价类划分法、边界值分析法、因果图与决策表法、正交实验设计法、逻辑覆盖法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等，这些设计方法会在后面的章节中陆续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讲解。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执行测试</a:t>
            </a:r>
            <a:endParaRPr lang="zh-CN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执行测试是</a:t>
            </a:r>
            <a:r>
              <a:rPr 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按照测试用例执行测试的过程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，这是测试人员最主要的活动阶段。在执行测试时要</a:t>
            </a:r>
            <a:r>
              <a:rPr 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根据测试用例的优先级进行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。测试执行过程看似简单，只要按照测试用例完成测试工作即可，但实则并不如此。测试用例的数目非常多，测试人员需要完成所有测试用例的执行，</a:t>
            </a:r>
            <a:r>
              <a:rPr lang="zh-CN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每一个测试用例都可能会发现很多缺陷，测试人员要做好测试记录与跟踪，衡量缺陷的质量并编写缺陷报告</a:t>
            </a:r>
            <a:r>
              <a:rPr 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561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编写测试报告</a:t>
            </a:r>
            <a:endParaRPr lang="zh-CN" sz="20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测试报告是对一个测试活动的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总结，包括对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项目测试过程进行归纳，对测试数据进行统计，对项目的测试质量进行客观评价。一份完整的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测试报告必须包含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以下几个要点。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引言：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描述测试报告编写目的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、报告中出现的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专业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术语解释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参考资料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测试概要：介绍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项目背景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测试时间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测试地点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等信息。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测试内容及执行情况：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描述本次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测试模块的版本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测试类型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，使用的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测试用例设计方法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测试通过覆盖率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依据测试的通过情况提供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对测试执行过程的评估结论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，并给出测试执行活动的改进建议，以供后续测试执行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活动借鉴。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缺陷统计与分析：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本次测试所发现的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缺陷数目、类型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分析缺陷产生的原因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，给出规避措施等建议，同时还要记录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残留缺陷和未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解决问题。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测试结论与建议：从需求符合度、功能正确性、性能指标等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多个维度对版本质量进行总体评价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出具体、明确的结论与建议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测试报告的数据是真实的，</a:t>
            </a:r>
            <a:r>
              <a:rPr lang="zh-CN" altLang="en-US"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每一条结论的得出都要有评价依据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，不能是主观臆断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04143" y="1752128"/>
            <a:ext cx="280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测试的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</a:t>
            </a:r>
            <a:r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入、准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出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8880" y="2565400"/>
            <a:ext cx="9504326" cy="294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测试准入标准如下。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开发编码结束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，开发人员在开发环境</a:t>
            </a:r>
            <a:r>
              <a:rPr lang="zh-CN" altLang="en-US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已经进行了单元测试，即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开发人员完成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自测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（2）软件需求上规定的功能都已经实现。如果没有完全实现，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开发人员提供测试范围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（3）测试项目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通过基本的冒烟测试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，界面上的功能均已实现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符合设计规定的功能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4）测试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代码符合软件编码规范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并已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通过评审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（5）开发人员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测试申请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相应的文档资料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8880" y="1414145"/>
            <a:ext cx="6096000" cy="4292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测试准出标准如下。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）测试项目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（2）所有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测试用例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都已经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通过评审并成功执行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（3）测试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达到要求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（4）所有发现的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缺陷都记录在缺陷管理系统中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一、二级错误修复率达到100%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（6）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三、四级错误修复率达到95%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（7）所有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都已经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有解决方案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（8）测试项目的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功能、性能、安全性等都满足要求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（9）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测试总结报告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8880" y="1412240"/>
            <a:ext cx="996251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在测试过程中可能会出现一些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意外情况导致测试工作暂停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，这个暂停并不是上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所说的测试结束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，而是非正常的。测试中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需要暂停的情况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包括以下4种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（1）测试人员进行冒烟测试时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发现重大缺陷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，导致测试无法正常进行，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需要暂停并返回开发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）测试人员进行冒烟测试时发现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过多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申请暂停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返回开发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（3）测试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更新调整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而暂停，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测试工作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也要相应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测试人员有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优先级更高的任务</a:t>
            </a:r>
            <a:r>
              <a:rPr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sz="1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申请暂停测试</a:t>
            </a:r>
            <a:r>
              <a:rPr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1310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微信朋友圈功能的测试流程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测试微信朋友圈的主要功能</a:t>
            </a:r>
            <a:endParaRPr lang="zh-CN"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575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微信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朋友圈的功能业务流程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86" y="1630045"/>
            <a:ext cx="1109420" cy="4734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4873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微信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朋友圈功能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流程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主要包括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，分别是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开始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注册/登录、发布朋友圈、查看朋友圈、点赞/评论朋友圈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下面主要对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该业务流程中的发布朋友圈功能进行测试。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(1)分析测试需求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测试人员对软件需求进行分析，并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确定要测试的功能是发布朋友圈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主要有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5种形式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，分别是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文字、照片、视频、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</a:t>
            </a:r>
            <a:r>
              <a:rPr lang="zh-CN" sz="20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文字+视频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，假设关于这5种形式的朋友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圈内容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要求如下。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文字：1~1500字。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照片：1~9张。</a:t>
            </a:r>
            <a:endParaRPr 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视频：1~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15秒。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07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制订测试计划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发布朋友圈功能的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测试计划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如下表所示。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999105" y="2205355"/>
          <a:ext cx="5186045" cy="3281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/>
                <a:gridCol w="3676015"/>
              </a:tblGrid>
              <a:tr h="472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软件版本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  <a:r>
                        <a:rPr lang="en-US" altLang="zh-CN" sz="1600" b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8.0.32</a:t>
                      </a:r>
                      <a:r>
                        <a:rPr lang="zh-CN" altLang="en-US" sz="1600" b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600" b="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发布朋友圈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负责人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测试组长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测试人员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测试员1、测试员2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测试时间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测试用例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001~008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回归测试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.10~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2022.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.13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4144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设计测试用例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本次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测试的重点是发布朋友圈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，在设计测试用例时，需要考虑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发布朋友圈的内容形式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，在分析测试需求阶段可以明确发布朋友圈的内容形式主要有以下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文字+照片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文字+视频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05815"/>
            <a:ext cx="10046970" cy="635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前面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5种形式来</a:t>
            </a:r>
            <a:r>
              <a:rPr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设计发布朋友圈功能的测试用例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</a:t>
            </a:r>
            <a:r>
              <a: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r>
              <a:rPr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82980" y="1341755"/>
          <a:ext cx="10448925" cy="553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26"/>
                <a:gridCol w="1310694"/>
                <a:gridCol w="1386840"/>
                <a:gridCol w="1655445"/>
                <a:gridCol w="2096770"/>
                <a:gridCol w="1387475"/>
                <a:gridCol w="1387475"/>
              </a:tblGrid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用例编号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测试功能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测试标题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预置条件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步骤描述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测试数据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55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001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发布一段文字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1.在“发现”界面点击朋友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圈；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2.长按朋友圈界面右上角的相机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图标；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3.输入一段文字然后点击“发表”按钮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一段字数为50的内容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3106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002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发布内容为空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1.在“发现”界面点击朋友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圈；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2.长按朋友圈界面右上角的相机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图标；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3.不输入内容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内容为空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003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发布1张照片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点击相机图标；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2.在相册中选择任意一张照片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1张照片 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004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发布10张照片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点击相机图标；</a:t>
                      </a:r>
                      <a:endParaRPr lang="zh-CN" altLang="en-US" sz="1600" kern="120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.在相册中选择照片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10张照片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82980" y="1053465"/>
          <a:ext cx="10448925" cy="553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690"/>
                <a:gridCol w="1205230"/>
                <a:gridCol w="1386840"/>
                <a:gridCol w="1655445"/>
                <a:gridCol w="2096770"/>
                <a:gridCol w="1387475"/>
                <a:gridCol w="1387475"/>
              </a:tblGrid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用例编号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测试功能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测试标题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预置条件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步骤描述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测试数据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55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发布一段15秒视频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界面点击相机图标；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2.在相册中选择一段视频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一段15秒的视频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3106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发布一段20秒视频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点击相机图标；</a:t>
                      </a:r>
                      <a:endParaRPr lang="en-US" altLang="zh-CN" sz="1600" kern="120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.在相册中选择一段视频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一段20秒的视频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发布文字+照片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点击相机图标；</a:t>
                      </a:r>
                      <a:endParaRPr lang="en-US" altLang="zh-CN" sz="1600" kern="120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.在相册中选择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照片；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3.输入文字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1.选择9张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照片；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2.输入一段10字文字 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发布文字+视频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正常；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点击相机图标；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视频；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3.输入文字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1.选择一段10秒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视频；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</a:t>
                      </a:r>
                      <a:r>
                        <a:rPr lang="zh-CN" altLang="en-US" sz="16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输入一段10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字文字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025" y="837565"/>
            <a:ext cx="92621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(4)测试执行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发布朋友圈功能的测试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缺陷报告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如下表所示。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055370" y="1880235"/>
          <a:ext cx="5186045" cy="410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/>
                <a:gridCol w="3676015"/>
              </a:tblGrid>
              <a:tr h="472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缺陷ID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22_03_001</a:t>
                      </a:r>
                      <a:endParaRPr lang="zh-CN" altLang="en-US" sz="1600" b="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测试软件名称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测试软件版本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8.0.32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缺陷发现日期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20220302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测试人员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测试员1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缺陷描述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该版本的发布朋友圈功能在输入内容为空的情况下，点击“发表”按钮后发布成功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附件（可附图）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附图1（链接）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缺陷类型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功能类型缺陷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54775" y="1892300"/>
          <a:ext cx="5186045" cy="335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/>
                <a:gridCol w="3676015"/>
              </a:tblGrid>
              <a:tr h="528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缺陷严重程度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严重</a:t>
                      </a:r>
                      <a:endParaRPr lang="zh-CN" altLang="en-US" sz="1600" b="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缺陷优先级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立即解决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测试环境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信息：荣耀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HONOR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AAL-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AL20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内存：4.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0GB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系统类型：Android 8.0操作系统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重现步骤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在发现界面点击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长按朋友圈界面右上角的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相机图标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</a:t>
                      </a:r>
                      <a:r>
                        <a:rPr lang="zh-CN" altLang="en-US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输入内容</a:t>
                      </a:r>
                      <a:r>
                        <a:rPr lang="en-US" altLang="zh-CN" sz="16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</a:t>
                      </a:r>
                      <a:r>
                        <a:rPr lang="en-US" altLang="zh-CN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按钮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469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600" b="1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endParaRPr lang="zh-CN" altLang="en-US" sz="1600" dirty="0" smtClean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025" y="837565"/>
            <a:ext cx="92621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)编写测试报告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本次测试的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可以按照如下目录编写。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1315" y="1845945"/>
            <a:ext cx="2537460" cy="4900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引言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1.目的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2.术语解释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3.参考资料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测试概要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1.项目简介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2.测试环境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3.测试时间、地点及人员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测试内容及执行情况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1.测试目标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2.测试范围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3.测试用例使用情况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4.回归测试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6895" y="1879600"/>
            <a:ext cx="287337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缺陷统计与分析</a:t>
            </a:r>
            <a:endParaRPr lang="zh-CN" altLang="en-US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1.缺陷数目与类型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2.缺陷的解决情况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3.缺陷的趋势分析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1.测试覆盖率分析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2.需求符合度分析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3.功能正确性分析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4.产品质量分析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5.测试局限性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1.遗留问题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2.测试经验总结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4865" y="1917700"/>
            <a:ext cx="252349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七、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  <a:endParaRPr lang="zh-CN" altLang="en-US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1.测试用例清单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2.缺陷清单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3.交付的测试工作产品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4.遗留问题报告</a:t>
            </a:r>
            <a:endParaRPr lang="zh-CN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27810" y="1990090"/>
            <a:ext cx="8909050" cy="387350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1913890" y="2493645"/>
            <a:ext cx="8136890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本章对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基础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进行了讲解，首先介绍了软件相关的知识，包括软件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生命周期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、软件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开发模型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</a:t>
            </a:r>
            <a:r>
              <a:rPr lang="zh-CN" altLang="en-US" sz="18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质量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；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其次讲解了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软件缺陷管理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，包括软件缺陷产生的原因、分类、处理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流程和常见的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缺陷管理工具；然后讲解了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的简介、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目的、分类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，软件测试与软件开发的关系、常见的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软件测试模型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、软件测试的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原则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；最后讲解了软件测试的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基本流程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，并且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通过微信发布朋友圈的功能测试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让读者简单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认识了软件测试的基本流程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本章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的知识细碎且独立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，却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是软件测试入门的必备知识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，能为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读者在后续章节更</a:t>
            </a:r>
            <a:r>
              <a:rPr lang="zh-CN" altLang="en-US" sz="18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深入地学习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软件测试打下坚实的基础。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513580" y="1558290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232400" y="1558290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951220" y="1558290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670040" y="1558290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2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3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4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5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6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7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8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9.xml><?xml version="1.0" encoding="utf-8"?>
<p:tagLst xmlns:p="http://schemas.openxmlformats.org/presentationml/2006/main">
  <p:tag name="KSO_WM_DIAGRAM_VIRTUALLY_FRAME" val="{&quot;height&quot;:261.71748031496065,&quot;left&quot;:145.44929133858267,&quot;top&quot;:153.48251968503936,&quot;width&quot;:624.4227559055118}"/>
</p:tagLst>
</file>

<file path=ppt/tags/tag10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1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2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3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4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5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6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7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8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19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0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1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2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3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4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5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6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7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8.xml><?xml version="1.0" encoding="utf-8"?>
<p:tagLst xmlns:p="http://schemas.openxmlformats.org/presentationml/2006/main">
  <p:tag name="KSO_WM_DIAGRAM_VIRTUALLY_FRAME" val="{&quot;height&quot;:337.9663779527559,&quot;left&quot;:82.65,&quot;top&quot;:202.0836220472441,&quot;width&quot;:789.35}"/>
</p:tagLst>
</file>

<file path=ppt/tags/tag29.xml><?xml version="1.0" encoding="utf-8"?>
<p:tagLst xmlns:p="http://schemas.openxmlformats.org/presentationml/2006/main">
  <p:tag name="KSO_WM_UNIT_TABLE_BEAUTIFY" val="smartTable{66663912-20ec-4b7d-a2f3-62f270b37135}"/>
  <p:tag name="TABLE_ENDDRAG_ORIGIN_RECT" val="679*359"/>
  <p:tag name="TABLE_ENDDRAG_RECT" val="100*151*679*359"/>
</p:tagLst>
</file>

<file path=ppt/tags/tag30.xml><?xml version="1.0" encoding="utf-8"?>
<p:tagLst xmlns:p="http://schemas.openxmlformats.org/presentationml/2006/main">
  <p:tag name="KSO_WM_UNIT_TABLE_BEAUTIFY" val="smartTable{d4472ab1-e84b-44d4-befc-316c02793ddd}"/>
  <p:tag name="TABLE_ENDDRAG_ORIGIN_RECT" val="516*272"/>
  <p:tag name="TABLE_ENDDRAG_RECT" val="144*180*517*272"/>
</p:tagLst>
</file>

<file path=ppt/tags/tag31.xml><?xml version="1.0" encoding="utf-8"?>
<p:tagLst xmlns:p="http://schemas.openxmlformats.org/presentationml/2006/main">
  <p:tag name="KSO_WM_UNIT_TABLE_BEAUTIFY" val="smartTable{c576ede5-c590-414e-9914-ca27eb4087d3}"/>
  <p:tag name="TABLE_ENDDRAG_ORIGIN_RECT" val="822*430"/>
  <p:tag name="TABLE_ENDDRAG_RECT" val="77*105*822*430"/>
</p:tagLst>
</file>

<file path=ppt/tags/tag32.xml><?xml version="1.0" encoding="utf-8"?>
<p:tagLst xmlns:p="http://schemas.openxmlformats.org/presentationml/2006/main">
  <p:tag name="KSO_WM_UNIT_TABLE_BEAUTIFY" val="smartTable{c576ede5-c590-414e-9914-ca27eb4087d3}"/>
  <p:tag name="TABLE_ENDDRAG_ORIGIN_RECT" val="822*430"/>
  <p:tag name="TABLE_ENDDRAG_RECT" val="77*105*822*430"/>
</p:tagLst>
</file>

<file path=ppt/tags/tag33.xml><?xml version="1.0" encoding="utf-8"?>
<p:tagLst xmlns:p="http://schemas.openxmlformats.org/presentationml/2006/main">
  <p:tag name="KSO_WM_UNIT_TABLE_BEAUTIFY" val="smartTable{d4472ab1-e84b-44d4-befc-316c02793ddd}"/>
  <p:tag name="TABLE_ENDDRAG_ORIGIN_RECT" val="516*272"/>
  <p:tag name="TABLE_ENDDRAG_RECT" val="144*180*517*272"/>
</p:tagLst>
</file>

<file path=ppt/tags/tag34.xml><?xml version="1.0" encoding="utf-8"?>
<p:tagLst xmlns:p="http://schemas.openxmlformats.org/presentationml/2006/main">
  <p:tag name="KSO_WM_UNIT_TABLE_BEAUTIFY" val="smartTable{0ea46504-f7a4-46c8-9a1c-7ce1d50e5aa4}"/>
  <p:tag name="TABLE_ENDDRAG_ORIGIN_RECT" val="516*272"/>
  <p:tag name="TABLE_ENDDRAG_RECT" val="144*180*517*272"/>
</p:tagLst>
</file>

<file path=ppt/tags/tag35.xml><?xml version="1.0" encoding="utf-8"?>
<p:tagLst xmlns:p="http://schemas.openxmlformats.org/presentationml/2006/main">
  <p:tag name="ISPRING_RESOURCE_PATHS_HASH_PRESENTER" val="417f8e4a56fc57c2e92e6fdc581ab83ee55365e"/>
  <p:tag name="KSO_WPP_MARK_KEY" val="f71d5144-0573-45f9-bb21-9102466a32de"/>
  <p:tag name="COMMONDATA" val="eyJoZGlkIjoiY2M1MmI4Y2U5ZGU3ODg0MGFlYjQ5MWViZmIzYjVhMDEifQ=="/>
  <p:tag name="commondata" val="eyJoZGlkIjoiYjMwMjM1MThkZTU2Y2E5Y2IwMGRjNGMwMzE0NjFmMmE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10521</Words>
  <Application>WPS 演示</Application>
  <PresentationFormat>自定义</PresentationFormat>
  <Paragraphs>1040</Paragraphs>
  <Slides>68</Slides>
  <Notes>85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68</vt:i4>
      </vt:variant>
    </vt:vector>
  </HeadingPairs>
  <TitlesOfParts>
    <vt:vector size="103" baseType="lpstr">
      <vt:lpstr>Arial</vt:lpstr>
      <vt:lpstr>宋体</vt:lpstr>
      <vt:lpstr>Wingdings</vt:lpstr>
      <vt:lpstr>微软雅黑</vt:lpstr>
      <vt:lpstr>思源黑体 CN Medium</vt:lpstr>
      <vt:lpstr>黑体</vt:lpstr>
      <vt:lpstr>Calibri</vt:lpstr>
      <vt:lpstr>字魂58号-创中黑</vt:lpstr>
      <vt:lpstr>Source Han Sans K Bold</vt:lpstr>
      <vt:lpstr>Yu Gothic UI Semibold</vt:lpstr>
      <vt:lpstr>U.S. 101</vt:lpstr>
      <vt:lpstr>Roboto</vt:lpstr>
      <vt:lpstr>Open Sans Light</vt:lpstr>
      <vt:lpstr>Segoe Print</vt:lpstr>
      <vt:lpstr>Open Sans</vt:lpstr>
      <vt:lpstr>字魂105号-简雅黑</vt:lpstr>
      <vt:lpstr>Arial Unicode MS</vt:lpstr>
      <vt:lpstr>Arial</vt:lpstr>
      <vt:lpstr>Aller Light</vt:lpstr>
      <vt:lpstr>等线</vt:lpstr>
      <vt:lpstr>Lato Light</vt:lpstr>
      <vt:lpstr>Open Sans</vt:lpstr>
      <vt:lpstr>Wingdings</vt:lpstr>
      <vt:lpstr>STIXGeneral-Bold</vt:lpstr>
      <vt:lpstr>Oxygen</vt:lpstr>
      <vt:lpstr>思源黑体 CN Regular</vt:lpstr>
      <vt:lpstr>Times New Roman</vt:lpstr>
      <vt:lpstr>微软雅黑 Light</vt:lpstr>
      <vt:lpstr>webwppDefTheme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海锋</cp:lastModifiedBy>
  <cp:revision>1377</cp:revision>
  <dcterms:created xsi:type="dcterms:W3CDTF">2020-09-03T07:01:00Z</dcterms:created>
  <dcterms:modified xsi:type="dcterms:W3CDTF">2025-09-04T00:50:55Z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505A5776611944CDB7C9AB141AAA8B3F</vt:lpwstr>
  </property>
</Properties>
</file>