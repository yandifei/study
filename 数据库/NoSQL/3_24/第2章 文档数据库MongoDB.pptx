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34"/>
  </p:notesMasterIdLst>
  <p:handoutMasterIdLst>
    <p:handoutMasterId r:id="rId35"/>
  </p:handoutMasterIdLst>
  <p:sldIdLst>
    <p:sldId id="325" r:id="rId3"/>
    <p:sldId id="264" r:id="rId4"/>
    <p:sldId id="328" r:id="rId5"/>
    <p:sldId id="327" r:id="rId6"/>
    <p:sldId id="309" r:id="rId7"/>
    <p:sldId id="259" r:id="rId8"/>
    <p:sldId id="856" r:id="rId9"/>
    <p:sldId id="857" r:id="rId10"/>
    <p:sldId id="858" r:id="rId11"/>
    <p:sldId id="859" r:id="rId12"/>
    <p:sldId id="860" r:id="rId13"/>
    <p:sldId id="861" r:id="rId14"/>
    <p:sldId id="862" r:id="rId15"/>
    <p:sldId id="863" r:id="rId16"/>
    <p:sldId id="864" r:id="rId17"/>
    <p:sldId id="865" r:id="rId18"/>
    <p:sldId id="866" r:id="rId19"/>
    <p:sldId id="867" r:id="rId20"/>
    <p:sldId id="868" r:id="rId21"/>
    <p:sldId id="869" r:id="rId22"/>
    <p:sldId id="870" r:id="rId23"/>
    <p:sldId id="871" r:id="rId24"/>
    <p:sldId id="872" r:id="rId25"/>
    <p:sldId id="873" r:id="rId26"/>
    <p:sldId id="874" r:id="rId27"/>
    <p:sldId id="373" r:id="rId28"/>
    <p:sldId id="875" r:id="rId29"/>
    <p:sldId id="876" r:id="rId30"/>
    <p:sldId id="877" r:id="rId31"/>
    <p:sldId id="338" r:id="rId32"/>
    <p:sldId id="326" r:id="rId33"/>
  </p:sldIdLst>
  <p:sldSz cx="12190413" cy="6859588"/>
  <p:notesSz cx="6858000" cy="9144000"/>
  <p:custDataLst>
    <p:tags r:id="rId36"/>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0">
          <p15:clr>
            <a:srgbClr val="A4A3A4"/>
          </p15:clr>
        </p15:guide>
        <p15:guide id="2" pos="256">
          <p15:clr>
            <a:srgbClr val="A4A3A4"/>
          </p15:clr>
        </p15:guide>
        <p15:guide id="3" pos="6561">
          <p15:clr>
            <a:srgbClr val="A4A3A4"/>
          </p15:clr>
        </p15:guide>
      </p15:sldGuideLst>
    </p:ext>
    <p:ext uri="{2D200454-40CA-4A62-9FC3-DE9A4176ACB9}">
      <p15:notesGuideLst xmlns:p15="http://schemas.microsoft.com/office/powerpoint/2012/main">
        <p15:guide id="1" orient="horz" pos="2866">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FAFAFA"/>
    <a:srgbClr val="595959"/>
    <a:srgbClr val="F2F2F2"/>
    <a:srgbClr val="006BBC"/>
    <a:srgbClr val="0075CC"/>
    <a:srgbClr val="008DF6"/>
    <a:srgbClr val="005DA2"/>
    <a:srgbClr val="F5F5F5"/>
    <a:srgbClr val="3992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72" autoAdjust="0"/>
    <p:restoredTop sz="94660" autoAdjust="0"/>
  </p:normalViewPr>
  <p:slideViewPr>
    <p:cSldViewPr>
      <p:cViewPr varScale="1">
        <p:scale>
          <a:sx n="87" d="100"/>
          <a:sy n="87" d="100"/>
        </p:scale>
        <p:origin x="552" y="82"/>
      </p:cViewPr>
      <p:guideLst>
        <p:guide orient="horz" pos="2150"/>
        <p:guide pos="256"/>
        <p:guide pos="6561"/>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866"/>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pollo Felix" userId="fc34569bcac8cf1f" providerId="LiveId" clId="{63D5A076-1C2F-4DB8-89DB-EFA4DED5F135}"/>
    <pc:docChg chg="modSld">
      <pc:chgData name="Apollo Felix" userId="fc34569bcac8cf1f" providerId="LiveId" clId="{63D5A076-1C2F-4DB8-89DB-EFA4DED5F135}" dt="2025-01-13T05:36:39.412" v="0" actId="1076"/>
      <pc:docMkLst>
        <pc:docMk/>
      </pc:docMkLst>
      <pc:sldChg chg="modSp mod">
        <pc:chgData name="Apollo Felix" userId="fc34569bcac8cf1f" providerId="LiveId" clId="{63D5A076-1C2F-4DB8-89DB-EFA4DED5F135}" dt="2025-01-13T05:36:39.412" v="0" actId="1076"/>
        <pc:sldMkLst>
          <pc:docMk/>
          <pc:sldMk cId="0" sldId="320"/>
        </pc:sldMkLst>
        <pc:spChg chg="mod">
          <ac:chgData name="Apollo Felix" userId="fc34569bcac8cf1f" providerId="LiveId" clId="{63D5A076-1C2F-4DB8-89DB-EFA4DED5F135}" dt="2025-01-13T05:36:39.412" v="0" actId="1076"/>
          <ac:spMkLst>
            <pc:docMk/>
            <pc:sldMk cId="0" sldId="320"/>
            <ac:spMk id="9"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2025/7/15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22698727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2025/7/15</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extLst>
      <p:ext uri="{BB962C8B-B14F-4D97-AF65-F5344CB8AC3E}">
        <p14:creationId xmlns:p14="http://schemas.microsoft.com/office/powerpoint/2010/main" val="1246134467"/>
      </p:ext>
    </p:extLst>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extLst>
      <p:ext uri="{BB962C8B-B14F-4D97-AF65-F5344CB8AC3E}">
        <p14:creationId xmlns:p14="http://schemas.microsoft.com/office/powerpoint/2010/main" val="3688236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extLst>
      <p:ext uri="{BB962C8B-B14F-4D97-AF65-F5344CB8AC3E}">
        <p14:creationId xmlns:p14="http://schemas.microsoft.com/office/powerpoint/2010/main" val="15971029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extLst>
      <p:ext uri="{BB962C8B-B14F-4D97-AF65-F5344CB8AC3E}">
        <p14:creationId xmlns:p14="http://schemas.microsoft.com/office/powerpoint/2010/main" val="14460194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extLst>
      <p:ext uri="{BB962C8B-B14F-4D97-AF65-F5344CB8AC3E}">
        <p14:creationId xmlns:p14="http://schemas.microsoft.com/office/powerpoint/2010/main" val="2351556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extLst>
      <p:ext uri="{BB962C8B-B14F-4D97-AF65-F5344CB8AC3E}">
        <p14:creationId xmlns:p14="http://schemas.microsoft.com/office/powerpoint/2010/main" val="3152266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extLst>
      <p:ext uri="{BB962C8B-B14F-4D97-AF65-F5344CB8AC3E}">
        <p14:creationId xmlns:p14="http://schemas.microsoft.com/office/powerpoint/2010/main" val="30451819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extLst>
      <p:ext uri="{BB962C8B-B14F-4D97-AF65-F5344CB8AC3E}">
        <p14:creationId xmlns:p14="http://schemas.microsoft.com/office/powerpoint/2010/main" val="23667605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extLst>
      <p:ext uri="{BB962C8B-B14F-4D97-AF65-F5344CB8AC3E}">
        <p14:creationId xmlns:p14="http://schemas.microsoft.com/office/powerpoint/2010/main" val="3752616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extLst>
      <p:ext uri="{BB962C8B-B14F-4D97-AF65-F5344CB8AC3E}">
        <p14:creationId xmlns:p14="http://schemas.microsoft.com/office/powerpoint/2010/main" val="34787815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extLst>
      <p:ext uri="{BB962C8B-B14F-4D97-AF65-F5344CB8AC3E}">
        <p14:creationId xmlns:p14="http://schemas.microsoft.com/office/powerpoint/2010/main" val="412768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extLst>
      <p:ext uri="{BB962C8B-B14F-4D97-AF65-F5344CB8AC3E}">
        <p14:creationId xmlns:p14="http://schemas.microsoft.com/office/powerpoint/2010/main" val="10982730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extLst>
      <p:ext uri="{BB962C8B-B14F-4D97-AF65-F5344CB8AC3E}">
        <p14:creationId xmlns:p14="http://schemas.microsoft.com/office/powerpoint/2010/main" val="28234759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extLst>
      <p:ext uri="{BB962C8B-B14F-4D97-AF65-F5344CB8AC3E}">
        <p14:creationId xmlns:p14="http://schemas.microsoft.com/office/powerpoint/2010/main" val="9747717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extLst>
      <p:ext uri="{BB962C8B-B14F-4D97-AF65-F5344CB8AC3E}">
        <p14:creationId xmlns:p14="http://schemas.microsoft.com/office/powerpoint/2010/main" val="29998397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extLst>
      <p:ext uri="{BB962C8B-B14F-4D97-AF65-F5344CB8AC3E}">
        <p14:creationId xmlns:p14="http://schemas.microsoft.com/office/powerpoint/2010/main" val="29888843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extLst>
      <p:ext uri="{BB962C8B-B14F-4D97-AF65-F5344CB8AC3E}">
        <p14:creationId xmlns:p14="http://schemas.microsoft.com/office/powerpoint/2010/main" val="27527071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extLst>
      <p:ext uri="{BB962C8B-B14F-4D97-AF65-F5344CB8AC3E}">
        <p14:creationId xmlns:p14="http://schemas.microsoft.com/office/powerpoint/2010/main" val="23430711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extLst>
      <p:ext uri="{BB962C8B-B14F-4D97-AF65-F5344CB8AC3E}">
        <p14:creationId xmlns:p14="http://schemas.microsoft.com/office/powerpoint/2010/main" val="17822340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extLst>
      <p:ext uri="{BB962C8B-B14F-4D97-AF65-F5344CB8AC3E}">
        <p14:creationId xmlns:p14="http://schemas.microsoft.com/office/powerpoint/2010/main" val="19339457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extLst>
      <p:ext uri="{BB962C8B-B14F-4D97-AF65-F5344CB8AC3E}">
        <p14:creationId xmlns:p14="http://schemas.microsoft.com/office/powerpoint/2010/main" val="25594939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extLst>
      <p:ext uri="{BB962C8B-B14F-4D97-AF65-F5344CB8AC3E}">
        <p14:creationId xmlns:p14="http://schemas.microsoft.com/office/powerpoint/2010/main" val="15149912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2025/7/15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2025/7/15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2025/7/15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2025/7/15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2025/7/15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t>2025/7/15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2025/7/15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2025/7/15</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2025/7/15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0.xml"/><Relationship Id="rId4" Type="http://schemas.openxmlformats.org/officeDocument/2006/relationships/image" Target="../media/image16.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350790" y="2534497"/>
            <a:ext cx="7706107" cy="769441"/>
          </a:xfrm>
          <a:prstGeom prst="rect">
            <a:avLst/>
          </a:prstGeom>
          <a:noFill/>
        </p:spPr>
        <p:txBody>
          <a:bodyPr wrap="square" rtlCol="0">
            <a:spAutoFit/>
          </a:bodyPr>
          <a:lstStyle/>
          <a:p>
            <a:pPr algn="ctr"/>
            <a:r>
              <a:rPr lang="zh-CN" altLang="en-US" sz="4400" dirty="0">
                <a:solidFill>
                  <a:srgbClr val="1369B2"/>
                </a:solidFill>
                <a:latin typeface="微软雅黑" charset="0"/>
                <a:ea typeface="微软雅黑" charset="0"/>
                <a:cs typeface="+mn-ea"/>
                <a:sym typeface="思源黑体 CN Medium" panose="020B0600000000000000" pitchFamily="34" charset="-122"/>
              </a:rPr>
              <a:t>第</a:t>
            </a:r>
            <a:r>
              <a:rPr lang="en-US" altLang="zh-CN" sz="4400" dirty="0">
                <a:solidFill>
                  <a:srgbClr val="1369B2"/>
                </a:solidFill>
                <a:latin typeface="微软雅黑" charset="0"/>
                <a:ea typeface="微软雅黑" charset="0"/>
                <a:cs typeface="+mn-ea"/>
                <a:sym typeface="思源黑体 CN Medium" panose="020B0600000000000000" pitchFamily="34" charset="-122"/>
              </a:rPr>
              <a:t>2</a:t>
            </a:r>
            <a:r>
              <a:rPr lang="zh-CN" altLang="en-US" sz="4400" dirty="0">
                <a:solidFill>
                  <a:srgbClr val="1369B2"/>
                </a:solidFill>
                <a:latin typeface="微软雅黑" charset="0"/>
                <a:ea typeface="微软雅黑" charset="0"/>
                <a:cs typeface="+mn-ea"/>
                <a:sym typeface="思源黑体 CN Medium" panose="020B0600000000000000" pitchFamily="34" charset="-122"/>
              </a:rPr>
              <a:t>章 文档数据库</a:t>
            </a:r>
            <a:r>
              <a:rPr lang="en-US" altLang="zh-CN" sz="4400" dirty="0">
                <a:solidFill>
                  <a:srgbClr val="1369B2"/>
                </a:solidFill>
                <a:latin typeface="微软雅黑" charset="0"/>
                <a:ea typeface="微软雅黑" charset="0"/>
                <a:cs typeface="+mn-ea"/>
                <a:sym typeface="思源黑体 CN Medium" panose="020B0600000000000000" pitchFamily="34" charset="-122"/>
              </a:rPr>
              <a:t>MongoDB</a:t>
            </a:r>
            <a:endParaRPr lang="zh-CN" altLang="en-US" sz="4400" dirty="0">
              <a:solidFill>
                <a:srgbClr val="1369B2"/>
              </a:solidFill>
              <a:latin typeface="微软雅黑" charset="0"/>
              <a:ea typeface="微软雅黑" charset="0"/>
              <a:cs typeface="+mn-ea"/>
              <a:sym typeface="思源黑体 CN Medium" panose="020B0600000000000000" pitchFamily="34" charset="-122"/>
            </a:endParaRPr>
          </a:p>
        </p:txBody>
      </p:sp>
      <p:sp>
        <p:nvSpPr>
          <p:cNvPr id="68" name="Rectangle 4"/>
          <p:cNvSpPr txBox="1">
            <a:spLocks noChangeArrowheads="1"/>
          </p:cNvSpPr>
          <p:nvPr/>
        </p:nvSpPr>
        <p:spPr>
          <a:xfrm>
            <a:off x="4943078" y="3861589"/>
            <a:ext cx="4969803" cy="430312"/>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《NoSQL</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数据库技术与应用</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990750" y="1989634"/>
            <a:ext cx="8424936" cy="688075"/>
            <a:chOff x="978872" y="1800500"/>
            <a:chExt cx="6967680" cy="515937"/>
          </a:xfrm>
        </p:grpSpPr>
        <p:sp>
          <p:nvSpPr>
            <p:cNvPr id="81" name="Pentagon 3"/>
            <p:cNvSpPr/>
            <p:nvPr/>
          </p:nvSpPr>
          <p:spPr bwMode="auto">
            <a:xfrm>
              <a:off x="978872" y="1800500"/>
              <a:ext cx="6967680"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MongoDB</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概述，能够说出</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MongoDB</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的发展历程</a:t>
              </a:r>
              <a:endParaRPr lang="en-GB"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990750" y="2863318"/>
            <a:ext cx="8424936" cy="685959"/>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MongoDB</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逻辑结构，能够叙述数据库、集合和文档的作用</a:t>
              </a:r>
              <a:endParaRPr lang="en-GB"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6" name="组合 85"/>
          <p:cNvGrpSpPr/>
          <p:nvPr/>
        </p:nvGrpSpPr>
        <p:grpSpPr>
          <a:xfrm>
            <a:off x="1990750" y="3734886"/>
            <a:ext cx="8424936" cy="688077"/>
            <a:chOff x="978872" y="3338787"/>
            <a:chExt cx="5437064" cy="515938"/>
          </a:xfrm>
        </p:grpSpPr>
        <p:sp>
          <p:nvSpPr>
            <p:cNvPr id="87"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MongoDB</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数据类型，能够叙述不同数据类型的含义</a:t>
              </a:r>
              <a:endParaRPr lang="en-GB"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8"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9" name="组合 88"/>
          <p:cNvGrpSpPr/>
          <p:nvPr/>
        </p:nvGrpSpPr>
        <p:grpSpPr>
          <a:xfrm>
            <a:off x="1990750" y="4608572"/>
            <a:ext cx="8424936" cy="685959"/>
            <a:chOff x="978872" y="4108725"/>
            <a:chExt cx="5437064" cy="514350"/>
          </a:xfrm>
        </p:grpSpPr>
        <p:sp>
          <p:nvSpPr>
            <p:cNvPr id="90" name="Pentagon 7"/>
            <p:cNvSpPr/>
            <p:nvPr/>
          </p:nvSpPr>
          <p:spPr bwMode="auto">
            <a:xfrm>
              <a:off x="978872" y="410872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MongoDB</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特点，能够描述高性能、高可用性、高扩展性等特点的含义</a:t>
              </a:r>
              <a:endParaRPr lang="en-GB"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91" name="MH_Others_1"/>
            <p:cNvSpPr/>
            <p:nvPr/>
          </p:nvSpPr>
          <p:spPr bwMode="auto">
            <a:xfrm>
              <a:off x="985222" y="4108725"/>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6" name="组合 15">
            <a:extLst>
              <a:ext uri="{FF2B5EF4-FFF2-40B4-BE49-F238E27FC236}">
                <a16:creationId xmlns:a16="http://schemas.microsoft.com/office/drawing/2014/main" id="{765DA3CB-8284-45CD-92B6-0F30A36C62EA}"/>
              </a:ext>
            </a:extLst>
          </p:cNvPr>
          <p:cNvGrpSpPr/>
          <p:nvPr/>
        </p:nvGrpSpPr>
        <p:grpSpPr>
          <a:xfrm>
            <a:off x="1990750" y="5480139"/>
            <a:ext cx="8424936" cy="685959"/>
            <a:chOff x="978872" y="4108725"/>
            <a:chExt cx="5437064" cy="514350"/>
          </a:xfrm>
        </p:grpSpPr>
        <p:sp>
          <p:nvSpPr>
            <p:cNvPr id="17" name="Pentagon 7">
              <a:extLst>
                <a:ext uri="{FF2B5EF4-FFF2-40B4-BE49-F238E27FC236}">
                  <a16:creationId xmlns:a16="http://schemas.microsoft.com/office/drawing/2014/main" id="{343DC5C6-896E-47DE-855B-3583339ECA70}"/>
                </a:ext>
              </a:extLst>
            </p:cNvPr>
            <p:cNvSpPr/>
            <p:nvPr/>
          </p:nvSpPr>
          <p:spPr bwMode="auto">
            <a:xfrm>
              <a:off x="978872" y="410872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MongoDB</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读写流程，能够说出写入和读取操作的流程</a:t>
              </a:r>
              <a:endParaRPr lang="en-GB"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18" name="MH_Others_1">
              <a:extLst>
                <a:ext uri="{FF2B5EF4-FFF2-40B4-BE49-F238E27FC236}">
                  <a16:creationId xmlns:a16="http://schemas.microsoft.com/office/drawing/2014/main" id="{44914775-2E5E-4396-A874-D9CB338313FA}"/>
                </a:ext>
              </a:extLst>
            </p:cNvPr>
            <p:cNvSpPr/>
            <p:nvPr/>
          </p:nvSpPr>
          <p:spPr bwMode="auto">
            <a:xfrm>
              <a:off x="985222" y="4108725"/>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009935" y="1714674"/>
            <a:ext cx="10151132" cy="2377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702030404030204" pitchFamily="34" charset="0"/>
                <a:ea typeface="宋体" pitchFamily="2" charset="-122"/>
              </a:defRPr>
            </a:lvl1pPr>
            <a:lvl2pPr marL="742950" indent="-285750">
              <a:defRPr>
                <a:solidFill>
                  <a:schemeClr val="tx1"/>
                </a:solidFill>
                <a:latin typeface="Calibri" panose="020F0702030404030204" pitchFamily="34" charset="0"/>
                <a:ea typeface="宋体" pitchFamily="2" charset="-122"/>
              </a:defRPr>
            </a:lvl2pPr>
            <a:lvl3pPr marL="1143000" indent="-228600">
              <a:defRPr>
                <a:solidFill>
                  <a:schemeClr val="tx1"/>
                </a:solidFill>
                <a:latin typeface="Calibri" panose="020F0702030404030204" pitchFamily="34" charset="0"/>
                <a:ea typeface="宋体" pitchFamily="2" charset="-122"/>
              </a:defRPr>
            </a:lvl3pPr>
            <a:lvl4pPr marL="1600200" indent="-228600">
              <a:defRPr>
                <a:solidFill>
                  <a:schemeClr val="tx1"/>
                </a:solidFill>
                <a:latin typeface="Calibri" panose="020F0702030404030204" pitchFamily="34" charset="0"/>
                <a:ea typeface="宋体" pitchFamily="2" charset="-122"/>
              </a:defRPr>
            </a:lvl4pPr>
            <a:lvl5pPr marL="2057400" indent="-228600">
              <a:defRPr>
                <a:solidFill>
                  <a:schemeClr val="tx1"/>
                </a:solidFill>
                <a:latin typeface="Calibri" panose="020F07020304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702030404030204" pitchFamily="34" charset="0"/>
                <a:ea typeface="宋体" pitchFamily="2" charset="-122"/>
              </a:defRPr>
            </a:lvl9pPr>
          </a:lstStyle>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是当前最热门的</a:t>
            </a:r>
            <a:r>
              <a:rPr lang="en-US" altLang="zh-CN" sz="2000" dirty="0">
                <a:solidFill>
                  <a:srgbClr val="595959"/>
                </a:solidFill>
                <a:latin typeface="微软雅黑" panose="020B0503020204020204" pitchFamily="34" charset="-122"/>
                <a:ea typeface="微软雅黑" panose="020B0503020204020204" pitchFamily="34" charset="-122"/>
              </a:rPr>
              <a:t>NoSQL</a:t>
            </a:r>
            <a:r>
              <a:rPr lang="zh-CN" altLang="en-US" sz="2000" dirty="0">
                <a:solidFill>
                  <a:srgbClr val="595959"/>
                </a:solidFill>
                <a:latin typeface="微软雅黑" panose="020B0503020204020204" pitchFamily="34" charset="-122"/>
                <a:ea typeface="微软雅黑" panose="020B0503020204020204" pitchFamily="34" charset="-122"/>
              </a:rPr>
              <a:t>之一。截至本书完稿前，在全球知名的数据库流行度排行榜网站</a:t>
            </a:r>
            <a:r>
              <a:rPr lang="en-US" altLang="zh-CN" sz="2000" dirty="0">
                <a:solidFill>
                  <a:srgbClr val="595959"/>
                </a:solidFill>
                <a:latin typeface="微软雅黑" panose="020B0503020204020204" pitchFamily="34" charset="-122"/>
                <a:ea typeface="微软雅黑" panose="020B0503020204020204" pitchFamily="34" charset="-122"/>
              </a:rPr>
              <a:t>DB-Engines</a:t>
            </a:r>
            <a:r>
              <a:rPr lang="zh-CN" altLang="en-US" sz="2000" dirty="0">
                <a:solidFill>
                  <a:srgbClr val="595959"/>
                </a:solidFill>
                <a:latin typeface="微软雅黑" panose="020B0503020204020204" pitchFamily="34" charset="-122"/>
                <a:ea typeface="微软雅黑" panose="020B0503020204020204" pitchFamily="34" charset="-122"/>
              </a:rPr>
              <a:t>中，</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位列第五。排名前四的数据库均为常见的关系型数据库，依次为</a:t>
            </a:r>
            <a:r>
              <a:rPr lang="en-US" altLang="zh-CN" sz="2000" dirty="0">
                <a:solidFill>
                  <a:srgbClr val="1369B2"/>
                </a:solidFill>
                <a:latin typeface="微软雅黑" panose="020B0503020204020204" pitchFamily="34" charset="-122"/>
                <a:ea typeface="微软雅黑" panose="020B0503020204020204" pitchFamily="34" charset="-122"/>
              </a:rPr>
              <a:t>Oracle</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MySQL</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SQL Server</a:t>
            </a:r>
            <a:r>
              <a:rPr lang="zh-CN" altLang="en-US"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PostgreSQL</a:t>
            </a:r>
            <a:r>
              <a:rPr lang="zh-CN" altLang="en-US" sz="2000" dirty="0">
                <a:solidFill>
                  <a:srgbClr val="595959"/>
                </a:solidFill>
                <a:latin typeface="微软雅黑" panose="020B0503020204020204" pitchFamily="34" charset="-122"/>
                <a:ea typeface="微软雅黑" panose="020B0503020204020204" pitchFamily="34" charset="-122"/>
              </a:rPr>
              <a:t>，这充分彰显了</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NoSQL</a:t>
            </a:r>
            <a:r>
              <a:rPr lang="zh-CN" altLang="en-US" sz="2000" dirty="0">
                <a:solidFill>
                  <a:srgbClr val="595959"/>
                </a:solidFill>
                <a:latin typeface="微软雅黑" panose="020B0503020204020204" pitchFamily="34" charset="-122"/>
                <a:ea typeface="微软雅黑" panose="020B0503020204020204" pitchFamily="34" charset="-122"/>
              </a:rPr>
              <a:t>领域的领先地位。本章将详细介绍</a:t>
            </a:r>
            <a:r>
              <a:rPr lang="en-US" altLang="zh-CN" sz="2000" dirty="0">
                <a:solidFill>
                  <a:srgbClr val="595959"/>
                </a:solidFill>
                <a:latin typeface="微软雅黑" panose="020B0503020204020204" pitchFamily="34" charset="-122"/>
                <a:ea typeface="微软雅黑" panose="020B0503020204020204" pitchFamily="34" charset="-122"/>
              </a:rPr>
              <a:t>MongoDB</a:t>
            </a:r>
            <a:r>
              <a:rPr lang="zh-CN" altLang="en-US" sz="2000" dirty="0">
                <a:solidFill>
                  <a:srgbClr val="595959"/>
                </a:solidFill>
                <a:latin typeface="微软雅黑" panose="020B0503020204020204" pitchFamily="34" charset="-122"/>
                <a:ea typeface="微软雅黑" panose="020B0503020204020204" pitchFamily="34" charset="-122"/>
              </a:rPr>
              <a:t>相关的基础知识</a:t>
            </a:r>
            <a:r>
              <a:rPr lang="zh-CN" altLang="en-US" sz="2000" dirty="0">
                <a:solidFill>
                  <a:srgbClr val="595959"/>
                </a:solidFill>
                <a:latin typeface="微软雅黑" panose="020B0503020204020204" pitchFamily="34" charset="-122"/>
                <a:ea typeface="微软雅黑" panose="020B0503020204020204" pitchFamily="34" charset="-122"/>
                <a:sym typeface="+mn-ea"/>
              </a:rPr>
              <a:t>。</a:t>
            </a:r>
            <a:endParaRPr lang="zh-CN" altLang="en-US" sz="2000" dirty="0">
              <a:solidFill>
                <a:srgbClr val="595959"/>
              </a:solidFill>
              <a:latin typeface="微软雅黑" panose="020B0503020204020204" pitchFamily="34" charset="-122"/>
              <a:ea typeface="微软雅黑" panose="020B0503020204020204" pitchFamily="34" charset="-122"/>
            </a:endParaRPr>
          </a:p>
          <a:p>
            <a:pPr algn="just">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4" name="Picture 4" descr="https://timgsa.baidu.com/timg?image&amp;quality=80&amp;size=b9999_10000&amp;sec=1553764787053&amp;di=63201b69439172d2f26edff5c9a921d9&amp;imgtype=0&amp;src=http%3A%2F%2Fscimg.jb51.net%2Fallimg%2F150701%2F14-150F11I343I7.jpg">
            <a:extLst>
              <a:ext uri="{FF2B5EF4-FFF2-40B4-BE49-F238E27FC236}">
                <a16:creationId xmlns:a16="http://schemas.microsoft.com/office/drawing/2014/main" id="{55EA8685-5288-47D8-A38B-15022DE5A7A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79582" y="4149874"/>
            <a:ext cx="1904365" cy="24199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19265" y="1933199"/>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19265" y="2853597"/>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19265" y="3784175"/>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p:cNvGrpSpPr/>
          <p:nvPr/>
        </p:nvGrpSpPr>
        <p:grpSpPr>
          <a:xfrm>
            <a:off x="3119265" y="4710448"/>
            <a:ext cx="1192190" cy="613061"/>
            <a:chOff x="2215144" y="4135856"/>
            <a:chExt cx="1244730" cy="842781"/>
          </a:xfrm>
        </p:grpSpPr>
        <p:sp>
          <p:nvSpPr>
            <p:cNvPr id="55" name="平行四边形 54"/>
            <p:cNvSpPr/>
            <p:nvPr/>
          </p:nvSpPr>
          <p:spPr>
            <a:xfrm>
              <a:off x="2215144" y="4135856"/>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6" name="文本框 12"/>
            <p:cNvSpPr txBox="1"/>
            <p:nvPr/>
          </p:nvSpPr>
          <p:spPr>
            <a:xfrm>
              <a:off x="2393075" y="4169272"/>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7" name="组合 56"/>
          <p:cNvGrpSpPr/>
          <p:nvPr/>
        </p:nvGrpSpPr>
        <p:grpSpPr>
          <a:xfrm>
            <a:off x="3119263" y="5636184"/>
            <a:ext cx="1179161" cy="643673"/>
            <a:chOff x="2215144" y="5186859"/>
            <a:chExt cx="1231128" cy="884866"/>
          </a:xfrm>
        </p:grpSpPr>
        <p:sp>
          <p:nvSpPr>
            <p:cNvPr id="58" name="平行四边形 57"/>
            <p:cNvSpPr/>
            <p:nvPr/>
          </p:nvSpPr>
          <p:spPr>
            <a:xfrm>
              <a:off x="2215144" y="5186859"/>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9" name="文本框 13"/>
            <p:cNvSpPr txBox="1"/>
            <p:nvPr/>
          </p:nvSpPr>
          <p:spPr>
            <a:xfrm>
              <a:off x="2379473" y="5267827"/>
              <a:ext cx="1066799" cy="803898"/>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24817" y="1911020"/>
            <a:ext cx="5142331" cy="613062"/>
            <a:chOff x="4315150" y="953426"/>
            <a:chExt cx="3857250" cy="540057"/>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MongoDB</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概述</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24817" y="2836771"/>
            <a:ext cx="5142331" cy="613062"/>
            <a:chOff x="4315150" y="1647579"/>
            <a:chExt cx="3857250" cy="540057"/>
          </a:xfrm>
        </p:grpSpPr>
        <p:sp>
          <p:nvSpPr>
            <p:cNvPr id="64" name="矩形 63"/>
            <p:cNvSpPr/>
            <p:nvPr/>
          </p:nvSpPr>
          <p:spPr>
            <a:xfrm>
              <a:off x="4841196" y="1730243"/>
              <a:ext cx="2827147" cy="331154"/>
            </a:xfrm>
            <a:prstGeom prst="rect">
              <a:avLst/>
            </a:prstGeom>
            <a:ln w="15875">
              <a:noFill/>
            </a:ln>
          </p:spPr>
          <p:txBody>
            <a:bodyPr wrap="square" lIns="68580" tIns="34290" rIns="68580" bIns="34290">
              <a:spAutoFit/>
            </a:bodyPr>
            <a:lstStyle/>
            <a:p>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MongoDB</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的</a:t>
              </a:r>
              <a:r>
                <a:rPr lang="zh-CN" altLang="en-US" sz="2000"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逻辑结构</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24817" y="3762522"/>
            <a:ext cx="5142331" cy="613062"/>
            <a:chOff x="4315150" y="2341731"/>
            <a:chExt cx="3857250" cy="540057"/>
          </a:xfrm>
        </p:grpSpPr>
        <p:sp>
          <p:nvSpPr>
            <p:cNvPr id="67" name="矩形 66"/>
            <p:cNvSpPr/>
            <p:nvPr/>
          </p:nvSpPr>
          <p:spPr>
            <a:xfrm>
              <a:off x="4841197" y="2424395"/>
              <a:ext cx="2827146" cy="332129"/>
            </a:xfrm>
            <a:prstGeom prst="rect">
              <a:avLst/>
            </a:prstGeom>
            <a:ln w="15875">
              <a:noFill/>
            </a:ln>
          </p:spPr>
          <p:txBody>
            <a:bodyPr wrap="square" lIns="68580" tIns="34290" rIns="68580" bIns="34290">
              <a:spAutoFit/>
            </a:bodyPr>
            <a:lstStyle/>
            <a:p>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MongoDB</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的</a:t>
              </a:r>
              <a:r>
                <a:rPr lang="zh-CN" altLang="en-US" sz="2000"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数据类型</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9" name="组合 68"/>
          <p:cNvGrpSpPr/>
          <p:nvPr/>
        </p:nvGrpSpPr>
        <p:grpSpPr>
          <a:xfrm>
            <a:off x="4024817" y="4688273"/>
            <a:ext cx="5142331" cy="613062"/>
            <a:chOff x="4315150" y="3035884"/>
            <a:chExt cx="3857250" cy="540057"/>
          </a:xfrm>
        </p:grpSpPr>
        <p:sp>
          <p:nvSpPr>
            <p:cNvPr id="70" name="矩形 69"/>
            <p:cNvSpPr/>
            <p:nvPr/>
          </p:nvSpPr>
          <p:spPr>
            <a:xfrm>
              <a:off x="4841196" y="3118548"/>
              <a:ext cx="2827147" cy="331154"/>
            </a:xfrm>
            <a:prstGeom prst="rect">
              <a:avLst/>
            </a:prstGeom>
            <a:ln w="15875">
              <a:noFill/>
            </a:ln>
          </p:spPr>
          <p:txBody>
            <a:bodyPr wrap="square" lIns="68580" tIns="34290" rIns="68580" bIns="34290">
              <a:spAutoFit/>
            </a:bodyPr>
            <a:lstStyle/>
            <a:p>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MongoDB</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的</a:t>
              </a:r>
              <a:r>
                <a:rPr lang="zh-CN" altLang="en-US" sz="2000"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特点</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2" name="组合 71"/>
          <p:cNvGrpSpPr/>
          <p:nvPr/>
        </p:nvGrpSpPr>
        <p:grpSpPr>
          <a:xfrm>
            <a:off x="4024817" y="5614026"/>
            <a:ext cx="5142331" cy="613062"/>
            <a:chOff x="4315150" y="3730038"/>
            <a:chExt cx="3857250" cy="540057"/>
          </a:xfrm>
        </p:grpSpPr>
        <p:sp>
          <p:nvSpPr>
            <p:cNvPr id="73" name="矩形 72"/>
            <p:cNvSpPr/>
            <p:nvPr/>
          </p:nvSpPr>
          <p:spPr>
            <a:xfrm>
              <a:off x="4841197" y="3812702"/>
              <a:ext cx="2827146" cy="331154"/>
            </a:xfrm>
            <a:prstGeom prst="rect">
              <a:avLst/>
            </a:prstGeom>
            <a:ln w="15875">
              <a:noFill/>
            </a:ln>
          </p:spPr>
          <p:txBody>
            <a:bodyPr wrap="square" lIns="68580" tIns="34290" rIns="68580" bIns="34290">
              <a:spAutoFit/>
            </a:bodyPr>
            <a:lstStyle/>
            <a:p>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MongoDB</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的</a:t>
              </a:r>
              <a:r>
                <a:rPr lang="zh-CN" altLang="en-US" sz="2000"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读写流程</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74" name="平行四边形 73"/>
            <p:cNvSpPr/>
            <p:nvPr/>
          </p:nvSpPr>
          <p:spPr>
            <a:xfrm>
              <a:off x="4315150" y="3730038"/>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646331"/>
          </a:xfrm>
          <a:prstGeom prst="rect">
            <a:avLst/>
          </a:prstGeom>
          <a:noFill/>
        </p:spPr>
        <p:txBody>
          <a:bodyPr wrap="square" lIns="91443" tIns="45720" rIns="91443" bIns="45720" rtlCol="0">
            <a:spAutoFit/>
          </a:bodyPr>
          <a:lstStyle/>
          <a:p>
            <a:r>
              <a:rPr lang="en-US" altLang="zh-CN" sz="36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MongoDB</a:t>
            </a:r>
            <a:r>
              <a:rPr lang="zh-CN" altLang="en-US" sz="36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概述</a:t>
            </a:r>
            <a:endParaRPr lang="en-GB" altLang="zh-CN" sz="36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2.1</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a:extLst>
              <a:ext uri="{FF2B5EF4-FFF2-40B4-BE49-F238E27FC236}">
                <a16:creationId xmlns:a16="http://schemas.microsoft.com/office/drawing/2014/main" id="{99B92689-AAFF-4A7F-8A03-F9D0179F14B7}"/>
              </a:ext>
            </a:extLst>
          </p:cNvPr>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a:extLst>
              <a:ext uri="{FF2B5EF4-FFF2-40B4-BE49-F238E27FC236}">
                <a16:creationId xmlns:a16="http://schemas.microsoft.com/office/drawing/2014/main" id="{1BF50578-A3D5-4966-877B-63BF3427FBA3}"/>
              </a:ext>
            </a:extLst>
          </p:cNvPr>
          <p:cNvSpPr/>
          <p:nvPr/>
        </p:nvSpPr>
        <p:spPr>
          <a:xfrm>
            <a:off x="899745" y="3501802"/>
            <a:ext cx="4504046" cy="1135054"/>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了解</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概述，能够说出</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的</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发展历程</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a:extLst>
              <a:ext uri="{FF2B5EF4-FFF2-40B4-BE49-F238E27FC236}">
                <a16:creationId xmlns:a16="http://schemas.microsoft.com/office/drawing/2014/main" id="{020973F8-4621-4A07-826E-365CA6E6D17C}"/>
              </a:ext>
            </a:extLst>
          </p:cNvPr>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p>
        </p:txBody>
      </p:sp>
      <p:pic>
        <p:nvPicPr>
          <p:cNvPr id="30" name="图片 29">
            <a:extLst>
              <a:ext uri="{FF2B5EF4-FFF2-40B4-BE49-F238E27FC236}">
                <a16:creationId xmlns:a16="http://schemas.microsoft.com/office/drawing/2014/main" id="{98D55183-397A-4AF5-BF4A-88669910A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6FE4294-B35F-44FC-B82B-05D58859CC6E}"/>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概述</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22">
            <a:extLst>
              <a:ext uri="{FF2B5EF4-FFF2-40B4-BE49-F238E27FC236}">
                <a16:creationId xmlns:a16="http://schemas.microsoft.com/office/drawing/2014/main" id="{092C9588-F5CC-4EB5-ABB8-1577C2FE674C}"/>
              </a:ext>
            </a:extLst>
          </p:cNvPr>
          <p:cNvSpPr txBox="1"/>
          <p:nvPr/>
        </p:nvSpPr>
        <p:spPr>
          <a:xfrm>
            <a:off x="910630" y="981522"/>
            <a:ext cx="10585176" cy="5271764"/>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marL="342900" indent="-342900" algn="just">
              <a:lnSpc>
                <a:spcPct val="120000"/>
              </a:lnSpc>
              <a:buFont typeface="Wingdings" panose="05000000000000000000" pitchFamily="2" charset="2"/>
              <a:buChar char="Ø"/>
            </a:pPr>
            <a:r>
              <a:rPr lang="en-US" altLang="zh-CN" sz="2000" b="1" dirty="0">
                <a:solidFill>
                  <a:srgbClr val="1369B2"/>
                </a:solidFill>
                <a:latin typeface="微软雅黑" panose="020B0503020204020204" pitchFamily="34" charset="-122"/>
                <a:ea typeface="微软雅黑" panose="020B0503020204020204" pitchFamily="34" charset="-122"/>
              </a:rPr>
              <a:t>2007</a:t>
            </a:r>
            <a:r>
              <a:rPr lang="zh-CN" altLang="en-US" sz="2000" b="1" dirty="0">
                <a:solidFill>
                  <a:srgbClr val="1369B2"/>
                </a:solidFill>
                <a:latin typeface="微软雅黑" panose="020B0503020204020204" pitchFamily="34" charset="-122"/>
                <a:ea typeface="微软雅黑" panose="020B0503020204020204" pitchFamily="34" charset="-122"/>
              </a:rPr>
              <a:t>年</a:t>
            </a:r>
            <a:endParaRPr lang="en-US" altLang="zh-CN" sz="2000" b="1" dirty="0">
              <a:solidFill>
                <a:srgbClr val="1369B2"/>
              </a:solidFill>
              <a:latin typeface="微软雅黑" panose="020B0503020204020204" pitchFamily="34" charset="-122"/>
              <a:ea typeface="微软雅黑" panose="020B0503020204020204" pitchFamily="34" charset="-122"/>
            </a:endParaRPr>
          </a:p>
          <a:p>
            <a:pPr algn="just">
              <a:lnSpc>
                <a:spcPct val="120000"/>
              </a:lnSpc>
            </a:pPr>
            <a:r>
              <a:rPr lang="en-US" altLang="zh-CN" sz="1800" dirty="0">
                <a:solidFill>
                  <a:srgbClr val="595959"/>
                </a:solidFill>
                <a:latin typeface="微软雅黑" panose="020B0503020204020204" pitchFamily="34" charset="-122"/>
                <a:ea typeface="微软雅黑" panose="020B0503020204020204" pitchFamily="34" charset="-122"/>
              </a:rPr>
              <a:t>MongoDB</a:t>
            </a:r>
            <a:r>
              <a:rPr lang="zh-CN" altLang="en-US" sz="1800" dirty="0">
                <a:solidFill>
                  <a:srgbClr val="595959"/>
                </a:solidFill>
                <a:latin typeface="微软雅黑" panose="020B0503020204020204" pitchFamily="34" charset="-122"/>
                <a:ea typeface="微软雅黑" panose="020B0503020204020204" pitchFamily="34" charset="-122"/>
              </a:rPr>
              <a:t>诞生源于</a:t>
            </a:r>
            <a:r>
              <a:rPr lang="en-US" altLang="zh-CN" sz="1800" dirty="0">
                <a:solidFill>
                  <a:srgbClr val="1369B2"/>
                </a:solidFill>
                <a:latin typeface="微软雅黑" panose="020B0503020204020204" pitchFamily="34" charset="-122"/>
                <a:ea typeface="微软雅黑" panose="020B0503020204020204" pitchFamily="34" charset="-122"/>
              </a:rPr>
              <a:t>10gen</a:t>
            </a:r>
            <a:r>
              <a:rPr lang="zh-CN" altLang="en-US" sz="1800" dirty="0">
                <a:solidFill>
                  <a:srgbClr val="595959"/>
                </a:solidFill>
                <a:latin typeface="微软雅黑" panose="020B0503020204020204" pitchFamily="34" charset="-122"/>
                <a:ea typeface="微软雅黑" panose="020B0503020204020204" pitchFamily="34" charset="-122"/>
              </a:rPr>
              <a:t>公司开发云计算平台时遇到的挑战。</a:t>
            </a:r>
            <a:endParaRPr lang="en-US" altLang="zh-CN" sz="1800" dirty="0">
              <a:solidFill>
                <a:srgbClr val="595959"/>
              </a:solidFill>
              <a:latin typeface="微软雅黑" panose="020B0503020204020204" pitchFamily="34" charset="-122"/>
              <a:ea typeface="微软雅黑" panose="020B0503020204020204" pitchFamily="34" charset="-122"/>
            </a:endParaRPr>
          </a:p>
          <a:p>
            <a:pPr marL="342900" indent="-342900" algn="just">
              <a:lnSpc>
                <a:spcPct val="120000"/>
              </a:lnSpc>
              <a:buFont typeface="Wingdings" panose="05000000000000000000" pitchFamily="2" charset="2"/>
              <a:buChar char="Ø"/>
            </a:pPr>
            <a:r>
              <a:rPr lang="en-US" altLang="zh-CN" sz="2000" b="1" dirty="0">
                <a:solidFill>
                  <a:srgbClr val="1369B2"/>
                </a:solidFill>
                <a:latin typeface="微软雅黑" panose="020B0503020204020204" pitchFamily="34" charset="-122"/>
                <a:ea typeface="微软雅黑" panose="020B0503020204020204" pitchFamily="34" charset="-122"/>
              </a:rPr>
              <a:t>2009</a:t>
            </a:r>
            <a:r>
              <a:rPr lang="zh-CN" altLang="en-US" sz="2000" b="1" dirty="0">
                <a:solidFill>
                  <a:srgbClr val="1369B2"/>
                </a:solidFill>
                <a:latin typeface="微软雅黑" panose="020B0503020204020204" pitchFamily="34" charset="-122"/>
                <a:ea typeface="微软雅黑" panose="020B0503020204020204" pitchFamily="34" charset="-122"/>
              </a:rPr>
              <a:t>年</a:t>
            </a:r>
            <a:endParaRPr lang="en-US" altLang="zh-CN" sz="2000" b="1" dirty="0">
              <a:solidFill>
                <a:srgbClr val="1369B2"/>
              </a:solidFill>
              <a:latin typeface="微软雅黑" panose="020B0503020204020204" pitchFamily="34" charset="-122"/>
              <a:ea typeface="微软雅黑" panose="020B0503020204020204" pitchFamily="34" charset="-122"/>
            </a:endParaRPr>
          </a:p>
          <a:p>
            <a:pPr algn="just">
              <a:lnSpc>
                <a:spcPct val="120000"/>
              </a:lnSpc>
            </a:pPr>
            <a:r>
              <a:rPr lang="en-US" altLang="zh-CN" sz="1800" dirty="0">
                <a:solidFill>
                  <a:srgbClr val="595959"/>
                </a:solidFill>
                <a:latin typeface="微软雅黑" panose="020B0503020204020204" pitchFamily="34" charset="-122"/>
                <a:ea typeface="微软雅黑" panose="020B0503020204020204" pitchFamily="34" charset="-122"/>
              </a:rPr>
              <a:t>MongoDB</a:t>
            </a:r>
            <a:r>
              <a:rPr lang="zh-CN" altLang="en-US" sz="1800" dirty="0">
                <a:solidFill>
                  <a:srgbClr val="595959"/>
                </a:solidFill>
                <a:latin typeface="微软雅黑" panose="020B0503020204020204" pitchFamily="34" charset="-122"/>
                <a:ea typeface="微软雅黑" panose="020B0503020204020204" pitchFamily="34" charset="-122"/>
              </a:rPr>
              <a:t>于</a:t>
            </a:r>
            <a:r>
              <a:rPr lang="en-US" altLang="zh-CN" sz="1800" dirty="0">
                <a:solidFill>
                  <a:srgbClr val="595959"/>
                </a:solidFill>
                <a:latin typeface="微软雅黑" panose="020B0503020204020204" pitchFamily="34" charset="-122"/>
                <a:ea typeface="微软雅黑" panose="020B0503020204020204" pitchFamily="34" charset="-122"/>
              </a:rPr>
              <a:t>2009</a:t>
            </a:r>
            <a:r>
              <a:rPr lang="zh-CN" altLang="en-US" sz="1800" dirty="0">
                <a:solidFill>
                  <a:srgbClr val="595959"/>
                </a:solidFill>
                <a:latin typeface="微软雅黑" panose="020B0503020204020204" pitchFamily="34" charset="-122"/>
                <a:ea typeface="微软雅黑" panose="020B0503020204020204" pitchFamily="34" charset="-122"/>
              </a:rPr>
              <a:t>年作为一个</a:t>
            </a:r>
            <a:r>
              <a:rPr lang="zh-CN" altLang="en-US" sz="1800" dirty="0">
                <a:solidFill>
                  <a:srgbClr val="1369B2"/>
                </a:solidFill>
                <a:latin typeface="微软雅黑" panose="020B0503020204020204" pitchFamily="34" charset="-122"/>
                <a:ea typeface="微软雅黑" panose="020B0503020204020204" pitchFamily="34" charset="-122"/>
              </a:rPr>
              <a:t>开源项目</a:t>
            </a:r>
            <a:r>
              <a:rPr lang="zh-CN" altLang="en-US" sz="1800" dirty="0">
                <a:solidFill>
                  <a:srgbClr val="595959"/>
                </a:solidFill>
                <a:latin typeface="微软雅黑" panose="020B0503020204020204" pitchFamily="34" charset="-122"/>
                <a:ea typeface="微软雅黑" panose="020B0503020204020204" pitchFamily="34" charset="-122"/>
              </a:rPr>
              <a:t>正式发布。</a:t>
            </a:r>
            <a:endParaRPr lang="en-US" altLang="zh-CN" sz="1800" dirty="0">
              <a:solidFill>
                <a:srgbClr val="595959"/>
              </a:solidFill>
              <a:latin typeface="微软雅黑" panose="020B0503020204020204" pitchFamily="34" charset="-122"/>
              <a:ea typeface="微软雅黑" panose="020B0503020204020204" pitchFamily="34" charset="-122"/>
            </a:endParaRPr>
          </a:p>
          <a:p>
            <a:pPr marL="342900" indent="-342900" algn="just">
              <a:lnSpc>
                <a:spcPct val="120000"/>
              </a:lnSpc>
              <a:buFont typeface="Wingdings" panose="05000000000000000000" pitchFamily="2" charset="2"/>
              <a:buChar char="Ø"/>
            </a:pPr>
            <a:r>
              <a:rPr lang="en-US" altLang="zh-CN" sz="2000" b="1" dirty="0">
                <a:solidFill>
                  <a:srgbClr val="1369B2"/>
                </a:solidFill>
                <a:latin typeface="微软雅黑" panose="020B0503020204020204" pitchFamily="34" charset="-122"/>
                <a:ea typeface="微软雅黑" panose="020B0503020204020204" pitchFamily="34" charset="-122"/>
              </a:rPr>
              <a:t>2010</a:t>
            </a:r>
            <a:r>
              <a:rPr lang="zh-CN" altLang="en-US" sz="2000" b="1" dirty="0">
                <a:solidFill>
                  <a:srgbClr val="1369B2"/>
                </a:solidFill>
                <a:latin typeface="微软雅黑" panose="020B0503020204020204" pitchFamily="34" charset="-122"/>
                <a:ea typeface="微软雅黑" panose="020B0503020204020204" pitchFamily="34" charset="-122"/>
              </a:rPr>
              <a:t>年至</a:t>
            </a:r>
            <a:r>
              <a:rPr lang="en-US" altLang="zh-CN" sz="2000" b="1" dirty="0">
                <a:solidFill>
                  <a:srgbClr val="1369B2"/>
                </a:solidFill>
                <a:latin typeface="微软雅黑" panose="020B0503020204020204" pitchFamily="34" charset="-122"/>
                <a:ea typeface="微软雅黑" panose="020B0503020204020204" pitchFamily="34" charset="-122"/>
              </a:rPr>
              <a:t>2012</a:t>
            </a:r>
            <a:r>
              <a:rPr lang="zh-CN" altLang="en-US" sz="2000" b="1" dirty="0">
                <a:solidFill>
                  <a:srgbClr val="1369B2"/>
                </a:solidFill>
                <a:latin typeface="微软雅黑" panose="020B0503020204020204" pitchFamily="34" charset="-122"/>
                <a:ea typeface="微软雅黑" panose="020B0503020204020204" pitchFamily="34" charset="-122"/>
              </a:rPr>
              <a:t>年间</a:t>
            </a:r>
            <a:endParaRPr lang="en-US" altLang="zh-CN" sz="2000" b="1" dirty="0">
              <a:solidFill>
                <a:srgbClr val="1369B2"/>
              </a:solidFill>
              <a:latin typeface="微软雅黑" panose="020B0503020204020204" pitchFamily="34" charset="-122"/>
              <a:ea typeface="微软雅黑" panose="020B0503020204020204" pitchFamily="34" charset="-122"/>
            </a:endParaRPr>
          </a:p>
          <a:p>
            <a:pPr algn="just">
              <a:lnSpc>
                <a:spcPct val="120000"/>
              </a:lnSpc>
            </a:pPr>
            <a:r>
              <a:rPr lang="en-US" altLang="zh-CN" sz="1800" dirty="0">
                <a:solidFill>
                  <a:srgbClr val="595959"/>
                </a:solidFill>
                <a:latin typeface="微软雅黑" panose="020B0503020204020204" pitchFamily="34" charset="-122"/>
                <a:ea typeface="微软雅黑" panose="020B0503020204020204" pitchFamily="34" charset="-122"/>
              </a:rPr>
              <a:t>MongoDB</a:t>
            </a:r>
            <a:r>
              <a:rPr lang="zh-CN" altLang="en-US" sz="1800" dirty="0">
                <a:solidFill>
                  <a:srgbClr val="595959"/>
                </a:solidFill>
                <a:latin typeface="微软雅黑" panose="020B0503020204020204" pitchFamily="34" charset="-122"/>
                <a:ea typeface="微软雅黑" panose="020B0503020204020204" pitchFamily="34" charset="-122"/>
              </a:rPr>
              <a:t>陆续增加了</a:t>
            </a:r>
            <a:r>
              <a:rPr lang="zh-CN" altLang="en-US" sz="1800" dirty="0">
                <a:solidFill>
                  <a:srgbClr val="1369B2"/>
                </a:solidFill>
                <a:latin typeface="微软雅黑" panose="020B0503020204020204" pitchFamily="34" charset="-122"/>
                <a:ea typeface="微软雅黑" panose="020B0503020204020204" pitchFamily="34" charset="-122"/>
              </a:rPr>
              <a:t>副本集</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1369B2"/>
                </a:solidFill>
                <a:latin typeface="微软雅黑" panose="020B0503020204020204" pitchFamily="34" charset="-122"/>
                <a:ea typeface="微软雅黑" panose="020B0503020204020204" pitchFamily="34" charset="-122"/>
              </a:rPr>
              <a:t>自动分片</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1369B2"/>
                </a:solidFill>
                <a:latin typeface="微软雅黑" panose="020B0503020204020204" pitchFamily="34" charset="-122"/>
                <a:ea typeface="微软雅黑" panose="020B0503020204020204" pitchFamily="34" charset="-122"/>
              </a:rPr>
              <a:t>聚合框架</a:t>
            </a:r>
            <a:r>
              <a:rPr lang="zh-CN" altLang="en-US" sz="1800" dirty="0">
                <a:solidFill>
                  <a:srgbClr val="595959"/>
                </a:solidFill>
                <a:latin typeface="微软雅黑" panose="020B0503020204020204" pitchFamily="34" charset="-122"/>
                <a:ea typeface="微软雅黑" panose="020B0503020204020204" pitchFamily="34" charset="-122"/>
              </a:rPr>
              <a:t>等重要功能，显著增强了其</a:t>
            </a:r>
            <a:r>
              <a:rPr lang="zh-CN" altLang="en-US" sz="1800" dirty="0">
                <a:solidFill>
                  <a:srgbClr val="1369B2"/>
                </a:solidFill>
                <a:latin typeface="微软雅黑" panose="020B0503020204020204" pitchFamily="34" charset="-122"/>
                <a:ea typeface="微软雅黑" panose="020B0503020204020204" pitchFamily="34" charset="-122"/>
              </a:rPr>
              <a:t>分布式存储</a:t>
            </a:r>
            <a:r>
              <a:rPr lang="zh-CN" altLang="en-US" sz="1800" dirty="0">
                <a:solidFill>
                  <a:srgbClr val="595959"/>
                </a:solidFill>
                <a:latin typeface="微软雅黑" panose="020B0503020204020204" pitchFamily="34" charset="-122"/>
                <a:ea typeface="微软雅黑" panose="020B0503020204020204" pitchFamily="34" charset="-122"/>
              </a:rPr>
              <a:t>和</a:t>
            </a:r>
            <a:r>
              <a:rPr lang="zh-CN" altLang="en-US" sz="1800" dirty="0">
                <a:solidFill>
                  <a:srgbClr val="1369B2"/>
                </a:solidFill>
                <a:latin typeface="微软雅黑" panose="020B0503020204020204" pitchFamily="34" charset="-122"/>
                <a:ea typeface="微软雅黑" panose="020B0503020204020204" pitchFamily="34" charset="-122"/>
              </a:rPr>
              <a:t>高可用性</a:t>
            </a:r>
            <a:r>
              <a:rPr lang="zh-CN" altLang="en-US" sz="1800" dirty="0">
                <a:solidFill>
                  <a:srgbClr val="595959"/>
                </a:solidFill>
                <a:latin typeface="微软雅黑" panose="020B0503020204020204" pitchFamily="34" charset="-122"/>
                <a:ea typeface="微软雅黑" panose="020B0503020204020204" pitchFamily="34" charset="-122"/>
              </a:rPr>
              <a:t>，使其能够支持更大规模的数据和更复杂的应用场景。</a:t>
            </a:r>
            <a:endParaRPr lang="en-US" altLang="zh-CN" sz="1800" dirty="0">
              <a:solidFill>
                <a:srgbClr val="595959"/>
              </a:solidFill>
              <a:latin typeface="微软雅黑" panose="020B0503020204020204" pitchFamily="34" charset="-122"/>
              <a:ea typeface="微软雅黑" panose="020B0503020204020204" pitchFamily="34" charset="-122"/>
            </a:endParaRPr>
          </a:p>
          <a:p>
            <a:pPr marL="342900" indent="-342900" algn="just">
              <a:lnSpc>
                <a:spcPct val="120000"/>
              </a:lnSpc>
              <a:buFont typeface="Wingdings" panose="05000000000000000000" pitchFamily="2" charset="2"/>
              <a:buChar char="Ø"/>
            </a:pPr>
            <a:r>
              <a:rPr lang="en-US" altLang="zh-CN" sz="2000" b="1" dirty="0">
                <a:solidFill>
                  <a:srgbClr val="1369B2"/>
                </a:solidFill>
                <a:latin typeface="微软雅黑" panose="020B0503020204020204" pitchFamily="34" charset="-122"/>
                <a:ea typeface="微软雅黑" panose="020B0503020204020204" pitchFamily="34" charset="-122"/>
              </a:rPr>
              <a:t>2013</a:t>
            </a:r>
            <a:r>
              <a:rPr lang="zh-CN" altLang="en-US" sz="2000" b="1" dirty="0">
                <a:solidFill>
                  <a:srgbClr val="1369B2"/>
                </a:solidFill>
                <a:latin typeface="微软雅黑" panose="020B0503020204020204" pitchFamily="34" charset="-122"/>
                <a:ea typeface="微软雅黑" panose="020B0503020204020204" pitchFamily="34" charset="-122"/>
              </a:rPr>
              <a:t>年</a:t>
            </a:r>
            <a:endParaRPr lang="en-US" altLang="zh-CN" sz="2000" b="1" dirty="0">
              <a:solidFill>
                <a:srgbClr val="1369B2"/>
              </a:solidFill>
              <a:latin typeface="微软雅黑" panose="020B0503020204020204" pitchFamily="34" charset="-122"/>
              <a:ea typeface="微软雅黑" panose="020B0503020204020204" pitchFamily="34" charset="-122"/>
            </a:endParaRPr>
          </a:p>
          <a:p>
            <a:pPr algn="just">
              <a:lnSpc>
                <a:spcPct val="120000"/>
              </a:lnSpc>
            </a:pPr>
            <a:r>
              <a:rPr lang="zh-CN" altLang="en-US" sz="1800" dirty="0">
                <a:solidFill>
                  <a:srgbClr val="595959"/>
                </a:solidFill>
                <a:latin typeface="微软雅黑" panose="020B0503020204020204" pitchFamily="34" charset="-122"/>
                <a:ea typeface="微软雅黑" panose="020B0503020204020204" pitchFamily="34" charset="-122"/>
              </a:rPr>
              <a:t>正式推出了</a:t>
            </a:r>
            <a:r>
              <a:rPr lang="en-US" altLang="zh-CN" sz="1800" dirty="0">
                <a:solidFill>
                  <a:srgbClr val="1369B2"/>
                </a:solidFill>
                <a:latin typeface="微软雅黑" panose="020B0503020204020204" pitchFamily="34" charset="-122"/>
                <a:ea typeface="微软雅黑" panose="020B0503020204020204" pitchFamily="34" charset="-122"/>
              </a:rPr>
              <a:t>MongoDB Enterprise</a:t>
            </a:r>
            <a:r>
              <a:rPr lang="zh-CN" altLang="en-US" sz="1800" dirty="0">
                <a:solidFill>
                  <a:srgbClr val="595959"/>
                </a:solidFill>
                <a:latin typeface="微软雅黑" panose="020B0503020204020204" pitchFamily="34" charset="-122"/>
                <a:ea typeface="微软雅黑" panose="020B0503020204020204" pitchFamily="34" charset="-122"/>
              </a:rPr>
              <a:t>（企业版）。</a:t>
            </a:r>
            <a:endParaRPr lang="en-US" altLang="zh-CN" sz="1800" dirty="0">
              <a:solidFill>
                <a:srgbClr val="595959"/>
              </a:solidFill>
              <a:latin typeface="微软雅黑" panose="020B0503020204020204" pitchFamily="34" charset="-122"/>
              <a:ea typeface="微软雅黑" panose="020B0503020204020204" pitchFamily="34" charset="-122"/>
            </a:endParaRPr>
          </a:p>
          <a:p>
            <a:pPr marL="342900" indent="-342900" algn="just">
              <a:lnSpc>
                <a:spcPct val="120000"/>
              </a:lnSpc>
              <a:buFont typeface="Wingdings" panose="05000000000000000000" pitchFamily="2" charset="2"/>
              <a:buChar char="Ø"/>
            </a:pPr>
            <a:r>
              <a:rPr lang="en-US" altLang="zh-CN" sz="2000" b="1" dirty="0">
                <a:solidFill>
                  <a:srgbClr val="1369B2"/>
                </a:solidFill>
                <a:latin typeface="微软雅黑" panose="020B0503020204020204" pitchFamily="34" charset="-122"/>
                <a:ea typeface="微软雅黑" panose="020B0503020204020204" pitchFamily="34" charset="-122"/>
              </a:rPr>
              <a:t>2015</a:t>
            </a:r>
            <a:r>
              <a:rPr lang="zh-CN" altLang="en-US" sz="2000" b="1" dirty="0">
                <a:solidFill>
                  <a:srgbClr val="1369B2"/>
                </a:solidFill>
                <a:latin typeface="微软雅黑" panose="020B0503020204020204" pitchFamily="34" charset="-122"/>
                <a:ea typeface="微软雅黑" panose="020B0503020204020204" pitchFamily="34" charset="-122"/>
              </a:rPr>
              <a:t>年</a:t>
            </a:r>
            <a:endParaRPr lang="en-US" altLang="zh-CN" sz="2000" b="1" dirty="0">
              <a:solidFill>
                <a:srgbClr val="1369B2"/>
              </a:solidFill>
              <a:latin typeface="微软雅黑" panose="020B0503020204020204" pitchFamily="34" charset="-122"/>
              <a:ea typeface="微软雅黑" panose="020B0503020204020204" pitchFamily="34" charset="-122"/>
            </a:endParaRPr>
          </a:p>
          <a:p>
            <a:pPr algn="just">
              <a:lnSpc>
                <a:spcPct val="120000"/>
              </a:lnSpc>
            </a:pPr>
            <a:r>
              <a:rPr lang="en-US" altLang="zh-CN" sz="1800" dirty="0">
                <a:solidFill>
                  <a:srgbClr val="595959"/>
                </a:solidFill>
                <a:latin typeface="微软雅黑" panose="020B0503020204020204" pitchFamily="34" charset="-122"/>
                <a:ea typeface="微软雅黑" panose="020B0503020204020204" pitchFamily="34" charset="-122"/>
              </a:rPr>
              <a:t>MongoDB</a:t>
            </a:r>
            <a:r>
              <a:rPr lang="zh-CN" altLang="en-US" sz="1800" dirty="0">
                <a:solidFill>
                  <a:srgbClr val="595959"/>
                </a:solidFill>
                <a:latin typeface="微软雅黑" panose="020B0503020204020204" pitchFamily="34" charset="-122"/>
                <a:ea typeface="微软雅黑" panose="020B0503020204020204" pitchFamily="34" charset="-122"/>
              </a:rPr>
              <a:t>发布了</a:t>
            </a:r>
            <a:r>
              <a:rPr lang="en-US" altLang="zh-CN" sz="1800" dirty="0">
                <a:solidFill>
                  <a:srgbClr val="1369B2"/>
                </a:solidFill>
                <a:latin typeface="微软雅黑" panose="020B0503020204020204" pitchFamily="34" charset="-122"/>
                <a:ea typeface="微软雅黑" panose="020B0503020204020204" pitchFamily="34" charset="-122"/>
              </a:rPr>
              <a:t>3.0</a:t>
            </a:r>
            <a:r>
              <a:rPr lang="zh-CN" altLang="en-US" sz="1800" dirty="0">
                <a:solidFill>
                  <a:srgbClr val="1369B2"/>
                </a:solidFill>
                <a:latin typeface="微软雅黑" panose="020B0503020204020204" pitchFamily="34" charset="-122"/>
                <a:ea typeface="微软雅黑" panose="020B0503020204020204" pitchFamily="34" charset="-122"/>
              </a:rPr>
              <a:t>版本</a:t>
            </a:r>
            <a:r>
              <a:rPr lang="zh-CN" altLang="en-US" sz="1800" dirty="0">
                <a:solidFill>
                  <a:srgbClr val="595959"/>
                </a:solidFill>
                <a:latin typeface="微软雅黑" panose="020B0503020204020204" pitchFamily="34" charset="-122"/>
                <a:ea typeface="微软雅黑" panose="020B0503020204020204" pitchFamily="34" charset="-122"/>
              </a:rPr>
              <a:t>，引入了</a:t>
            </a:r>
            <a:r>
              <a:rPr lang="en-US" altLang="zh-CN" sz="1800" dirty="0" err="1">
                <a:solidFill>
                  <a:srgbClr val="595959"/>
                </a:solidFill>
                <a:latin typeface="微软雅黑" panose="020B0503020204020204" pitchFamily="34" charset="-122"/>
                <a:ea typeface="微软雅黑" panose="020B0503020204020204" pitchFamily="34" charset="-122"/>
              </a:rPr>
              <a:t>WiredTiger</a:t>
            </a:r>
            <a:r>
              <a:rPr lang="zh-CN" altLang="en-US" sz="1800" dirty="0">
                <a:solidFill>
                  <a:srgbClr val="595959"/>
                </a:solidFill>
                <a:latin typeface="微软雅黑" panose="020B0503020204020204" pitchFamily="34" charset="-122"/>
                <a:ea typeface="微软雅黑" panose="020B0503020204020204" pitchFamily="34" charset="-122"/>
              </a:rPr>
              <a:t>存储引擎。</a:t>
            </a:r>
            <a:endParaRPr lang="en-US" altLang="zh-CN" sz="1800" dirty="0">
              <a:solidFill>
                <a:srgbClr val="595959"/>
              </a:solidFill>
              <a:latin typeface="微软雅黑" panose="020B0503020204020204" pitchFamily="34" charset="-122"/>
              <a:ea typeface="微软雅黑" panose="020B0503020204020204" pitchFamily="34" charset="-122"/>
            </a:endParaRPr>
          </a:p>
          <a:p>
            <a:pPr marL="342900" indent="-342900" algn="just">
              <a:lnSpc>
                <a:spcPct val="120000"/>
              </a:lnSpc>
              <a:buFont typeface="Wingdings" panose="05000000000000000000" pitchFamily="2" charset="2"/>
              <a:buChar char="Ø"/>
            </a:pPr>
            <a:r>
              <a:rPr lang="en-US" altLang="zh-CN" sz="2000" b="1" dirty="0">
                <a:solidFill>
                  <a:srgbClr val="1369B2"/>
                </a:solidFill>
                <a:latin typeface="微软雅黑" panose="020B0503020204020204" pitchFamily="34" charset="-122"/>
                <a:ea typeface="微软雅黑" panose="020B0503020204020204" pitchFamily="34" charset="-122"/>
              </a:rPr>
              <a:t>2016</a:t>
            </a:r>
            <a:r>
              <a:rPr lang="zh-CN" altLang="en-US" sz="2000" b="1" dirty="0">
                <a:solidFill>
                  <a:srgbClr val="1369B2"/>
                </a:solidFill>
                <a:latin typeface="微软雅黑" panose="020B0503020204020204" pitchFamily="34" charset="-122"/>
                <a:ea typeface="微软雅黑" panose="020B0503020204020204" pitchFamily="34" charset="-122"/>
              </a:rPr>
              <a:t>年</a:t>
            </a:r>
            <a:endParaRPr lang="en-US" altLang="zh-CN" sz="2000" b="1" dirty="0">
              <a:solidFill>
                <a:srgbClr val="1369B2"/>
              </a:solidFill>
              <a:latin typeface="微软雅黑" panose="020B0503020204020204" pitchFamily="34" charset="-122"/>
              <a:ea typeface="微软雅黑" panose="020B0503020204020204" pitchFamily="34" charset="-122"/>
            </a:endParaRPr>
          </a:p>
          <a:p>
            <a:pPr algn="just">
              <a:lnSpc>
                <a:spcPct val="120000"/>
              </a:lnSpc>
            </a:pPr>
            <a:r>
              <a:rPr lang="en-US" altLang="zh-CN" sz="1800" dirty="0">
                <a:solidFill>
                  <a:srgbClr val="595959"/>
                </a:solidFill>
                <a:latin typeface="微软雅黑" panose="020B0503020204020204" pitchFamily="34" charset="-122"/>
                <a:ea typeface="微软雅黑" panose="020B0503020204020204" pitchFamily="34" charset="-122"/>
              </a:rPr>
              <a:t>MongoDB</a:t>
            </a:r>
            <a:r>
              <a:rPr lang="zh-CN" altLang="en-US" sz="1800" dirty="0">
                <a:solidFill>
                  <a:srgbClr val="595959"/>
                </a:solidFill>
                <a:latin typeface="微软雅黑" panose="020B0503020204020204" pitchFamily="34" charset="-122"/>
                <a:ea typeface="微软雅黑" panose="020B0503020204020204" pitchFamily="34" charset="-122"/>
              </a:rPr>
              <a:t>推出了全托管的</a:t>
            </a:r>
            <a:r>
              <a:rPr lang="zh-CN" altLang="en-US" sz="1800" dirty="0">
                <a:solidFill>
                  <a:srgbClr val="1369B2"/>
                </a:solidFill>
                <a:latin typeface="微软雅黑" panose="020B0503020204020204" pitchFamily="34" charset="-122"/>
                <a:ea typeface="微软雅黑" panose="020B0503020204020204" pitchFamily="34" charset="-122"/>
              </a:rPr>
              <a:t>云数据库服务</a:t>
            </a:r>
            <a:r>
              <a:rPr lang="en-US" altLang="zh-CN" sz="1800" dirty="0">
                <a:solidFill>
                  <a:srgbClr val="595959"/>
                </a:solidFill>
                <a:latin typeface="微软雅黑" panose="020B0503020204020204" pitchFamily="34" charset="-122"/>
                <a:ea typeface="微软雅黑" panose="020B0503020204020204" pitchFamily="34" charset="-122"/>
              </a:rPr>
              <a:t>MongoDB Atlas</a:t>
            </a:r>
            <a:r>
              <a:rPr lang="zh-CN" altLang="en-US" sz="1800" dirty="0">
                <a:solidFill>
                  <a:srgbClr val="595959"/>
                </a:solidFill>
                <a:latin typeface="微软雅黑" panose="020B0503020204020204" pitchFamily="34" charset="-122"/>
                <a:ea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endParaRPr>
          </a:p>
          <a:p>
            <a:pPr marL="342900" indent="-342900" algn="just">
              <a:lnSpc>
                <a:spcPct val="120000"/>
              </a:lnSpc>
              <a:buFont typeface="Wingdings" panose="05000000000000000000" pitchFamily="2" charset="2"/>
              <a:buChar char="Ø"/>
            </a:pPr>
            <a:r>
              <a:rPr lang="en-US" altLang="zh-CN" sz="2000" b="1" dirty="0">
                <a:solidFill>
                  <a:srgbClr val="1369B2"/>
                </a:solidFill>
                <a:latin typeface="微软雅黑" panose="020B0503020204020204" pitchFamily="34" charset="-122"/>
                <a:ea typeface="微软雅黑" panose="020B0503020204020204" pitchFamily="34" charset="-122"/>
              </a:rPr>
              <a:t>2018</a:t>
            </a:r>
            <a:r>
              <a:rPr lang="zh-CN" altLang="en-US" sz="2000" b="1" dirty="0">
                <a:solidFill>
                  <a:srgbClr val="1369B2"/>
                </a:solidFill>
                <a:latin typeface="微软雅黑" panose="020B0503020204020204" pitchFamily="34" charset="-122"/>
                <a:ea typeface="微软雅黑" panose="020B0503020204020204" pitchFamily="34" charset="-122"/>
              </a:rPr>
              <a:t>年</a:t>
            </a:r>
            <a:endParaRPr lang="en-US" altLang="zh-CN" sz="2000" b="1" dirty="0">
              <a:solidFill>
                <a:srgbClr val="1369B2"/>
              </a:solidFill>
              <a:latin typeface="微软雅黑" panose="020B0503020204020204" pitchFamily="34" charset="-122"/>
              <a:ea typeface="微软雅黑" panose="020B0503020204020204" pitchFamily="34" charset="-122"/>
            </a:endParaRPr>
          </a:p>
          <a:p>
            <a:pPr algn="just">
              <a:lnSpc>
                <a:spcPct val="120000"/>
              </a:lnSpc>
            </a:pPr>
            <a:r>
              <a:rPr lang="en-US" altLang="zh-CN" sz="1800" dirty="0">
                <a:solidFill>
                  <a:srgbClr val="595959"/>
                </a:solidFill>
                <a:latin typeface="微软雅黑" panose="020B0503020204020204" pitchFamily="34" charset="-122"/>
                <a:ea typeface="微软雅黑" panose="020B0503020204020204" pitchFamily="34" charset="-122"/>
              </a:rPr>
              <a:t>MongoDB 4.0</a:t>
            </a:r>
            <a:r>
              <a:rPr lang="zh-CN" altLang="en-US" sz="1800" dirty="0">
                <a:solidFill>
                  <a:srgbClr val="595959"/>
                </a:solidFill>
                <a:latin typeface="微软雅黑" panose="020B0503020204020204" pitchFamily="34" charset="-122"/>
                <a:ea typeface="微软雅黑" panose="020B0503020204020204" pitchFamily="34" charset="-122"/>
              </a:rPr>
              <a:t>版本正式引入了</a:t>
            </a:r>
            <a:r>
              <a:rPr lang="zh-CN" altLang="en-US" sz="1800" dirty="0">
                <a:solidFill>
                  <a:srgbClr val="1369B2"/>
                </a:solidFill>
                <a:latin typeface="微软雅黑" panose="020B0503020204020204" pitchFamily="34" charset="-122"/>
                <a:ea typeface="微软雅黑" panose="020B0503020204020204" pitchFamily="34" charset="-122"/>
              </a:rPr>
              <a:t>多文档事务支持</a:t>
            </a:r>
            <a:r>
              <a:rPr lang="zh-CN" altLang="en-US" sz="1800" dirty="0">
                <a:solidFill>
                  <a:srgbClr val="595959"/>
                </a:solidFill>
                <a:latin typeface="微软雅黑" panose="020B0503020204020204" pitchFamily="34" charset="-122"/>
                <a:ea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原创设计师QQ598969553          _3">
            <a:extLst>
              <a:ext uri="{FF2B5EF4-FFF2-40B4-BE49-F238E27FC236}">
                <a16:creationId xmlns:a16="http://schemas.microsoft.com/office/drawing/2014/main" id="{99B92689-AAFF-4A7F-8A03-F9D0179F14B7}"/>
              </a:ext>
            </a:extLst>
          </p:cNvPr>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a:extLst>
              <a:ext uri="{FF2B5EF4-FFF2-40B4-BE49-F238E27FC236}">
                <a16:creationId xmlns:a16="http://schemas.microsoft.com/office/drawing/2014/main" id="{1BF50578-A3D5-4966-877B-63BF3427FBA3}"/>
              </a:ext>
            </a:extLst>
          </p:cNvPr>
          <p:cNvSpPr/>
          <p:nvPr/>
        </p:nvSpPr>
        <p:spPr>
          <a:xfrm>
            <a:off x="899745" y="3501802"/>
            <a:ext cx="4504046" cy="1135054"/>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掌握</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逻辑结构，能够叙述</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数据库</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集合</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和</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文档</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的作用。</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a:extLst>
              <a:ext uri="{FF2B5EF4-FFF2-40B4-BE49-F238E27FC236}">
                <a16:creationId xmlns:a16="http://schemas.microsoft.com/office/drawing/2014/main" id="{020973F8-4621-4A07-826E-365CA6E6D17C}"/>
              </a:ext>
            </a:extLst>
          </p:cNvPr>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p>
        </p:txBody>
      </p:sp>
      <p:pic>
        <p:nvPicPr>
          <p:cNvPr id="30" name="图片 29">
            <a:extLst>
              <a:ext uri="{FF2B5EF4-FFF2-40B4-BE49-F238E27FC236}">
                <a16:creationId xmlns:a16="http://schemas.microsoft.com/office/drawing/2014/main" id="{98D55183-397A-4AF5-BF4A-88669910A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
        <p:nvSpPr>
          <p:cNvPr id="7" name="Title 1">
            <a:extLst>
              <a:ext uri="{FF2B5EF4-FFF2-40B4-BE49-F238E27FC236}">
                <a16:creationId xmlns:a16="http://schemas.microsoft.com/office/drawing/2014/main" id="{5AF25427-D42D-444B-8556-5D871A080206}"/>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的逻辑结构</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98654231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原创设计师QQ598969553          _4">
            <a:extLst>
              <a:ext uri="{FF2B5EF4-FFF2-40B4-BE49-F238E27FC236}">
                <a16:creationId xmlns:a16="http://schemas.microsoft.com/office/drawing/2014/main" id="{1BF50578-A3D5-4966-877B-63BF3427FBA3}"/>
              </a:ext>
            </a:extLst>
          </p:cNvPr>
          <p:cNvSpPr/>
          <p:nvPr/>
        </p:nvSpPr>
        <p:spPr>
          <a:xfrm>
            <a:off x="910630" y="981522"/>
            <a:ext cx="9803973" cy="961289"/>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的逻辑结构是其数据组织形式的一种体现，呈现为一种层次结构，主要由</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文档（</a:t>
            </a:r>
            <a:r>
              <a:rPr lang="en-US" altLang="zh-CN" sz="2000" dirty="0">
                <a:solidFill>
                  <a:srgbClr val="1369B2"/>
                </a:solidFill>
                <a:latin typeface="微软雅黑" panose="020B0503020204020204" pitchFamily="34" charset="-122"/>
                <a:ea typeface="微软雅黑" panose="020B0503020204020204" pitchFamily="34" charset="-122"/>
                <a:cs typeface="+mn-ea"/>
                <a:sym typeface="+mn-lt"/>
              </a:rPr>
              <a:t>Document</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集合（</a:t>
            </a:r>
            <a:r>
              <a:rPr lang="en-US" altLang="zh-CN" sz="2000" dirty="0">
                <a:solidFill>
                  <a:srgbClr val="1369B2"/>
                </a:solidFill>
                <a:latin typeface="微软雅黑" panose="020B0503020204020204" pitchFamily="34" charset="-122"/>
                <a:ea typeface="微软雅黑" panose="020B0503020204020204" pitchFamily="34" charset="-122"/>
                <a:cs typeface="+mn-ea"/>
                <a:sym typeface="+mn-lt"/>
              </a:rPr>
              <a:t>Collection</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数据库（</a:t>
            </a:r>
            <a:r>
              <a:rPr lang="en-US" altLang="zh-CN" sz="2000" dirty="0">
                <a:solidFill>
                  <a:srgbClr val="1369B2"/>
                </a:solidFill>
                <a:latin typeface="微软雅黑" panose="020B0503020204020204" pitchFamily="34" charset="-122"/>
                <a:ea typeface="微软雅黑" panose="020B0503020204020204" pitchFamily="34" charset="-122"/>
                <a:cs typeface="+mn-ea"/>
                <a:sym typeface="+mn-lt"/>
              </a:rPr>
              <a:t>Database</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这三部分组成。</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026" name="Picture 2" descr="C:\Users\16366\AppData\Local\Temp\ksohtml13656\wps1.jpg">
            <a:extLst>
              <a:ext uri="{FF2B5EF4-FFF2-40B4-BE49-F238E27FC236}">
                <a16:creationId xmlns:a16="http://schemas.microsoft.com/office/drawing/2014/main" id="{17C52189-F24F-4EC9-A176-283A720356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0830" y="2349674"/>
            <a:ext cx="5494045" cy="322002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2994A177-95FE-4118-87FD-FD974F926512}"/>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的逻辑结构</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21605199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原创设计师QQ598969553          _4">
            <a:extLst>
              <a:ext uri="{FF2B5EF4-FFF2-40B4-BE49-F238E27FC236}">
                <a16:creationId xmlns:a16="http://schemas.microsoft.com/office/drawing/2014/main" id="{1BF50578-A3D5-4966-877B-63BF3427FBA3}"/>
              </a:ext>
            </a:extLst>
          </p:cNvPr>
          <p:cNvSpPr/>
          <p:nvPr/>
        </p:nvSpPr>
        <p:spPr>
          <a:xfrm>
            <a:off x="910630" y="981522"/>
            <a:ext cx="9803973" cy="961289"/>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为了帮助读者更好地理解</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的逻辑结构，我们将</a:t>
            </a:r>
            <a:r>
              <a:rPr lang="en-US" altLang="zh-CN" sz="2000" dirty="0">
                <a:solidFill>
                  <a:srgbClr val="1369B2"/>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与</a:t>
            </a:r>
            <a:r>
              <a:rPr lang="en-US" altLang="zh-CN" sz="2000" dirty="0">
                <a:solidFill>
                  <a:srgbClr val="1369B2"/>
                </a:solidFill>
                <a:latin typeface="微软雅黑" panose="020B0503020204020204" pitchFamily="34" charset="-122"/>
                <a:ea typeface="微软雅黑" panose="020B0503020204020204" pitchFamily="34" charset="-122"/>
                <a:cs typeface="+mn-ea"/>
                <a:sym typeface="+mn-lt"/>
              </a:rPr>
              <a:t>MySQL</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的逻辑结构进行对比。</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a:extLst>
              <a:ext uri="{FF2B5EF4-FFF2-40B4-BE49-F238E27FC236}">
                <a16:creationId xmlns:a16="http://schemas.microsoft.com/office/drawing/2014/main" id="{CBDDEBE6-CCC9-4E5F-9B79-1DC04AA1D992}"/>
              </a:ext>
            </a:extLst>
          </p:cNvPr>
          <p:cNvGraphicFramePr>
            <a:graphicFrameLocks noGrp="1"/>
          </p:cNvGraphicFramePr>
          <p:nvPr>
            <p:extLst>
              <p:ext uri="{D42A27DB-BD31-4B8C-83A1-F6EECF244321}">
                <p14:modId xmlns:p14="http://schemas.microsoft.com/office/powerpoint/2010/main" val="2577098014"/>
              </p:ext>
            </p:extLst>
          </p:nvPr>
        </p:nvGraphicFramePr>
        <p:xfrm>
          <a:off x="1774726" y="2205658"/>
          <a:ext cx="7609180" cy="4248472"/>
        </p:xfrm>
        <a:graphic>
          <a:graphicData uri="http://schemas.openxmlformats.org/drawingml/2006/table">
            <a:tbl>
              <a:tblPr>
                <a:tableStyleId>{7DF18680-E054-41AD-8BC1-D1AEF772440D}</a:tableStyleId>
              </a:tblPr>
              <a:tblGrid>
                <a:gridCol w="3804590">
                  <a:extLst>
                    <a:ext uri="{9D8B030D-6E8A-4147-A177-3AD203B41FA5}">
                      <a16:colId xmlns:a16="http://schemas.microsoft.com/office/drawing/2014/main" val="417981523"/>
                    </a:ext>
                  </a:extLst>
                </a:gridCol>
                <a:gridCol w="3804590">
                  <a:extLst>
                    <a:ext uri="{9D8B030D-6E8A-4147-A177-3AD203B41FA5}">
                      <a16:colId xmlns:a16="http://schemas.microsoft.com/office/drawing/2014/main" val="20001"/>
                    </a:ext>
                  </a:extLst>
                </a:gridCol>
              </a:tblGrid>
              <a:tr h="492562">
                <a:tc>
                  <a:txBody>
                    <a:bodyPr/>
                    <a:lstStyle/>
                    <a:p>
                      <a:pPr marL="0" marR="0" lvl="0" indent="267970" algn="ctr" defTabSz="1219200" rtl="0" eaLnBrk="1" fontAlgn="auto" latinLnBrk="0" hangingPunct="1">
                        <a:lnSpc>
                          <a:spcPct val="100000"/>
                        </a:lnSpc>
                        <a:spcBef>
                          <a:spcPts val="0"/>
                        </a:spcBef>
                        <a:spcAft>
                          <a:spcPts val="0"/>
                        </a:spcAft>
                        <a:buClrTx/>
                        <a:buSzTx/>
                        <a:buFontTx/>
                        <a:buNone/>
                        <a:tabLst/>
                        <a:defRPr/>
                      </a:pPr>
                      <a:r>
                        <a:rPr lang="en-US" alt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MongoDB</a:t>
                      </a:r>
                      <a:endParaRPr lang="zh-CN" alt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marL="0" marR="0" lvl="0" indent="267970" algn="ctr" defTabSz="1219200" rtl="0" eaLnBrk="1" fontAlgn="auto" latinLnBrk="0" hangingPunct="1">
                        <a:lnSpc>
                          <a:spcPct val="100000"/>
                        </a:lnSpc>
                        <a:spcBef>
                          <a:spcPts val="0"/>
                        </a:spcBef>
                        <a:spcAft>
                          <a:spcPts val="0"/>
                        </a:spcAft>
                        <a:buClrTx/>
                        <a:buSzTx/>
                        <a:buFontTx/>
                        <a:buNone/>
                        <a:tabLst/>
                        <a:defRPr/>
                      </a:pPr>
                      <a:r>
                        <a:rPr lang="en-US" altLang="zh-CN" sz="1600" b="1" kern="100" dirty="0">
                          <a:solidFill>
                            <a:srgbClr val="595959"/>
                          </a:solidFill>
                          <a:effectLst/>
                          <a:latin typeface="微软雅黑" panose="020B0503020204020204" pitchFamily="34" charset="-122"/>
                          <a:ea typeface="微软雅黑" panose="020B0503020204020204" pitchFamily="34" charset="-122"/>
                        </a:rPr>
                        <a:t>MySQL</a:t>
                      </a:r>
                      <a:endParaRPr lang="zh-CN" alt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0000"/>
                  </a:ext>
                </a:extLst>
              </a:tr>
              <a:tr h="1091614">
                <a:tc>
                  <a:txBody>
                    <a:bodyPr/>
                    <a:lstStyle/>
                    <a:p>
                      <a:pPr marL="0" indent="266700" algn="l" defTabSz="1219200" rtl="0" eaLnBrk="1" latinLnBrk="0" hangingPunct="1">
                        <a:lnSpc>
                          <a:spcPct val="130000"/>
                        </a:lnSpc>
                        <a:spcAft>
                          <a:spcPts val="0"/>
                        </a:spcAft>
                      </a:pP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marL="0" indent="266700" algn="l" defTabSz="1219200" rtl="0" eaLnBrk="1" latinLnBrk="0" hangingPunct="1">
                        <a:lnSpc>
                          <a:spcPct val="130000"/>
                        </a:lnSpc>
                        <a:spcAft>
                          <a:spcPts val="0"/>
                        </a:spcAft>
                      </a:pP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0001"/>
                  </a:ext>
                </a:extLst>
              </a:tr>
              <a:tr h="1512168">
                <a:tc>
                  <a:txBody>
                    <a:bodyPr/>
                    <a:lstStyle/>
                    <a:p>
                      <a:pPr indent="266700" algn="l">
                        <a:lnSpc>
                          <a:spcPct val="130000"/>
                        </a:lnSpc>
                        <a:spcAft>
                          <a:spcPts val="0"/>
                        </a:spcAft>
                      </a:pP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l">
                        <a:lnSpc>
                          <a:spcPct val="130000"/>
                        </a:lnSpc>
                        <a:spcAft>
                          <a:spcPts val="0"/>
                        </a:spcAft>
                      </a:pP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0002"/>
                  </a:ext>
                </a:extLst>
              </a:tr>
              <a:tr h="1152128">
                <a:tc>
                  <a:txBody>
                    <a:bodyPr/>
                    <a:lstStyle/>
                    <a:p>
                      <a:pPr indent="266700" algn="l">
                        <a:spcAft>
                          <a:spcPts val="0"/>
                        </a:spcAft>
                      </a:pP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l">
                        <a:spcAft>
                          <a:spcPts val="0"/>
                        </a:spcAft>
                      </a:pP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0003"/>
                  </a:ext>
                </a:extLst>
              </a:tr>
            </a:tbl>
          </a:graphicData>
        </a:graphic>
      </p:graphicFrame>
      <p:pic>
        <p:nvPicPr>
          <p:cNvPr id="3" name="图片 2">
            <a:extLst>
              <a:ext uri="{FF2B5EF4-FFF2-40B4-BE49-F238E27FC236}">
                <a16:creationId xmlns:a16="http://schemas.microsoft.com/office/drawing/2014/main" id="{CE6F1A51-A0B4-4EBE-8ECF-70C981D016F8}"/>
              </a:ext>
            </a:extLst>
          </p:cNvPr>
          <p:cNvPicPr>
            <a:picLocks noChangeAspect="1"/>
          </p:cNvPicPr>
          <p:nvPr/>
        </p:nvPicPr>
        <p:blipFill>
          <a:blip r:embed="rId3"/>
          <a:stretch>
            <a:fillRect/>
          </a:stretch>
        </p:blipFill>
        <p:spPr>
          <a:xfrm>
            <a:off x="7247334" y="2789890"/>
            <a:ext cx="579170" cy="906859"/>
          </a:xfrm>
          <a:prstGeom prst="rect">
            <a:avLst/>
          </a:prstGeom>
        </p:spPr>
      </p:pic>
      <p:pic>
        <p:nvPicPr>
          <p:cNvPr id="4" name="图片 3">
            <a:extLst>
              <a:ext uri="{FF2B5EF4-FFF2-40B4-BE49-F238E27FC236}">
                <a16:creationId xmlns:a16="http://schemas.microsoft.com/office/drawing/2014/main" id="{8A2F44D2-167B-47C5-9C84-976370E089C1}"/>
              </a:ext>
            </a:extLst>
          </p:cNvPr>
          <p:cNvPicPr>
            <a:picLocks noChangeAspect="1"/>
          </p:cNvPicPr>
          <p:nvPr/>
        </p:nvPicPr>
        <p:blipFill>
          <a:blip r:embed="rId4"/>
          <a:stretch>
            <a:fillRect/>
          </a:stretch>
        </p:blipFill>
        <p:spPr>
          <a:xfrm>
            <a:off x="6959302" y="4032493"/>
            <a:ext cx="1364098" cy="990686"/>
          </a:xfrm>
          <a:prstGeom prst="rect">
            <a:avLst/>
          </a:prstGeom>
        </p:spPr>
      </p:pic>
      <p:pic>
        <p:nvPicPr>
          <p:cNvPr id="2050" name="Picture 2" descr="C:\Users\16366\AppData\Local\Temp\ksohtml13656\wps5.jpg">
            <a:extLst>
              <a:ext uri="{FF2B5EF4-FFF2-40B4-BE49-F238E27FC236}">
                <a16:creationId xmlns:a16="http://schemas.microsoft.com/office/drawing/2014/main" id="{F3367688-6E49-47E4-9693-74468AE8D2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6507" y="3887136"/>
            <a:ext cx="1543050" cy="123825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681AC87E-D4CE-455F-A744-5309B58D2FB8}"/>
              </a:ext>
            </a:extLst>
          </p:cNvPr>
          <p:cNvPicPr>
            <a:picLocks noChangeAspect="1"/>
          </p:cNvPicPr>
          <p:nvPr/>
        </p:nvPicPr>
        <p:blipFill>
          <a:blip r:embed="rId6"/>
          <a:stretch>
            <a:fillRect/>
          </a:stretch>
        </p:blipFill>
        <p:spPr>
          <a:xfrm>
            <a:off x="6887294" y="5653256"/>
            <a:ext cx="1371719" cy="449619"/>
          </a:xfrm>
          <a:prstGeom prst="rect">
            <a:avLst/>
          </a:prstGeom>
        </p:spPr>
      </p:pic>
      <p:pic>
        <p:nvPicPr>
          <p:cNvPr id="6" name="图片 5">
            <a:extLst>
              <a:ext uri="{FF2B5EF4-FFF2-40B4-BE49-F238E27FC236}">
                <a16:creationId xmlns:a16="http://schemas.microsoft.com/office/drawing/2014/main" id="{D7F61880-3B92-45E8-9789-F67BB43DFECF}"/>
              </a:ext>
            </a:extLst>
          </p:cNvPr>
          <p:cNvPicPr>
            <a:picLocks noChangeAspect="1"/>
          </p:cNvPicPr>
          <p:nvPr/>
        </p:nvPicPr>
        <p:blipFill>
          <a:blip r:embed="rId7"/>
          <a:stretch>
            <a:fillRect/>
          </a:stretch>
        </p:blipFill>
        <p:spPr>
          <a:xfrm>
            <a:off x="2998862" y="5389223"/>
            <a:ext cx="1027831" cy="986303"/>
          </a:xfrm>
          <a:prstGeom prst="rect">
            <a:avLst/>
          </a:prstGeom>
        </p:spPr>
      </p:pic>
      <p:pic>
        <p:nvPicPr>
          <p:cNvPr id="8" name="图片 7">
            <a:extLst>
              <a:ext uri="{FF2B5EF4-FFF2-40B4-BE49-F238E27FC236}">
                <a16:creationId xmlns:a16="http://schemas.microsoft.com/office/drawing/2014/main" id="{E9D8C8D2-E7B8-4C27-8090-39112F8B7541}"/>
              </a:ext>
            </a:extLst>
          </p:cNvPr>
          <p:cNvPicPr>
            <a:picLocks noChangeAspect="1"/>
          </p:cNvPicPr>
          <p:nvPr/>
        </p:nvPicPr>
        <p:blipFill>
          <a:blip r:embed="rId8"/>
          <a:stretch>
            <a:fillRect/>
          </a:stretch>
        </p:blipFill>
        <p:spPr>
          <a:xfrm>
            <a:off x="2998862" y="2746731"/>
            <a:ext cx="579170" cy="908383"/>
          </a:xfrm>
          <a:prstGeom prst="rect">
            <a:avLst/>
          </a:prstGeom>
        </p:spPr>
      </p:pic>
      <p:sp>
        <p:nvSpPr>
          <p:cNvPr id="13" name="Title 1">
            <a:extLst>
              <a:ext uri="{FF2B5EF4-FFF2-40B4-BE49-F238E27FC236}">
                <a16:creationId xmlns:a16="http://schemas.microsoft.com/office/drawing/2014/main" id="{5BA79CCC-DDF8-4EA7-9B67-677D59332B76}"/>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的逻辑结构</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53800859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F1B31D29-D7BD-4C00-9F4B-0694F1EA5E8F}"/>
              </a:ext>
            </a:extLst>
          </p:cNvPr>
          <p:cNvGrpSpPr/>
          <p:nvPr/>
        </p:nvGrpSpPr>
        <p:grpSpPr>
          <a:xfrm>
            <a:off x="910630" y="1198951"/>
            <a:ext cx="1717383" cy="574659"/>
            <a:chOff x="975278" y="1969487"/>
            <a:chExt cx="1717383" cy="465192"/>
          </a:xfrm>
        </p:grpSpPr>
        <p:sp>
          <p:nvSpPr>
            <p:cNvPr id="12" name="圆角矩形 4">
              <a:extLst>
                <a:ext uri="{FF2B5EF4-FFF2-40B4-BE49-F238E27FC236}">
                  <a16:creationId xmlns:a16="http://schemas.microsoft.com/office/drawing/2014/main" id="{1A9307CB-33E1-453F-8308-43916413EC87}"/>
                </a:ext>
              </a:extLst>
            </p:cNvPr>
            <p:cNvSpPr/>
            <p:nvPr/>
          </p:nvSpPr>
          <p:spPr>
            <a:xfrm>
              <a:off x="1054100" y="1969487"/>
              <a:ext cx="1525905" cy="465192"/>
            </a:xfrm>
            <a:prstGeom prst="roundRect">
              <a:avLst/>
            </a:prstGeom>
            <a:solidFill>
              <a:srgbClr val="1369B2"/>
            </a:solidFill>
            <a:ln>
              <a:solidFill>
                <a:srgbClr val="FAFA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3" name="文本框 31">
              <a:extLst>
                <a:ext uri="{FF2B5EF4-FFF2-40B4-BE49-F238E27FC236}">
                  <a16:creationId xmlns:a16="http://schemas.microsoft.com/office/drawing/2014/main" id="{01FFA147-111C-4395-B098-AA71E2B0842B}"/>
                </a:ext>
              </a:extLst>
            </p:cNvPr>
            <p:cNvSpPr txBox="1"/>
            <p:nvPr/>
          </p:nvSpPr>
          <p:spPr>
            <a:xfrm flipH="1">
              <a:off x="975278" y="2035899"/>
              <a:ext cx="1717383" cy="323893"/>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数据库</a:t>
              </a:r>
              <a:endParaRPr lang="en-US" altLang="zh-CN"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14" name="原创设计师QQ598969553          _4">
            <a:extLst>
              <a:ext uri="{FF2B5EF4-FFF2-40B4-BE49-F238E27FC236}">
                <a16:creationId xmlns:a16="http://schemas.microsoft.com/office/drawing/2014/main" id="{F314F670-4BD0-4B49-9C10-FF7F06C2BA65}"/>
              </a:ext>
            </a:extLst>
          </p:cNvPr>
          <p:cNvSpPr/>
          <p:nvPr/>
        </p:nvSpPr>
        <p:spPr>
          <a:xfrm>
            <a:off x="989452" y="1858677"/>
            <a:ext cx="10506354" cy="1422954"/>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在 </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 </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中，数据库是一组</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集合</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的容器，类似于关系型数据库中的数据库。通常会将相关联的集合存放在一个数据库中，以便于管理和维护。</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可以容纳多个数据库，每个数据库都有</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独立的命名空间</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和</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权限控制</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，不同数据库之间的数据</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相互隔离</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5" name="Picture 4" descr="https://timgsa.baidu.com/timg?image&amp;quality=80&amp;size=b9999_10000&amp;sec=1553764787053&amp;di=63201b69439172d2f26edff5c9a921d9&amp;imgtype=0&amp;src=http%3A%2F%2Fscimg.jb51.net%2Fallimg%2F150701%2F14-150F11I343I7.jpg">
            <a:extLst>
              <a:ext uri="{FF2B5EF4-FFF2-40B4-BE49-F238E27FC236}">
                <a16:creationId xmlns:a16="http://schemas.microsoft.com/office/drawing/2014/main" id="{DE3B774E-1C31-460A-8F78-4FE0BB7F83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79582" y="3789834"/>
            <a:ext cx="1904365" cy="2419985"/>
          </a:xfrm>
          <a:prstGeom prst="rect">
            <a:avLst/>
          </a:prstGeom>
          <a:noFill/>
          <a:extLst>
            <a:ext uri="{909E8E84-426E-40DD-AFC4-6F175D3DCCD1}">
              <a14:hiddenFill xmlns:a14="http://schemas.microsoft.com/office/drawing/2010/main">
                <a:solidFill>
                  <a:srgbClr val="FFFFFF"/>
                </a:solidFill>
              </a14:hiddenFill>
            </a:ext>
          </a:extLst>
        </p:spPr>
      </p:pic>
      <p:sp>
        <p:nvSpPr>
          <p:cNvPr id="17" name="Title 1">
            <a:extLst>
              <a:ext uri="{FF2B5EF4-FFF2-40B4-BE49-F238E27FC236}">
                <a16:creationId xmlns:a16="http://schemas.microsoft.com/office/drawing/2014/main" id="{F27819BF-206F-4305-9320-D76FDFC8996C}"/>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的逻辑结构</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06737669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F1B31D29-D7BD-4C00-9F4B-0694F1EA5E8F}"/>
              </a:ext>
            </a:extLst>
          </p:cNvPr>
          <p:cNvGrpSpPr/>
          <p:nvPr/>
        </p:nvGrpSpPr>
        <p:grpSpPr>
          <a:xfrm>
            <a:off x="910630" y="1054935"/>
            <a:ext cx="1717383" cy="574659"/>
            <a:chOff x="975278" y="1969487"/>
            <a:chExt cx="1717383" cy="465192"/>
          </a:xfrm>
        </p:grpSpPr>
        <p:sp>
          <p:nvSpPr>
            <p:cNvPr id="12" name="圆角矩形 4">
              <a:extLst>
                <a:ext uri="{FF2B5EF4-FFF2-40B4-BE49-F238E27FC236}">
                  <a16:creationId xmlns:a16="http://schemas.microsoft.com/office/drawing/2014/main" id="{1A9307CB-33E1-453F-8308-43916413EC87}"/>
                </a:ext>
              </a:extLst>
            </p:cNvPr>
            <p:cNvSpPr/>
            <p:nvPr/>
          </p:nvSpPr>
          <p:spPr>
            <a:xfrm>
              <a:off x="1054100" y="1969487"/>
              <a:ext cx="1525905" cy="465192"/>
            </a:xfrm>
            <a:prstGeom prst="roundRect">
              <a:avLst/>
            </a:prstGeom>
            <a:solidFill>
              <a:srgbClr val="1369B2"/>
            </a:solidFill>
            <a:ln>
              <a:solidFill>
                <a:srgbClr val="FAFA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3" name="文本框 31">
              <a:extLst>
                <a:ext uri="{FF2B5EF4-FFF2-40B4-BE49-F238E27FC236}">
                  <a16:creationId xmlns:a16="http://schemas.microsoft.com/office/drawing/2014/main" id="{01FFA147-111C-4395-B098-AA71E2B0842B}"/>
                </a:ext>
              </a:extLst>
            </p:cNvPr>
            <p:cNvSpPr txBox="1"/>
            <p:nvPr/>
          </p:nvSpPr>
          <p:spPr>
            <a:xfrm flipH="1">
              <a:off x="975278" y="2035899"/>
              <a:ext cx="1717383" cy="323893"/>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集合</a:t>
              </a:r>
              <a:endParaRPr lang="en-US" altLang="zh-CN"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14" name="原创设计师QQ598969553          _4">
            <a:extLst>
              <a:ext uri="{FF2B5EF4-FFF2-40B4-BE49-F238E27FC236}">
                <a16:creationId xmlns:a16="http://schemas.microsoft.com/office/drawing/2014/main" id="{F314F670-4BD0-4B49-9C10-FF7F06C2BA65}"/>
              </a:ext>
            </a:extLst>
          </p:cNvPr>
          <p:cNvSpPr/>
          <p:nvPr/>
        </p:nvSpPr>
        <p:spPr>
          <a:xfrm>
            <a:off x="989452" y="1641248"/>
            <a:ext cx="10506354" cy="445455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3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在</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中，集合是</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存储文档</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的容器，类似于关系型数据库中的表。与关系型数据库不同的是，</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的集合具有无模式（</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Schema-less</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）的特性。</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30000"/>
              </a:lnSpc>
            </a:pP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中还存在几种特殊类型的集合，它们分别是</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固定大小集合</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Capped Collections</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时间序列集合</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Time Series Collections</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集群化集合</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Clustered Collections</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）和</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视图</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View</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Ø"/>
            </a:pP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固定大小集合</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具有固定的大小限制。当集合达到容量上限时，新插入的文档会自动</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覆盖</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最早插入的文档，类似于环形缓冲区的运作方式。</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Ø"/>
            </a:pP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时间序列集合</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是</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 5.0</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版本新增的一种专门用于</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存储</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和</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查询</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时间序列数据的集合类型。</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Ø"/>
            </a:pP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集群化集合</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是</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 5.3</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版本新增的一种</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集合类型</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，它将索引和文档存储在一起。</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Ø"/>
            </a:pP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视图</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是一种基于现有集合的</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查询结果集</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，本质上是对集合的一种预定义查询。</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Title 1">
            <a:extLst>
              <a:ext uri="{FF2B5EF4-FFF2-40B4-BE49-F238E27FC236}">
                <a16:creationId xmlns:a16="http://schemas.microsoft.com/office/drawing/2014/main" id="{16826B5B-6745-4A72-B0CE-FB4033CAC821}"/>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的逻辑结构</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9112931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F1B31D29-D7BD-4C00-9F4B-0694F1EA5E8F}"/>
              </a:ext>
            </a:extLst>
          </p:cNvPr>
          <p:cNvGrpSpPr/>
          <p:nvPr/>
        </p:nvGrpSpPr>
        <p:grpSpPr>
          <a:xfrm>
            <a:off x="910630" y="1054935"/>
            <a:ext cx="1717383" cy="574659"/>
            <a:chOff x="975278" y="1969487"/>
            <a:chExt cx="1717383" cy="465192"/>
          </a:xfrm>
        </p:grpSpPr>
        <p:sp>
          <p:nvSpPr>
            <p:cNvPr id="12" name="圆角矩形 4">
              <a:extLst>
                <a:ext uri="{FF2B5EF4-FFF2-40B4-BE49-F238E27FC236}">
                  <a16:creationId xmlns:a16="http://schemas.microsoft.com/office/drawing/2014/main" id="{1A9307CB-33E1-453F-8308-43916413EC87}"/>
                </a:ext>
              </a:extLst>
            </p:cNvPr>
            <p:cNvSpPr/>
            <p:nvPr/>
          </p:nvSpPr>
          <p:spPr>
            <a:xfrm>
              <a:off x="1054100" y="1969487"/>
              <a:ext cx="1525905" cy="465192"/>
            </a:xfrm>
            <a:prstGeom prst="roundRect">
              <a:avLst/>
            </a:prstGeom>
            <a:solidFill>
              <a:srgbClr val="1369B2"/>
            </a:solidFill>
            <a:ln>
              <a:solidFill>
                <a:srgbClr val="FAFA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3" name="文本框 31">
              <a:extLst>
                <a:ext uri="{FF2B5EF4-FFF2-40B4-BE49-F238E27FC236}">
                  <a16:creationId xmlns:a16="http://schemas.microsoft.com/office/drawing/2014/main" id="{01FFA147-111C-4395-B098-AA71E2B0842B}"/>
                </a:ext>
              </a:extLst>
            </p:cNvPr>
            <p:cNvSpPr txBox="1"/>
            <p:nvPr/>
          </p:nvSpPr>
          <p:spPr>
            <a:xfrm flipH="1">
              <a:off x="975278" y="2035899"/>
              <a:ext cx="1717383" cy="323893"/>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文档</a:t>
              </a:r>
              <a:endParaRPr lang="en-US" altLang="zh-CN"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14" name="原创设计师QQ598969553          _4">
            <a:extLst>
              <a:ext uri="{FF2B5EF4-FFF2-40B4-BE49-F238E27FC236}">
                <a16:creationId xmlns:a16="http://schemas.microsoft.com/office/drawing/2014/main" id="{F314F670-4BD0-4B49-9C10-FF7F06C2BA65}"/>
              </a:ext>
            </a:extLst>
          </p:cNvPr>
          <p:cNvSpPr/>
          <p:nvPr/>
        </p:nvSpPr>
        <p:spPr>
          <a:xfrm>
            <a:off x="989452" y="1641248"/>
            <a:ext cx="10506354" cy="1857753"/>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30000"/>
              </a:lnSpc>
            </a:pPr>
            <a:r>
              <a:rPr lang="zh-CN" altLang="en-US" sz="1800" dirty="0">
                <a:solidFill>
                  <a:srgbClr val="1369B2"/>
                </a:solidFill>
                <a:latin typeface="微软雅黑" panose="020B0503020204020204" pitchFamily="34" charset="-122"/>
                <a:ea typeface="微软雅黑" panose="020B0503020204020204" pitchFamily="34" charset="-122"/>
                <a:cs typeface="+mn-ea"/>
                <a:sym typeface="+mn-lt"/>
              </a:rPr>
              <a:t>文档</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是</a:t>
            </a:r>
            <a:r>
              <a:rPr lang="en-US" altLang="zh-CN" sz="18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中</a:t>
            </a:r>
            <a:r>
              <a:rPr lang="zh-CN" altLang="en-US" sz="1800" dirty="0">
                <a:solidFill>
                  <a:srgbClr val="1369B2"/>
                </a:solidFill>
                <a:latin typeface="微软雅黑" panose="020B0503020204020204" pitchFamily="34" charset="-122"/>
                <a:ea typeface="微软雅黑" panose="020B0503020204020204" pitchFamily="34" charset="-122"/>
                <a:cs typeface="+mn-ea"/>
                <a:sym typeface="+mn-lt"/>
              </a:rPr>
              <a:t>存储数据</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的基本单元。在</a:t>
            </a:r>
            <a:r>
              <a:rPr lang="en-US" altLang="zh-CN" sz="18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中，文档以</a:t>
            </a:r>
            <a:r>
              <a:rPr lang="en-US" altLang="zh-CN" sz="1800" dirty="0">
                <a:solidFill>
                  <a:srgbClr val="1369B2"/>
                </a:solidFill>
                <a:latin typeface="微软雅黑" panose="020B0503020204020204" pitchFamily="34" charset="-122"/>
                <a:ea typeface="微软雅黑" panose="020B0503020204020204" pitchFamily="34" charset="-122"/>
                <a:cs typeface="+mn-ea"/>
                <a:sym typeface="+mn-lt"/>
              </a:rPr>
              <a:t>BSON</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1800" dirty="0">
                <a:solidFill>
                  <a:srgbClr val="595959"/>
                </a:solidFill>
                <a:latin typeface="微软雅黑" panose="020B0503020204020204" pitchFamily="34" charset="-122"/>
                <a:ea typeface="微软雅黑" panose="020B0503020204020204" pitchFamily="34" charset="-122"/>
                <a:cs typeface="+mn-ea"/>
                <a:sym typeface="+mn-lt"/>
              </a:rPr>
              <a:t>Binary JSON</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，二进制</a:t>
            </a:r>
            <a:r>
              <a:rPr lang="en-US" altLang="zh-CN" sz="1800" dirty="0">
                <a:solidFill>
                  <a:srgbClr val="595959"/>
                </a:solidFill>
                <a:latin typeface="微软雅黑" panose="020B0503020204020204" pitchFamily="34" charset="-122"/>
                <a:ea typeface="微软雅黑" panose="020B0503020204020204" pitchFamily="34" charset="-122"/>
                <a:cs typeface="+mn-ea"/>
                <a:sym typeface="+mn-lt"/>
              </a:rPr>
              <a:t>JSON</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）格式存储，这种格式类似于</a:t>
            </a:r>
            <a:r>
              <a:rPr lang="en-US" altLang="zh-CN" sz="1800" dirty="0">
                <a:solidFill>
                  <a:srgbClr val="595959"/>
                </a:solidFill>
                <a:latin typeface="微软雅黑" panose="020B0503020204020204" pitchFamily="34" charset="-122"/>
                <a:ea typeface="微软雅黑" panose="020B0503020204020204" pitchFamily="34" charset="-122"/>
                <a:cs typeface="+mn-ea"/>
                <a:sym typeface="+mn-lt"/>
              </a:rPr>
              <a:t>JSON</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对象，由多个键值对组成。</a:t>
            </a:r>
            <a:endParaRPr lang="en-US" alt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30000"/>
              </a:lnSpc>
            </a:pPr>
            <a:r>
              <a:rPr lang="en-US" altLang="zh-CN" sz="18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中的每个文档都有一个默认的键</a:t>
            </a:r>
            <a:r>
              <a:rPr lang="en-US" altLang="zh-CN" sz="1800" dirty="0">
                <a:solidFill>
                  <a:srgbClr val="1369B2"/>
                </a:solidFill>
                <a:latin typeface="微软雅黑" panose="020B0503020204020204" pitchFamily="34" charset="-122"/>
                <a:ea typeface="微软雅黑" panose="020B0503020204020204" pitchFamily="34" charset="-122"/>
                <a:cs typeface="+mn-ea"/>
                <a:sym typeface="+mn-lt"/>
              </a:rPr>
              <a:t>_id</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，作为文档的</a:t>
            </a:r>
            <a:r>
              <a:rPr lang="zh-CN" altLang="en-US" sz="1800" dirty="0">
                <a:solidFill>
                  <a:srgbClr val="1369B2"/>
                </a:solidFill>
                <a:latin typeface="微软雅黑" panose="020B0503020204020204" pitchFamily="34" charset="-122"/>
                <a:ea typeface="微软雅黑" panose="020B0503020204020204" pitchFamily="34" charset="-122"/>
                <a:cs typeface="+mn-ea"/>
                <a:sym typeface="+mn-lt"/>
              </a:rPr>
              <a:t>唯一标识</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。如果在创建文档时未显式指定</a:t>
            </a:r>
            <a:r>
              <a:rPr lang="en-US" altLang="zh-CN" sz="1800" dirty="0">
                <a:solidFill>
                  <a:srgbClr val="595959"/>
                </a:solidFill>
                <a:latin typeface="微软雅黑" panose="020B0503020204020204" pitchFamily="34" charset="-122"/>
                <a:ea typeface="微软雅黑" panose="020B0503020204020204" pitchFamily="34" charset="-122"/>
                <a:cs typeface="+mn-ea"/>
                <a:sym typeface="+mn-lt"/>
              </a:rPr>
              <a:t>_id</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的值，</a:t>
            </a:r>
            <a:r>
              <a:rPr lang="en-US" altLang="zh-CN" sz="18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会自动生成一个</a:t>
            </a:r>
            <a:r>
              <a:rPr lang="zh-CN" altLang="en-US" sz="1800" dirty="0">
                <a:solidFill>
                  <a:srgbClr val="1369B2"/>
                </a:solidFill>
                <a:latin typeface="微软雅黑" panose="020B0503020204020204" pitchFamily="34" charset="-122"/>
                <a:ea typeface="微软雅黑" panose="020B0503020204020204" pitchFamily="34" charset="-122"/>
                <a:cs typeface="+mn-ea"/>
                <a:sym typeface="+mn-lt"/>
              </a:rPr>
              <a:t>对象标识符类型</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1800" dirty="0" err="1">
                <a:solidFill>
                  <a:srgbClr val="595959"/>
                </a:solidFill>
                <a:latin typeface="微软雅黑" panose="020B0503020204020204" pitchFamily="34" charset="-122"/>
                <a:ea typeface="微软雅黑" panose="020B0503020204020204" pitchFamily="34" charset="-122"/>
                <a:cs typeface="+mn-ea"/>
                <a:sym typeface="+mn-lt"/>
              </a:rPr>
              <a:t>ObjectId</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）的值作为键</a:t>
            </a:r>
            <a:r>
              <a:rPr lang="en-US" altLang="zh-CN" sz="1800" dirty="0">
                <a:solidFill>
                  <a:srgbClr val="595959"/>
                </a:solidFill>
                <a:latin typeface="微软雅黑" panose="020B0503020204020204" pitchFamily="34" charset="-122"/>
                <a:ea typeface="微软雅黑" panose="020B0503020204020204" pitchFamily="34" charset="-122"/>
                <a:cs typeface="+mn-ea"/>
                <a:sym typeface="+mn-lt"/>
              </a:rPr>
              <a:t>_id</a:t>
            </a:r>
            <a:r>
              <a:rPr lang="zh-CN" altLang="en-US" sz="1800" dirty="0">
                <a:solidFill>
                  <a:srgbClr val="595959"/>
                </a:solidFill>
                <a:latin typeface="微软雅黑" panose="020B0503020204020204" pitchFamily="34" charset="-122"/>
                <a:ea typeface="微软雅黑" panose="020B0503020204020204" pitchFamily="34" charset="-122"/>
                <a:cs typeface="+mn-ea"/>
                <a:sym typeface="+mn-lt"/>
              </a:rPr>
              <a:t>的值。关于文档的格式如下所示。</a:t>
            </a:r>
            <a:endParaRPr lang="en-US" alt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矩形 6">
            <a:extLst>
              <a:ext uri="{FF2B5EF4-FFF2-40B4-BE49-F238E27FC236}">
                <a16:creationId xmlns:a16="http://schemas.microsoft.com/office/drawing/2014/main" id="{EB011095-9249-4CA2-98F2-F656F05506E0}"/>
              </a:ext>
            </a:extLst>
          </p:cNvPr>
          <p:cNvSpPr/>
          <p:nvPr/>
        </p:nvSpPr>
        <p:spPr>
          <a:xfrm>
            <a:off x="1918742" y="3573810"/>
            <a:ext cx="8424936" cy="31900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a:extLst>
              <a:ext uri="{FF2B5EF4-FFF2-40B4-BE49-F238E27FC236}">
                <a16:creationId xmlns:a16="http://schemas.microsoft.com/office/drawing/2014/main" id="{5D8A0658-8E19-415C-A644-D45DC85BD0B1}"/>
              </a:ext>
            </a:extLst>
          </p:cNvPr>
          <p:cNvSpPr/>
          <p:nvPr/>
        </p:nvSpPr>
        <p:spPr>
          <a:xfrm>
            <a:off x="2495849" y="3501802"/>
            <a:ext cx="5118860" cy="326204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_id: ObjectId('66a200ef6f97c11de1c4e4a0'),</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name: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袁隆平</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age: 91,</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profession: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杂交水稻专家</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representative_works: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袁隆平论文集</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杂交水稻育种栽培学</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graduate_school: { school: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西南农学院</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field: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农学系</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year: 1953 }</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9" name="Title 1">
            <a:extLst>
              <a:ext uri="{FF2B5EF4-FFF2-40B4-BE49-F238E27FC236}">
                <a16:creationId xmlns:a16="http://schemas.microsoft.com/office/drawing/2014/main" id="{D8B61396-308A-4BEB-B3BE-AFA4B6D643B6}"/>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的逻辑结构</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1148411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的数据类型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a:extLst>
              <a:ext uri="{FF2B5EF4-FFF2-40B4-BE49-F238E27FC236}">
                <a16:creationId xmlns:a16="http://schemas.microsoft.com/office/drawing/2014/main" id="{99B92689-AAFF-4A7F-8A03-F9D0179F14B7}"/>
              </a:ext>
            </a:extLst>
          </p:cNvPr>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a:extLst>
              <a:ext uri="{FF2B5EF4-FFF2-40B4-BE49-F238E27FC236}">
                <a16:creationId xmlns:a16="http://schemas.microsoft.com/office/drawing/2014/main" id="{1BF50578-A3D5-4966-877B-63BF3427FBA3}"/>
              </a:ext>
            </a:extLst>
          </p:cNvPr>
          <p:cNvSpPr/>
          <p:nvPr/>
        </p:nvSpPr>
        <p:spPr>
          <a:xfrm>
            <a:off x="899745" y="3501802"/>
            <a:ext cx="4504046" cy="1135054"/>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掌握</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数据类型，能够叙述</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不同数据类型</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的含义。</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a:extLst>
              <a:ext uri="{FF2B5EF4-FFF2-40B4-BE49-F238E27FC236}">
                <a16:creationId xmlns:a16="http://schemas.microsoft.com/office/drawing/2014/main" id="{020973F8-4621-4A07-826E-365CA6E6D17C}"/>
              </a:ext>
            </a:extLst>
          </p:cNvPr>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p>
        </p:txBody>
      </p:sp>
      <p:pic>
        <p:nvPicPr>
          <p:cNvPr id="30" name="图片 29">
            <a:extLst>
              <a:ext uri="{FF2B5EF4-FFF2-40B4-BE49-F238E27FC236}">
                <a16:creationId xmlns:a16="http://schemas.microsoft.com/office/drawing/2014/main" id="{98D55183-397A-4AF5-BF4A-88669910A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extLst>
      <p:ext uri="{BB962C8B-B14F-4D97-AF65-F5344CB8AC3E}">
        <p14:creationId xmlns:p14="http://schemas.microsoft.com/office/powerpoint/2010/main" val="143515104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原创设计师QQ598969553          _4">
            <a:extLst>
              <a:ext uri="{FF2B5EF4-FFF2-40B4-BE49-F238E27FC236}">
                <a16:creationId xmlns:a16="http://schemas.microsoft.com/office/drawing/2014/main" id="{1BF50578-A3D5-4966-877B-63BF3427FBA3}"/>
              </a:ext>
            </a:extLst>
          </p:cNvPr>
          <p:cNvSpPr/>
          <p:nvPr/>
        </p:nvSpPr>
        <p:spPr>
          <a:xfrm>
            <a:off x="910630" y="981522"/>
            <a:ext cx="9803973" cy="961289"/>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在</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的文档中，键对应的值可以使用多种</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数据类型</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来存储</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不同形式</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的数据。下面，我们通过一张表来介绍</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支持的数据类型。</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Title 1">
            <a:extLst>
              <a:ext uri="{FF2B5EF4-FFF2-40B4-BE49-F238E27FC236}">
                <a16:creationId xmlns:a16="http://schemas.microsoft.com/office/drawing/2014/main" id="{DB510004-0612-4437-957C-458C8556E645}"/>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的数据类型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7" name="表格 6">
            <a:extLst>
              <a:ext uri="{FF2B5EF4-FFF2-40B4-BE49-F238E27FC236}">
                <a16:creationId xmlns:a16="http://schemas.microsoft.com/office/drawing/2014/main" id="{53A3ECA4-7BCE-47DF-9D48-31883380C292}"/>
              </a:ext>
            </a:extLst>
          </p:cNvPr>
          <p:cNvGraphicFramePr>
            <a:graphicFrameLocks noGrp="1"/>
          </p:cNvGraphicFramePr>
          <p:nvPr>
            <p:extLst>
              <p:ext uri="{D42A27DB-BD31-4B8C-83A1-F6EECF244321}">
                <p14:modId xmlns:p14="http://schemas.microsoft.com/office/powerpoint/2010/main" val="2435838713"/>
              </p:ext>
            </p:extLst>
          </p:nvPr>
        </p:nvGraphicFramePr>
        <p:xfrm>
          <a:off x="1636106" y="2179626"/>
          <a:ext cx="8491548" cy="4433058"/>
        </p:xfrm>
        <a:graphic>
          <a:graphicData uri="http://schemas.openxmlformats.org/drawingml/2006/table">
            <a:tbl>
              <a:tblPr>
                <a:tableStyleId>{7DF18680-E054-41AD-8BC1-D1AEF772440D}</a:tableStyleId>
              </a:tblPr>
              <a:tblGrid>
                <a:gridCol w="2247910">
                  <a:extLst>
                    <a:ext uri="{9D8B030D-6E8A-4147-A177-3AD203B41FA5}">
                      <a16:colId xmlns:a16="http://schemas.microsoft.com/office/drawing/2014/main" val="20000"/>
                    </a:ext>
                  </a:extLst>
                </a:gridCol>
                <a:gridCol w="6243638">
                  <a:extLst>
                    <a:ext uri="{9D8B030D-6E8A-4147-A177-3AD203B41FA5}">
                      <a16:colId xmlns:a16="http://schemas.microsoft.com/office/drawing/2014/main" val="20001"/>
                    </a:ext>
                  </a:extLst>
                </a:gridCol>
              </a:tblGrid>
              <a:tr h="492562">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7970" algn="ctr">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rPr>
                        <a:t>数据类型</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7970" algn="ctr">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rPr>
                        <a:t>相关说明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0000"/>
                  </a:ext>
                </a:extLst>
              </a:tr>
              <a:tr h="492562">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double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双精度浮点数，用于存储</a:t>
                      </a: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64</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位浮点数</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0001"/>
                  </a:ext>
                </a:extLst>
              </a:tr>
              <a:tr h="492562">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UTF-8</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编码的字符串，用于存储文本数据</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0002"/>
                  </a:ext>
                </a:extLst>
              </a:tr>
              <a:tr h="492562">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object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对象，用于存储文档</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0003"/>
                  </a:ext>
                </a:extLst>
              </a:tr>
              <a:tr h="492562">
                <a:tc>
                  <a:txBody>
                    <a:bodyPr/>
                    <a:lstStyle/>
                    <a:p>
                      <a:pPr indent="266700" algn="ctr">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array</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数组，用于存储一组相关的数据</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293939027"/>
                  </a:ext>
                </a:extLst>
              </a:tr>
              <a:tr h="492562">
                <a:tc>
                  <a:txBody>
                    <a:bodyPr/>
                    <a:lstStyle/>
                    <a:p>
                      <a:pPr indent="266700" algn="ctr">
                        <a:spcAft>
                          <a:spcPts val="0"/>
                        </a:spcAft>
                      </a:pPr>
                      <a:r>
                        <a:rPr lang="en-US" altLang="zh-CN" sz="1600" b="0" kern="100" dirty="0" err="1">
                          <a:solidFill>
                            <a:srgbClr val="595959"/>
                          </a:solidFill>
                          <a:effectLst/>
                          <a:latin typeface="微软雅黑" panose="020B0503020204020204" pitchFamily="34" charset="-122"/>
                          <a:ea typeface="微软雅黑" panose="020B0503020204020204" pitchFamily="34" charset="-122"/>
                          <a:cs typeface="Times New Roman" panose="02020603050405020304"/>
                        </a:rPr>
                        <a:t>binData</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二进制数据，用于存储图像、音频等二进制数据</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4082701832"/>
                  </a:ext>
                </a:extLst>
              </a:tr>
              <a:tr h="492562">
                <a:tc>
                  <a:txBody>
                    <a:bodyPr/>
                    <a:lstStyle/>
                    <a:p>
                      <a:pPr indent="266700" algn="ctr">
                        <a:spcAft>
                          <a:spcPts val="0"/>
                        </a:spcAft>
                      </a:pPr>
                      <a:r>
                        <a:rPr lang="en-US" altLang="zh-CN" sz="1600" b="0" kern="100" dirty="0" err="1">
                          <a:solidFill>
                            <a:srgbClr val="595959"/>
                          </a:solidFill>
                          <a:effectLst/>
                          <a:latin typeface="微软雅黑" panose="020B0503020204020204" pitchFamily="34" charset="-122"/>
                          <a:ea typeface="微软雅黑" panose="020B0503020204020204" pitchFamily="34" charset="-122"/>
                          <a:cs typeface="Times New Roman" panose="02020603050405020304"/>
                        </a:rPr>
                        <a:t>objectId</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对象标识符，用于唯一标识文档</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283968180"/>
                  </a:ext>
                </a:extLst>
              </a:tr>
              <a:tr h="492562">
                <a:tc>
                  <a:txBody>
                    <a:bodyPr/>
                    <a:lstStyle/>
                    <a:p>
                      <a:pPr indent="266700" algn="ctr">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布尔值，用于存储逻辑值，只有</a:t>
                      </a: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和</a:t>
                      </a: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两种取值</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229599091"/>
                  </a:ext>
                </a:extLst>
              </a:tr>
              <a:tr h="492562">
                <a:tc>
                  <a:txBody>
                    <a:bodyPr/>
                    <a:lstStyle/>
                    <a:p>
                      <a:pPr indent="266700" algn="ctr">
                        <a:spcAft>
                          <a:spcPts val="0"/>
                        </a:spcAft>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date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日期，用于存储日期和时间信息</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662737361"/>
                  </a:ext>
                </a:extLst>
              </a:tr>
            </a:tbl>
          </a:graphicData>
        </a:graphic>
      </p:graphicFrame>
    </p:spTree>
    <p:extLst>
      <p:ext uri="{BB962C8B-B14F-4D97-AF65-F5344CB8AC3E}">
        <p14:creationId xmlns:p14="http://schemas.microsoft.com/office/powerpoint/2010/main" val="224952280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B510004-0612-4437-957C-458C8556E645}"/>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的数据类型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7" name="表格 6">
            <a:extLst>
              <a:ext uri="{FF2B5EF4-FFF2-40B4-BE49-F238E27FC236}">
                <a16:creationId xmlns:a16="http://schemas.microsoft.com/office/drawing/2014/main" id="{53A3ECA4-7BCE-47DF-9D48-31883380C292}"/>
              </a:ext>
            </a:extLst>
          </p:cNvPr>
          <p:cNvGraphicFramePr>
            <a:graphicFrameLocks noGrp="1"/>
          </p:cNvGraphicFramePr>
          <p:nvPr>
            <p:extLst>
              <p:ext uri="{D42A27DB-BD31-4B8C-83A1-F6EECF244321}">
                <p14:modId xmlns:p14="http://schemas.microsoft.com/office/powerpoint/2010/main" val="3336914407"/>
              </p:ext>
            </p:extLst>
          </p:nvPr>
        </p:nvGraphicFramePr>
        <p:xfrm>
          <a:off x="1143690" y="1318570"/>
          <a:ext cx="9715684" cy="5207568"/>
        </p:xfrm>
        <a:graphic>
          <a:graphicData uri="http://schemas.openxmlformats.org/drawingml/2006/table">
            <a:tbl>
              <a:tblPr>
                <a:tableStyleId>{7DF18680-E054-41AD-8BC1-D1AEF772440D}</a:tableStyleId>
              </a:tblPr>
              <a:tblGrid>
                <a:gridCol w="2215212">
                  <a:extLst>
                    <a:ext uri="{9D8B030D-6E8A-4147-A177-3AD203B41FA5}">
                      <a16:colId xmlns:a16="http://schemas.microsoft.com/office/drawing/2014/main" val="20000"/>
                    </a:ext>
                  </a:extLst>
                </a:gridCol>
                <a:gridCol w="7500472">
                  <a:extLst>
                    <a:ext uri="{9D8B030D-6E8A-4147-A177-3AD203B41FA5}">
                      <a16:colId xmlns:a16="http://schemas.microsoft.com/office/drawing/2014/main" val="20001"/>
                    </a:ext>
                  </a:extLst>
                </a:gridCol>
              </a:tblGrid>
              <a:tr h="492562">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7970" algn="ctr">
                        <a:lnSpc>
                          <a:spcPct val="150000"/>
                        </a:lnSpc>
                        <a:spcAft>
                          <a:spcPts val="0"/>
                        </a:spcAft>
                      </a:pPr>
                      <a:r>
                        <a:rPr lang="zh-CN" altLang="en-US" sz="1800" b="1" kern="100" dirty="0">
                          <a:solidFill>
                            <a:srgbClr val="595959"/>
                          </a:solidFill>
                          <a:effectLst/>
                          <a:latin typeface="微软雅黑" panose="020B0503020204020204" pitchFamily="34" charset="-122"/>
                          <a:ea typeface="微软雅黑" panose="020B0503020204020204" pitchFamily="34" charset="-122"/>
                        </a:rPr>
                        <a:t>数据类型</a:t>
                      </a:r>
                      <a:endParaRPr lang="zh-CN" sz="18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7970" algn="ctr">
                        <a:lnSpc>
                          <a:spcPct val="150000"/>
                        </a:lnSpc>
                        <a:spcAft>
                          <a:spcPts val="0"/>
                        </a:spcAft>
                      </a:pPr>
                      <a:r>
                        <a:rPr lang="zh-CN" altLang="en-US" sz="1800" b="1" kern="100" dirty="0">
                          <a:solidFill>
                            <a:srgbClr val="595959"/>
                          </a:solidFill>
                          <a:effectLst/>
                          <a:latin typeface="微软雅黑" panose="020B0503020204020204" pitchFamily="34" charset="-122"/>
                          <a:ea typeface="微软雅黑" panose="020B0503020204020204" pitchFamily="34" charset="-122"/>
                        </a:rPr>
                        <a:t>相关说明</a:t>
                      </a:r>
                      <a:endParaRPr lang="zh-CN" sz="18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0000"/>
                  </a:ext>
                </a:extLst>
              </a:tr>
              <a:tr h="492562">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null</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空值，用于表示值不存在或未知</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0001"/>
                  </a:ext>
                </a:extLst>
              </a:tr>
              <a:tr h="492562">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regex</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正则表达式，用于存储正则表达式，便于通过正则表达式进行匹配查询</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0002"/>
                  </a:ext>
                </a:extLst>
              </a:tr>
              <a:tr h="492562">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en-US" altLang="zh-CN" sz="1800" b="0" kern="100" dirty="0" err="1">
                          <a:solidFill>
                            <a:srgbClr val="595959"/>
                          </a:solidFill>
                          <a:effectLst/>
                          <a:latin typeface="微软雅黑" panose="020B0503020204020204" pitchFamily="34" charset="-122"/>
                          <a:ea typeface="微软雅黑" panose="020B0503020204020204" pitchFamily="34" charset="-122"/>
                          <a:cs typeface="Times New Roman" panose="02020603050405020304"/>
                        </a:rPr>
                        <a:t>javascript</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defPPr>
                        <a:defRPr lang="zh-CN">
                          <a:solidFill>
                            <a:schemeClr val="dk1"/>
                          </a:solidFill>
                        </a:defRPr>
                      </a:defPPr>
                      <a:lvl1pPr marL="0" algn="l" defTabSz="1219200" rtl="0" eaLnBrk="1" latinLnBrk="0" hangingPunct="1">
                        <a:defRPr sz="2400" kern="1200">
                          <a:solidFill>
                            <a:schemeClr val="dk1"/>
                          </a:solidFill>
                          <a:latin typeface="+mn-lt"/>
                          <a:ea typeface="+mn-ea"/>
                          <a:cs typeface="+mn-cs"/>
                        </a:defRPr>
                      </a:lvl1pPr>
                      <a:lvl2pPr marL="609600" algn="l" defTabSz="1219200" rtl="0" eaLnBrk="1" latinLnBrk="0" hangingPunct="1">
                        <a:defRPr sz="2400" kern="1200">
                          <a:solidFill>
                            <a:schemeClr val="dk1"/>
                          </a:solidFill>
                          <a:latin typeface="+mn-lt"/>
                          <a:ea typeface="+mn-ea"/>
                          <a:cs typeface="+mn-cs"/>
                        </a:defRPr>
                      </a:lvl2pPr>
                      <a:lvl3pPr marL="1219200" algn="l" defTabSz="1219200" rtl="0" eaLnBrk="1" latinLnBrk="0" hangingPunct="1">
                        <a:defRPr sz="2400" kern="1200">
                          <a:solidFill>
                            <a:schemeClr val="dk1"/>
                          </a:solidFill>
                          <a:latin typeface="+mn-lt"/>
                          <a:ea typeface="+mn-ea"/>
                          <a:cs typeface="+mn-cs"/>
                        </a:defRPr>
                      </a:lvl3pPr>
                      <a:lvl4pPr marL="1828800" algn="l" defTabSz="1219200" rtl="0" eaLnBrk="1" latinLnBrk="0" hangingPunct="1">
                        <a:defRPr sz="2400" kern="1200">
                          <a:solidFill>
                            <a:schemeClr val="dk1"/>
                          </a:solidFill>
                          <a:latin typeface="+mn-lt"/>
                          <a:ea typeface="+mn-ea"/>
                          <a:cs typeface="+mn-cs"/>
                        </a:defRPr>
                      </a:lvl4pPr>
                      <a:lvl5pPr marL="2438400" algn="l" defTabSz="1219200" rtl="0" eaLnBrk="1" latinLnBrk="0" hangingPunct="1">
                        <a:defRPr sz="2400" kern="1200">
                          <a:solidFill>
                            <a:schemeClr val="dk1"/>
                          </a:solidFill>
                          <a:latin typeface="+mn-lt"/>
                          <a:ea typeface="+mn-ea"/>
                          <a:cs typeface="+mn-cs"/>
                        </a:defRPr>
                      </a:lvl5pPr>
                      <a:lvl6pPr marL="3048000" algn="l" defTabSz="1219200" rtl="0" eaLnBrk="1" latinLnBrk="0" hangingPunct="1">
                        <a:defRPr sz="2400" kern="1200">
                          <a:solidFill>
                            <a:schemeClr val="dk1"/>
                          </a:solidFill>
                          <a:latin typeface="+mn-lt"/>
                          <a:ea typeface="+mn-ea"/>
                          <a:cs typeface="+mn-cs"/>
                        </a:defRPr>
                      </a:lvl6pPr>
                      <a:lvl7pPr marL="3657600" algn="l" defTabSz="1219200" rtl="0" eaLnBrk="1" latinLnBrk="0" hangingPunct="1">
                        <a:defRPr sz="2400" kern="1200">
                          <a:solidFill>
                            <a:schemeClr val="dk1"/>
                          </a:solidFill>
                          <a:latin typeface="+mn-lt"/>
                          <a:ea typeface="+mn-ea"/>
                          <a:cs typeface="+mn-cs"/>
                        </a:defRPr>
                      </a:lvl7pPr>
                      <a:lvl8pPr marL="4267200" algn="l" defTabSz="1219200" rtl="0" eaLnBrk="1" latinLnBrk="0" hangingPunct="1">
                        <a:defRPr sz="2400" kern="1200">
                          <a:solidFill>
                            <a:schemeClr val="dk1"/>
                          </a:solidFill>
                          <a:latin typeface="+mn-lt"/>
                          <a:ea typeface="+mn-ea"/>
                          <a:cs typeface="+mn-cs"/>
                        </a:defRPr>
                      </a:lvl8pPr>
                      <a:lvl9pPr marL="4876800" algn="l" defTabSz="1219200" rtl="0" eaLnBrk="1" latinLnBrk="0" hangingPunct="1">
                        <a:defRPr sz="2400" kern="1200">
                          <a:solidFill>
                            <a:schemeClr val="dk1"/>
                          </a:solidFill>
                          <a:latin typeface="+mn-lt"/>
                          <a:ea typeface="+mn-ea"/>
                          <a:cs typeface="+mn-cs"/>
                        </a:defRPr>
                      </a:lvl9pPr>
                    </a:lstStyle>
                    <a:p>
                      <a:pPr indent="266700" algn="ctr">
                        <a:lnSpc>
                          <a:spcPct val="150000"/>
                        </a:lnSpc>
                        <a:spcAft>
                          <a:spcPts val="0"/>
                        </a:spcAft>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代码（</a:t>
                      </a: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Code</a:t>
                      </a: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），用于存储</a:t>
                      </a: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JavaScript</a:t>
                      </a: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函数</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0003"/>
                  </a:ext>
                </a:extLst>
              </a:tr>
              <a:tr h="492562">
                <a:tc>
                  <a:txBody>
                    <a:bodyPr/>
                    <a:lstStyle/>
                    <a:p>
                      <a:pPr indent="266700" algn="ctr">
                        <a:lnSpc>
                          <a:spcPct val="150000"/>
                        </a:lnSpc>
                        <a:spcAft>
                          <a:spcPts val="0"/>
                        </a:spcAft>
                      </a:pP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32</a:t>
                      </a: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位整型，取值范围</a:t>
                      </a: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[-2147483648,2147483647]</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293939027"/>
                  </a:ext>
                </a:extLst>
              </a:tr>
              <a:tr h="492562">
                <a:tc>
                  <a:txBody>
                    <a:bodyPr/>
                    <a:lstStyle/>
                    <a:p>
                      <a:pPr indent="266700" algn="ctr">
                        <a:lnSpc>
                          <a:spcPct val="150000"/>
                        </a:lnSpc>
                        <a:spcAft>
                          <a:spcPts val="0"/>
                        </a:spcAft>
                      </a:pP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long</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64</a:t>
                      </a: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位整型，取值范围</a:t>
                      </a: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[-9223372036854775808, 9223372036854775807]</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4082701832"/>
                  </a:ext>
                </a:extLst>
              </a:tr>
              <a:tr h="492562">
                <a:tc>
                  <a:txBody>
                    <a:bodyPr/>
                    <a:lstStyle/>
                    <a:p>
                      <a:pPr indent="266700" algn="ctr">
                        <a:lnSpc>
                          <a:spcPct val="150000"/>
                        </a:lnSpc>
                        <a:spcAft>
                          <a:spcPts val="0"/>
                        </a:spcAft>
                      </a:pP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decimal</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高精度浮点数（</a:t>
                      </a: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Decimal128</a:t>
                      </a: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），适合于金融、科学计算等领域</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283968180"/>
                  </a:ext>
                </a:extLst>
              </a:tr>
              <a:tr h="492562">
                <a:tc>
                  <a:txBody>
                    <a:bodyPr/>
                    <a:lstStyle/>
                    <a:p>
                      <a:pPr indent="266700" algn="ctr">
                        <a:lnSpc>
                          <a:spcPct val="150000"/>
                        </a:lnSpc>
                        <a:spcAft>
                          <a:spcPts val="0"/>
                        </a:spcAft>
                      </a:pPr>
                      <a:r>
                        <a:rPr lang="en-US" alt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timestamp</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时间戳，主要用于记录文档的修改和创建时间</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1229599091"/>
                  </a:ext>
                </a:extLst>
              </a:tr>
              <a:tr h="492562">
                <a:tc>
                  <a:txBody>
                    <a:bodyPr/>
                    <a:lstStyle/>
                    <a:p>
                      <a:pPr indent="266700" algn="ctr">
                        <a:lnSpc>
                          <a:spcPct val="150000"/>
                        </a:lnSpc>
                        <a:spcAft>
                          <a:spcPts val="0"/>
                        </a:spcAft>
                      </a:pPr>
                      <a:r>
                        <a:rPr lang="en-US" altLang="zh-CN" sz="1800" b="0" kern="100" dirty="0" err="1">
                          <a:solidFill>
                            <a:srgbClr val="595959"/>
                          </a:solidFill>
                          <a:effectLst/>
                          <a:latin typeface="微软雅黑" panose="020B0503020204020204" pitchFamily="34" charset="-122"/>
                          <a:ea typeface="微软雅黑" panose="020B0503020204020204" pitchFamily="34" charset="-122"/>
                          <a:cs typeface="Times New Roman" panose="02020603050405020304"/>
                        </a:rPr>
                        <a:t>minKey</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最小值，主要用于在比较或排序操作时标识最小值</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662737361"/>
                  </a:ext>
                </a:extLst>
              </a:tr>
              <a:tr h="492562">
                <a:tc>
                  <a:txBody>
                    <a:bodyPr/>
                    <a:lstStyle/>
                    <a:p>
                      <a:pPr indent="266700" algn="ctr">
                        <a:lnSpc>
                          <a:spcPct val="150000"/>
                        </a:lnSpc>
                        <a:spcAft>
                          <a:spcPts val="0"/>
                        </a:spcAft>
                      </a:pPr>
                      <a:r>
                        <a:rPr lang="en-US" altLang="zh-CN" sz="1800" b="0" kern="100" dirty="0" err="1">
                          <a:solidFill>
                            <a:srgbClr val="595959"/>
                          </a:solidFill>
                          <a:effectLst/>
                          <a:latin typeface="微软雅黑" panose="020B0503020204020204" pitchFamily="34" charset="-122"/>
                          <a:ea typeface="微软雅黑" panose="020B0503020204020204" pitchFamily="34" charset="-122"/>
                          <a:cs typeface="Times New Roman" panose="02020603050405020304"/>
                        </a:rPr>
                        <a:t>maxKey</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lnSpc>
                          <a:spcPct val="150000"/>
                        </a:lnSpc>
                        <a:spcAft>
                          <a:spcPts val="0"/>
                        </a:spcAft>
                      </a:pPr>
                      <a:r>
                        <a:rPr lang="zh-CN" altLang="en-US"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最大值，主要用于在比较或排序操作时标识最大值</a:t>
                      </a:r>
                      <a:endParaRPr lang="zh-CN" sz="18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extLst>
                  <a:ext uri="{0D108BD9-81ED-4DB2-BD59-A6C34878D82A}">
                    <a16:rowId xmlns:a16="http://schemas.microsoft.com/office/drawing/2014/main" val="2864595624"/>
                  </a:ext>
                </a:extLst>
              </a:tr>
            </a:tbl>
          </a:graphicData>
        </a:graphic>
      </p:graphicFrame>
    </p:spTree>
    <p:extLst>
      <p:ext uri="{BB962C8B-B14F-4D97-AF65-F5344CB8AC3E}">
        <p14:creationId xmlns:p14="http://schemas.microsoft.com/office/powerpoint/2010/main" val="393622271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原创设计师QQ598969553          _4">
            <a:extLst>
              <a:ext uri="{FF2B5EF4-FFF2-40B4-BE49-F238E27FC236}">
                <a16:creationId xmlns:a16="http://schemas.microsoft.com/office/drawing/2014/main" id="{1BF50578-A3D5-4966-877B-63BF3427FBA3}"/>
              </a:ext>
            </a:extLst>
          </p:cNvPr>
          <p:cNvSpPr/>
          <p:nvPr/>
        </p:nvSpPr>
        <p:spPr>
          <a:xfrm>
            <a:off x="910630" y="909514"/>
            <a:ext cx="9803973" cy="499624"/>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接下来，我们将对其中一些数据类型进行补充说明，具体内容如下。</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Title 1">
            <a:extLst>
              <a:ext uri="{FF2B5EF4-FFF2-40B4-BE49-F238E27FC236}">
                <a16:creationId xmlns:a16="http://schemas.microsoft.com/office/drawing/2014/main" id="{DB510004-0612-4437-957C-458C8556E645}"/>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的数据类型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5" name="组合 4">
            <a:extLst>
              <a:ext uri="{FF2B5EF4-FFF2-40B4-BE49-F238E27FC236}">
                <a16:creationId xmlns:a16="http://schemas.microsoft.com/office/drawing/2014/main" id="{58A8349D-822C-4B69-A9CC-6357E330A797}"/>
              </a:ext>
            </a:extLst>
          </p:cNvPr>
          <p:cNvGrpSpPr/>
          <p:nvPr/>
        </p:nvGrpSpPr>
        <p:grpSpPr>
          <a:xfrm>
            <a:off x="921439" y="1558991"/>
            <a:ext cx="1717383" cy="574659"/>
            <a:chOff x="975278" y="1969487"/>
            <a:chExt cx="1717383" cy="465192"/>
          </a:xfrm>
        </p:grpSpPr>
        <p:sp>
          <p:nvSpPr>
            <p:cNvPr id="6" name="圆角矩形 4">
              <a:extLst>
                <a:ext uri="{FF2B5EF4-FFF2-40B4-BE49-F238E27FC236}">
                  <a16:creationId xmlns:a16="http://schemas.microsoft.com/office/drawing/2014/main" id="{84420B2A-5901-420E-896C-B44E5C0F58B3}"/>
                </a:ext>
              </a:extLst>
            </p:cNvPr>
            <p:cNvSpPr/>
            <p:nvPr/>
          </p:nvSpPr>
          <p:spPr>
            <a:xfrm>
              <a:off x="1054100" y="1969487"/>
              <a:ext cx="1525905" cy="465192"/>
            </a:xfrm>
            <a:prstGeom prst="roundRect">
              <a:avLst/>
            </a:prstGeom>
            <a:solidFill>
              <a:srgbClr val="1369B2"/>
            </a:solidFill>
            <a:ln>
              <a:solidFill>
                <a:srgbClr val="FAFA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8" name="文本框 31">
              <a:extLst>
                <a:ext uri="{FF2B5EF4-FFF2-40B4-BE49-F238E27FC236}">
                  <a16:creationId xmlns:a16="http://schemas.microsoft.com/office/drawing/2014/main" id="{8CE76644-9F82-42EB-BA5D-1E13D53DBADE}"/>
                </a:ext>
              </a:extLst>
            </p:cNvPr>
            <p:cNvSpPr txBox="1"/>
            <p:nvPr/>
          </p:nvSpPr>
          <p:spPr>
            <a:xfrm flipH="1">
              <a:off x="975278" y="2035899"/>
              <a:ext cx="1717383" cy="323893"/>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日期类型</a:t>
              </a:r>
              <a:endParaRPr lang="en-US" altLang="zh-CN"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9" name="原创设计师QQ598969553          _4">
            <a:extLst>
              <a:ext uri="{FF2B5EF4-FFF2-40B4-BE49-F238E27FC236}">
                <a16:creationId xmlns:a16="http://schemas.microsoft.com/office/drawing/2014/main" id="{D9431241-0E1E-4D7A-A07A-8978869FB66C}"/>
              </a:ext>
            </a:extLst>
          </p:cNvPr>
          <p:cNvSpPr/>
          <p:nvPr/>
        </p:nvSpPr>
        <p:spPr>
          <a:xfrm>
            <a:off x="910630" y="2138082"/>
            <a:ext cx="9803973" cy="1884618"/>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默认使用</a:t>
            </a:r>
            <a:r>
              <a:rPr lang="en-US" altLang="zh-CN" sz="2000" dirty="0">
                <a:solidFill>
                  <a:srgbClr val="1369B2"/>
                </a:solidFill>
                <a:latin typeface="微软雅黑" panose="020B0503020204020204" pitchFamily="34" charset="-122"/>
                <a:ea typeface="微软雅黑" panose="020B0503020204020204" pitchFamily="34" charset="-122"/>
                <a:cs typeface="+mn-ea"/>
                <a:sym typeface="+mn-lt"/>
              </a:rPr>
              <a:t>UTC</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（协调世界时）存储日期类型的数据。这意味着无论在全球何处向</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插入日期类型的数据时，都会自动转换为</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UTC</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时间进行存储。在实际应用中，应用层在查询</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中日期类型的数据时，通常需要根据用户的</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时区</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进行相应的转换。</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24739990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B510004-0612-4437-957C-458C8556E645}"/>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的数据类型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5" name="组合 4">
            <a:extLst>
              <a:ext uri="{FF2B5EF4-FFF2-40B4-BE49-F238E27FC236}">
                <a16:creationId xmlns:a16="http://schemas.microsoft.com/office/drawing/2014/main" id="{58A8349D-822C-4B69-A9CC-6357E330A797}"/>
              </a:ext>
            </a:extLst>
          </p:cNvPr>
          <p:cNvGrpSpPr/>
          <p:nvPr/>
        </p:nvGrpSpPr>
        <p:grpSpPr>
          <a:xfrm>
            <a:off x="921439" y="1197546"/>
            <a:ext cx="1717383" cy="574659"/>
            <a:chOff x="975278" y="1969487"/>
            <a:chExt cx="1717383" cy="465192"/>
          </a:xfrm>
        </p:grpSpPr>
        <p:sp>
          <p:nvSpPr>
            <p:cNvPr id="6" name="圆角矩形 4">
              <a:extLst>
                <a:ext uri="{FF2B5EF4-FFF2-40B4-BE49-F238E27FC236}">
                  <a16:creationId xmlns:a16="http://schemas.microsoft.com/office/drawing/2014/main" id="{84420B2A-5901-420E-896C-B44E5C0F58B3}"/>
                </a:ext>
              </a:extLst>
            </p:cNvPr>
            <p:cNvSpPr/>
            <p:nvPr/>
          </p:nvSpPr>
          <p:spPr>
            <a:xfrm>
              <a:off x="1054100" y="1969487"/>
              <a:ext cx="1525905" cy="465192"/>
            </a:xfrm>
            <a:prstGeom prst="roundRect">
              <a:avLst/>
            </a:prstGeom>
            <a:solidFill>
              <a:srgbClr val="1369B2"/>
            </a:solidFill>
            <a:ln>
              <a:solidFill>
                <a:srgbClr val="FAFA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8" name="文本框 31">
              <a:extLst>
                <a:ext uri="{FF2B5EF4-FFF2-40B4-BE49-F238E27FC236}">
                  <a16:creationId xmlns:a16="http://schemas.microsoft.com/office/drawing/2014/main" id="{8CE76644-9F82-42EB-BA5D-1E13D53DBADE}"/>
                </a:ext>
              </a:extLst>
            </p:cNvPr>
            <p:cNvSpPr txBox="1"/>
            <p:nvPr/>
          </p:nvSpPr>
          <p:spPr>
            <a:xfrm flipH="1">
              <a:off x="975278" y="2035899"/>
              <a:ext cx="1717383" cy="323893"/>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数组类型</a:t>
              </a:r>
              <a:endParaRPr lang="en-US" altLang="zh-CN"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9" name="原创设计师QQ598969553          _4">
            <a:extLst>
              <a:ext uri="{FF2B5EF4-FFF2-40B4-BE49-F238E27FC236}">
                <a16:creationId xmlns:a16="http://schemas.microsoft.com/office/drawing/2014/main" id="{D9431241-0E1E-4D7A-A07A-8978869FB66C}"/>
              </a:ext>
            </a:extLst>
          </p:cNvPr>
          <p:cNvSpPr/>
          <p:nvPr/>
        </p:nvSpPr>
        <p:spPr>
          <a:xfrm>
            <a:off x="910630" y="1776637"/>
            <a:ext cx="9803973" cy="1422954"/>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数组类型允许在文档中存储</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有序的</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元素列表，每个元素可以</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重复</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，并且具有</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不同的</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数据类型。数组中的元素可以是任何</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支持的数据类型。例如，下面是一个包含数组类型数据的文档，数组中元素的数据类型包含字符串、整数、数组和对象。</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9">
            <a:extLst>
              <a:ext uri="{FF2B5EF4-FFF2-40B4-BE49-F238E27FC236}">
                <a16:creationId xmlns:a16="http://schemas.microsoft.com/office/drawing/2014/main" id="{E41CB009-7DDD-46D1-9791-E52FDD81BC90}"/>
              </a:ext>
            </a:extLst>
          </p:cNvPr>
          <p:cNvSpPr/>
          <p:nvPr/>
        </p:nvSpPr>
        <p:spPr>
          <a:xfrm>
            <a:off x="1918742" y="3357786"/>
            <a:ext cx="8424936" cy="31900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2" name="矩形 11">
            <a:extLst>
              <a:ext uri="{FF2B5EF4-FFF2-40B4-BE49-F238E27FC236}">
                <a16:creationId xmlns:a16="http://schemas.microsoft.com/office/drawing/2014/main" id="{39F4B4D5-8754-4702-98BC-050409A53577}"/>
              </a:ext>
            </a:extLst>
          </p:cNvPr>
          <p:cNvSpPr/>
          <p:nvPr/>
        </p:nvSpPr>
        <p:spPr>
          <a:xfrm>
            <a:off x="2495849" y="3285778"/>
            <a:ext cx="5118860" cy="3262047"/>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_id: ObjectId('66a34e98f3f47127a5c4e49e'),</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info: [</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全红婵</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2023,</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世界泳联跳水世界杯女子单人</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10</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米台冠军</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世界游泳锦标赛女子双人</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10</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米台冠军</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province: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广东省</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city: '</a:t>
            </a:r>
            <a:r>
              <a:rPr lang="zh-CN" altLang="en-US"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湛江市</a:t>
            </a: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p>
          <a:p>
            <a:pPr>
              <a:lnSpc>
                <a:spcPct val="130000"/>
              </a:lnSpc>
              <a:defRPr/>
            </a:pPr>
            <a:r>
              <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p>
        </p:txBody>
      </p:sp>
    </p:spTree>
    <p:extLst>
      <p:ext uri="{BB962C8B-B14F-4D97-AF65-F5344CB8AC3E}">
        <p14:creationId xmlns:p14="http://schemas.microsoft.com/office/powerpoint/2010/main" val="196999177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B510004-0612-4437-957C-458C8556E645}"/>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的数据类型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5" name="组合 4">
            <a:extLst>
              <a:ext uri="{FF2B5EF4-FFF2-40B4-BE49-F238E27FC236}">
                <a16:creationId xmlns:a16="http://schemas.microsoft.com/office/drawing/2014/main" id="{58A8349D-822C-4B69-A9CC-6357E330A797}"/>
              </a:ext>
            </a:extLst>
          </p:cNvPr>
          <p:cNvGrpSpPr/>
          <p:nvPr/>
        </p:nvGrpSpPr>
        <p:grpSpPr>
          <a:xfrm>
            <a:off x="921438" y="1053530"/>
            <a:ext cx="2005416" cy="574659"/>
            <a:chOff x="975277" y="1969487"/>
            <a:chExt cx="2005416" cy="465192"/>
          </a:xfrm>
        </p:grpSpPr>
        <p:sp>
          <p:nvSpPr>
            <p:cNvPr id="6" name="圆角矩形 4">
              <a:extLst>
                <a:ext uri="{FF2B5EF4-FFF2-40B4-BE49-F238E27FC236}">
                  <a16:creationId xmlns:a16="http://schemas.microsoft.com/office/drawing/2014/main" id="{84420B2A-5901-420E-896C-B44E5C0F58B3}"/>
                </a:ext>
              </a:extLst>
            </p:cNvPr>
            <p:cNvSpPr/>
            <p:nvPr/>
          </p:nvSpPr>
          <p:spPr>
            <a:xfrm>
              <a:off x="1054100" y="1969487"/>
              <a:ext cx="1926593" cy="465192"/>
            </a:xfrm>
            <a:prstGeom prst="roundRect">
              <a:avLst/>
            </a:prstGeom>
            <a:solidFill>
              <a:srgbClr val="1369B2"/>
            </a:solidFill>
            <a:ln>
              <a:solidFill>
                <a:srgbClr val="FAFA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8" name="文本框 31">
              <a:extLst>
                <a:ext uri="{FF2B5EF4-FFF2-40B4-BE49-F238E27FC236}">
                  <a16:creationId xmlns:a16="http://schemas.microsoft.com/office/drawing/2014/main" id="{8CE76644-9F82-42EB-BA5D-1E13D53DBADE}"/>
                </a:ext>
              </a:extLst>
            </p:cNvPr>
            <p:cNvSpPr txBox="1"/>
            <p:nvPr/>
          </p:nvSpPr>
          <p:spPr>
            <a:xfrm flipH="1">
              <a:off x="975277" y="2035899"/>
              <a:ext cx="2005415" cy="323893"/>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对象标识符类型</a:t>
              </a:r>
              <a:endParaRPr lang="en-US" altLang="zh-CN"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9" name="原创设计师QQ598969553          _4">
            <a:extLst>
              <a:ext uri="{FF2B5EF4-FFF2-40B4-BE49-F238E27FC236}">
                <a16:creationId xmlns:a16="http://schemas.microsoft.com/office/drawing/2014/main" id="{D9431241-0E1E-4D7A-A07A-8978869FB66C}"/>
              </a:ext>
            </a:extLst>
          </p:cNvPr>
          <p:cNvSpPr/>
          <p:nvPr/>
        </p:nvSpPr>
        <p:spPr>
          <a:xfrm>
            <a:off x="910630" y="1701602"/>
            <a:ext cx="9803973" cy="961289"/>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对象标识符</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是</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中一种特殊的数据类型，用于为每个文档生成</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唯一的</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标识符，该标识符的长度为</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12</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字节，每个字节由两个十六进制字符组成。格式如下。</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074" name="Picture 2" descr="C:\Users\16366\AppData\Local\Temp\ksohtml13656\wps8.jpg">
            <a:extLst>
              <a:ext uri="{FF2B5EF4-FFF2-40B4-BE49-F238E27FC236}">
                <a16:creationId xmlns:a16="http://schemas.microsoft.com/office/drawing/2014/main" id="{7BAD4297-F0FB-49BC-9AC6-056BF56683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6734" y="3364897"/>
            <a:ext cx="7766747" cy="1519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19481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B510004-0612-4437-957C-458C8556E645}"/>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的数据类型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5" name="组合 4">
            <a:extLst>
              <a:ext uri="{FF2B5EF4-FFF2-40B4-BE49-F238E27FC236}">
                <a16:creationId xmlns:a16="http://schemas.microsoft.com/office/drawing/2014/main" id="{58A8349D-822C-4B69-A9CC-6357E330A797}"/>
              </a:ext>
            </a:extLst>
          </p:cNvPr>
          <p:cNvGrpSpPr/>
          <p:nvPr/>
        </p:nvGrpSpPr>
        <p:grpSpPr>
          <a:xfrm>
            <a:off x="921438" y="1053530"/>
            <a:ext cx="2005416" cy="574659"/>
            <a:chOff x="975277" y="1969487"/>
            <a:chExt cx="2005416" cy="465192"/>
          </a:xfrm>
        </p:grpSpPr>
        <p:sp>
          <p:nvSpPr>
            <p:cNvPr id="6" name="圆角矩形 4">
              <a:extLst>
                <a:ext uri="{FF2B5EF4-FFF2-40B4-BE49-F238E27FC236}">
                  <a16:creationId xmlns:a16="http://schemas.microsoft.com/office/drawing/2014/main" id="{84420B2A-5901-420E-896C-B44E5C0F58B3}"/>
                </a:ext>
              </a:extLst>
            </p:cNvPr>
            <p:cNvSpPr/>
            <p:nvPr/>
          </p:nvSpPr>
          <p:spPr>
            <a:xfrm>
              <a:off x="1054100" y="1969487"/>
              <a:ext cx="1926593" cy="465192"/>
            </a:xfrm>
            <a:prstGeom prst="roundRect">
              <a:avLst/>
            </a:prstGeom>
            <a:solidFill>
              <a:srgbClr val="1369B2"/>
            </a:solidFill>
            <a:ln>
              <a:solidFill>
                <a:srgbClr val="FAFA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8" name="文本框 31">
              <a:extLst>
                <a:ext uri="{FF2B5EF4-FFF2-40B4-BE49-F238E27FC236}">
                  <a16:creationId xmlns:a16="http://schemas.microsoft.com/office/drawing/2014/main" id="{8CE76644-9F82-42EB-BA5D-1E13D53DBADE}"/>
                </a:ext>
              </a:extLst>
            </p:cNvPr>
            <p:cNvSpPr txBox="1"/>
            <p:nvPr/>
          </p:nvSpPr>
          <p:spPr>
            <a:xfrm flipH="1">
              <a:off x="975277" y="2035899"/>
              <a:ext cx="2005415" cy="323893"/>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代码类型</a:t>
              </a:r>
              <a:endParaRPr lang="en-US" altLang="zh-CN"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9" name="原创设计师QQ598969553          _4">
            <a:extLst>
              <a:ext uri="{FF2B5EF4-FFF2-40B4-BE49-F238E27FC236}">
                <a16:creationId xmlns:a16="http://schemas.microsoft.com/office/drawing/2014/main" id="{D9431241-0E1E-4D7A-A07A-8978869FB66C}"/>
              </a:ext>
            </a:extLst>
          </p:cNvPr>
          <p:cNvSpPr/>
          <p:nvPr/>
        </p:nvSpPr>
        <p:spPr>
          <a:xfrm>
            <a:off x="910630" y="1701602"/>
            <a:ext cx="9803973" cy="1653786"/>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3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在</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中，</a:t>
            </a:r>
            <a:r>
              <a:rPr lang="en-US" altLang="zh-CN" sz="2000" dirty="0">
                <a:solidFill>
                  <a:srgbClr val="1369B2"/>
                </a:solidFill>
                <a:latin typeface="微软雅黑" panose="020B0503020204020204" pitchFamily="34" charset="-122"/>
                <a:ea typeface="微软雅黑" panose="020B0503020204020204" pitchFamily="34" charset="-122"/>
                <a:cs typeface="+mn-ea"/>
                <a:sym typeface="+mn-lt"/>
              </a:rPr>
              <a:t>JavaScript</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函数</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可以作为文档中</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某个键的值</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进行存储，从而在数据处理过程中实现</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动态</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计算逻辑，为数据处理提供更大的灵活性。存储在文档中的</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JavaScript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函数支持</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重复调用</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。例如，在电商网站中，需要计算商品的折扣价格。可以将计算折扣的逻辑封装成一个</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JavaScript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函数，并存储在文档中，具体内容如下。</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9">
            <a:extLst>
              <a:ext uri="{FF2B5EF4-FFF2-40B4-BE49-F238E27FC236}">
                <a16:creationId xmlns:a16="http://schemas.microsoft.com/office/drawing/2014/main" id="{164AF4EC-D7D0-44BB-8335-2855AC8AE2B3}"/>
              </a:ext>
            </a:extLst>
          </p:cNvPr>
          <p:cNvSpPr/>
          <p:nvPr/>
        </p:nvSpPr>
        <p:spPr>
          <a:xfrm>
            <a:off x="1918742" y="3717826"/>
            <a:ext cx="8424936" cy="2829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2" name="矩形 11">
            <a:extLst>
              <a:ext uri="{FF2B5EF4-FFF2-40B4-BE49-F238E27FC236}">
                <a16:creationId xmlns:a16="http://schemas.microsoft.com/office/drawing/2014/main" id="{BFAA2CB9-A9B9-4E85-82E5-304F2C7D62DC}"/>
              </a:ext>
            </a:extLst>
          </p:cNvPr>
          <p:cNvSpPr/>
          <p:nvPr/>
        </p:nvSpPr>
        <p:spPr>
          <a:xfrm>
            <a:off x="2494806" y="3832258"/>
            <a:ext cx="7200800" cy="2301784"/>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_id: ObjectId('66a70211f8e9d7bad8c4e49c'),</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name: 'T-shirt',</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price: 20,</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discountRate: 0.1,</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calculate: Code('function() {return this.price * (1 - this.discountRate);}')</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extLst>
      <p:ext uri="{BB962C8B-B14F-4D97-AF65-F5344CB8AC3E}">
        <p14:creationId xmlns:p14="http://schemas.microsoft.com/office/powerpoint/2010/main" val="24934392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B510004-0612-4437-957C-458C8556E645}"/>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的数据类型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5" name="组合 4">
            <a:extLst>
              <a:ext uri="{FF2B5EF4-FFF2-40B4-BE49-F238E27FC236}">
                <a16:creationId xmlns:a16="http://schemas.microsoft.com/office/drawing/2014/main" id="{58A8349D-822C-4B69-A9CC-6357E330A797}"/>
              </a:ext>
            </a:extLst>
          </p:cNvPr>
          <p:cNvGrpSpPr/>
          <p:nvPr/>
        </p:nvGrpSpPr>
        <p:grpSpPr>
          <a:xfrm>
            <a:off x="921437" y="1053530"/>
            <a:ext cx="2221441" cy="574659"/>
            <a:chOff x="975276" y="1969487"/>
            <a:chExt cx="2221441" cy="465192"/>
          </a:xfrm>
        </p:grpSpPr>
        <p:sp>
          <p:nvSpPr>
            <p:cNvPr id="6" name="圆角矩形 4">
              <a:extLst>
                <a:ext uri="{FF2B5EF4-FFF2-40B4-BE49-F238E27FC236}">
                  <a16:creationId xmlns:a16="http://schemas.microsoft.com/office/drawing/2014/main" id="{84420B2A-5901-420E-896C-B44E5C0F58B3}"/>
                </a:ext>
              </a:extLst>
            </p:cNvPr>
            <p:cNvSpPr/>
            <p:nvPr/>
          </p:nvSpPr>
          <p:spPr>
            <a:xfrm>
              <a:off x="1054100" y="1969487"/>
              <a:ext cx="2142617" cy="465192"/>
            </a:xfrm>
            <a:prstGeom prst="roundRect">
              <a:avLst/>
            </a:prstGeom>
            <a:solidFill>
              <a:srgbClr val="1369B2"/>
            </a:solidFill>
            <a:ln>
              <a:solidFill>
                <a:srgbClr val="FAFA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8" name="文本框 31">
              <a:extLst>
                <a:ext uri="{FF2B5EF4-FFF2-40B4-BE49-F238E27FC236}">
                  <a16:creationId xmlns:a16="http://schemas.microsoft.com/office/drawing/2014/main" id="{8CE76644-9F82-42EB-BA5D-1E13D53DBADE}"/>
                </a:ext>
              </a:extLst>
            </p:cNvPr>
            <p:cNvSpPr txBox="1"/>
            <p:nvPr/>
          </p:nvSpPr>
          <p:spPr>
            <a:xfrm flipH="1">
              <a:off x="975276" y="2035899"/>
              <a:ext cx="2221440" cy="323893"/>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高精度浮点数类型</a:t>
              </a:r>
              <a:endParaRPr lang="en-US" altLang="zh-CN"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9" name="原创设计师QQ598969553          _4">
            <a:extLst>
              <a:ext uri="{FF2B5EF4-FFF2-40B4-BE49-F238E27FC236}">
                <a16:creationId xmlns:a16="http://schemas.microsoft.com/office/drawing/2014/main" id="{D9431241-0E1E-4D7A-A07A-8978869FB66C}"/>
              </a:ext>
            </a:extLst>
          </p:cNvPr>
          <p:cNvSpPr/>
          <p:nvPr/>
        </p:nvSpPr>
        <p:spPr>
          <a:xfrm>
            <a:off x="910630" y="1701602"/>
            <a:ext cx="9803973" cy="2053896"/>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30000"/>
              </a:lnSpc>
            </a:pP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高精度浮点数</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是一种基于</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IEEE 754-2008</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标准的</a:t>
            </a:r>
            <a:r>
              <a:rPr lang="en-US" altLang="zh-CN" sz="2000" dirty="0">
                <a:solidFill>
                  <a:srgbClr val="1369B2"/>
                </a:solidFill>
                <a:latin typeface="微软雅黑" panose="020B0503020204020204" pitchFamily="34" charset="-122"/>
                <a:ea typeface="微软雅黑" panose="020B0503020204020204" pitchFamily="34" charset="-122"/>
                <a:cs typeface="+mn-ea"/>
                <a:sym typeface="+mn-lt"/>
              </a:rPr>
              <a:t>128</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位十进制</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浮点数类型，它能够精确表示范围极广的十进制数值，有效解决了双精度浮点数类型在处理十进制数时可能出现的精度丢失和舍入误差问题。高精度浮点数支持</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34</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位有效数字，指数范围为</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[-6143,6144]</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，特别适用于对精度要求极高的金融、科学计算等领域。例如，通过高精度浮点数类型在文档中存储</a:t>
            </a:r>
            <a:r>
              <a:rPr lang="en-US" altLang="zh-CN" sz="2000" dirty="0">
                <a:solidFill>
                  <a:srgbClr val="1369B2"/>
                </a:solidFill>
                <a:latin typeface="微软雅黑" panose="020B0503020204020204" pitchFamily="34" charset="-122"/>
                <a:ea typeface="微软雅黑" panose="020B0503020204020204" pitchFamily="34" charset="-122"/>
                <a:cs typeface="+mn-ea"/>
                <a:sym typeface="+mn-lt"/>
              </a:rPr>
              <a:t>π</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精确到小数点后</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32</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位的值，具体内容如下。</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9">
            <a:extLst>
              <a:ext uri="{FF2B5EF4-FFF2-40B4-BE49-F238E27FC236}">
                <a16:creationId xmlns:a16="http://schemas.microsoft.com/office/drawing/2014/main" id="{164AF4EC-D7D0-44BB-8335-2855AC8AE2B3}"/>
              </a:ext>
            </a:extLst>
          </p:cNvPr>
          <p:cNvSpPr/>
          <p:nvPr/>
        </p:nvSpPr>
        <p:spPr>
          <a:xfrm>
            <a:off x="1918742" y="4005858"/>
            <a:ext cx="8424936" cy="25419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2" name="矩形 11">
            <a:extLst>
              <a:ext uri="{FF2B5EF4-FFF2-40B4-BE49-F238E27FC236}">
                <a16:creationId xmlns:a16="http://schemas.microsoft.com/office/drawing/2014/main" id="{BFAA2CB9-A9B9-4E85-82E5-304F2C7D62DC}"/>
              </a:ext>
            </a:extLst>
          </p:cNvPr>
          <p:cNvSpPr/>
          <p:nvPr/>
        </p:nvSpPr>
        <p:spPr>
          <a:xfrm>
            <a:off x="2638822" y="4446036"/>
            <a:ext cx="6480720" cy="1661609"/>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_id: ObjectId('66a70ab3f8e9d7bad8c4e4a0'),</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name: 'pi',</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value: Decimal128('3.14159265358979323846264338327950')</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extLst>
      <p:ext uri="{BB962C8B-B14F-4D97-AF65-F5344CB8AC3E}">
        <p14:creationId xmlns:p14="http://schemas.microsoft.com/office/powerpoint/2010/main" val="132239330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B510004-0612-4437-957C-458C8556E645}"/>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的数据类型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5" name="组合 4">
            <a:extLst>
              <a:ext uri="{FF2B5EF4-FFF2-40B4-BE49-F238E27FC236}">
                <a16:creationId xmlns:a16="http://schemas.microsoft.com/office/drawing/2014/main" id="{58A8349D-822C-4B69-A9CC-6357E330A797}"/>
              </a:ext>
            </a:extLst>
          </p:cNvPr>
          <p:cNvGrpSpPr/>
          <p:nvPr/>
        </p:nvGrpSpPr>
        <p:grpSpPr>
          <a:xfrm>
            <a:off x="990041" y="1053530"/>
            <a:ext cx="1648781" cy="574659"/>
            <a:chOff x="1054100" y="1969487"/>
            <a:chExt cx="1894411" cy="465192"/>
          </a:xfrm>
        </p:grpSpPr>
        <p:sp>
          <p:nvSpPr>
            <p:cNvPr id="6" name="圆角矩形 4">
              <a:extLst>
                <a:ext uri="{FF2B5EF4-FFF2-40B4-BE49-F238E27FC236}">
                  <a16:creationId xmlns:a16="http://schemas.microsoft.com/office/drawing/2014/main" id="{84420B2A-5901-420E-896C-B44E5C0F58B3}"/>
                </a:ext>
              </a:extLst>
            </p:cNvPr>
            <p:cNvSpPr/>
            <p:nvPr/>
          </p:nvSpPr>
          <p:spPr>
            <a:xfrm>
              <a:off x="1054100" y="1969487"/>
              <a:ext cx="1894411" cy="465192"/>
            </a:xfrm>
            <a:prstGeom prst="roundRect">
              <a:avLst/>
            </a:prstGeom>
            <a:solidFill>
              <a:srgbClr val="1369B2"/>
            </a:solidFill>
            <a:ln>
              <a:solidFill>
                <a:srgbClr val="FAFA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8" name="文本框 31">
              <a:extLst>
                <a:ext uri="{FF2B5EF4-FFF2-40B4-BE49-F238E27FC236}">
                  <a16:creationId xmlns:a16="http://schemas.microsoft.com/office/drawing/2014/main" id="{8CE76644-9F82-42EB-BA5D-1E13D53DBADE}"/>
                </a:ext>
              </a:extLst>
            </p:cNvPr>
            <p:cNvSpPr txBox="1"/>
            <p:nvPr/>
          </p:nvSpPr>
          <p:spPr>
            <a:xfrm flipH="1">
              <a:off x="1076382" y="2035899"/>
              <a:ext cx="1789393" cy="323893"/>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ctr"/>
              <a:r>
                <a:rPr lang="zh-CN" altLang="en-US"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时间戳类型</a:t>
              </a:r>
              <a:endParaRPr lang="en-US" altLang="zh-CN" sz="20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9" name="原创设计师QQ598969553          _4">
            <a:extLst>
              <a:ext uri="{FF2B5EF4-FFF2-40B4-BE49-F238E27FC236}">
                <a16:creationId xmlns:a16="http://schemas.microsoft.com/office/drawing/2014/main" id="{D9431241-0E1E-4D7A-A07A-8978869FB66C}"/>
              </a:ext>
            </a:extLst>
          </p:cNvPr>
          <p:cNvSpPr/>
          <p:nvPr/>
        </p:nvSpPr>
        <p:spPr>
          <a:xfrm>
            <a:off x="910630" y="1701602"/>
            <a:ext cx="9803973" cy="1653786"/>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30000"/>
              </a:lnSpc>
            </a:pP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时间戳</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是</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内部使用的一种</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特殊数据类型</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，主要用于</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记录文档操作的时间</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和</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顺序</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。它由两个</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32</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位整数组成，其中第一个整数是时间戳（单位为秒），表示文档操作的时间；第二个整数是增量部分，表示文档操作的顺序，主要用于区分同一秒内多个操作的先后顺序。例如，如下是一个包含时间戳类型数据的文档。</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矩形 9">
            <a:extLst>
              <a:ext uri="{FF2B5EF4-FFF2-40B4-BE49-F238E27FC236}">
                <a16:creationId xmlns:a16="http://schemas.microsoft.com/office/drawing/2014/main" id="{164AF4EC-D7D0-44BB-8335-2855AC8AE2B3}"/>
              </a:ext>
            </a:extLst>
          </p:cNvPr>
          <p:cNvSpPr/>
          <p:nvPr/>
        </p:nvSpPr>
        <p:spPr>
          <a:xfrm>
            <a:off x="1918742" y="3645818"/>
            <a:ext cx="8424936" cy="2829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2" name="矩形 11">
            <a:extLst>
              <a:ext uri="{FF2B5EF4-FFF2-40B4-BE49-F238E27FC236}">
                <a16:creationId xmlns:a16="http://schemas.microsoft.com/office/drawing/2014/main" id="{BFAA2CB9-A9B9-4E85-82E5-304F2C7D62DC}"/>
              </a:ext>
            </a:extLst>
          </p:cNvPr>
          <p:cNvSpPr/>
          <p:nvPr/>
        </p:nvSpPr>
        <p:spPr>
          <a:xfrm>
            <a:off x="2494806" y="4040386"/>
            <a:ext cx="6480720" cy="1981696"/>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_id: ObjectId('66a70e3bf8e9d7bad8c4e4a1'),</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name: 'pi',</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value: Decimal128('3.14159265358979323846264338327950'),</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ts: Timestamp({ t: 1722224187, i: 1 })</a:t>
            </a:r>
          </a:p>
          <a:p>
            <a:pPr>
              <a:lnSpc>
                <a:spcPct val="130000"/>
              </a:lnSpc>
              <a:defRPr/>
            </a:pPr>
            <a:r>
              <a:rPr lang="it-IT"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extLst>
      <p:ext uri="{BB962C8B-B14F-4D97-AF65-F5344CB8AC3E}">
        <p14:creationId xmlns:p14="http://schemas.microsoft.com/office/powerpoint/2010/main" val="326225941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的特点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a:extLst>
              <a:ext uri="{FF2B5EF4-FFF2-40B4-BE49-F238E27FC236}">
                <a16:creationId xmlns:a16="http://schemas.microsoft.com/office/drawing/2014/main" id="{99B92689-AAFF-4A7F-8A03-F9D0179F14B7}"/>
              </a:ext>
            </a:extLst>
          </p:cNvPr>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a:extLst>
              <a:ext uri="{FF2B5EF4-FFF2-40B4-BE49-F238E27FC236}">
                <a16:creationId xmlns:a16="http://schemas.microsoft.com/office/drawing/2014/main" id="{1BF50578-A3D5-4966-877B-63BF3427FBA3}"/>
              </a:ext>
            </a:extLst>
          </p:cNvPr>
          <p:cNvSpPr/>
          <p:nvPr/>
        </p:nvSpPr>
        <p:spPr>
          <a:xfrm>
            <a:off x="899745" y="3501802"/>
            <a:ext cx="4504046" cy="1689052"/>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熟悉</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特点，能够描述</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高性能</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高可用性</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高扩展性</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等特点的含义。</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a:extLst>
              <a:ext uri="{FF2B5EF4-FFF2-40B4-BE49-F238E27FC236}">
                <a16:creationId xmlns:a16="http://schemas.microsoft.com/office/drawing/2014/main" id="{020973F8-4621-4A07-826E-365CA6E6D17C}"/>
              </a:ext>
            </a:extLst>
          </p:cNvPr>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p>
        </p:txBody>
      </p:sp>
      <p:pic>
        <p:nvPicPr>
          <p:cNvPr id="30" name="图片 29">
            <a:extLst>
              <a:ext uri="{FF2B5EF4-FFF2-40B4-BE49-F238E27FC236}">
                <a16:creationId xmlns:a16="http://schemas.microsoft.com/office/drawing/2014/main" id="{98D55183-397A-4AF5-BF4A-88669910A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extLst>
      <p:ext uri="{BB962C8B-B14F-4D97-AF65-F5344CB8AC3E}">
        <p14:creationId xmlns:p14="http://schemas.microsoft.com/office/powerpoint/2010/main" val="19237158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DA2142E8-6253-4CF8-A6D1-8DF3DF3B6060}"/>
              </a:ext>
            </a:extLst>
          </p:cNvPr>
          <p:cNvGrpSpPr/>
          <p:nvPr/>
        </p:nvGrpSpPr>
        <p:grpSpPr>
          <a:xfrm>
            <a:off x="4334197" y="1691017"/>
            <a:ext cx="3633306" cy="3489263"/>
            <a:chOff x="4279345" y="1987898"/>
            <a:chExt cx="3633306" cy="3489263"/>
          </a:xfrm>
        </p:grpSpPr>
        <p:sp>
          <p:nvSpPr>
            <p:cNvPr id="61" name="Freeform 6">
              <a:extLst>
                <a:ext uri="{FF2B5EF4-FFF2-40B4-BE49-F238E27FC236}">
                  <a16:creationId xmlns:a16="http://schemas.microsoft.com/office/drawing/2014/main" id="{80434BC6-8391-49C9-BE48-0A8E07A26127}"/>
                </a:ext>
              </a:extLst>
            </p:cNvPr>
            <p:cNvSpPr/>
            <p:nvPr/>
          </p:nvSpPr>
          <p:spPr bwMode="auto">
            <a:xfrm>
              <a:off x="6730633" y="3053229"/>
              <a:ext cx="1182018" cy="1364059"/>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2" name="Freeform 7">
              <a:extLst>
                <a:ext uri="{FF2B5EF4-FFF2-40B4-BE49-F238E27FC236}">
                  <a16:creationId xmlns:a16="http://schemas.microsoft.com/office/drawing/2014/main" id="{F825656A-2D02-45A7-A1BB-FE4E0F7088F1}"/>
                </a:ext>
              </a:extLst>
            </p:cNvPr>
            <p:cNvSpPr/>
            <p:nvPr/>
          </p:nvSpPr>
          <p:spPr bwMode="auto">
            <a:xfrm>
              <a:off x="4279345" y="3053229"/>
              <a:ext cx="1180655" cy="1364059"/>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3" name="Freeform 8">
              <a:extLst>
                <a:ext uri="{FF2B5EF4-FFF2-40B4-BE49-F238E27FC236}">
                  <a16:creationId xmlns:a16="http://schemas.microsoft.com/office/drawing/2014/main" id="{E589EEFA-DA44-4200-980B-6B8EDD766ED1}"/>
                </a:ext>
              </a:extLst>
            </p:cNvPr>
            <p:cNvSpPr/>
            <p:nvPr/>
          </p:nvSpPr>
          <p:spPr bwMode="auto">
            <a:xfrm>
              <a:off x="4891486" y="1987898"/>
              <a:ext cx="1180655" cy="1365423"/>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4" name="Freeform 9">
              <a:extLst>
                <a:ext uri="{FF2B5EF4-FFF2-40B4-BE49-F238E27FC236}">
                  <a16:creationId xmlns:a16="http://schemas.microsoft.com/office/drawing/2014/main" id="{64EACA3E-F8DA-4F45-9FF5-9CE084272D4F}"/>
                </a:ext>
              </a:extLst>
            </p:cNvPr>
            <p:cNvSpPr/>
            <p:nvPr/>
          </p:nvSpPr>
          <p:spPr bwMode="auto">
            <a:xfrm>
              <a:off x="6119857" y="1987898"/>
              <a:ext cx="1180655" cy="1365423"/>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5" name="Freeform 10">
              <a:extLst>
                <a:ext uri="{FF2B5EF4-FFF2-40B4-BE49-F238E27FC236}">
                  <a16:creationId xmlns:a16="http://schemas.microsoft.com/office/drawing/2014/main" id="{622D1A7D-0B16-4482-A439-21F40C504942}"/>
                </a:ext>
              </a:extLst>
            </p:cNvPr>
            <p:cNvSpPr/>
            <p:nvPr/>
          </p:nvSpPr>
          <p:spPr bwMode="auto">
            <a:xfrm>
              <a:off x="4891486" y="4111738"/>
              <a:ext cx="1180655" cy="1365423"/>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chemeClr val="bg1"/>
            </a:solidFill>
            <a:ln w="25400" cap="flat" cmpd="sng" algn="ctr">
              <a:noFill/>
              <a:prstDash val="solid"/>
            </a:ln>
            <a:effectLst>
              <a:outerShdw blurRad="190500" dist="38100" dir="2700000" algn="tl" rotWithShape="0">
                <a:prstClr val="black">
                  <a:alpha val="20000"/>
                </a:prst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6" name="Freeform 11">
              <a:extLst>
                <a:ext uri="{FF2B5EF4-FFF2-40B4-BE49-F238E27FC236}">
                  <a16:creationId xmlns:a16="http://schemas.microsoft.com/office/drawing/2014/main" id="{BEF166E4-2067-440A-B285-E903139C6F93}"/>
                </a:ext>
              </a:extLst>
            </p:cNvPr>
            <p:cNvSpPr/>
            <p:nvPr/>
          </p:nvSpPr>
          <p:spPr bwMode="auto">
            <a:xfrm>
              <a:off x="6119857" y="4111738"/>
              <a:ext cx="1180655" cy="1365423"/>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rgbClr val="0070C0"/>
            </a:solidFill>
            <a:ln w="25400" cap="flat" cmpd="sng" algn="ctr">
              <a:noFill/>
              <a:prstDash val="solid"/>
            </a:ln>
            <a:effectLst>
              <a:outerShdw blurRad="190500" dist="38100" dir="2700000" algn="tl" rotWithShape="0">
                <a:prstClr val="black">
                  <a:alpha val="20000"/>
                </a:prstClr>
              </a:outerShdw>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7" name="Freeform 13">
              <a:extLst>
                <a:ext uri="{FF2B5EF4-FFF2-40B4-BE49-F238E27FC236}">
                  <a16:creationId xmlns:a16="http://schemas.microsoft.com/office/drawing/2014/main" id="{735E4DC8-3105-4007-8170-CE951921195B}"/>
                </a:ext>
              </a:extLst>
            </p:cNvPr>
            <p:cNvSpPr>
              <a:spLocks noEditPoints="1"/>
            </p:cNvSpPr>
            <p:nvPr/>
          </p:nvSpPr>
          <p:spPr bwMode="auto">
            <a:xfrm>
              <a:off x="4628361" y="3477450"/>
              <a:ext cx="526251" cy="519707"/>
            </a:xfrm>
            <a:custGeom>
              <a:avLst/>
              <a:gdLst>
                <a:gd name="T0" fmla="*/ 909 w 1006"/>
                <a:gd name="T1" fmla="*/ 858 h 995"/>
                <a:gd name="T2" fmla="*/ 805 w 1006"/>
                <a:gd name="T3" fmla="*/ 858 h 995"/>
                <a:gd name="T4" fmla="*/ 969 w 1006"/>
                <a:gd name="T5" fmla="*/ 97 h 995"/>
                <a:gd name="T6" fmla="*/ 834 w 1006"/>
                <a:gd name="T7" fmla="*/ 0 h 995"/>
                <a:gd name="T8" fmla="*/ 472 w 1006"/>
                <a:gd name="T9" fmla="*/ 323 h 995"/>
                <a:gd name="T10" fmla="*/ 421 w 1006"/>
                <a:gd name="T11" fmla="*/ 397 h 995"/>
                <a:gd name="T12" fmla="*/ 376 w 1006"/>
                <a:gd name="T13" fmla="*/ 419 h 995"/>
                <a:gd name="T14" fmla="*/ 381 w 1006"/>
                <a:gd name="T15" fmla="*/ 556 h 995"/>
                <a:gd name="T16" fmla="*/ 89 w 1006"/>
                <a:gd name="T17" fmla="*/ 810 h 995"/>
                <a:gd name="T18" fmla="*/ 57 w 1006"/>
                <a:gd name="T19" fmla="*/ 995 h 995"/>
                <a:gd name="T20" fmla="*/ 208 w 1006"/>
                <a:gd name="T21" fmla="*/ 844 h 995"/>
                <a:gd name="T22" fmla="*/ 445 w 1006"/>
                <a:gd name="T23" fmla="*/ 621 h 995"/>
                <a:gd name="T24" fmla="*/ 578 w 1006"/>
                <a:gd name="T25" fmla="*/ 621 h 995"/>
                <a:gd name="T26" fmla="*/ 616 w 1006"/>
                <a:gd name="T27" fmla="*/ 537 h 995"/>
                <a:gd name="T28" fmla="*/ 674 w 1006"/>
                <a:gd name="T29" fmla="*/ 525 h 995"/>
                <a:gd name="T30" fmla="*/ 969 w 1006"/>
                <a:gd name="T31" fmla="*/ 97 h 995"/>
                <a:gd name="T32" fmla="*/ 392 w 1006"/>
                <a:gd name="T33" fmla="*/ 325 h 995"/>
                <a:gd name="T34" fmla="*/ 404 w 1006"/>
                <a:gd name="T35" fmla="*/ 312 h 995"/>
                <a:gd name="T36" fmla="*/ 436 w 1006"/>
                <a:gd name="T37" fmla="*/ 281 h 995"/>
                <a:gd name="T38" fmla="*/ 215 w 1006"/>
                <a:gd name="T39" fmla="*/ 1 h 995"/>
                <a:gd name="T40" fmla="*/ 280 w 1006"/>
                <a:gd name="T41" fmla="*/ 160 h 995"/>
                <a:gd name="T42" fmla="*/ 21 w 1006"/>
                <a:gd name="T43" fmla="*/ 195 h 995"/>
                <a:gd name="T44" fmla="*/ 232 w 1006"/>
                <a:gd name="T45" fmla="*/ 447 h 995"/>
                <a:gd name="T46" fmla="*/ 303 w 1006"/>
                <a:gd name="T47" fmla="*/ 433 h 995"/>
                <a:gd name="T48" fmla="*/ 363 w 1006"/>
                <a:gd name="T49" fmla="*/ 354 h 995"/>
                <a:gd name="T50" fmla="*/ 672 w 1006"/>
                <a:gd name="T51" fmla="*/ 606 h 995"/>
                <a:gd name="T52" fmla="*/ 617 w 1006"/>
                <a:gd name="T53" fmla="*/ 660 h 995"/>
                <a:gd name="T54" fmla="*/ 741 w 1006"/>
                <a:gd name="T55" fmla="*/ 871 h 995"/>
                <a:gd name="T56" fmla="*/ 869 w 1006"/>
                <a:gd name="T57" fmla="*/ 995 h 995"/>
                <a:gd name="T58" fmla="*/ 980 w 1006"/>
                <a:gd name="T59" fmla="*/ 825 h 995"/>
                <a:gd name="T60" fmla="*/ 702 w 1006"/>
                <a:gd name="T61" fmla="*/ 576 h 995"/>
                <a:gd name="T62" fmla="*/ 658 w 1006"/>
                <a:gd name="T63" fmla="*/ 579 h 9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06" h="995">
                  <a:moveTo>
                    <a:pt x="857" y="806"/>
                  </a:moveTo>
                  <a:cubicBezTo>
                    <a:pt x="886" y="806"/>
                    <a:pt x="909" y="829"/>
                    <a:pt x="909" y="858"/>
                  </a:cubicBezTo>
                  <a:cubicBezTo>
                    <a:pt x="909" y="887"/>
                    <a:pt x="886" y="910"/>
                    <a:pt x="857" y="910"/>
                  </a:cubicBezTo>
                  <a:cubicBezTo>
                    <a:pt x="828" y="910"/>
                    <a:pt x="805" y="887"/>
                    <a:pt x="805" y="858"/>
                  </a:cubicBezTo>
                  <a:cubicBezTo>
                    <a:pt x="805" y="829"/>
                    <a:pt x="828" y="806"/>
                    <a:pt x="857" y="806"/>
                  </a:cubicBezTo>
                  <a:close/>
                  <a:moveTo>
                    <a:pt x="969" y="97"/>
                  </a:moveTo>
                  <a:lnTo>
                    <a:pt x="900" y="28"/>
                  </a:lnTo>
                  <a:cubicBezTo>
                    <a:pt x="882" y="9"/>
                    <a:pt x="858" y="0"/>
                    <a:pt x="834" y="0"/>
                  </a:cubicBezTo>
                  <a:cubicBezTo>
                    <a:pt x="810" y="0"/>
                    <a:pt x="786" y="9"/>
                    <a:pt x="767" y="28"/>
                  </a:cubicBezTo>
                  <a:lnTo>
                    <a:pt x="472" y="323"/>
                  </a:lnTo>
                  <a:cubicBezTo>
                    <a:pt x="481" y="340"/>
                    <a:pt x="475" y="367"/>
                    <a:pt x="460" y="381"/>
                  </a:cubicBezTo>
                  <a:cubicBezTo>
                    <a:pt x="451" y="391"/>
                    <a:pt x="435" y="397"/>
                    <a:pt x="421" y="397"/>
                  </a:cubicBezTo>
                  <a:cubicBezTo>
                    <a:pt x="414" y="397"/>
                    <a:pt x="408" y="396"/>
                    <a:pt x="402" y="393"/>
                  </a:cubicBezTo>
                  <a:lnTo>
                    <a:pt x="376" y="419"/>
                  </a:lnTo>
                  <a:cubicBezTo>
                    <a:pt x="340" y="455"/>
                    <a:pt x="340" y="515"/>
                    <a:pt x="376" y="552"/>
                  </a:cubicBezTo>
                  <a:lnTo>
                    <a:pt x="381" y="556"/>
                  </a:lnTo>
                  <a:lnTo>
                    <a:pt x="151" y="787"/>
                  </a:lnTo>
                  <a:lnTo>
                    <a:pt x="89" y="810"/>
                  </a:lnTo>
                  <a:lnTo>
                    <a:pt x="0" y="938"/>
                  </a:lnTo>
                  <a:lnTo>
                    <a:pt x="57" y="995"/>
                  </a:lnTo>
                  <a:lnTo>
                    <a:pt x="185" y="906"/>
                  </a:lnTo>
                  <a:lnTo>
                    <a:pt x="208" y="844"/>
                  </a:lnTo>
                  <a:lnTo>
                    <a:pt x="439" y="614"/>
                  </a:lnTo>
                  <a:lnTo>
                    <a:pt x="445" y="621"/>
                  </a:lnTo>
                  <a:cubicBezTo>
                    <a:pt x="464" y="639"/>
                    <a:pt x="488" y="648"/>
                    <a:pt x="512" y="648"/>
                  </a:cubicBezTo>
                  <a:cubicBezTo>
                    <a:pt x="536" y="648"/>
                    <a:pt x="560" y="639"/>
                    <a:pt x="578" y="621"/>
                  </a:cubicBezTo>
                  <a:lnTo>
                    <a:pt x="604" y="595"/>
                  </a:lnTo>
                  <a:cubicBezTo>
                    <a:pt x="596" y="577"/>
                    <a:pt x="602" y="551"/>
                    <a:pt x="616" y="537"/>
                  </a:cubicBezTo>
                  <a:cubicBezTo>
                    <a:pt x="626" y="527"/>
                    <a:pt x="642" y="521"/>
                    <a:pt x="656" y="521"/>
                  </a:cubicBezTo>
                  <a:cubicBezTo>
                    <a:pt x="662" y="521"/>
                    <a:pt x="669" y="522"/>
                    <a:pt x="674" y="525"/>
                  </a:cubicBezTo>
                  <a:lnTo>
                    <a:pt x="969" y="230"/>
                  </a:lnTo>
                  <a:cubicBezTo>
                    <a:pt x="1006" y="193"/>
                    <a:pt x="1006" y="133"/>
                    <a:pt x="969" y="97"/>
                  </a:cubicBezTo>
                  <a:close/>
                  <a:moveTo>
                    <a:pt x="363" y="354"/>
                  </a:moveTo>
                  <a:lnTo>
                    <a:pt x="392" y="325"/>
                  </a:lnTo>
                  <a:lnTo>
                    <a:pt x="418" y="338"/>
                  </a:lnTo>
                  <a:lnTo>
                    <a:pt x="404" y="312"/>
                  </a:lnTo>
                  <a:lnTo>
                    <a:pt x="433" y="284"/>
                  </a:lnTo>
                  <a:lnTo>
                    <a:pt x="436" y="281"/>
                  </a:lnTo>
                  <a:cubicBezTo>
                    <a:pt x="442" y="264"/>
                    <a:pt x="446" y="248"/>
                    <a:pt x="446" y="233"/>
                  </a:cubicBezTo>
                  <a:cubicBezTo>
                    <a:pt x="446" y="115"/>
                    <a:pt x="333" y="0"/>
                    <a:pt x="215" y="1"/>
                  </a:cubicBezTo>
                  <a:cubicBezTo>
                    <a:pt x="214" y="1"/>
                    <a:pt x="201" y="15"/>
                    <a:pt x="193" y="22"/>
                  </a:cubicBezTo>
                  <a:cubicBezTo>
                    <a:pt x="288" y="117"/>
                    <a:pt x="280" y="102"/>
                    <a:pt x="280" y="160"/>
                  </a:cubicBezTo>
                  <a:cubicBezTo>
                    <a:pt x="280" y="207"/>
                    <a:pt x="205" y="282"/>
                    <a:pt x="159" y="282"/>
                  </a:cubicBezTo>
                  <a:cubicBezTo>
                    <a:pt x="99" y="282"/>
                    <a:pt x="118" y="291"/>
                    <a:pt x="21" y="195"/>
                  </a:cubicBezTo>
                  <a:cubicBezTo>
                    <a:pt x="14" y="202"/>
                    <a:pt x="0" y="215"/>
                    <a:pt x="0" y="216"/>
                  </a:cubicBezTo>
                  <a:cubicBezTo>
                    <a:pt x="2" y="334"/>
                    <a:pt x="113" y="447"/>
                    <a:pt x="232" y="447"/>
                  </a:cubicBezTo>
                  <a:cubicBezTo>
                    <a:pt x="253" y="447"/>
                    <a:pt x="276" y="440"/>
                    <a:pt x="299" y="429"/>
                  </a:cubicBezTo>
                  <a:lnTo>
                    <a:pt x="303" y="433"/>
                  </a:lnTo>
                  <a:cubicBezTo>
                    <a:pt x="310" y="414"/>
                    <a:pt x="322" y="395"/>
                    <a:pt x="337" y="380"/>
                  </a:cubicBezTo>
                  <a:lnTo>
                    <a:pt x="363" y="354"/>
                  </a:lnTo>
                  <a:close/>
                  <a:moveTo>
                    <a:pt x="658" y="579"/>
                  </a:moveTo>
                  <a:lnTo>
                    <a:pt x="672" y="606"/>
                  </a:lnTo>
                  <a:lnTo>
                    <a:pt x="644" y="634"/>
                  </a:lnTo>
                  <a:lnTo>
                    <a:pt x="617" y="660"/>
                  </a:lnTo>
                  <a:cubicBezTo>
                    <a:pt x="602" y="675"/>
                    <a:pt x="584" y="687"/>
                    <a:pt x="564" y="694"/>
                  </a:cubicBezTo>
                  <a:lnTo>
                    <a:pt x="741" y="871"/>
                  </a:lnTo>
                  <a:lnTo>
                    <a:pt x="824" y="983"/>
                  </a:lnTo>
                  <a:lnTo>
                    <a:pt x="869" y="995"/>
                  </a:lnTo>
                  <a:lnTo>
                    <a:pt x="992" y="871"/>
                  </a:lnTo>
                  <a:lnTo>
                    <a:pt x="980" y="825"/>
                  </a:lnTo>
                  <a:lnTo>
                    <a:pt x="869" y="743"/>
                  </a:lnTo>
                  <a:lnTo>
                    <a:pt x="702" y="576"/>
                  </a:lnTo>
                  <a:lnTo>
                    <a:pt x="685" y="592"/>
                  </a:lnTo>
                  <a:lnTo>
                    <a:pt x="658" y="579"/>
                  </a:lnTo>
                  <a:close/>
                </a:path>
              </a:pathLst>
            </a:custGeom>
            <a:solidFill>
              <a:schemeClr val="bg1">
                <a:lumMod val="95000"/>
              </a:schemeClr>
            </a:solidFill>
            <a:ln>
              <a:noFill/>
            </a:ln>
          </p:spPr>
          <p:txBody>
            <a:bodyPr vert="horz" wrap="square" lIns="68571" tIns="34285" rIns="68571" bIns="3428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8" name="Freeform 14">
              <a:extLst>
                <a:ext uri="{FF2B5EF4-FFF2-40B4-BE49-F238E27FC236}">
                  <a16:creationId xmlns:a16="http://schemas.microsoft.com/office/drawing/2014/main" id="{5D899C6D-BAE9-4709-A16C-8A45C12C917A}"/>
                </a:ext>
              </a:extLst>
            </p:cNvPr>
            <p:cNvSpPr>
              <a:spLocks noEditPoints="1"/>
            </p:cNvSpPr>
            <p:nvPr/>
          </p:nvSpPr>
          <p:spPr bwMode="auto">
            <a:xfrm>
              <a:off x="5311395" y="2357559"/>
              <a:ext cx="377646" cy="515614"/>
            </a:xfrm>
            <a:custGeom>
              <a:avLst/>
              <a:gdLst>
                <a:gd name="T0" fmla="*/ 95 w 723"/>
                <a:gd name="T1" fmla="*/ 160 h 986"/>
                <a:gd name="T2" fmla="*/ 80 w 723"/>
                <a:gd name="T3" fmla="*/ 986 h 986"/>
                <a:gd name="T4" fmla="*/ 723 w 723"/>
                <a:gd name="T5" fmla="*/ 242 h 986"/>
                <a:gd name="T6" fmla="*/ 668 w 723"/>
                <a:gd name="T7" fmla="*/ 260 h 986"/>
                <a:gd name="T8" fmla="*/ 83 w 723"/>
                <a:gd name="T9" fmla="*/ 929 h 986"/>
                <a:gd name="T10" fmla="*/ 313 w 723"/>
                <a:gd name="T11" fmla="*/ 105 h 986"/>
                <a:gd name="T12" fmla="*/ 410 w 723"/>
                <a:gd name="T13" fmla="*/ 105 h 986"/>
                <a:gd name="T14" fmla="*/ 360 w 723"/>
                <a:gd name="T15" fmla="*/ 157 h 986"/>
                <a:gd name="T16" fmla="*/ 253 w 723"/>
                <a:gd name="T17" fmla="*/ 107 h 986"/>
                <a:gd name="T18" fmla="*/ 133 w 723"/>
                <a:gd name="T19" fmla="*/ 250 h 986"/>
                <a:gd name="T20" fmla="*/ 590 w 723"/>
                <a:gd name="T21" fmla="*/ 250 h 986"/>
                <a:gd name="T22" fmla="*/ 470 w 723"/>
                <a:gd name="T23" fmla="*/ 107 h 986"/>
                <a:gd name="T24" fmla="*/ 253 w 723"/>
                <a:gd name="T25" fmla="*/ 107 h 986"/>
                <a:gd name="T26" fmla="*/ 255 w 723"/>
                <a:gd name="T27" fmla="*/ 749 h 986"/>
                <a:gd name="T28" fmla="*/ 175 w 723"/>
                <a:gd name="T29" fmla="*/ 771 h 986"/>
                <a:gd name="T30" fmla="*/ 158 w 723"/>
                <a:gd name="T31" fmla="*/ 789 h 986"/>
                <a:gd name="T32" fmla="*/ 255 w 723"/>
                <a:gd name="T33" fmla="*/ 796 h 986"/>
                <a:gd name="T34" fmla="*/ 153 w 723"/>
                <a:gd name="T35" fmla="*/ 846 h 986"/>
                <a:gd name="T36" fmla="*/ 280 w 723"/>
                <a:gd name="T37" fmla="*/ 784 h 986"/>
                <a:gd name="T38" fmla="*/ 280 w 723"/>
                <a:gd name="T39" fmla="*/ 744 h 986"/>
                <a:gd name="T40" fmla="*/ 128 w 723"/>
                <a:gd name="T41" fmla="*/ 751 h 986"/>
                <a:gd name="T42" fmla="*/ 248 w 723"/>
                <a:gd name="T43" fmla="*/ 879 h 986"/>
                <a:gd name="T44" fmla="*/ 248 w 723"/>
                <a:gd name="T45" fmla="*/ 387 h 986"/>
                <a:gd name="T46" fmla="*/ 175 w 723"/>
                <a:gd name="T47" fmla="*/ 409 h 986"/>
                <a:gd name="T48" fmla="*/ 200 w 723"/>
                <a:gd name="T49" fmla="*/ 474 h 986"/>
                <a:gd name="T50" fmla="*/ 153 w 723"/>
                <a:gd name="T51" fmla="*/ 492 h 986"/>
                <a:gd name="T52" fmla="*/ 248 w 723"/>
                <a:gd name="T53" fmla="*/ 362 h 986"/>
                <a:gd name="T54" fmla="*/ 128 w 723"/>
                <a:gd name="T55" fmla="*/ 489 h 986"/>
                <a:gd name="T56" fmla="*/ 279 w 723"/>
                <a:gd name="T57" fmla="*/ 416 h 986"/>
                <a:gd name="T58" fmla="*/ 278 w 723"/>
                <a:gd name="T59" fmla="*/ 382 h 986"/>
                <a:gd name="T60" fmla="*/ 255 w 723"/>
                <a:gd name="T61" fmla="*/ 582 h 986"/>
                <a:gd name="T62" fmla="*/ 158 w 723"/>
                <a:gd name="T63" fmla="*/ 607 h 986"/>
                <a:gd name="T64" fmla="*/ 255 w 723"/>
                <a:gd name="T65" fmla="*/ 672 h 986"/>
                <a:gd name="T66" fmla="*/ 280 w 723"/>
                <a:gd name="T67" fmla="*/ 563 h 986"/>
                <a:gd name="T68" fmla="*/ 128 w 723"/>
                <a:gd name="T69" fmla="*/ 569 h 986"/>
                <a:gd name="T70" fmla="*/ 255 w 723"/>
                <a:gd name="T71" fmla="*/ 696 h 986"/>
                <a:gd name="T72" fmla="*/ 334 w 723"/>
                <a:gd name="T73" fmla="*/ 538 h 986"/>
                <a:gd name="T74" fmla="*/ 378 w 723"/>
                <a:gd name="T75" fmla="*/ 836 h 986"/>
                <a:gd name="T76" fmla="*/ 580 w 723"/>
                <a:gd name="T77" fmla="*/ 774 h 986"/>
                <a:gd name="T78" fmla="*/ 370 w 723"/>
                <a:gd name="T79" fmla="*/ 829 h 986"/>
                <a:gd name="T80" fmla="*/ 580 w 723"/>
                <a:gd name="T81" fmla="*/ 587 h 986"/>
                <a:gd name="T82" fmla="*/ 370 w 723"/>
                <a:gd name="T83" fmla="*/ 474 h 986"/>
                <a:gd name="T84" fmla="*/ 370 w 723"/>
                <a:gd name="T85" fmla="*/ 40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3" h="986">
                  <a:moveTo>
                    <a:pt x="55" y="260"/>
                  </a:moveTo>
                  <a:cubicBezTo>
                    <a:pt x="55" y="232"/>
                    <a:pt x="68" y="218"/>
                    <a:pt x="95" y="217"/>
                  </a:cubicBezTo>
                  <a:lnTo>
                    <a:pt x="95" y="160"/>
                  </a:lnTo>
                  <a:cubicBezTo>
                    <a:pt x="45" y="161"/>
                    <a:pt x="0" y="193"/>
                    <a:pt x="0" y="242"/>
                  </a:cubicBezTo>
                  <a:lnTo>
                    <a:pt x="0" y="906"/>
                  </a:lnTo>
                  <a:cubicBezTo>
                    <a:pt x="0" y="947"/>
                    <a:pt x="40" y="986"/>
                    <a:pt x="80" y="986"/>
                  </a:cubicBezTo>
                  <a:lnTo>
                    <a:pt x="643" y="986"/>
                  </a:lnTo>
                  <a:cubicBezTo>
                    <a:pt x="683" y="986"/>
                    <a:pt x="723" y="947"/>
                    <a:pt x="723" y="906"/>
                  </a:cubicBezTo>
                  <a:lnTo>
                    <a:pt x="723" y="242"/>
                  </a:lnTo>
                  <a:cubicBezTo>
                    <a:pt x="723" y="193"/>
                    <a:pt x="678" y="161"/>
                    <a:pt x="628" y="160"/>
                  </a:cubicBezTo>
                  <a:lnTo>
                    <a:pt x="628" y="217"/>
                  </a:lnTo>
                  <a:cubicBezTo>
                    <a:pt x="655" y="218"/>
                    <a:pt x="668" y="232"/>
                    <a:pt x="668" y="260"/>
                  </a:cubicBezTo>
                  <a:lnTo>
                    <a:pt x="668" y="889"/>
                  </a:lnTo>
                  <a:cubicBezTo>
                    <a:pt x="668" y="908"/>
                    <a:pt x="659" y="929"/>
                    <a:pt x="640" y="929"/>
                  </a:cubicBezTo>
                  <a:lnTo>
                    <a:pt x="83" y="929"/>
                  </a:lnTo>
                  <a:cubicBezTo>
                    <a:pt x="61" y="929"/>
                    <a:pt x="55" y="906"/>
                    <a:pt x="55" y="884"/>
                  </a:cubicBezTo>
                  <a:lnTo>
                    <a:pt x="55" y="260"/>
                  </a:lnTo>
                  <a:close/>
                  <a:moveTo>
                    <a:pt x="313" y="105"/>
                  </a:moveTo>
                  <a:cubicBezTo>
                    <a:pt x="313" y="82"/>
                    <a:pt x="335" y="60"/>
                    <a:pt x="358" y="60"/>
                  </a:cubicBezTo>
                  <a:lnTo>
                    <a:pt x="365" y="60"/>
                  </a:lnTo>
                  <a:cubicBezTo>
                    <a:pt x="388" y="60"/>
                    <a:pt x="410" y="82"/>
                    <a:pt x="410" y="105"/>
                  </a:cubicBezTo>
                  <a:lnTo>
                    <a:pt x="410" y="110"/>
                  </a:lnTo>
                  <a:cubicBezTo>
                    <a:pt x="410" y="135"/>
                    <a:pt x="388" y="157"/>
                    <a:pt x="363" y="157"/>
                  </a:cubicBezTo>
                  <a:lnTo>
                    <a:pt x="360" y="157"/>
                  </a:lnTo>
                  <a:cubicBezTo>
                    <a:pt x="335" y="157"/>
                    <a:pt x="313" y="135"/>
                    <a:pt x="313" y="110"/>
                  </a:cubicBezTo>
                  <a:lnTo>
                    <a:pt x="313" y="105"/>
                  </a:lnTo>
                  <a:close/>
                  <a:moveTo>
                    <a:pt x="253" y="107"/>
                  </a:moveTo>
                  <a:lnTo>
                    <a:pt x="173" y="107"/>
                  </a:lnTo>
                  <a:cubicBezTo>
                    <a:pt x="145" y="107"/>
                    <a:pt x="133" y="120"/>
                    <a:pt x="133" y="147"/>
                  </a:cubicBezTo>
                  <a:lnTo>
                    <a:pt x="133" y="250"/>
                  </a:lnTo>
                  <a:cubicBezTo>
                    <a:pt x="133" y="267"/>
                    <a:pt x="144" y="285"/>
                    <a:pt x="160" y="285"/>
                  </a:cubicBezTo>
                  <a:lnTo>
                    <a:pt x="563" y="285"/>
                  </a:lnTo>
                  <a:cubicBezTo>
                    <a:pt x="579" y="285"/>
                    <a:pt x="590" y="267"/>
                    <a:pt x="590" y="250"/>
                  </a:cubicBezTo>
                  <a:lnTo>
                    <a:pt x="590" y="147"/>
                  </a:lnTo>
                  <a:cubicBezTo>
                    <a:pt x="590" y="120"/>
                    <a:pt x="578" y="107"/>
                    <a:pt x="550" y="107"/>
                  </a:cubicBezTo>
                  <a:lnTo>
                    <a:pt x="470" y="107"/>
                  </a:lnTo>
                  <a:cubicBezTo>
                    <a:pt x="470" y="52"/>
                    <a:pt x="423" y="0"/>
                    <a:pt x="370" y="0"/>
                  </a:cubicBezTo>
                  <a:lnTo>
                    <a:pt x="353" y="0"/>
                  </a:lnTo>
                  <a:cubicBezTo>
                    <a:pt x="300" y="0"/>
                    <a:pt x="253" y="52"/>
                    <a:pt x="253" y="107"/>
                  </a:cubicBezTo>
                  <a:close/>
                  <a:moveTo>
                    <a:pt x="153" y="756"/>
                  </a:moveTo>
                  <a:cubicBezTo>
                    <a:pt x="153" y="751"/>
                    <a:pt x="154" y="749"/>
                    <a:pt x="160" y="749"/>
                  </a:cubicBezTo>
                  <a:lnTo>
                    <a:pt x="255" y="749"/>
                  </a:lnTo>
                  <a:lnTo>
                    <a:pt x="255" y="756"/>
                  </a:lnTo>
                  <a:cubicBezTo>
                    <a:pt x="255" y="764"/>
                    <a:pt x="216" y="787"/>
                    <a:pt x="208" y="791"/>
                  </a:cubicBezTo>
                  <a:cubicBezTo>
                    <a:pt x="201" y="786"/>
                    <a:pt x="186" y="771"/>
                    <a:pt x="175" y="771"/>
                  </a:cubicBezTo>
                  <a:lnTo>
                    <a:pt x="173" y="771"/>
                  </a:lnTo>
                  <a:cubicBezTo>
                    <a:pt x="167" y="771"/>
                    <a:pt x="158" y="780"/>
                    <a:pt x="158" y="786"/>
                  </a:cubicBezTo>
                  <a:lnTo>
                    <a:pt x="158" y="789"/>
                  </a:lnTo>
                  <a:cubicBezTo>
                    <a:pt x="158" y="795"/>
                    <a:pt x="193" y="834"/>
                    <a:pt x="200" y="834"/>
                  </a:cubicBezTo>
                  <a:lnTo>
                    <a:pt x="203" y="834"/>
                  </a:lnTo>
                  <a:cubicBezTo>
                    <a:pt x="208" y="834"/>
                    <a:pt x="247" y="802"/>
                    <a:pt x="255" y="796"/>
                  </a:cubicBezTo>
                  <a:cubicBezTo>
                    <a:pt x="255" y="810"/>
                    <a:pt x="261" y="854"/>
                    <a:pt x="248" y="854"/>
                  </a:cubicBezTo>
                  <a:lnTo>
                    <a:pt x="160" y="854"/>
                  </a:lnTo>
                  <a:cubicBezTo>
                    <a:pt x="154" y="854"/>
                    <a:pt x="153" y="852"/>
                    <a:pt x="153" y="846"/>
                  </a:cubicBezTo>
                  <a:lnTo>
                    <a:pt x="153" y="756"/>
                  </a:lnTo>
                  <a:close/>
                  <a:moveTo>
                    <a:pt x="248" y="879"/>
                  </a:moveTo>
                  <a:cubicBezTo>
                    <a:pt x="295" y="879"/>
                    <a:pt x="277" y="827"/>
                    <a:pt x="280" y="784"/>
                  </a:cubicBezTo>
                  <a:cubicBezTo>
                    <a:pt x="282" y="762"/>
                    <a:pt x="337" y="742"/>
                    <a:pt x="343" y="721"/>
                  </a:cubicBezTo>
                  <a:lnTo>
                    <a:pt x="335" y="721"/>
                  </a:lnTo>
                  <a:cubicBezTo>
                    <a:pt x="318" y="721"/>
                    <a:pt x="293" y="737"/>
                    <a:pt x="280" y="744"/>
                  </a:cubicBezTo>
                  <a:cubicBezTo>
                    <a:pt x="274" y="735"/>
                    <a:pt x="268" y="724"/>
                    <a:pt x="253" y="724"/>
                  </a:cubicBezTo>
                  <a:lnTo>
                    <a:pt x="155" y="724"/>
                  </a:lnTo>
                  <a:cubicBezTo>
                    <a:pt x="141" y="724"/>
                    <a:pt x="128" y="737"/>
                    <a:pt x="128" y="751"/>
                  </a:cubicBezTo>
                  <a:lnTo>
                    <a:pt x="128" y="851"/>
                  </a:lnTo>
                  <a:cubicBezTo>
                    <a:pt x="128" y="868"/>
                    <a:pt x="143" y="879"/>
                    <a:pt x="160" y="879"/>
                  </a:cubicBezTo>
                  <a:lnTo>
                    <a:pt x="248" y="879"/>
                  </a:lnTo>
                  <a:close/>
                  <a:moveTo>
                    <a:pt x="153" y="394"/>
                  </a:moveTo>
                  <a:cubicBezTo>
                    <a:pt x="153" y="389"/>
                    <a:pt x="154" y="387"/>
                    <a:pt x="160" y="387"/>
                  </a:cubicBezTo>
                  <a:lnTo>
                    <a:pt x="248" y="387"/>
                  </a:lnTo>
                  <a:cubicBezTo>
                    <a:pt x="253" y="387"/>
                    <a:pt x="255" y="389"/>
                    <a:pt x="255" y="394"/>
                  </a:cubicBezTo>
                  <a:cubicBezTo>
                    <a:pt x="255" y="401"/>
                    <a:pt x="213" y="429"/>
                    <a:pt x="208" y="429"/>
                  </a:cubicBezTo>
                  <a:cubicBezTo>
                    <a:pt x="203" y="429"/>
                    <a:pt x="190" y="409"/>
                    <a:pt x="175" y="409"/>
                  </a:cubicBezTo>
                  <a:cubicBezTo>
                    <a:pt x="168" y="409"/>
                    <a:pt x="158" y="417"/>
                    <a:pt x="158" y="424"/>
                  </a:cubicBezTo>
                  <a:lnTo>
                    <a:pt x="158" y="427"/>
                  </a:lnTo>
                  <a:cubicBezTo>
                    <a:pt x="158" y="437"/>
                    <a:pt x="192" y="470"/>
                    <a:pt x="200" y="474"/>
                  </a:cubicBezTo>
                  <a:lnTo>
                    <a:pt x="255" y="434"/>
                  </a:lnTo>
                  <a:lnTo>
                    <a:pt x="255" y="492"/>
                  </a:lnTo>
                  <a:lnTo>
                    <a:pt x="153" y="492"/>
                  </a:lnTo>
                  <a:lnTo>
                    <a:pt x="153" y="394"/>
                  </a:lnTo>
                  <a:close/>
                  <a:moveTo>
                    <a:pt x="278" y="382"/>
                  </a:moveTo>
                  <a:cubicBezTo>
                    <a:pt x="275" y="369"/>
                    <a:pt x="264" y="362"/>
                    <a:pt x="248" y="362"/>
                  </a:cubicBezTo>
                  <a:lnTo>
                    <a:pt x="160" y="362"/>
                  </a:lnTo>
                  <a:cubicBezTo>
                    <a:pt x="143" y="362"/>
                    <a:pt x="128" y="373"/>
                    <a:pt x="128" y="390"/>
                  </a:cubicBezTo>
                  <a:lnTo>
                    <a:pt x="128" y="489"/>
                  </a:lnTo>
                  <a:cubicBezTo>
                    <a:pt x="128" y="504"/>
                    <a:pt x="141" y="517"/>
                    <a:pt x="155" y="517"/>
                  </a:cubicBezTo>
                  <a:lnTo>
                    <a:pt x="253" y="517"/>
                  </a:lnTo>
                  <a:cubicBezTo>
                    <a:pt x="292" y="517"/>
                    <a:pt x="280" y="455"/>
                    <a:pt x="279" y="416"/>
                  </a:cubicBezTo>
                  <a:lnTo>
                    <a:pt x="343" y="362"/>
                  </a:lnTo>
                  <a:cubicBezTo>
                    <a:pt x="343" y="362"/>
                    <a:pt x="338" y="360"/>
                    <a:pt x="338" y="360"/>
                  </a:cubicBezTo>
                  <a:cubicBezTo>
                    <a:pt x="313" y="360"/>
                    <a:pt x="293" y="381"/>
                    <a:pt x="278" y="382"/>
                  </a:cubicBezTo>
                  <a:close/>
                  <a:moveTo>
                    <a:pt x="153" y="569"/>
                  </a:moveTo>
                  <a:lnTo>
                    <a:pt x="255" y="569"/>
                  </a:lnTo>
                  <a:lnTo>
                    <a:pt x="255" y="582"/>
                  </a:lnTo>
                  <a:lnTo>
                    <a:pt x="208" y="612"/>
                  </a:lnTo>
                  <a:lnTo>
                    <a:pt x="176" y="588"/>
                  </a:lnTo>
                  <a:cubicBezTo>
                    <a:pt x="168" y="593"/>
                    <a:pt x="158" y="595"/>
                    <a:pt x="158" y="607"/>
                  </a:cubicBezTo>
                  <a:cubicBezTo>
                    <a:pt x="158" y="614"/>
                    <a:pt x="193" y="654"/>
                    <a:pt x="200" y="654"/>
                  </a:cubicBezTo>
                  <a:cubicBezTo>
                    <a:pt x="212" y="654"/>
                    <a:pt x="242" y="620"/>
                    <a:pt x="255" y="617"/>
                  </a:cubicBezTo>
                  <a:lnTo>
                    <a:pt x="255" y="672"/>
                  </a:lnTo>
                  <a:lnTo>
                    <a:pt x="153" y="672"/>
                  </a:lnTo>
                  <a:lnTo>
                    <a:pt x="153" y="569"/>
                  </a:lnTo>
                  <a:close/>
                  <a:moveTo>
                    <a:pt x="280" y="563"/>
                  </a:moveTo>
                  <a:cubicBezTo>
                    <a:pt x="275" y="555"/>
                    <a:pt x="269" y="544"/>
                    <a:pt x="255" y="544"/>
                  </a:cubicBezTo>
                  <a:lnTo>
                    <a:pt x="153" y="544"/>
                  </a:lnTo>
                  <a:cubicBezTo>
                    <a:pt x="140" y="544"/>
                    <a:pt x="128" y="557"/>
                    <a:pt x="128" y="569"/>
                  </a:cubicBezTo>
                  <a:lnTo>
                    <a:pt x="128" y="672"/>
                  </a:lnTo>
                  <a:cubicBezTo>
                    <a:pt x="128" y="684"/>
                    <a:pt x="140" y="696"/>
                    <a:pt x="153" y="696"/>
                  </a:cubicBezTo>
                  <a:lnTo>
                    <a:pt x="255" y="696"/>
                  </a:lnTo>
                  <a:cubicBezTo>
                    <a:pt x="291" y="696"/>
                    <a:pt x="280" y="632"/>
                    <a:pt x="279" y="596"/>
                  </a:cubicBezTo>
                  <a:lnTo>
                    <a:pt x="343" y="542"/>
                  </a:lnTo>
                  <a:lnTo>
                    <a:pt x="334" y="538"/>
                  </a:lnTo>
                  <a:lnTo>
                    <a:pt x="280" y="563"/>
                  </a:lnTo>
                  <a:close/>
                  <a:moveTo>
                    <a:pt x="370" y="829"/>
                  </a:moveTo>
                  <a:cubicBezTo>
                    <a:pt x="370" y="834"/>
                    <a:pt x="372" y="836"/>
                    <a:pt x="378" y="836"/>
                  </a:cubicBezTo>
                  <a:lnTo>
                    <a:pt x="573" y="836"/>
                  </a:lnTo>
                  <a:cubicBezTo>
                    <a:pt x="579" y="836"/>
                    <a:pt x="580" y="834"/>
                    <a:pt x="580" y="829"/>
                  </a:cubicBezTo>
                  <a:lnTo>
                    <a:pt x="580" y="774"/>
                  </a:lnTo>
                  <a:cubicBezTo>
                    <a:pt x="580" y="768"/>
                    <a:pt x="579" y="766"/>
                    <a:pt x="573" y="766"/>
                  </a:cubicBezTo>
                  <a:lnTo>
                    <a:pt x="370" y="766"/>
                  </a:lnTo>
                  <a:lnTo>
                    <a:pt x="370" y="829"/>
                  </a:lnTo>
                  <a:close/>
                  <a:moveTo>
                    <a:pt x="370" y="654"/>
                  </a:moveTo>
                  <a:lnTo>
                    <a:pt x="580" y="654"/>
                  </a:lnTo>
                  <a:lnTo>
                    <a:pt x="580" y="587"/>
                  </a:lnTo>
                  <a:lnTo>
                    <a:pt x="370" y="587"/>
                  </a:lnTo>
                  <a:lnTo>
                    <a:pt x="370" y="654"/>
                  </a:lnTo>
                  <a:close/>
                  <a:moveTo>
                    <a:pt x="370" y="474"/>
                  </a:moveTo>
                  <a:lnTo>
                    <a:pt x="523" y="474"/>
                  </a:lnTo>
                  <a:lnTo>
                    <a:pt x="523" y="407"/>
                  </a:lnTo>
                  <a:lnTo>
                    <a:pt x="370" y="407"/>
                  </a:lnTo>
                  <a:lnTo>
                    <a:pt x="370" y="474"/>
                  </a:lnTo>
                  <a:close/>
                </a:path>
              </a:pathLst>
            </a:custGeom>
            <a:solidFill>
              <a:srgbClr val="0070C0"/>
            </a:solidFill>
            <a:ln>
              <a:noFill/>
            </a:ln>
          </p:spPr>
          <p:txBody>
            <a:bodyPr vert="horz" wrap="square" lIns="68571" tIns="34285" rIns="68571" bIns="3428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9" name="Freeform 15">
              <a:extLst>
                <a:ext uri="{FF2B5EF4-FFF2-40B4-BE49-F238E27FC236}">
                  <a16:creationId xmlns:a16="http://schemas.microsoft.com/office/drawing/2014/main" id="{D4ED35FD-EA26-4BD5-81D0-518EA66AF986}"/>
                </a:ext>
              </a:extLst>
            </p:cNvPr>
            <p:cNvSpPr>
              <a:spLocks noEditPoints="1"/>
            </p:cNvSpPr>
            <p:nvPr/>
          </p:nvSpPr>
          <p:spPr bwMode="auto">
            <a:xfrm>
              <a:off x="6411612" y="2414849"/>
              <a:ext cx="599870" cy="514251"/>
            </a:xfrm>
            <a:custGeom>
              <a:avLst/>
              <a:gdLst>
                <a:gd name="T0" fmla="*/ 737 w 1149"/>
                <a:gd name="T1" fmla="*/ 427 h 983"/>
                <a:gd name="T2" fmla="*/ 640 w 1149"/>
                <a:gd name="T3" fmla="*/ 427 h 983"/>
                <a:gd name="T4" fmla="*/ 616 w 1149"/>
                <a:gd name="T5" fmla="*/ 502 h 983"/>
                <a:gd name="T6" fmla="*/ 640 w 1149"/>
                <a:gd name="T7" fmla="*/ 810 h 983"/>
                <a:gd name="T8" fmla="*/ 575 w 1149"/>
                <a:gd name="T9" fmla="*/ 921 h 983"/>
                <a:gd name="T10" fmla="*/ 514 w 1149"/>
                <a:gd name="T11" fmla="*/ 810 h 983"/>
                <a:gd name="T12" fmla="*/ 549 w 1149"/>
                <a:gd name="T13" fmla="*/ 503 h 983"/>
                <a:gd name="T14" fmla="*/ 524 w 1149"/>
                <a:gd name="T15" fmla="*/ 427 h 983"/>
                <a:gd name="T16" fmla="*/ 417 w 1149"/>
                <a:gd name="T17" fmla="*/ 427 h 983"/>
                <a:gd name="T18" fmla="*/ 417 w 1149"/>
                <a:gd name="T19" fmla="*/ 427 h 983"/>
                <a:gd name="T20" fmla="*/ 241 w 1149"/>
                <a:gd name="T21" fmla="*/ 612 h 983"/>
                <a:gd name="T22" fmla="*/ 266 w 1149"/>
                <a:gd name="T23" fmla="*/ 801 h 983"/>
                <a:gd name="T24" fmla="*/ 443 w 1149"/>
                <a:gd name="T25" fmla="*/ 983 h 983"/>
                <a:gd name="T26" fmla="*/ 711 w 1149"/>
                <a:gd name="T27" fmla="*/ 983 h 983"/>
                <a:gd name="T28" fmla="*/ 888 w 1149"/>
                <a:gd name="T29" fmla="*/ 799 h 983"/>
                <a:gd name="T30" fmla="*/ 913 w 1149"/>
                <a:gd name="T31" fmla="*/ 609 h 983"/>
                <a:gd name="T32" fmla="*/ 737 w 1149"/>
                <a:gd name="T33" fmla="*/ 427 h 983"/>
                <a:gd name="T34" fmla="*/ 218 w 1149"/>
                <a:gd name="T35" fmla="*/ 308 h 983"/>
                <a:gd name="T36" fmla="*/ 330 w 1149"/>
                <a:gd name="T37" fmla="*/ 196 h 983"/>
                <a:gd name="T38" fmla="*/ 218 w 1149"/>
                <a:gd name="T39" fmla="*/ 83 h 983"/>
                <a:gd name="T40" fmla="*/ 105 w 1149"/>
                <a:gd name="T41" fmla="*/ 196 h 983"/>
                <a:gd name="T42" fmla="*/ 218 w 1149"/>
                <a:gd name="T43" fmla="*/ 308 h 983"/>
                <a:gd name="T44" fmla="*/ 318 w 1149"/>
                <a:gd name="T45" fmla="*/ 344 h 983"/>
                <a:gd name="T46" fmla="*/ 118 w 1149"/>
                <a:gd name="T47" fmla="*/ 344 h 983"/>
                <a:gd name="T48" fmla="*/ 118 w 1149"/>
                <a:gd name="T49" fmla="*/ 343 h 983"/>
                <a:gd name="T50" fmla="*/ 7 w 1149"/>
                <a:gd name="T51" fmla="*/ 458 h 983"/>
                <a:gd name="T52" fmla="*/ 23 w 1149"/>
                <a:gd name="T53" fmla="*/ 577 h 983"/>
                <a:gd name="T54" fmla="*/ 134 w 1149"/>
                <a:gd name="T55" fmla="*/ 689 h 983"/>
                <a:gd name="T56" fmla="*/ 191 w 1149"/>
                <a:gd name="T57" fmla="*/ 689 h 983"/>
                <a:gd name="T58" fmla="*/ 180 w 1149"/>
                <a:gd name="T59" fmla="*/ 606 h 983"/>
                <a:gd name="T60" fmla="*/ 180 w 1149"/>
                <a:gd name="T61" fmla="*/ 606 h 983"/>
                <a:gd name="T62" fmla="*/ 180 w 1149"/>
                <a:gd name="T63" fmla="*/ 606 h 983"/>
                <a:gd name="T64" fmla="*/ 231 w 1149"/>
                <a:gd name="T65" fmla="*/ 449 h 983"/>
                <a:gd name="T66" fmla="*/ 308 w 1149"/>
                <a:gd name="T67" fmla="*/ 393 h 983"/>
                <a:gd name="T68" fmla="*/ 387 w 1149"/>
                <a:gd name="T69" fmla="*/ 367 h 983"/>
                <a:gd name="T70" fmla="*/ 318 w 1149"/>
                <a:gd name="T71" fmla="*/ 344 h 983"/>
                <a:gd name="T72" fmla="*/ 931 w 1149"/>
                <a:gd name="T73" fmla="*/ 308 h 983"/>
                <a:gd name="T74" fmla="*/ 1043 w 1149"/>
                <a:gd name="T75" fmla="*/ 196 h 983"/>
                <a:gd name="T76" fmla="*/ 931 w 1149"/>
                <a:gd name="T77" fmla="*/ 83 h 983"/>
                <a:gd name="T78" fmla="*/ 819 w 1149"/>
                <a:gd name="T79" fmla="*/ 196 h 983"/>
                <a:gd name="T80" fmla="*/ 931 w 1149"/>
                <a:gd name="T81" fmla="*/ 308 h 983"/>
                <a:gd name="T82" fmla="*/ 1031 w 1149"/>
                <a:gd name="T83" fmla="*/ 344 h 983"/>
                <a:gd name="T84" fmla="*/ 831 w 1149"/>
                <a:gd name="T85" fmla="*/ 344 h 983"/>
                <a:gd name="T86" fmla="*/ 831 w 1149"/>
                <a:gd name="T87" fmla="*/ 343 h 983"/>
                <a:gd name="T88" fmla="*/ 763 w 1149"/>
                <a:gd name="T89" fmla="*/ 366 h 983"/>
                <a:gd name="T90" fmla="*/ 847 w 1149"/>
                <a:gd name="T91" fmla="*/ 393 h 983"/>
                <a:gd name="T92" fmla="*/ 925 w 1149"/>
                <a:gd name="T93" fmla="*/ 450 h 983"/>
                <a:gd name="T94" fmla="*/ 974 w 1149"/>
                <a:gd name="T95" fmla="*/ 603 h 983"/>
                <a:gd name="T96" fmla="*/ 974 w 1149"/>
                <a:gd name="T97" fmla="*/ 603 h 983"/>
                <a:gd name="T98" fmla="*/ 974 w 1149"/>
                <a:gd name="T99" fmla="*/ 603 h 983"/>
                <a:gd name="T100" fmla="*/ 962 w 1149"/>
                <a:gd name="T101" fmla="*/ 689 h 983"/>
                <a:gd name="T102" fmla="*/ 1015 w 1149"/>
                <a:gd name="T103" fmla="*/ 689 h 983"/>
                <a:gd name="T104" fmla="*/ 1126 w 1149"/>
                <a:gd name="T105" fmla="*/ 575 h 983"/>
                <a:gd name="T106" fmla="*/ 1142 w 1149"/>
                <a:gd name="T107" fmla="*/ 456 h 983"/>
                <a:gd name="T108" fmla="*/ 1031 w 1149"/>
                <a:gd name="T109" fmla="*/ 344 h 983"/>
                <a:gd name="T110" fmla="*/ 756 w 1149"/>
                <a:gd name="T111" fmla="*/ 184 h 983"/>
                <a:gd name="T112" fmla="*/ 577 w 1149"/>
                <a:gd name="T113" fmla="*/ 369 h 983"/>
                <a:gd name="T114" fmla="*/ 398 w 1149"/>
                <a:gd name="T115" fmla="*/ 184 h 983"/>
                <a:gd name="T116" fmla="*/ 577 w 1149"/>
                <a:gd name="T117" fmla="*/ 0 h 983"/>
                <a:gd name="T118" fmla="*/ 756 w 1149"/>
                <a:gd name="T119" fmla="*/ 184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49" h="983">
                  <a:moveTo>
                    <a:pt x="737" y="427"/>
                  </a:moveTo>
                  <a:lnTo>
                    <a:pt x="640" y="427"/>
                  </a:lnTo>
                  <a:cubicBezTo>
                    <a:pt x="641" y="437"/>
                    <a:pt x="642" y="483"/>
                    <a:pt x="616" y="502"/>
                  </a:cubicBezTo>
                  <a:cubicBezTo>
                    <a:pt x="616" y="502"/>
                    <a:pt x="658" y="735"/>
                    <a:pt x="640" y="810"/>
                  </a:cubicBezTo>
                  <a:cubicBezTo>
                    <a:pt x="633" y="842"/>
                    <a:pt x="606" y="921"/>
                    <a:pt x="575" y="921"/>
                  </a:cubicBezTo>
                  <a:cubicBezTo>
                    <a:pt x="544" y="920"/>
                    <a:pt x="520" y="841"/>
                    <a:pt x="514" y="810"/>
                  </a:cubicBezTo>
                  <a:cubicBezTo>
                    <a:pt x="499" y="735"/>
                    <a:pt x="549" y="503"/>
                    <a:pt x="549" y="503"/>
                  </a:cubicBezTo>
                  <a:cubicBezTo>
                    <a:pt x="541" y="500"/>
                    <a:pt x="527" y="486"/>
                    <a:pt x="524" y="427"/>
                  </a:cubicBezTo>
                  <a:lnTo>
                    <a:pt x="417" y="427"/>
                  </a:lnTo>
                  <a:lnTo>
                    <a:pt x="417" y="427"/>
                  </a:lnTo>
                  <a:cubicBezTo>
                    <a:pt x="320" y="427"/>
                    <a:pt x="229" y="510"/>
                    <a:pt x="241" y="612"/>
                  </a:cubicBezTo>
                  <a:lnTo>
                    <a:pt x="266" y="801"/>
                  </a:lnTo>
                  <a:cubicBezTo>
                    <a:pt x="286" y="902"/>
                    <a:pt x="345" y="983"/>
                    <a:pt x="443" y="983"/>
                  </a:cubicBezTo>
                  <a:lnTo>
                    <a:pt x="711" y="983"/>
                  </a:lnTo>
                  <a:cubicBezTo>
                    <a:pt x="809" y="983"/>
                    <a:pt x="868" y="899"/>
                    <a:pt x="888" y="799"/>
                  </a:cubicBezTo>
                  <a:lnTo>
                    <a:pt x="913" y="609"/>
                  </a:lnTo>
                  <a:cubicBezTo>
                    <a:pt x="925" y="510"/>
                    <a:pt x="834" y="427"/>
                    <a:pt x="737" y="427"/>
                  </a:cubicBezTo>
                  <a:close/>
                  <a:moveTo>
                    <a:pt x="218" y="308"/>
                  </a:moveTo>
                  <a:cubicBezTo>
                    <a:pt x="280" y="308"/>
                    <a:pt x="330" y="258"/>
                    <a:pt x="330" y="196"/>
                  </a:cubicBezTo>
                  <a:cubicBezTo>
                    <a:pt x="330" y="134"/>
                    <a:pt x="280" y="83"/>
                    <a:pt x="218" y="83"/>
                  </a:cubicBezTo>
                  <a:cubicBezTo>
                    <a:pt x="156" y="83"/>
                    <a:pt x="105" y="134"/>
                    <a:pt x="105" y="196"/>
                  </a:cubicBezTo>
                  <a:cubicBezTo>
                    <a:pt x="105" y="258"/>
                    <a:pt x="156" y="308"/>
                    <a:pt x="218" y="308"/>
                  </a:cubicBezTo>
                  <a:close/>
                  <a:moveTo>
                    <a:pt x="318" y="344"/>
                  </a:moveTo>
                  <a:lnTo>
                    <a:pt x="118" y="344"/>
                  </a:lnTo>
                  <a:lnTo>
                    <a:pt x="118" y="343"/>
                  </a:lnTo>
                  <a:cubicBezTo>
                    <a:pt x="57" y="343"/>
                    <a:pt x="0" y="395"/>
                    <a:pt x="7" y="458"/>
                  </a:cubicBezTo>
                  <a:lnTo>
                    <a:pt x="23" y="577"/>
                  </a:lnTo>
                  <a:cubicBezTo>
                    <a:pt x="35" y="639"/>
                    <a:pt x="73" y="689"/>
                    <a:pt x="134" y="689"/>
                  </a:cubicBezTo>
                  <a:lnTo>
                    <a:pt x="191" y="689"/>
                  </a:lnTo>
                  <a:lnTo>
                    <a:pt x="180" y="606"/>
                  </a:lnTo>
                  <a:lnTo>
                    <a:pt x="180" y="606"/>
                  </a:lnTo>
                  <a:lnTo>
                    <a:pt x="180" y="606"/>
                  </a:lnTo>
                  <a:cubicBezTo>
                    <a:pt x="173" y="549"/>
                    <a:pt x="191" y="493"/>
                    <a:pt x="231" y="449"/>
                  </a:cubicBezTo>
                  <a:cubicBezTo>
                    <a:pt x="252" y="425"/>
                    <a:pt x="279" y="406"/>
                    <a:pt x="308" y="393"/>
                  </a:cubicBezTo>
                  <a:cubicBezTo>
                    <a:pt x="333" y="379"/>
                    <a:pt x="359" y="371"/>
                    <a:pt x="387" y="367"/>
                  </a:cubicBezTo>
                  <a:cubicBezTo>
                    <a:pt x="367" y="352"/>
                    <a:pt x="343" y="344"/>
                    <a:pt x="318" y="344"/>
                  </a:cubicBezTo>
                  <a:close/>
                  <a:moveTo>
                    <a:pt x="931" y="308"/>
                  </a:moveTo>
                  <a:cubicBezTo>
                    <a:pt x="993" y="308"/>
                    <a:pt x="1043" y="258"/>
                    <a:pt x="1043" y="196"/>
                  </a:cubicBezTo>
                  <a:cubicBezTo>
                    <a:pt x="1043" y="134"/>
                    <a:pt x="993" y="83"/>
                    <a:pt x="931" y="83"/>
                  </a:cubicBezTo>
                  <a:cubicBezTo>
                    <a:pt x="869" y="83"/>
                    <a:pt x="819" y="134"/>
                    <a:pt x="819" y="196"/>
                  </a:cubicBezTo>
                  <a:cubicBezTo>
                    <a:pt x="819" y="258"/>
                    <a:pt x="869" y="308"/>
                    <a:pt x="931" y="308"/>
                  </a:cubicBezTo>
                  <a:close/>
                  <a:moveTo>
                    <a:pt x="1031" y="344"/>
                  </a:moveTo>
                  <a:lnTo>
                    <a:pt x="831" y="344"/>
                  </a:lnTo>
                  <a:lnTo>
                    <a:pt x="831" y="343"/>
                  </a:lnTo>
                  <a:cubicBezTo>
                    <a:pt x="806" y="343"/>
                    <a:pt x="782" y="352"/>
                    <a:pt x="763" y="366"/>
                  </a:cubicBezTo>
                  <a:cubicBezTo>
                    <a:pt x="792" y="370"/>
                    <a:pt x="821" y="379"/>
                    <a:pt x="847" y="393"/>
                  </a:cubicBezTo>
                  <a:cubicBezTo>
                    <a:pt x="877" y="406"/>
                    <a:pt x="903" y="426"/>
                    <a:pt x="925" y="450"/>
                  </a:cubicBezTo>
                  <a:cubicBezTo>
                    <a:pt x="963" y="494"/>
                    <a:pt x="981" y="548"/>
                    <a:pt x="974" y="603"/>
                  </a:cubicBezTo>
                  <a:lnTo>
                    <a:pt x="974" y="603"/>
                  </a:lnTo>
                  <a:lnTo>
                    <a:pt x="974" y="603"/>
                  </a:lnTo>
                  <a:lnTo>
                    <a:pt x="962" y="689"/>
                  </a:lnTo>
                  <a:lnTo>
                    <a:pt x="1015" y="689"/>
                  </a:lnTo>
                  <a:cubicBezTo>
                    <a:pt x="1076" y="689"/>
                    <a:pt x="1114" y="637"/>
                    <a:pt x="1126" y="575"/>
                  </a:cubicBezTo>
                  <a:lnTo>
                    <a:pt x="1142" y="456"/>
                  </a:lnTo>
                  <a:cubicBezTo>
                    <a:pt x="1149" y="395"/>
                    <a:pt x="1092" y="344"/>
                    <a:pt x="1031" y="344"/>
                  </a:cubicBezTo>
                  <a:close/>
                  <a:moveTo>
                    <a:pt x="756" y="184"/>
                  </a:moveTo>
                  <a:cubicBezTo>
                    <a:pt x="756" y="286"/>
                    <a:pt x="676" y="369"/>
                    <a:pt x="577" y="369"/>
                  </a:cubicBezTo>
                  <a:cubicBezTo>
                    <a:pt x="478" y="369"/>
                    <a:pt x="398" y="286"/>
                    <a:pt x="398" y="184"/>
                  </a:cubicBezTo>
                  <a:cubicBezTo>
                    <a:pt x="398" y="82"/>
                    <a:pt x="478" y="0"/>
                    <a:pt x="577" y="0"/>
                  </a:cubicBezTo>
                  <a:cubicBezTo>
                    <a:pt x="676" y="0"/>
                    <a:pt x="756" y="82"/>
                    <a:pt x="756" y="184"/>
                  </a:cubicBezTo>
                  <a:close/>
                </a:path>
              </a:pathLst>
            </a:custGeom>
            <a:solidFill>
              <a:schemeClr val="bg1">
                <a:lumMod val="95000"/>
              </a:schemeClr>
            </a:solidFill>
            <a:ln>
              <a:noFill/>
            </a:ln>
          </p:spPr>
          <p:txBody>
            <a:bodyPr vert="horz" wrap="square" lIns="68571" tIns="34285" rIns="68571" bIns="3428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0" name="Freeform 17">
              <a:extLst>
                <a:ext uri="{FF2B5EF4-FFF2-40B4-BE49-F238E27FC236}">
                  <a16:creationId xmlns:a16="http://schemas.microsoft.com/office/drawing/2014/main" id="{7714831A-E7B1-4E61-819D-92C5BBF5F0D2}"/>
                </a:ext>
              </a:extLst>
            </p:cNvPr>
            <p:cNvSpPr>
              <a:spLocks noEditPoints="1"/>
            </p:cNvSpPr>
            <p:nvPr/>
          </p:nvSpPr>
          <p:spPr bwMode="auto">
            <a:xfrm>
              <a:off x="7043691" y="3474722"/>
              <a:ext cx="526251" cy="527891"/>
            </a:xfrm>
            <a:custGeom>
              <a:avLst/>
              <a:gdLst>
                <a:gd name="T0" fmla="*/ 504 w 1008"/>
                <a:gd name="T1" fmla="*/ 1009 h 1009"/>
                <a:gd name="T2" fmla="*/ 0 w 1008"/>
                <a:gd name="T3" fmla="*/ 504 h 1009"/>
                <a:gd name="T4" fmla="*/ 504 w 1008"/>
                <a:gd name="T5" fmla="*/ 0 h 1009"/>
                <a:gd name="T6" fmla="*/ 1008 w 1008"/>
                <a:gd name="T7" fmla="*/ 504 h 1009"/>
                <a:gd name="T8" fmla="*/ 504 w 1008"/>
                <a:gd name="T9" fmla="*/ 1009 h 1009"/>
                <a:gd name="T10" fmla="*/ 725 w 1008"/>
                <a:gd name="T11" fmla="*/ 769 h 1009"/>
                <a:gd name="T12" fmla="*/ 725 w 1008"/>
                <a:gd name="T13" fmla="*/ 769 h 1009"/>
                <a:gd name="T14" fmla="*/ 538 w 1008"/>
                <a:gd name="T15" fmla="*/ 586 h 1009"/>
                <a:gd name="T16" fmla="*/ 504 w 1008"/>
                <a:gd name="T17" fmla="*/ 592 h 1009"/>
                <a:gd name="T18" fmla="*/ 416 w 1008"/>
                <a:gd name="T19" fmla="*/ 504 h 1009"/>
                <a:gd name="T20" fmla="*/ 456 w 1008"/>
                <a:gd name="T21" fmla="*/ 431 h 1009"/>
                <a:gd name="T22" fmla="*/ 456 w 1008"/>
                <a:gd name="T23" fmla="*/ 179 h 1009"/>
                <a:gd name="T24" fmla="*/ 553 w 1008"/>
                <a:gd name="T25" fmla="*/ 179 h 1009"/>
                <a:gd name="T26" fmla="*/ 553 w 1008"/>
                <a:gd name="T27" fmla="*/ 431 h 1009"/>
                <a:gd name="T28" fmla="*/ 592 w 1008"/>
                <a:gd name="T29" fmla="*/ 504 h 1009"/>
                <a:gd name="T30" fmla="*/ 586 w 1008"/>
                <a:gd name="T31" fmla="*/ 536 h 1009"/>
                <a:gd name="T32" fmla="*/ 774 w 1008"/>
                <a:gd name="T33" fmla="*/ 719 h 1009"/>
                <a:gd name="T34" fmla="*/ 725 w 1008"/>
                <a:gd name="T35" fmla="*/ 769 h 1009"/>
                <a:gd name="T36" fmla="*/ 168 w 1008"/>
                <a:gd name="T37" fmla="*/ 471 h 1009"/>
                <a:gd name="T38" fmla="*/ 168 w 1008"/>
                <a:gd name="T39" fmla="*/ 471 h 1009"/>
                <a:gd name="T40" fmla="*/ 234 w 1008"/>
                <a:gd name="T41" fmla="*/ 471 h 1009"/>
                <a:gd name="T42" fmla="*/ 234 w 1008"/>
                <a:gd name="T43" fmla="*/ 538 h 1009"/>
                <a:gd name="T44" fmla="*/ 168 w 1008"/>
                <a:gd name="T45" fmla="*/ 538 h 1009"/>
                <a:gd name="T46" fmla="*/ 168 w 1008"/>
                <a:gd name="T47" fmla="*/ 471 h 1009"/>
                <a:gd name="T48" fmla="*/ 774 w 1008"/>
                <a:gd name="T49" fmla="*/ 471 h 1009"/>
                <a:gd name="T50" fmla="*/ 774 w 1008"/>
                <a:gd name="T51" fmla="*/ 471 h 1009"/>
                <a:gd name="T52" fmla="*/ 840 w 1008"/>
                <a:gd name="T53" fmla="*/ 471 h 1009"/>
                <a:gd name="T54" fmla="*/ 840 w 1008"/>
                <a:gd name="T55" fmla="*/ 538 h 1009"/>
                <a:gd name="T56" fmla="*/ 774 w 1008"/>
                <a:gd name="T57" fmla="*/ 538 h 1009"/>
                <a:gd name="T58" fmla="*/ 774 w 1008"/>
                <a:gd name="T59" fmla="*/ 471 h 1009"/>
                <a:gd name="T60" fmla="*/ 470 w 1008"/>
                <a:gd name="T61" fmla="*/ 840 h 1009"/>
                <a:gd name="T62" fmla="*/ 470 w 1008"/>
                <a:gd name="T63" fmla="*/ 840 h 1009"/>
                <a:gd name="T64" fmla="*/ 470 w 1008"/>
                <a:gd name="T65" fmla="*/ 775 h 1009"/>
                <a:gd name="T66" fmla="*/ 538 w 1008"/>
                <a:gd name="T67" fmla="*/ 775 h 1009"/>
                <a:gd name="T68" fmla="*/ 538 w 1008"/>
                <a:gd name="T69" fmla="*/ 840 h 1009"/>
                <a:gd name="T70" fmla="*/ 470 w 1008"/>
                <a:gd name="T71" fmla="*/ 840 h 1009"/>
                <a:gd name="T72" fmla="*/ 504 w 1008"/>
                <a:gd name="T73" fmla="*/ 912 h 1009"/>
                <a:gd name="T74" fmla="*/ 504 w 1008"/>
                <a:gd name="T75" fmla="*/ 912 h 1009"/>
                <a:gd name="T76" fmla="*/ 912 w 1008"/>
                <a:gd name="T77" fmla="*/ 504 h 1009"/>
                <a:gd name="T78" fmla="*/ 504 w 1008"/>
                <a:gd name="T79" fmla="*/ 97 h 1009"/>
                <a:gd name="T80" fmla="*/ 96 w 1008"/>
                <a:gd name="T81" fmla="*/ 504 h 1009"/>
                <a:gd name="T82" fmla="*/ 504 w 1008"/>
                <a:gd name="T83" fmla="*/ 912 h 1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08" h="1009">
                  <a:moveTo>
                    <a:pt x="504" y="1009"/>
                  </a:moveTo>
                  <a:cubicBezTo>
                    <a:pt x="226" y="1009"/>
                    <a:pt x="0" y="783"/>
                    <a:pt x="0" y="504"/>
                  </a:cubicBezTo>
                  <a:cubicBezTo>
                    <a:pt x="0" y="226"/>
                    <a:pt x="226" y="0"/>
                    <a:pt x="504" y="0"/>
                  </a:cubicBezTo>
                  <a:cubicBezTo>
                    <a:pt x="782" y="0"/>
                    <a:pt x="1008" y="226"/>
                    <a:pt x="1008" y="504"/>
                  </a:cubicBezTo>
                  <a:cubicBezTo>
                    <a:pt x="1008" y="783"/>
                    <a:pt x="782" y="1009"/>
                    <a:pt x="504" y="1009"/>
                  </a:cubicBezTo>
                  <a:close/>
                  <a:moveTo>
                    <a:pt x="725" y="769"/>
                  </a:moveTo>
                  <a:lnTo>
                    <a:pt x="725" y="769"/>
                  </a:lnTo>
                  <a:lnTo>
                    <a:pt x="538" y="586"/>
                  </a:lnTo>
                  <a:cubicBezTo>
                    <a:pt x="528" y="590"/>
                    <a:pt x="516" y="592"/>
                    <a:pt x="504" y="592"/>
                  </a:cubicBezTo>
                  <a:cubicBezTo>
                    <a:pt x="455" y="592"/>
                    <a:pt x="416" y="553"/>
                    <a:pt x="416" y="504"/>
                  </a:cubicBezTo>
                  <a:cubicBezTo>
                    <a:pt x="416" y="474"/>
                    <a:pt x="432" y="447"/>
                    <a:pt x="456" y="431"/>
                  </a:cubicBezTo>
                  <a:lnTo>
                    <a:pt x="456" y="179"/>
                  </a:lnTo>
                  <a:cubicBezTo>
                    <a:pt x="456" y="115"/>
                    <a:pt x="553" y="115"/>
                    <a:pt x="553" y="179"/>
                  </a:cubicBezTo>
                  <a:lnTo>
                    <a:pt x="553" y="431"/>
                  </a:lnTo>
                  <a:cubicBezTo>
                    <a:pt x="576" y="447"/>
                    <a:pt x="592" y="474"/>
                    <a:pt x="592" y="504"/>
                  </a:cubicBezTo>
                  <a:cubicBezTo>
                    <a:pt x="592" y="516"/>
                    <a:pt x="590" y="526"/>
                    <a:pt x="586" y="536"/>
                  </a:cubicBezTo>
                  <a:lnTo>
                    <a:pt x="774" y="719"/>
                  </a:lnTo>
                  <a:cubicBezTo>
                    <a:pt x="806" y="751"/>
                    <a:pt x="758" y="801"/>
                    <a:pt x="725" y="769"/>
                  </a:cubicBezTo>
                  <a:close/>
                  <a:moveTo>
                    <a:pt x="168" y="471"/>
                  </a:moveTo>
                  <a:lnTo>
                    <a:pt x="168" y="471"/>
                  </a:lnTo>
                  <a:lnTo>
                    <a:pt x="234" y="471"/>
                  </a:lnTo>
                  <a:cubicBezTo>
                    <a:pt x="278" y="471"/>
                    <a:pt x="278" y="538"/>
                    <a:pt x="234" y="538"/>
                  </a:cubicBezTo>
                  <a:lnTo>
                    <a:pt x="168" y="538"/>
                  </a:lnTo>
                  <a:cubicBezTo>
                    <a:pt x="123" y="538"/>
                    <a:pt x="123" y="471"/>
                    <a:pt x="168" y="471"/>
                  </a:cubicBezTo>
                  <a:close/>
                  <a:moveTo>
                    <a:pt x="774" y="471"/>
                  </a:moveTo>
                  <a:lnTo>
                    <a:pt x="774" y="471"/>
                  </a:lnTo>
                  <a:lnTo>
                    <a:pt x="840" y="471"/>
                  </a:lnTo>
                  <a:cubicBezTo>
                    <a:pt x="885" y="471"/>
                    <a:pt x="885" y="538"/>
                    <a:pt x="840" y="538"/>
                  </a:cubicBezTo>
                  <a:lnTo>
                    <a:pt x="774" y="538"/>
                  </a:lnTo>
                  <a:cubicBezTo>
                    <a:pt x="730" y="538"/>
                    <a:pt x="730" y="471"/>
                    <a:pt x="774" y="471"/>
                  </a:cubicBezTo>
                  <a:close/>
                  <a:moveTo>
                    <a:pt x="470" y="840"/>
                  </a:moveTo>
                  <a:lnTo>
                    <a:pt x="470" y="840"/>
                  </a:lnTo>
                  <a:lnTo>
                    <a:pt x="470" y="775"/>
                  </a:lnTo>
                  <a:cubicBezTo>
                    <a:pt x="470" y="730"/>
                    <a:pt x="538" y="730"/>
                    <a:pt x="538" y="775"/>
                  </a:cubicBezTo>
                  <a:lnTo>
                    <a:pt x="538" y="840"/>
                  </a:lnTo>
                  <a:cubicBezTo>
                    <a:pt x="538" y="885"/>
                    <a:pt x="470" y="885"/>
                    <a:pt x="470" y="840"/>
                  </a:cubicBezTo>
                  <a:close/>
                  <a:moveTo>
                    <a:pt x="504" y="912"/>
                  </a:moveTo>
                  <a:lnTo>
                    <a:pt x="504" y="912"/>
                  </a:lnTo>
                  <a:cubicBezTo>
                    <a:pt x="729" y="912"/>
                    <a:pt x="912" y="730"/>
                    <a:pt x="912" y="504"/>
                  </a:cubicBezTo>
                  <a:cubicBezTo>
                    <a:pt x="912" y="279"/>
                    <a:pt x="729" y="97"/>
                    <a:pt x="504" y="97"/>
                  </a:cubicBezTo>
                  <a:cubicBezTo>
                    <a:pt x="279" y="97"/>
                    <a:pt x="96" y="279"/>
                    <a:pt x="96" y="504"/>
                  </a:cubicBezTo>
                  <a:cubicBezTo>
                    <a:pt x="96" y="730"/>
                    <a:pt x="279" y="912"/>
                    <a:pt x="504" y="912"/>
                  </a:cubicBezTo>
                  <a:close/>
                </a:path>
              </a:pathLst>
            </a:custGeom>
            <a:solidFill>
              <a:srgbClr val="0070C0"/>
            </a:solidFill>
            <a:ln>
              <a:noFill/>
            </a:ln>
          </p:spPr>
          <p:txBody>
            <a:bodyPr vert="horz" wrap="square" lIns="68571" tIns="34285" rIns="68571" bIns="3428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71" name="组合 70">
              <a:extLst>
                <a:ext uri="{FF2B5EF4-FFF2-40B4-BE49-F238E27FC236}">
                  <a16:creationId xmlns:a16="http://schemas.microsoft.com/office/drawing/2014/main" id="{D08A5A85-C0A6-4BE1-BEE4-0DEAD52569D5}"/>
                </a:ext>
              </a:extLst>
            </p:cNvPr>
            <p:cNvGrpSpPr/>
            <p:nvPr/>
          </p:nvGrpSpPr>
          <p:grpSpPr>
            <a:xfrm>
              <a:off x="6421516" y="4525291"/>
              <a:ext cx="580036" cy="538318"/>
              <a:chOff x="5928340" y="670992"/>
              <a:chExt cx="506444" cy="470018"/>
            </a:xfrm>
            <a:solidFill>
              <a:schemeClr val="bg1">
                <a:lumMod val="95000"/>
              </a:schemeClr>
            </a:solidFill>
          </p:grpSpPr>
          <p:sp>
            <p:nvSpPr>
              <p:cNvPr id="78" name="Freeform 36">
                <a:extLst>
                  <a:ext uri="{FF2B5EF4-FFF2-40B4-BE49-F238E27FC236}">
                    <a16:creationId xmlns:a16="http://schemas.microsoft.com/office/drawing/2014/main" id="{EACE6EEE-ACAA-4D0F-854E-38BB821220AF}"/>
                  </a:ext>
                </a:extLst>
              </p:cNvPr>
              <p:cNvSpPr>
                <a:spLocks noEditPoints="1"/>
              </p:cNvSpPr>
              <p:nvPr/>
            </p:nvSpPr>
            <p:spPr bwMode="auto">
              <a:xfrm>
                <a:off x="5993909" y="670992"/>
                <a:ext cx="241151" cy="160240"/>
              </a:xfrm>
              <a:custGeom>
                <a:avLst/>
                <a:gdLst>
                  <a:gd name="T0" fmla="*/ 133 w 372"/>
                  <a:gd name="T1" fmla="*/ 185 h 247"/>
                  <a:gd name="T2" fmla="*/ 118 w 372"/>
                  <a:gd name="T3" fmla="*/ 152 h 247"/>
                  <a:gd name="T4" fmla="*/ 136 w 372"/>
                  <a:gd name="T5" fmla="*/ 115 h 247"/>
                  <a:gd name="T6" fmla="*/ 180 w 372"/>
                  <a:gd name="T7" fmla="*/ 100 h 247"/>
                  <a:gd name="T8" fmla="*/ 180 w 372"/>
                  <a:gd name="T9" fmla="*/ 84 h 247"/>
                  <a:gd name="T10" fmla="*/ 205 w 372"/>
                  <a:gd name="T11" fmla="*/ 84 h 247"/>
                  <a:gd name="T12" fmla="*/ 205 w 372"/>
                  <a:gd name="T13" fmla="*/ 99 h 247"/>
                  <a:gd name="T14" fmla="*/ 246 w 372"/>
                  <a:gd name="T15" fmla="*/ 114 h 247"/>
                  <a:gd name="T16" fmla="*/ 263 w 372"/>
                  <a:gd name="T17" fmla="*/ 152 h 247"/>
                  <a:gd name="T18" fmla="*/ 221 w 372"/>
                  <a:gd name="T19" fmla="*/ 152 h 247"/>
                  <a:gd name="T20" fmla="*/ 215 w 372"/>
                  <a:gd name="T21" fmla="*/ 136 h 247"/>
                  <a:gd name="T22" fmla="*/ 167 w 372"/>
                  <a:gd name="T23" fmla="*/ 134 h 247"/>
                  <a:gd name="T24" fmla="*/ 167 w 372"/>
                  <a:gd name="T25" fmla="*/ 156 h 247"/>
                  <a:gd name="T26" fmla="*/ 217 w 372"/>
                  <a:gd name="T27" fmla="*/ 171 h 247"/>
                  <a:gd name="T28" fmla="*/ 251 w 372"/>
                  <a:gd name="T29" fmla="*/ 188 h 247"/>
                  <a:gd name="T30" fmla="*/ 266 w 372"/>
                  <a:gd name="T31" fmla="*/ 223 h 247"/>
                  <a:gd name="T32" fmla="*/ 265 w 372"/>
                  <a:gd name="T33" fmla="*/ 234 h 247"/>
                  <a:gd name="T34" fmla="*/ 259 w 372"/>
                  <a:gd name="T35" fmla="*/ 246 h 247"/>
                  <a:gd name="T36" fmla="*/ 222 w 372"/>
                  <a:gd name="T37" fmla="*/ 230 h 247"/>
                  <a:gd name="T38" fmla="*/ 217 w 372"/>
                  <a:gd name="T39" fmla="*/ 217 h 247"/>
                  <a:gd name="T40" fmla="*/ 133 w 372"/>
                  <a:gd name="T41" fmla="*/ 185 h 247"/>
                  <a:gd name="T42" fmla="*/ 191 w 372"/>
                  <a:gd name="T43" fmla="*/ 39 h 247"/>
                  <a:gd name="T44" fmla="*/ 83 w 372"/>
                  <a:gd name="T45" fmla="*/ 83 h 247"/>
                  <a:gd name="T46" fmla="*/ 39 w 372"/>
                  <a:gd name="T47" fmla="*/ 191 h 247"/>
                  <a:gd name="T48" fmla="*/ 44 w 372"/>
                  <a:gd name="T49" fmla="*/ 231 h 247"/>
                  <a:gd name="T50" fmla="*/ 9 w 372"/>
                  <a:gd name="T51" fmla="*/ 247 h 247"/>
                  <a:gd name="T52" fmla="*/ 0 w 372"/>
                  <a:gd name="T53" fmla="*/ 191 h 247"/>
                  <a:gd name="T54" fmla="*/ 56 w 372"/>
                  <a:gd name="T55" fmla="*/ 56 h 247"/>
                  <a:gd name="T56" fmla="*/ 191 w 372"/>
                  <a:gd name="T57" fmla="*/ 0 h 247"/>
                  <a:gd name="T58" fmla="*/ 326 w 372"/>
                  <a:gd name="T59" fmla="*/ 56 h 247"/>
                  <a:gd name="T60" fmla="*/ 372 w 372"/>
                  <a:gd name="T61" fmla="*/ 132 h 247"/>
                  <a:gd name="T62" fmla="*/ 339 w 372"/>
                  <a:gd name="T63" fmla="*/ 152 h 247"/>
                  <a:gd name="T64" fmla="*/ 299 w 372"/>
                  <a:gd name="T65" fmla="*/ 83 h 247"/>
                  <a:gd name="T66" fmla="*/ 191 w 372"/>
                  <a:gd name="T67" fmla="*/ 39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2" h="247">
                    <a:moveTo>
                      <a:pt x="133" y="185"/>
                    </a:moveTo>
                    <a:cubicBezTo>
                      <a:pt x="123" y="177"/>
                      <a:pt x="118" y="166"/>
                      <a:pt x="118" y="152"/>
                    </a:cubicBezTo>
                    <a:cubicBezTo>
                      <a:pt x="118" y="136"/>
                      <a:pt x="124" y="124"/>
                      <a:pt x="136" y="115"/>
                    </a:cubicBezTo>
                    <a:cubicBezTo>
                      <a:pt x="147" y="105"/>
                      <a:pt x="160" y="100"/>
                      <a:pt x="180" y="100"/>
                    </a:cubicBezTo>
                    <a:cubicBezTo>
                      <a:pt x="180" y="84"/>
                      <a:pt x="180" y="84"/>
                      <a:pt x="180" y="84"/>
                    </a:cubicBezTo>
                    <a:cubicBezTo>
                      <a:pt x="205" y="84"/>
                      <a:pt x="205" y="84"/>
                      <a:pt x="205" y="84"/>
                    </a:cubicBezTo>
                    <a:cubicBezTo>
                      <a:pt x="205" y="99"/>
                      <a:pt x="205" y="99"/>
                      <a:pt x="205" y="99"/>
                    </a:cubicBezTo>
                    <a:cubicBezTo>
                      <a:pt x="224" y="100"/>
                      <a:pt x="235" y="104"/>
                      <a:pt x="246" y="114"/>
                    </a:cubicBezTo>
                    <a:cubicBezTo>
                      <a:pt x="257" y="123"/>
                      <a:pt x="262" y="136"/>
                      <a:pt x="263" y="152"/>
                    </a:cubicBezTo>
                    <a:cubicBezTo>
                      <a:pt x="221" y="152"/>
                      <a:pt x="221" y="152"/>
                      <a:pt x="221" y="152"/>
                    </a:cubicBezTo>
                    <a:cubicBezTo>
                      <a:pt x="220" y="145"/>
                      <a:pt x="218" y="140"/>
                      <a:pt x="215" y="136"/>
                    </a:cubicBezTo>
                    <a:cubicBezTo>
                      <a:pt x="208" y="128"/>
                      <a:pt x="176" y="128"/>
                      <a:pt x="167" y="134"/>
                    </a:cubicBezTo>
                    <a:cubicBezTo>
                      <a:pt x="161" y="139"/>
                      <a:pt x="160" y="151"/>
                      <a:pt x="167" y="156"/>
                    </a:cubicBezTo>
                    <a:cubicBezTo>
                      <a:pt x="175" y="162"/>
                      <a:pt x="205" y="167"/>
                      <a:pt x="217" y="171"/>
                    </a:cubicBezTo>
                    <a:cubicBezTo>
                      <a:pt x="232" y="176"/>
                      <a:pt x="244" y="181"/>
                      <a:pt x="251" y="188"/>
                    </a:cubicBezTo>
                    <a:cubicBezTo>
                      <a:pt x="261" y="197"/>
                      <a:pt x="266" y="208"/>
                      <a:pt x="266" y="223"/>
                    </a:cubicBezTo>
                    <a:cubicBezTo>
                      <a:pt x="266" y="227"/>
                      <a:pt x="266" y="231"/>
                      <a:pt x="265" y="234"/>
                    </a:cubicBezTo>
                    <a:cubicBezTo>
                      <a:pt x="263" y="238"/>
                      <a:pt x="261" y="242"/>
                      <a:pt x="259" y="246"/>
                    </a:cubicBezTo>
                    <a:cubicBezTo>
                      <a:pt x="247" y="240"/>
                      <a:pt x="235" y="235"/>
                      <a:pt x="222" y="230"/>
                    </a:cubicBezTo>
                    <a:cubicBezTo>
                      <a:pt x="223" y="225"/>
                      <a:pt x="221" y="220"/>
                      <a:pt x="217" y="217"/>
                    </a:cubicBezTo>
                    <a:cubicBezTo>
                      <a:pt x="200" y="204"/>
                      <a:pt x="158" y="207"/>
                      <a:pt x="133" y="185"/>
                    </a:cubicBezTo>
                    <a:close/>
                    <a:moveTo>
                      <a:pt x="191" y="39"/>
                    </a:moveTo>
                    <a:cubicBezTo>
                      <a:pt x="149" y="39"/>
                      <a:pt x="111" y="56"/>
                      <a:pt x="83" y="83"/>
                    </a:cubicBezTo>
                    <a:cubicBezTo>
                      <a:pt x="56" y="111"/>
                      <a:pt x="39" y="149"/>
                      <a:pt x="39" y="191"/>
                    </a:cubicBezTo>
                    <a:cubicBezTo>
                      <a:pt x="39" y="205"/>
                      <a:pt x="40" y="219"/>
                      <a:pt x="44" y="231"/>
                    </a:cubicBezTo>
                    <a:cubicBezTo>
                      <a:pt x="32" y="236"/>
                      <a:pt x="20" y="241"/>
                      <a:pt x="9" y="247"/>
                    </a:cubicBezTo>
                    <a:cubicBezTo>
                      <a:pt x="3" y="229"/>
                      <a:pt x="0" y="210"/>
                      <a:pt x="0" y="191"/>
                    </a:cubicBezTo>
                    <a:cubicBezTo>
                      <a:pt x="0" y="138"/>
                      <a:pt x="22" y="91"/>
                      <a:pt x="56" y="56"/>
                    </a:cubicBezTo>
                    <a:cubicBezTo>
                      <a:pt x="91" y="22"/>
                      <a:pt x="138" y="0"/>
                      <a:pt x="191" y="0"/>
                    </a:cubicBezTo>
                    <a:cubicBezTo>
                      <a:pt x="244" y="0"/>
                      <a:pt x="291" y="22"/>
                      <a:pt x="326" y="56"/>
                    </a:cubicBezTo>
                    <a:cubicBezTo>
                      <a:pt x="347" y="77"/>
                      <a:pt x="363" y="103"/>
                      <a:pt x="372" y="132"/>
                    </a:cubicBezTo>
                    <a:cubicBezTo>
                      <a:pt x="361" y="138"/>
                      <a:pt x="349" y="145"/>
                      <a:pt x="339" y="152"/>
                    </a:cubicBezTo>
                    <a:cubicBezTo>
                      <a:pt x="332" y="126"/>
                      <a:pt x="318" y="102"/>
                      <a:pt x="299" y="83"/>
                    </a:cubicBezTo>
                    <a:cubicBezTo>
                      <a:pt x="271" y="56"/>
                      <a:pt x="233" y="39"/>
                      <a:pt x="191"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9" name="Freeform 37">
                <a:extLst>
                  <a:ext uri="{FF2B5EF4-FFF2-40B4-BE49-F238E27FC236}">
                    <a16:creationId xmlns:a16="http://schemas.microsoft.com/office/drawing/2014/main" id="{0710C5F8-0F3F-4577-B250-EC9EF0C576E3}"/>
                  </a:ext>
                </a:extLst>
              </p:cNvPr>
              <p:cNvSpPr>
                <a:spLocks noEditPoints="1"/>
              </p:cNvSpPr>
              <p:nvPr/>
            </p:nvSpPr>
            <p:spPr bwMode="auto">
              <a:xfrm>
                <a:off x="6183208" y="766203"/>
                <a:ext cx="251576" cy="263409"/>
              </a:xfrm>
              <a:custGeom>
                <a:avLst/>
                <a:gdLst>
                  <a:gd name="T0" fmla="*/ 41 w 388"/>
                  <a:gd name="T1" fmla="*/ 59 h 406"/>
                  <a:gd name="T2" fmla="*/ 185 w 388"/>
                  <a:gd name="T3" fmla="*/ 0 h 406"/>
                  <a:gd name="T4" fmla="*/ 329 w 388"/>
                  <a:gd name="T5" fmla="*/ 59 h 406"/>
                  <a:gd name="T6" fmla="*/ 388 w 388"/>
                  <a:gd name="T7" fmla="*/ 203 h 406"/>
                  <a:gd name="T8" fmla="*/ 329 w 388"/>
                  <a:gd name="T9" fmla="*/ 347 h 406"/>
                  <a:gd name="T10" fmla="*/ 185 w 388"/>
                  <a:gd name="T11" fmla="*/ 406 h 406"/>
                  <a:gd name="T12" fmla="*/ 111 w 388"/>
                  <a:gd name="T13" fmla="*/ 393 h 406"/>
                  <a:gd name="T14" fmla="*/ 116 w 388"/>
                  <a:gd name="T15" fmla="*/ 342 h 406"/>
                  <a:gd name="T16" fmla="*/ 36 w 388"/>
                  <a:gd name="T17" fmla="*/ 149 h 406"/>
                  <a:gd name="T18" fmla="*/ 0 w 388"/>
                  <a:gd name="T19" fmla="*/ 119 h 406"/>
                  <a:gd name="T20" fmla="*/ 41 w 388"/>
                  <a:gd name="T21" fmla="*/ 59 h 406"/>
                  <a:gd name="T22" fmla="*/ 123 w 388"/>
                  <a:gd name="T23" fmla="*/ 197 h 406"/>
                  <a:gd name="T24" fmla="*/ 107 w 388"/>
                  <a:gd name="T25" fmla="*/ 161 h 406"/>
                  <a:gd name="T26" fmla="*/ 126 w 388"/>
                  <a:gd name="T27" fmla="*/ 121 h 406"/>
                  <a:gd name="T28" fmla="*/ 173 w 388"/>
                  <a:gd name="T29" fmla="*/ 105 h 406"/>
                  <a:gd name="T30" fmla="*/ 173 w 388"/>
                  <a:gd name="T31" fmla="*/ 88 h 406"/>
                  <a:gd name="T32" fmla="*/ 200 w 388"/>
                  <a:gd name="T33" fmla="*/ 88 h 406"/>
                  <a:gd name="T34" fmla="*/ 200 w 388"/>
                  <a:gd name="T35" fmla="*/ 104 h 406"/>
                  <a:gd name="T36" fmla="*/ 244 w 388"/>
                  <a:gd name="T37" fmla="*/ 120 h 406"/>
                  <a:gd name="T38" fmla="*/ 262 w 388"/>
                  <a:gd name="T39" fmla="*/ 161 h 406"/>
                  <a:gd name="T40" fmla="*/ 217 w 388"/>
                  <a:gd name="T41" fmla="*/ 161 h 406"/>
                  <a:gd name="T42" fmla="*/ 211 w 388"/>
                  <a:gd name="T43" fmla="*/ 144 h 406"/>
                  <a:gd name="T44" fmla="*/ 160 w 388"/>
                  <a:gd name="T45" fmla="*/ 142 h 406"/>
                  <a:gd name="T46" fmla="*/ 159 w 388"/>
                  <a:gd name="T47" fmla="*/ 165 h 406"/>
                  <a:gd name="T48" fmla="*/ 213 w 388"/>
                  <a:gd name="T49" fmla="*/ 181 h 406"/>
                  <a:gd name="T50" fmla="*/ 250 w 388"/>
                  <a:gd name="T51" fmla="*/ 200 h 406"/>
                  <a:gd name="T52" fmla="*/ 265 w 388"/>
                  <a:gd name="T53" fmla="*/ 237 h 406"/>
                  <a:gd name="T54" fmla="*/ 248 w 388"/>
                  <a:gd name="T55" fmla="*/ 279 h 406"/>
                  <a:gd name="T56" fmla="*/ 198 w 388"/>
                  <a:gd name="T57" fmla="*/ 296 h 406"/>
                  <a:gd name="T58" fmla="*/ 198 w 388"/>
                  <a:gd name="T59" fmla="*/ 318 h 406"/>
                  <a:gd name="T60" fmla="*/ 172 w 388"/>
                  <a:gd name="T61" fmla="*/ 318 h 406"/>
                  <a:gd name="T62" fmla="*/ 172 w 388"/>
                  <a:gd name="T63" fmla="*/ 296 h 406"/>
                  <a:gd name="T64" fmla="*/ 123 w 388"/>
                  <a:gd name="T65" fmla="*/ 279 h 406"/>
                  <a:gd name="T66" fmla="*/ 105 w 388"/>
                  <a:gd name="T67" fmla="*/ 233 h 406"/>
                  <a:gd name="T68" fmla="*/ 152 w 388"/>
                  <a:gd name="T69" fmla="*/ 233 h 406"/>
                  <a:gd name="T70" fmla="*/ 158 w 388"/>
                  <a:gd name="T71" fmla="*/ 254 h 406"/>
                  <a:gd name="T72" fmla="*/ 212 w 388"/>
                  <a:gd name="T73" fmla="*/ 256 h 406"/>
                  <a:gd name="T74" fmla="*/ 213 w 388"/>
                  <a:gd name="T75" fmla="*/ 231 h 406"/>
                  <a:gd name="T76" fmla="*/ 123 w 388"/>
                  <a:gd name="T77" fmla="*/ 197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88" h="406">
                    <a:moveTo>
                      <a:pt x="41" y="59"/>
                    </a:moveTo>
                    <a:cubicBezTo>
                      <a:pt x="78" y="22"/>
                      <a:pt x="129" y="0"/>
                      <a:pt x="185" y="0"/>
                    </a:cubicBezTo>
                    <a:cubicBezTo>
                      <a:pt x="241" y="0"/>
                      <a:pt x="292" y="22"/>
                      <a:pt x="329" y="59"/>
                    </a:cubicBezTo>
                    <a:cubicBezTo>
                      <a:pt x="366" y="96"/>
                      <a:pt x="388" y="147"/>
                      <a:pt x="388" y="203"/>
                    </a:cubicBezTo>
                    <a:cubicBezTo>
                      <a:pt x="388" y="259"/>
                      <a:pt x="366" y="310"/>
                      <a:pt x="329" y="347"/>
                    </a:cubicBezTo>
                    <a:cubicBezTo>
                      <a:pt x="292" y="384"/>
                      <a:pt x="241" y="406"/>
                      <a:pt x="185" y="406"/>
                    </a:cubicBezTo>
                    <a:cubicBezTo>
                      <a:pt x="159" y="406"/>
                      <a:pt x="134" y="401"/>
                      <a:pt x="111" y="393"/>
                    </a:cubicBezTo>
                    <a:cubicBezTo>
                      <a:pt x="114" y="376"/>
                      <a:pt x="116" y="359"/>
                      <a:pt x="116" y="342"/>
                    </a:cubicBezTo>
                    <a:cubicBezTo>
                      <a:pt x="116" y="270"/>
                      <a:pt x="87" y="200"/>
                      <a:pt x="36" y="149"/>
                    </a:cubicBezTo>
                    <a:cubicBezTo>
                      <a:pt x="25" y="138"/>
                      <a:pt x="13" y="128"/>
                      <a:pt x="0" y="119"/>
                    </a:cubicBezTo>
                    <a:cubicBezTo>
                      <a:pt x="10" y="96"/>
                      <a:pt x="24" y="76"/>
                      <a:pt x="41" y="59"/>
                    </a:cubicBezTo>
                    <a:close/>
                    <a:moveTo>
                      <a:pt x="123" y="197"/>
                    </a:moveTo>
                    <a:cubicBezTo>
                      <a:pt x="112" y="188"/>
                      <a:pt x="107" y="176"/>
                      <a:pt x="107" y="161"/>
                    </a:cubicBezTo>
                    <a:cubicBezTo>
                      <a:pt x="107" y="144"/>
                      <a:pt x="113" y="131"/>
                      <a:pt x="126" y="121"/>
                    </a:cubicBezTo>
                    <a:cubicBezTo>
                      <a:pt x="138" y="111"/>
                      <a:pt x="152" y="105"/>
                      <a:pt x="173" y="105"/>
                    </a:cubicBezTo>
                    <a:cubicBezTo>
                      <a:pt x="173" y="88"/>
                      <a:pt x="173" y="88"/>
                      <a:pt x="173" y="88"/>
                    </a:cubicBezTo>
                    <a:cubicBezTo>
                      <a:pt x="200" y="88"/>
                      <a:pt x="200" y="88"/>
                      <a:pt x="200" y="88"/>
                    </a:cubicBezTo>
                    <a:cubicBezTo>
                      <a:pt x="200" y="104"/>
                      <a:pt x="200" y="104"/>
                      <a:pt x="200" y="104"/>
                    </a:cubicBezTo>
                    <a:cubicBezTo>
                      <a:pt x="220" y="105"/>
                      <a:pt x="233" y="110"/>
                      <a:pt x="244" y="120"/>
                    </a:cubicBezTo>
                    <a:cubicBezTo>
                      <a:pt x="255" y="130"/>
                      <a:pt x="261" y="143"/>
                      <a:pt x="262" y="161"/>
                    </a:cubicBezTo>
                    <a:cubicBezTo>
                      <a:pt x="217" y="161"/>
                      <a:pt x="217" y="161"/>
                      <a:pt x="217" y="161"/>
                    </a:cubicBezTo>
                    <a:cubicBezTo>
                      <a:pt x="216" y="154"/>
                      <a:pt x="214" y="148"/>
                      <a:pt x="211" y="144"/>
                    </a:cubicBezTo>
                    <a:cubicBezTo>
                      <a:pt x="203" y="135"/>
                      <a:pt x="168" y="135"/>
                      <a:pt x="160" y="142"/>
                    </a:cubicBezTo>
                    <a:cubicBezTo>
                      <a:pt x="152" y="147"/>
                      <a:pt x="152" y="160"/>
                      <a:pt x="159" y="165"/>
                    </a:cubicBezTo>
                    <a:cubicBezTo>
                      <a:pt x="168" y="172"/>
                      <a:pt x="200" y="177"/>
                      <a:pt x="213" y="181"/>
                    </a:cubicBezTo>
                    <a:cubicBezTo>
                      <a:pt x="229" y="186"/>
                      <a:pt x="242" y="193"/>
                      <a:pt x="250" y="200"/>
                    </a:cubicBezTo>
                    <a:cubicBezTo>
                      <a:pt x="260" y="209"/>
                      <a:pt x="265" y="221"/>
                      <a:pt x="265" y="237"/>
                    </a:cubicBezTo>
                    <a:cubicBezTo>
                      <a:pt x="265" y="256"/>
                      <a:pt x="260" y="270"/>
                      <a:pt x="248" y="279"/>
                    </a:cubicBezTo>
                    <a:cubicBezTo>
                      <a:pt x="236" y="289"/>
                      <a:pt x="222" y="295"/>
                      <a:pt x="198" y="296"/>
                    </a:cubicBezTo>
                    <a:cubicBezTo>
                      <a:pt x="198" y="318"/>
                      <a:pt x="198" y="318"/>
                      <a:pt x="198" y="318"/>
                    </a:cubicBezTo>
                    <a:cubicBezTo>
                      <a:pt x="172" y="318"/>
                      <a:pt x="172" y="318"/>
                      <a:pt x="172" y="318"/>
                    </a:cubicBezTo>
                    <a:cubicBezTo>
                      <a:pt x="172" y="296"/>
                      <a:pt x="172" y="296"/>
                      <a:pt x="172" y="296"/>
                    </a:cubicBezTo>
                    <a:cubicBezTo>
                      <a:pt x="150" y="295"/>
                      <a:pt x="136" y="290"/>
                      <a:pt x="123" y="279"/>
                    </a:cubicBezTo>
                    <a:cubicBezTo>
                      <a:pt x="111" y="268"/>
                      <a:pt x="105" y="252"/>
                      <a:pt x="105" y="233"/>
                    </a:cubicBezTo>
                    <a:cubicBezTo>
                      <a:pt x="152" y="233"/>
                      <a:pt x="152" y="233"/>
                      <a:pt x="152" y="233"/>
                    </a:cubicBezTo>
                    <a:cubicBezTo>
                      <a:pt x="153" y="243"/>
                      <a:pt x="155" y="250"/>
                      <a:pt x="158" y="254"/>
                    </a:cubicBezTo>
                    <a:cubicBezTo>
                      <a:pt x="167" y="265"/>
                      <a:pt x="203" y="263"/>
                      <a:pt x="212" y="256"/>
                    </a:cubicBezTo>
                    <a:cubicBezTo>
                      <a:pt x="220" y="251"/>
                      <a:pt x="221" y="237"/>
                      <a:pt x="213" y="231"/>
                    </a:cubicBezTo>
                    <a:cubicBezTo>
                      <a:pt x="195" y="216"/>
                      <a:pt x="150" y="220"/>
                      <a:pt x="123"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0" name="Freeform 38">
                <a:extLst>
                  <a:ext uri="{FF2B5EF4-FFF2-40B4-BE49-F238E27FC236}">
                    <a16:creationId xmlns:a16="http://schemas.microsoft.com/office/drawing/2014/main" id="{DB3C0B30-008F-49E2-A18F-552E046350B2}"/>
                  </a:ext>
                </a:extLst>
              </p:cNvPr>
              <p:cNvSpPr>
                <a:spLocks noEditPoints="1"/>
              </p:cNvSpPr>
              <p:nvPr/>
            </p:nvSpPr>
            <p:spPr bwMode="auto">
              <a:xfrm>
                <a:off x="5928340" y="836444"/>
                <a:ext cx="304799" cy="304566"/>
              </a:xfrm>
              <a:custGeom>
                <a:avLst/>
                <a:gdLst>
                  <a:gd name="T0" fmla="*/ 235 w 470"/>
                  <a:gd name="T1" fmla="*/ 57 h 470"/>
                  <a:gd name="T2" fmla="*/ 109 w 470"/>
                  <a:gd name="T3" fmla="*/ 109 h 470"/>
                  <a:gd name="T4" fmla="*/ 57 w 470"/>
                  <a:gd name="T5" fmla="*/ 235 h 470"/>
                  <a:gd name="T6" fmla="*/ 109 w 470"/>
                  <a:gd name="T7" fmla="*/ 361 h 470"/>
                  <a:gd name="T8" fmla="*/ 235 w 470"/>
                  <a:gd name="T9" fmla="*/ 413 h 470"/>
                  <a:gd name="T10" fmla="*/ 361 w 470"/>
                  <a:gd name="T11" fmla="*/ 361 h 470"/>
                  <a:gd name="T12" fmla="*/ 413 w 470"/>
                  <a:gd name="T13" fmla="*/ 235 h 470"/>
                  <a:gd name="T14" fmla="*/ 361 w 470"/>
                  <a:gd name="T15" fmla="*/ 109 h 470"/>
                  <a:gd name="T16" fmla="*/ 235 w 470"/>
                  <a:gd name="T17" fmla="*/ 57 h 470"/>
                  <a:gd name="T18" fmla="*/ 170 w 470"/>
                  <a:gd name="T19" fmla="*/ 228 h 470"/>
                  <a:gd name="T20" fmla="*/ 154 w 470"/>
                  <a:gd name="T21" fmla="*/ 191 h 470"/>
                  <a:gd name="T22" fmla="*/ 173 w 470"/>
                  <a:gd name="T23" fmla="*/ 149 h 470"/>
                  <a:gd name="T24" fmla="*/ 222 w 470"/>
                  <a:gd name="T25" fmla="*/ 132 h 470"/>
                  <a:gd name="T26" fmla="*/ 222 w 470"/>
                  <a:gd name="T27" fmla="*/ 114 h 470"/>
                  <a:gd name="T28" fmla="*/ 251 w 470"/>
                  <a:gd name="T29" fmla="*/ 114 h 470"/>
                  <a:gd name="T30" fmla="*/ 251 w 470"/>
                  <a:gd name="T31" fmla="*/ 132 h 470"/>
                  <a:gd name="T32" fmla="*/ 296 w 470"/>
                  <a:gd name="T33" fmla="*/ 148 h 470"/>
                  <a:gd name="T34" fmla="*/ 314 w 470"/>
                  <a:gd name="T35" fmla="*/ 190 h 470"/>
                  <a:gd name="T36" fmla="*/ 267 w 470"/>
                  <a:gd name="T37" fmla="*/ 190 h 470"/>
                  <a:gd name="T38" fmla="*/ 262 w 470"/>
                  <a:gd name="T39" fmla="*/ 173 h 470"/>
                  <a:gd name="T40" fmla="*/ 208 w 470"/>
                  <a:gd name="T41" fmla="*/ 171 h 470"/>
                  <a:gd name="T42" fmla="*/ 208 w 470"/>
                  <a:gd name="T43" fmla="*/ 196 h 470"/>
                  <a:gd name="T44" fmla="*/ 264 w 470"/>
                  <a:gd name="T45" fmla="*/ 212 h 470"/>
                  <a:gd name="T46" fmla="*/ 302 w 470"/>
                  <a:gd name="T47" fmla="*/ 231 h 470"/>
                  <a:gd name="T48" fmla="*/ 318 w 470"/>
                  <a:gd name="T49" fmla="*/ 271 h 470"/>
                  <a:gd name="T50" fmla="*/ 300 w 470"/>
                  <a:gd name="T51" fmla="*/ 314 h 470"/>
                  <a:gd name="T52" fmla="*/ 248 w 470"/>
                  <a:gd name="T53" fmla="*/ 333 h 470"/>
                  <a:gd name="T54" fmla="*/ 248 w 470"/>
                  <a:gd name="T55" fmla="*/ 355 h 470"/>
                  <a:gd name="T56" fmla="*/ 219 w 470"/>
                  <a:gd name="T57" fmla="*/ 355 h 470"/>
                  <a:gd name="T58" fmla="*/ 219 w 470"/>
                  <a:gd name="T59" fmla="*/ 333 h 470"/>
                  <a:gd name="T60" fmla="*/ 171 w 470"/>
                  <a:gd name="T61" fmla="*/ 313 h 470"/>
                  <a:gd name="T62" fmla="*/ 151 w 470"/>
                  <a:gd name="T63" fmla="*/ 266 h 470"/>
                  <a:gd name="T64" fmla="*/ 201 w 470"/>
                  <a:gd name="T65" fmla="*/ 266 h 470"/>
                  <a:gd name="T66" fmla="*/ 207 w 470"/>
                  <a:gd name="T67" fmla="*/ 288 h 470"/>
                  <a:gd name="T68" fmla="*/ 263 w 470"/>
                  <a:gd name="T69" fmla="*/ 290 h 470"/>
                  <a:gd name="T70" fmla="*/ 264 w 470"/>
                  <a:gd name="T71" fmla="*/ 264 h 470"/>
                  <a:gd name="T72" fmla="*/ 170 w 470"/>
                  <a:gd name="T73" fmla="*/ 228 h 470"/>
                  <a:gd name="T74" fmla="*/ 69 w 470"/>
                  <a:gd name="T75" fmla="*/ 69 h 470"/>
                  <a:gd name="T76" fmla="*/ 235 w 470"/>
                  <a:gd name="T77" fmla="*/ 0 h 470"/>
                  <a:gd name="T78" fmla="*/ 401 w 470"/>
                  <a:gd name="T79" fmla="*/ 69 h 470"/>
                  <a:gd name="T80" fmla="*/ 470 w 470"/>
                  <a:gd name="T81" fmla="*/ 235 h 470"/>
                  <a:gd name="T82" fmla="*/ 401 w 470"/>
                  <a:gd name="T83" fmla="*/ 401 h 470"/>
                  <a:gd name="T84" fmla="*/ 235 w 470"/>
                  <a:gd name="T85" fmla="*/ 470 h 470"/>
                  <a:gd name="T86" fmla="*/ 69 w 470"/>
                  <a:gd name="T87" fmla="*/ 401 h 470"/>
                  <a:gd name="T88" fmla="*/ 0 w 470"/>
                  <a:gd name="T89" fmla="*/ 235 h 470"/>
                  <a:gd name="T90" fmla="*/ 69 w 470"/>
                  <a:gd name="T91" fmla="*/ 69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70" h="470">
                    <a:moveTo>
                      <a:pt x="235" y="57"/>
                    </a:moveTo>
                    <a:cubicBezTo>
                      <a:pt x="186" y="57"/>
                      <a:pt x="141" y="77"/>
                      <a:pt x="109" y="109"/>
                    </a:cubicBezTo>
                    <a:cubicBezTo>
                      <a:pt x="77" y="141"/>
                      <a:pt x="57" y="186"/>
                      <a:pt x="57" y="235"/>
                    </a:cubicBezTo>
                    <a:cubicBezTo>
                      <a:pt x="57" y="284"/>
                      <a:pt x="77" y="328"/>
                      <a:pt x="109" y="361"/>
                    </a:cubicBezTo>
                    <a:cubicBezTo>
                      <a:pt x="141" y="393"/>
                      <a:pt x="186" y="413"/>
                      <a:pt x="235" y="413"/>
                    </a:cubicBezTo>
                    <a:cubicBezTo>
                      <a:pt x="284" y="413"/>
                      <a:pt x="328" y="393"/>
                      <a:pt x="361" y="361"/>
                    </a:cubicBezTo>
                    <a:cubicBezTo>
                      <a:pt x="393" y="328"/>
                      <a:pt x="413" y="284"/>
                      <a:pt x="413" y="235"/>
                    </a:cubicBezTo>
                    <a:cubicBezTo>
                      <a:pt x="413" y="186"/>
                      <a:pt x="393" y="141"/>
                      <a:pt x="361" y="109"/>
                    </a:cubicBezTo>
                    <a:cubicBezTo>
                      <a:pt x="328" y="77"/>
                      <a:pt x="284" y="57"/>
                      <a:pt x="235" y="57"/>
                    </a:cubicBezTo>
                    <a:close/>
                    <a:moveTo>
                      <a:pt x="170" y="228"/>
                    </a:moveTo>
                    <a:cubicBezTo>
                      <a:pt x="159" y="219"/>
                      <a:pt x="154" y="207"/>
                      <a:pt x="154" y="191"/>
                    </a:cubicBezTo>
                    <a:cubicBezTo>
                      <a:pt x="154" y="174"/>
                      <a:pt x="160" y="160"/>
                      <a:pt x="173" y="149"/>
                    </a:cubicBezTo>
                    <a:cubicBezTo>
                      <a:pt x="186" y="139"/>
                      <a:pt x="200" y="133"/>
                      <a:pt x="222" y="132"/>
                    </a:cubicBezTo>
                    <a:cubicBezTo>
                      <a:pt x="222" y="114"/>
                      <a:pt x="222" y="114"/>
                      <a:pt x="222" y="114"/>
                    </a:cubicBezTo>
                    <a:cubicBezTo>
                      <a:pt x="251" y="114"/>
                      <a:pt x="251" y="114"/>
                      <a:pt x="251" y="114"/>
                    </a:cubicBezTo>
                    <a:cubicBezTo>
                      <a:pt x="251" y="132"/>
                      <a:pt x="251" y="132"/>
                      <a:pt x="251" y="132"/>
                    </a:cubicBezTo>
                    <a:cubicBezTo>
                      <a:pt x="272" y="133"/>
                      <a:pt x="284" y="138"/>
                      <a:pt x="296" y="148"/>
                    </a:cubicBezTo>
                    <a:cubicBezTo>
                      <a:pt x="308" y="158"/>
                      <a:pt x="313" y="172"/>
                      <a:pt x="314" y="190"/>
                    </a:cubicBezTo>
                    <a:cubicBezTo>
                      <a:pt x="267" y="190"/>
                      <a:pt x="267" y="190"/>
                      <a:pt x="267" y="190"/>
                    </a:cubicBezTo>
                    <a:cubicBezTo>
                      <a:pt x="266" y="182"/>
                      <a:pt x="265" y="177"/>
                      <a:pt x="262" y="173"/>
                    </a:cubicBezTo>
                    <a:cubicBezTo>
                      <a:pt x="254" y="164"/>
                      <a:pt x="218" y="164"/>
                      <a:pt x="208" y="171"/>
                    </a:cubicBezTo>
                    <a:cubicBezTo>
                      <a:pt x="201" y="177"/>
                      <a:pt x="200" y="190"/>
                      <a:pt x="208" y="196"/>
                    </a:cubicBezTo>
                    <a:cubicBezTo>
                      <a:pt x="217" y="203"/>
                      <a:pt x="250" y="208"/>
                      <a:pt x="264" y="212"/>
                    </a:cubicBezTo>
                    <a:cubicBezTo>
                      <a:pt x="281" y="218"/>
                      <a:pt x="294" y="224"/>
                      <a:pt x="302" y="231"/>
                    </a:cubicBezTo>
                    <a:cubicBezTo>
                      <a:pt x="313" y="241"/>
                      <a:pt x="318" y="254"/>
                      <a:pt x="318" y="271"/>
                    </a:cubicBezTo>
                    <a:cubicBezTo>
                      <a:pt x="319" y="290"/>
                      <a:pt x="312" y="304"/>
                      <a:pt x="300" y="314"/>
                    </a:cubicBezTo>
                    <a:cubicBezTo>
                      <a:pt x="288" y="325"/>
                      <a:pt x="272" y="332"/>
                      <a:pt x="248" y="333"/>
                    </a:cubicBezTo>
                    <a:cubicBezTo>
                      <a:pt x="248" y="355"/>
                      <a:pt x="248" y="355"/>
                      <a:pt x="248" y="355"/>
                    </a:cubicBezTo>
                    <a:cubicBezTo>
                      <a:pt x="219" y="355"/>
                      <a:pt x="219" y="355"/>
                      <a:pt x="219" y="355"/>
                    </a:cubicBezTo>
                    <a:cubicBezTo>
                      <a:pt x="219" y="333"/>
                      <a:pt x="219" y="333"/>
                      <a:pt x="219" y="333"/>
                    </a:cubicBezTo>
                    <a:cubicBezTo>
                      <a:pt x="196" y="333"/>
                      <a:pt x="183" y="325"/>
                      <a:pt x="171" y="313"/>
                    </a:cubicBezTo>
                    <a:cubicBezTo>
                      <a:pt x="158" y="302"/>
                      <a:pt x="151" y="286"/>
                      <a:pt x="151" y="266"/>
                    </a:cubicBezTo>
                    <a:cubicBezTo>
                      <a:pt x="201" y="266"/>
                      <a:pt x="201" y="266"/>
                      <a:pt x="201" y="266"/>
                    </a:cubicBezTo>
                    <a:cubicBezTo>
                      <a:pt x="202" y="276"/>
                      <a:pt x="204" y="283"/>
                      <a:pt x="207" y="288"/>
                    </a:cubicBezTo>
                    <a:cubicBezTo>
                      <a:pt x="216" y="299"/>
                      <a:pt x="254" y="297"/>
                      <a:pt x="263" y="290"/>
                    </a:cubicBezTo>
                    <a:cubicBezTo>
                      <a:pt x="272" y="284"/>
                      <a:pt x="272" y="271"/>
                      <a:pt x="264" y="264"/>
                    </a:cubicBezTo>
                    <a:cubicBezTo>
                      <a:pt x="245" y="249"/>
                      <a:pt x="198" y="252"/>
                      <a:pt x="170" y="228"/>
                    </a:cubicBezTo>
                    <a:close/>
                    <a:moveTo>
                      <a:pt x="69" y="69"/>
                    </a:moveTo>
                    <a:cubicBezTo>
                      <a:pt x="111" y="26"/>
                      <a:pt x="170" y="0"/>
                      <a:pt x="235" y="0"/>
                    </a:cubicBezTo>
                    <a:cubicBezTo>
                      <a:pt x="300" y="0"/>
                      <a:pt x="359" y="26"/>
                      <a:pt x="401" y="69"/>
                    </a:cubicBezTo>
                    <a:cubicBezTo>
                      <a:pt x="444" y="111"/>
                      <a:pt x="470" y="170"/>
                      <a:pt x="470" y="235"/>
                    </a:cubicBezTo>
                    <a:cubicBezTo>
                      <a:pt x="470" y="300"/>
                      <a:pt x="444" y="359"/>
                      <a:pt x="401" y="401"/>
                    </a:cubicBezTo>
                    <a:cubicBezTo>
                      <a:pt x="359" y="444"/>
                      <a:pt x="300" y="470"/>
                      <a:pt x="235" y="470"/>
                    </a:cubicBezTo>
                    <a:cubicBezTo>
                      <a:pt x="170" y="470"/>
                      <a:pt x="111" y="444"/>
                      <a:pt x="69" y="401"/>
                    </a:cubicBezTo>
                    <a:cubicBezTo>
                      <a:pt x="26" y="359"/>
                      <a:pt x="0" y="300"/>
                      <a:pt x="0" y="235"/>
                    </a:cubicBezTo>
                    <a:cubicBezTo>
                      <a:pt x="0" y="170"/>
                      <a:pt x="26" y="111"/>
                      <a:pt x="6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72" name="组合 71">
              <a:extLst>
                <a:ext uri="{FF2B5EF4-FFF2-40B4-BE49-F238E27FC236}">
                  <a16:creationId xmlns:a16="http://schemas.microsoft.com/office/drawing/2014/main" id="{13763D15-F650-4736-8FC2-CE6C748FE33A}"/>
                </a:ext>
              </a:extLst>
            </p:cNvPr>
            <p:cNvGrpSpPr/>
            <p:nvPr/>
          </p:nvGrpSpPr>
          <p:grpSpPr>
            <a:xfrm>
              <a:off x="5199891" y="4517161"/>
              <a:ext cx="490612" cy="536441"/>
              <a:chOff x="697828" y="4453123"/>
              <a:chExt cx="229831" cy="251300"/>
            </a:xfrm>
            <a:solidFill>
              <a:schemeClr val="bg1">
                <a:lumMod val="95000"/>
              </a:schemeClr>
            </a:solidFill>
          </p:grpSpPr>
          <p:sp>
            <p:nvSpPr>
              <p:cNvPr id="73" name="Freeform 665">
                <a:extLst>
                  <a:ext uri="{FF2B5EF4-FFF2-40B4-BE49-F238E27FC236}">
                    <a16:creationId xmlns:a16="http://schemas.microsoft.com/office/drawing/2014/main" id="{478D8900-9EEF-4C18-BB29-0C7BDAC96DFD}"/>
                  </a:ext>
                </a:extLst>
              </p:cNvPr>
              <p:cNvSpPr/>
              <p:nvPr/>
            </p:nvSpPr>
            <p:spPr bwMode="auto">
              <a:xfrm>
                <a:off x="697828" y="4453123"/>
                <a:ext cx="229831" cy="177458"/>
              </a:xfrm>
              <a:custGeom>
                <a:avLst/>
                <a:gdLst>
                  <a:gd name="T0" fmla="*/ 179 w 193"/>
                  <a:gd name="T1" fmla="*/ 54 h 149"/>
                  <a:gd name="T2" fmla="*/ 193 w 193"/>
                  <a:gd name="T3" fmla="*/ 0 h 149"/>
                  <a:gd name="T4" fmla="*/ 138 w 193"/>
                  <a:gd name="T5" fmla="*/ 13 h 149"/>
                  <a:gd name="T6" fmla="*/ 152 w 193"/>
                  <a:gd name="T7" fmla="*/ 27 h 149"/>
                  <a:gd name="T8" fmla="*/ 99 w 193"/>
                  <a:gd name="T9" fmla="*/ 79 h 149"/>
                  <a:gd name="T10" fmla="*/ 77 w 193"/>
                  <a:gd name="T11" fmla="*/ 57 h 149"/>
                  <a:gd name="T12" fmla="*/ 0 w 193"/>
                  <a:gd name="T13" fmla="*/ 134 h 149"/>
                  <a:gd name="T14" fmla="*/ 15 w 193"/>
                  <a:gd name="T15" fmla="*/ 149 h 149"/>
                  <a:gd name="T16" fmla="*/ 15 w 193"/>
                  <a:gd name="T17" fmla="*/ 149 h 149"/>
                  <a:gd name="T18" fmla="*/ 77 w 193"/>
                  <a:gd name="T19" fmla="*/ 87 h 149"/>
                  <a:gd name="T20" fmla="*/ 99 w 193"/>
                  <a:gd name="T21" fmla="*/ 108 h 149"/>
                  <a:gd name="T22" fmla="*/ 167 w 193"/>
                  <a:gd name="T23" fmla="*/ 41 h 149"/>
                  <a:gd name="T24" fmla="*/ 179 w 193"/>
                  <a:gd name="T25" fmla="*/ 5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3" h="149">
                    <a:moveTo>
                      <a:pt x="179" y="54"/>
                    </a:moveTo>
                    <a:lnTo>
                      <a:pt x="193" y="0"/>
                    </a:lnTo>
                    <a:lnTo>
                      <a:pt x="138" y="13"/>
                    </a:lnTo>
                    <a:lnTo>
                      <a:pt x="152" y="27"/>
                    </a:lnTo>
                    <a:lnTo>
                      <a:pt x="99" y="79"/>
                    </a:lnTo>
                    <a:lnTo>
                      <a:pt x="77" y="57"/>
                    </a:lnTo>
                    <a:lnTo>
                      <a:pt x="0" y="134"/>
                    </a:lnTo>
                    <a:lnTo>
                      <a:pt x="15" y="149"/>
                    </a:lnTo>
                    <a:lnTo>
                      <a:pt x="15" y="149"/>
                    </a:lnTo>
                    <a:lnTo>
                      <a:pt x="77" y="87"/>
                    </a:lnTo>
                    <a:lnTo>
                      <a:pt x="99" y="108"/>
                    </a:lnTo>
                    <a:lnTo>
                      <a:pt x="167" y="41"/>
                    </a:lnTo>
                    <a:lnTo>
                      <a:pt x="179" y="54"/>
                    </a:lnTo>
                    <a:close/>
                  </a:path>
                </a:pathLst>
              </a:custGeom>
              <a:solidFill>
                <a:srgbClr val="0070C0"/>
              </a:solidFill>
              <a:ln>
                <a:noFill/>
              </a:ln>
            </p:spPr>
            <p:txBody>
              <a:bodyPr vert="horz" wrap="square" lIns="68589" tIns="34295" rIns="68589"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4" name="Rectangle 666">
                <a:extLst>
                  <a:ext uri="{FF2B5EF4-FFF2-40B4-BE49-F238E27FC236}">
                    <a16:creationId xmlns:a16="http://schemas.microsoft.com/office/drawing/2014/main" id="{FC5D5853-104B-4E5E-9F78-1C600AA11840}"/>
                  </a:ext>
                </a:extLst>
              </p:cNvPr>
              <p:cNvSpPr>
                <a:spLocks noChangeArrowheads="1"/>
              </p:cNvSpPr>
              <p:nvPr/>
            </p:nvSpPr>
            <p:spPr bwMode="auto">
              <a:xfrm>
                <a:off x="718073" y="4643682"/>
                <a:ext cx="33343" cy="60741"/>
              </a:xfrm>
              <a:prstGeom prst="rect">
                <a:avLst/>
              </a:prstGeom>
              <a:solidFill>
                <a:srgbClr val="0070C0"/>
              </a:solidFill>
              <a:ln>
                <a:noFill/>
              </a:ln>
            </p:spPr>
            <p:txBody>
              <a:bodyPr vert="horz" wrap="square" lIns="68589" tIns="34295" rIns="68589"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5" name="Rectangle 667">
                <a:extLst>
                  <a:ext uri="{FF2B5EF4-FFF2-40B4-BE49-F238E27FC236}">
                    <a16:creationId xmlns:a16="http://schemas.microsoft.com/office/drawing/2014/main" id="{7D16A211-3B06-49D2-8D68-DF97D9AA6D79}"/>
                  </a:ext>
                </a:extLst>
              </p:cNvPr>
              <p:cNvSpPr>
                <a:spLocks noChangeArrowheads="1"/>
              </p:cNvSpPr>
              <p:nvPr/>
            </p:nvSpPr>
            <p:spPr bwMode="auto">
              <a:xfrm>
                <a:off x="772851" y="4613906"/>
                <a:ext cx="33343" cy="90515"/>
              </a:xfrm>
              <a:prstGeom prst="rect">
                <a:avLst/>
              </a:prstGeom>
              <a:solidFill>
                <a:srgbClr val="0070C0"/>
              </a:solidFill>
              <a:ln>
                <a:noFill/>
              </a:ln>
            </p:spPr>
            <p:txBody>
              <a:bodyPr vert="horz" wrap="square" lIns="68589" tIns="34295" rIns="68589"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6" name="Rectangle 668">
                <a:extLst>
                  <a:ext uri="{FF2B5EF4-FFF2-40B4-BE49-F238E27FC236}">
                    <a16:creationId xmlns:a16="http://schemas.microsoft.com/office/drawing/2014/main" id="{2A0432A0-01C9-4B48-8019-12A707788C67}"/>
                  </a:ext>
                </a:extLst>
              </p:cNvPr>
              <p:cNvSpPr>
                <a:spLocks noChangeArrowheads="1"/>
              </p:cNvSpPr>
              <p:nvPr/>
            </p:nvSpPr>
            <p:spPr bwMode="auto">
              <a:xfrm>
                <a:off x="828820" y="4584131"/>
                <a:ext cx="33343" cy="120291"/>
              </a:xfrm>
              <a:prstGeom prst="rect">
                <a:avLst/>
              </a:prstGeom>
              <a:solidFill>
                <a:srgbClr val="0070C0"/>
              </a:solidFill>
              <a:ln>
                <a:noFill/>
              </a:ln>
            </p:spPr>
            <p:txBody>
              <a:bodyPr vert="horz" wrap="square" lIns="68589" tIns="34295" rIns="68589"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7" name="Rectangle 669">
                <a:extLst>
                  <a:ext uri="{FF2B5EF4-FFF2-40B4-BE49-F238E27FC236}">
                    <a16:creationId xmlns:a16="http://schemas.microsoft.com/office/drawing/2014/main" id="{68DBCD6C-4E07-4191-A4A4-F2A1858E3AF3}"/>
                  </a:ext>
                </a:extLst>
              </p:cNvPr>
              <p:cNvSpPr>
                <a:spLocks noChangeArrowheads="1"/>
              </p:cNvSpPr>
              <p:nvPr/>
            </p:nvSpPr>
            <p:spPr bwMode="auto">
              <a:xfrm>
                <a:off x="883598" y="4554357"/>
                <a:ext cx="33343" cy="150065"/>
              </a:xfrm>
              <a:prstGeom prst="rect">
                <a:avLst/>
              </a:prstGeom>
              <a:solidFill>
                <a:srgbClr val="0070C0"/>
              </a:solidFill>
              <a:ln>
                <a:noFill/>
              </a:ln>
            </p:spPr>
            <p:txBody>
              <a:bodyPr vert="horz" wrap="square" lIns="68589" tIns="34295" rIns="68589"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grpSp>
        <p:nvGrpSpPr>
          <p:cNvPr id="43" name="组合 42">
            <a:extLst>
              <a:ext uri="{FF2B5EF4-FFF2-40B4-BE49-F238E27FC236}">
                <a16:creationId xmlns:a16="http://schemas.microsoft.com/office/drawing/2014/main" id="{E2A2FF48-A159-4A3F-824A-A52361FFF11A}"/>
              </a:ext>
            </a:extLst>
          </p:cNvPr>
          <p:cNvGrpSpPr/>
          <p:nvPr/>
        </p:nvGrpSpPr>
        <p:grpSpPr>
          <a:xfrm>
            <a:off x="7784177" y="1442832"/>
            <a:ext cx="3472572" cy="1255344"/>
            <a:chOff x="7729325" y="1739713"/>
            <a:chExt cx="3472572" cy="1255344"/>
          </a:xfrm>
        </p:grpSpPr>
        <p:sp>
          <p:nvSpPr>
            <p:cNvPr id="59" name="TextBox 76">
              <a:extLst>
                <a:ext uri="{FF2B5EF4-FFF2-40B4-BE49-F238E27FC236}">
                  <a16:creationId xmlns:a16="http://schemas.microsoft.com/office/drawing/2014/main" id="{523EC20B-2D00-4463-8824-631E1DD20E87}"/>
                </a:ext>
              </a:extLst>
            </p:cNvPr>
            <p:cNvSpPr txBox="1"/>
            <p:nvPr/>
          </p:nvSpPr>
          <p:spPr>
            <a:xfrm>
              <a:off x="7729326" y="1739713"/>
              <a:ext cx="2271468"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灵活的数据模型</a:t>
              </a:r>
            </a:p>
          </p:txBody>
        </p:sp>
        <p:sp>
          <p:nvSpPr>
            <p:cNvPr id="60" name="文本框 41">
              <a:extLst>
                <a:ext uri="{FF2B5EF4-FFF2-40B4-BE49-F238E27FC236}">
                  <a16:creationId xmlns:a16="http://schemas.microsoft.com/office/drawing/2014/main" id="{5A7CA746-C915-40C7-BAC0-9DE55049DD31}"/>
                </a:ext>
              </a:extLst>
            </p:cNvPr>
            <p:cNvSpPr txBox="1"/>
            <p:nvPr/>
          </p:nvSpPr>
          <p:spPr>
            <a:xfrm>
              <a:off x="7729325" y="2109045"/>
              <a:ext cx="3472572" cy="88601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MongoDB</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采用灵活的文档模型存储数据，支持</a:t>
              </a:r>
              <a:r>
                <a:rPr lang="zh-CN" altLang="en-US" sz="16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嵌入式文档</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和</a:t>
              </a:r>
              <a:r>
                <a:rPr lang="zh-CN" altLang="en-US" sz="16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数组</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，使得复杂的数据关系处理变得简单高效</a:t>
              </a:r>
            </a:p>
          </p:txBody>
        </p:sp>
      </p:grpSp>
      <p:grpSp>
        <p:nvGrpSpPr>
          <p:cNvPr id="44" name="组合 43">
            <a:extLst>
              <a:ext uri="{FF2B5EF4-FFF2-40B4-BE49-F238E27FC236}">
                <a16:creationId xmlns:a16="http://schemas.microsoft.com/office/drawing/2014/main" id="{3A2B044F-1D39-4120-9BC0-300C4711DAE9}"/>
              </a:ext>
            </a:extLst>
          </p:cNvPr>
          <p:cNvGrpSpPr/>
          <p:nvPr/>
        </p:nvGrpSpPr>
        <p:grpSpPr>
          <a:xfrm>
            <a:off x="7784177" y="4498363"/>
            <a:ext cx="2967703" cy="1027589"/>
            <a:chOff x="7729325" y="4795244"/>
            <a:chExt cx="2967703" cy="1027589"/>
          </a:xfrm>
        </p:grpSpPr>
        <p:sp>
          <p:nvSpPr>
            <p:cNvPr id="57" name="TextBox 76">
              <a:extLst>
                <a:ext uri="{FF2B5EF4-FFF2-40B4-BE49-F238E27FC236}">
                  <a16:creationId xmlns:a16="http://schemas.microsoft.com/office/drawing/2014/main" id="{03C43DE0-72D8-4BFF-BB21-534C1E743A7F}"/>
                </a:ext>
              </a:extLst>
            </p:cNvPr>
            <p:cNvSpPr txBox="1"/>
            <p:nvPr/>
          </p:nvSpPr>
          <p:spPr>
            <a:xfrm>
              <a:off x="7729326" y="4795244"/>
              <a:ext cx="145821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高可用性</a:t>
              </a:r>
            </a:p>
          </p:txBody>
        </p:sp>
        <p:sp>
          <p:nvSpPr>
            <p:cNvPr id="58" name="文本框 44">
              <a:extLst>
                <a:ext uri="{FF2B5EF4-FFF2-40B4-BE49-F238E27FC236}">
                  <a16:creationId xmlns:a16="http://schemas.microsoft.com/office/drawing/2014/main" id="{068D97DE-6AD7-4CC7-9133-C565F6C46B72}"/>
                </a:ext>
              </a:extLst>
            </p:cNvPr>
            <p:cNvSpPr txBox="1"/>
            <p:nvPr/>
          </p:nvSpPr>
          <p:spPr>
            <a:xfrm>
              <a:off x="7729325" y="5164576"/>
              <a:ext cx="2967703" cy="65825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MongoDB</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提供了一种强大的</a:t>
              </a:r>
              <a:r>
                <a:rPr lang="zh-CN" altLang="en-US" sz="16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复制机制</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，称为副本集</a:t>
              </a:r>
            </a:p>
          </p:txBody>
        </p:sp>
      </p:grpSp>
      <p:grpSp>
        <p:nvGrpSpPr>
          <p:cNvPr id="45" name="组合 44">
            <a:extLst>
              <a:ext uri="{FF2B5EF4-FFF2-40B4-BE49-F238E27FC236}">
                <a16:creationId xmlns:a16="http://schemas.microsoft.com/office/drawing/2014/main" id="{7877E401-A3E8-4520-ACB5-93A50D759C8A}"/>
              </a:ext>
            </a:extLst>
          </p:cNvPr>
          <p:cNvGrpSpPr/>
          <p:nvPr/>
        </p:nvGrpSpPr>
        <p:grpSpPr>
          <a:xfrm>
            <a:off x="8513382" y="2929850"/>
            <a:ext cx="3270455" cy="1027589"/>
            <a:chOff x="8458530" y="3226731"/>
            <a:chExt cx="3270455" cy="1027589"/>
          </a:xfrm>
        </p:grpSpPr>
        <p:sp>
          <p:nvSpPr>
            <p:cNvPr id="55" name="TextBox 76">
              <a:extLst>
                <a:ext uri="{FF2B5EF4-FFF2-40B4-BE49-F238E27FC236}">
                  <a16:creationId xmlns:a16="http://schemas.microsoft.com/office/drawing/2014/main" id="{179CAAB0-9B19-417C-9ECB-4DBD92DED498}"/>
                </a:ext>
              </a:extLst>
            </p:cNvPr>
            <p:cNvSpPr txBox="1"/>
            <p:nvPr/>
          </p:nvSpPr>
          <p:spPr>
            <a:xfrm>
              <a:off x="8458531" y="3226731"/>
              <a:ext cx="1628898"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高性能</a:t>
              </a:r>
            </a:p>
          </p:txBody>
        </p:sp>
        <p:sp>
          <p:nvSpPr>
            <p:cNvPr id="56" name="文本框 47">
              <a:extLst>
                <a:ext uri="{FF2B5EF4-FFF2-40B4-BE49-F238E27FC236}">
                  <a16:creationId xmlns:a16="http://schemas.microsoft.com/office/drawing/2014/main" id="{F136626D-DADB-4515-8A13-7FF8272CAAE0}"/>
                </a:ext>
              </a:extLst>
            </p:cNvPr>
            <p:cNvSpPr txBox="1"/>
            <p:nvPr/>
          </p:nvSpPr>
          <p:spPr>
            <a:xfrm>
              <a:off x="8458530" y="3596063"/>
              <a:ext cx="3270455" cy="65825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MongoDB</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允许在文档中</a:t>
              </a:r>
              <a:r>
                <a:rPr lang="zh-CN" altLang="en-US" sz="16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嵌入文档</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和</a:t>
              </a:r>
              <a:r>
                <a:rPr lang="zh-CN" altLang="en-US" sz="16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数组</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，形成灵活的嵌套结构</a:t>
              </a:r>
            </a:p>
          </p:txBody>
        </p:sp>
      </p:grpSp>
      <p:grpSp>
        <p:nvGrpSpPr>
          <p:cNvPr id="46" name="组合 45">
            <a:extLst>
              <a:ext uri="{FF2B5EF4-FFF2-40B4-BE49-F238E27FC236}">
                <a16:creationId xmlns:a16="http://schemas.microsoft.com/office/drawing/2014/main" id="{8F874F7C-30E5-45E4-8920-870D62167007}"/>
              </a:ext>
            </a:extLst>
          </p:cNvPr>
          <p:cNvGrpSpPr/>
          <p:nvPr/>
        </p:nvGrpSpPr>
        <p:grpSpPr>
          <a:xfrm>
            <a:off x="933665" y="1442832"/>
            <a:ext cx="3561268" cy="1390765"/>
            <a:chOff x="848555" y="1739713"/>
            <a:chExt cx="3561268" cy="1390765"/>
          </a:xfrm>
        </p:grpSpPr>
        <p:sp>
          <p:nvSpPr>
            <p:cNvPr id="53" name="TextBox 76">
              <a:extLst>
                <a:ext uri="{FF2B5EF4-FFF2-40B4-BE49-F238E27FC236}">
                  <a16:creationId xmlns:a16="http://schemas.microsoft.com/office/drawing/2014/main" id="{88086584-DD28-47F9-B237-BC28789F8AD5}"/>
                </a:ext>
              </a:extLst>
            </p:cNvPr>
            <p:cNvSpPr txBox="1"/>
            <p:nvPr/>
          </p:nvSpPr>
          <p:spPr>
            <a:xfrm>
              <a:off x="2138355" y="1739713"/>
              <a:ext cx="2271468"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支持多种存储引擎</a:t>
              </a:r>
            </a:p>
          </p:txBody>
        </p:sp>
        <p:sp>
          <p:nvSpPr>
            <p:cNvPr id="54" name="文本框 50">
              <a:extLst>
                <a:ext uri="{FF2B5EF4-FFF2-40B4-BE49-F238E27FC236}">
                  <a16:creationId xmlns:a16="http://schemas.microsoft.com/office/drawing/2014/main" id="{E10A5AC4-0C52-4618-8100-CB74B766F022}"/>
                </a:ext>
              </a:extLst>
            </p:cNvPr>
            <p:cNvSpPr txBox="1"/>
            <p:nvPr/>
          </p:nvSpPr>
          <p:spPr>
            <a:xfrm>
              <a:off x="848555" y="2109045"/>
              <a:ext cx="3561268" cy="102143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MongoDB 7.0</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支持</a:t>
              </a:r>
              <a:r>
                <a:rPr lang="en-US" altLang="zh-CN" sz="1600" dirty="0" err="1">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WiredTiger</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和</a:t>
              </a:r>
              <a:r>
                <a:rPr lang="en-US" altLang="zh-CN" sz="16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In-Memory</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两种存储引擎，允许用户根据自己的需求选择不同的存储引擎</a:t>
              </a:r>
            </a:p>
          </p:txBody>
        </p:sp>
      </p:grpSp>
      <p:grpSp>
        <p:nvGrpSpPr>
          <p:cNvPr id="47" name="组合 46">
            <a:extLst>
              <a:ext uri="{FF2B5EF4-FFF2-40B4-BE49-F238E27FC236}">
                <a16:creationId xmlns:a16="http://schemas.microsoft.com/office/drawing/2014/main" id="{2D136C71-BC39-43B7-A12B-E9A2B35EF09B}"/>
              </a:ext>
            </a:extLst>
          </p:cNvPr>
          <p:cNvGrpSpPr/>
          <p:nvPr/>
        </p:nvGrpSpPr>
        <p:grpSpPr>
          <a:xfrm>
            <a:off x="1270671" y="4498363"/>
            <a:ext cx="3194004" cy="1255344"/>
            <a:chOff x="1215819" y="4795244"/>
            <a:chExt cx="3194004" cy="1255344"/>
          </a:xfrm>
        </p:grpSpPr>
        <p:sp>
          <p:nvSpPr>
            <p:cNvPr id="51" name="TextBox 76">
              <a:extLst>
                <a:ext uri="{FF2B5EF4-FFF2-40B4-BE49-F238E27FC236}">
                  <a16:creationId xmlns:a16="http://schemas.microsoft.com/office/drawing/2014/main" id="{E53675F9-100C-45A2-B69E-8D417B16B8AF}"/>
                </a:ext>
              </a:extLst>
            </p:cNvPr>
            <p:cNvSpPr txBox="1"/>
            <p:nvPr/>
          </p:nvSpPr>
          <p:spPr>
            <a:xfrm>
              <a:off x="2079915" y="4795244"/>
              <a:ext cx="2329908"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强大的查询语言</a:t>
              </a:r>
            </a:p>
          </p:txBody>
        </p:sp>
        <p:sp>
          <p:nvSpPr>
            <p:cNvPr id="52" name="文本框 53">
              <a:extLst>
                <a:ext uri="{FF2B5EF4-FFF2-40B4-BE49-F238E27FC236}">
                  <a16:creationId xmlns:a16="http://schemas.microsoft.com/office/drawing/2014/main" id="{EFB2E006-3207-411E-B8EA-C8FA741BDA8A}"/>
                </a:ext>
              </a:extLst>
            </p:cNvPr>
            <p:cNvSpPr txBox="1"/>
            <p:nvPr/>
          </p:nvSpPr>
          <p:spPr>
            <a:xfrm>
              <a:off x="1215819" y="5164576"/>
              <a:ext cx="3194004" cy="88601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MongoDB</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的查询语言功能强大且灵活，支持</a:t>
              </a:r>
              <a:r>
                <a:rPr lang="zh-CN" altLang="en-US" sz="16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嵌套的文档查询</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，能够轻松处理复杂的数据结构</a:t>
              </a:r>
            </a:p>
          </p:txBody>
        </p:sp>
      </p:grpSp>
      <p:grpSp>
        <p:nvGrpSpPr>
          <p:cNvPr id="48" name="组合 47">
            <a:extLst>
              <a:ext uri="{FF2B5EF4-FFF2-40B4-BE49-F238E27FC236}">
                <a16:creationId xmlns:a16="http://schemas.microsoft.com/office/drawing/2014/main" id="{E2E4387F-B88C-4E99-8C1D-FDC502DBA645}"/>
              </a:ext>
            </a:extLst>
          </p:cNvPr>
          <p:cNvGrpSpPr/>
          <p:nvPr/>
        </p:nvGrpSpPr>
        <p:grpSpPr>
          <a:xfrm>
            <a:off x="712817" y="2929850"/>
            <a:ext cx="3017566" cy="1526187"/>
            <a:chOff x="657965" y="3226731"/>
            <a:chExt cx="3017566" cy="1526187"/>
          </a:xfrm>
        </p:grpSpPr>
        <p:sp>
          <p:nvSpPr>
            <p:cNvPr id="49" name="TextBox 76">
              <a:extLst>
                <a:ext uri="{FF2B5EF4-FFF2-40B4-BE49-F238E27FC236}">
                  <a16:creationId xmlns:a16="http://schemas.microsoft.com/office/drawing/2014/main" id="{0931E53B-3929-4417-90B1-AB04AFC1AE42}"/>
                </a:ext>
              </a:extLst>
            </p:cNvPr>
            <p:cNvSpPr txBox="1"/>
            <p:nvPr/>
          </p:nvSpPr>
          <p:spPr>
            <a:xfrm>
              <a:off x="2235200" y="3226731"/>
              <a:ext cx="1440331"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可扩展性</a:t>
              </a:r>
            </a:p>
          </p:txBody>
        </p:sp>
        <p:sp>
          <p:nvSpPr>
            <p:cNvPr id="50" name="文本框 56">
              <a:extLst>
                <a:ext uri="{FF2B5EF4-FFF2-40B4-BE49-F238E27FC236}">
                  <a16:creationId xmlns:a16="http://schemas.microsoft.com/office/drawing/2014/main" id="{F0A04966-5C58-4DA4-928A-AE4C4B020D96}"/>
                </a:ext>
              </a:extLst>
            </p:cNvPr>
            <p:cNvSpPr txBox="1"/>
            <p:nvPr/>
          </p:nvSpPr>
          <p:spPr>
            <a:xfrm>
              <a:off x="657965" y="3596063"/>
              <a:ext cx="3017566" cy="11568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MongoDB</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的核心功能之一是其强大的</a:t>
              </a:r>
              <a:r>
                <a:rPr lang="zh-CN" altLang="en-US" sz="1600" dirty="0">
                  <a:solidFill>
                    <a:srgbClr val="1369B2"/>
                  </a:solidFill>
                  <a:latin typeface="微软雅黑" panose="020B0503020204020204" pitchFamily="34" charset="-122"/>
                  <a:ea typeface="微软雅黑" panose="020B0503020204020204" pitchFamily="34" charset="-122"/>
                  <a:cs typeface="+mn-ea"/>
                  <a:sym typeface="Arial" panose="020B0604020202020204" pitchFamily="34" charset="0"/>
                </a:rPr>
                <a:t>横向扩展</a:t>
              </a:r>
              <a:r>
                <a:rPr lang="zh-CN" altLang="en-US" sz="1600" dirty="0">
                  <a:solidFill>
                    <a:srgbClr val="595959"/>
                  </a:solidFill>
                  <a:latin typeface="微软雅黑" panose="020B0503020204020204" pitchFamily="34" charset="-122"/>
                  <a:ea typeface="微软雅黑" panose="020B0503020204020204" pitchFamily="34" charset="-122"/>
                  <a:cs typeface="+mn-ea"/>
                  <a:sym typeface="Arial" panose="020B0604020202020204" pitchFamily="34" charset="0"/>
                </a:rPr>
                <a:t>能力，通过增加服务器节点可以轻松提升系统的整体处理能力和存储容量</a:t>
              </a:r>
            </a:p>
          </p:txBody>
        </p:sp>
      </p:grpSp>
      <p:sp>
        <p:nvSpPr>
          <p:cNvPr id="81" name="Title 1">
            <a:extLst>
              <a:ext uri="{FF2B5EF4-FFF2-40B4-BE49-F238E27FC236}">
                <a16:creationId xmlns:a16="http://schemas.microsoft.com/office/drawing/2014/main" id="{A813AD7F-8978-4538-B934-AD4485DBEBD2}"/>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的特点</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66428585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的读写流程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7" name="原创设计师QQ598969553          _3">
            <a:extLst>
              <a:ext uri="{FF2B5EF4-FFF2-40B4-BE49-F238E27FC236}">
                <a16:creationId xmlns:a16="http://schemas.microsoft.com/office/drawing/2014/main" id="{99B92689-AAFF-4A7F-8A03-F9D0179F14B7}"/>
              </a:ext>
            </a:extLst>
          </p:cNvPr>
          <p:cNvSpPr/>
          <p:nvPr/>
        </p:nvSpPr>
        <p:spPr>
          <a:xfrm>
            <a:off x="856403" y="2513224"/>
            <a:ext cx="4590731" cy="3724882"/>
          </a:xfrm>
          <a:prstGeom prst="roundRect">
            <a:avLst>
              <a:gd name="adj" fmla="val 908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28" name="原创设计师QQ598969553          _4">
            <a:extLst>
              <a:ext uri="{FF2B5EF4-FFF2-40B4-BE49-F238E27FC236}">
                <a16:creationId xmlns:a16="http://schemas.microsoft.com/office/drawing/2014/main" id="{1BF50578-A3D5-4966-877B-63BF3427FBA3}"/>
              </a:ext>
            </a:extLst>
          </p:cNvPr>
          <p:cNvSpPr/>
          <p:nvPr/>
        </p:nvSpPr>
        <p:spPr>
          <a:xfrm>
            <a:off x="899745" y="3501802"/>
            <a:ext cx="4504046" cy="1135054"/>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cs typeface="+mn-ea"/>
                <a:sym typeface="+mn-lt"/>
              </a:rPr>
              <a:t>了解</a:t>
            </a:r>
            <a:r>
              <a:rPr lang="en-US" altLang="zh-CN"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读写流程，能够说出</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写入</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和</a:t>
            </a:r>
            <a:r>
              <a:rPr lang="zh-CN" altLang="en-US" dirty="0">
                <a:solidFill>
                  <a:srgbClr val="1369B2"/>
                </a:solidFill>
                <a:latin typeface="微软雅黑" panose="020B0503020204020204" pitchFamily="34" charset="-122"/>
                <a:ea typeface="微软雅黑" panose="020B0503020204020204" pitchFamily="34" charset="-122"/>
                <a:cs typeface="+mn-ea"/>
                <a:sym typeface="+mn-lt"/>
              </a:rPr>
              <a:t>读取</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操作的流程。</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9" name="原创设计师QQ598969553          _7">
            <a:extLst>
              <a:ext uri="{FF2B5EF4-FFF2-40B4-BE49-F238E27FC236}">
                <a16:creationId xmlns:a16="http://schemas.microsoft.com/office/drawing/2014/main" id="{020973F8-4621-4A07-826E-365CA6E6D17C}"/>
              </a:ext>
            </a:extLst>
          </p:cNvPr>
          <p:cNvSpPr txBox="1"/>
          <p:nvPr/>
        </p:nvSpPr>
        <p:spPr>
          <a:xfrm>
            <a:off x="856404" y="2799823"/>
            <a:ext cx="4590730" cy="523220"/>
          </a:xfrm>
          <a:prstGeom prst="rect">
            <a:avLst/>
          </a:prstGeom>
          <a:noFill/>
        </p:spPr>
        <p:txBody>
          <a:bodyPr wrap="square"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lvl="0" algn="ctr" defTabSz="1216660">
              <a:spcBef>
                <a:spcPct val="20000"/>
              </a:spcBef>
              <a:defRPr/>
            </a:pPr>
            <a:r>
              <a:rPr lang="zh-CN" altLang="en-US" sz="2800" b="1" dirty="0">
                <a:solidFill>
                  <a:srgbClr val="1369B2"/>
                </a:solidFill>
                <a:latin typeface="微软雅黑" panose="020B0503020204020204" pitchFamily="34" charset="-122"/>
                <a:ea typeface="微软雅黑" panose="020B0503020204020204" pitchFamily="34" charset="-122"/>
                <a:cs typeface="+mn-ea"/>
                <a:sym typeface="+mn-lt"/>
              </a:rPr>
              <a:t>学习目标</a:t>
            </a:r>
          </a:p>
        </p:txBody>
      </p:sp>
      <p:pic>
        <p:nvPicPr>
          <p:cNvPr id="30" name="图片 29">
            <a:extLst>
              <a:ext uri="{FF2B5EF4-FFF2-40B4-BE49-F238E27FC236}">
                <a16:creationId xmlns:a16="http://schemas.microsoft.com/office/drawing/2014/main" id="{98D55183-397A-4AF5-BF4A-88669910A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5735166" y="1053530"/>
            <a:ext cx="5638800" cy="5638800"/>
          </a:xfrm>
          <a:prstGeom prst="rect">
            <a:avLst/>
          </a:prstGeom>
        </p:spPr>
      </p:pic>
    </p:spTree>
    <p:extLst>
      <p:ext uri="{BB962C8B-B14F-4D97-AF65-F5344CB8AC3E}">
        <p14:creationId xmlns:p14="http://schemas.microsoft.com/office/powerpoint/2010/main" val="2842266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0663" y="1701602"/>
            <a:ext cx="6305550" cy="2664296"/>
          </a:xfrm>
          <a:prstGeom prst="rect">
            <a:avLst/>
          </a:prstGeom>
          <a:noFill/>
          <a:extLst>
            <a:ext uri="{909E8E84-426E-40DD-AFC4-6F175D3DCCD1}">
              <a14:hiddenFill xmlns:a14="http://schemas.microsoft.com/office/drawing/2010/main">
                <a:solidFill>
                  <a:srgbClr val="FFFFFF"/>
                </a:solidFill>
              </a14:hiddenFill>
            </a:ext>
          </a:extLst>
        </p:spPr>
      </p:pic>
      <p:sp>
        <p:nvSpPr>
          <p:cNvPr id="28" name="原创设计师QQ598969553          _4"/>
          <p:cNvSpPr/>
          <p:nvPr/>
        </p:nvSpPr>
        <p:spPr>
          <a:xfrm>
            <a:off x="5231110" y="1773610"/>
            <a:ext cx="5544616" cy="2427716"/>
          </a:xfrm>
          <a:prstGeom prst="rect">
            <a:avLst/>
          </a:prstGeom>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的读写流程</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是实现数据</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写入</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和</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读取</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的核心过程，了解这一过程对于掌握</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的体系结构至关重要。</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MongoDB</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支持多种部署方式，包括</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单机模式</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副本集</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和</a:t>
            </a:r>
            <a:r>
              <a:rPr lang="zh-CN" altLang="en-US" sz="2000" dirty="0">
                <a:solidFill>
                  <a:srgbClr val="1369B2"/>
                </a:solidFill>
                <a:latin typeface="微软雅黑" panose="020B0503020204020204" pitchFamily="34" charset="-122"/>
                <a:ea typeface="微软雅黑" panose="020B0503020204020204" pitchFamily="34" charset="-122"/>
                <a:cs typeface="+mn-ea"/>
                <a:sym typeface="+mn-lt"/>
              </a:rPr>
              <a:t>分片集群</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，而不同的部署模式会导致读写流程存在差异</a:t>
            </a:r>
            <a:r>
              <a:rPr lang="zh-CN" altLang="en-US"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8" name="图片 7"/>
          <p:cNvPicPr>
            <a:picLocks noChangeAspect="1"/>
          </p:cNvPicPr>
          <p:nvPr/>
        </p:nvPicPr>
        <p:blipFill>
          <a:blip r:embed="rId4"/>
          <a:stretch>
            <a:fillRect/>
          </a:stretch>
        </p:blipFill>
        <p:spPr>
          <a:xfrm>
            <a:off x="982638" y="1426714"/>
            <a:ext cx="3715858" cy="4006159"/>
          </a:xfrm>
          <a:prstGeom prst="rect">
            <a:avLst/>
          </a:prstGeom>
        </p:spPr>
      </p:pic>
      <p:sp>
        <p:nvSpPr>
          <p:cNvPr id="7" name="Title 1">
            <a:extLst>
              <a:ext uri="{FF2B5EF4-FFF2-40B4-BE49-F238E27FC236}">
                <a16:creationId xmlns:a16="http://schemas.microsoft.com/office/drawing/2014/main" id="{FF0201F2-C1AF-46E3-8012-DA57E927C819}"/>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的读写流程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itle 1">
            <a:extLst>
              <a:ext uri="{FF2B5EF4-FFF2-40B4-BE49-F238E27FC236}">
                <a16:creationId xmlns:a16="http://schemas.microsoft.com/office/drawing/2014/main" id="{90EA412F-0EBB-4D37-BC62-D8097DE11635}"/>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的读写流程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83" name="Group 337">
            <a:extLst>
              <a:ext uri="{FF2B5EF4-FFF2-40B4-BE49-F238E27FC236}">
                <a16:creationId xmlns:a16="http://schemas.microsoft.com/office/drawing/2014/main" id="{7495D355-ED17-40DD-9B4E-FB8C20B376CE}"/>
              </a:ext>
            </a:extLst>
          </p:cNvPr>
          <p:cNvGrpSpPr/>
          <p:nvPr/>
        </p:nvGrpSpPr>
        <p:grpSpPr>
          <a:xfrm>
            <a:off x="1102652" y="1697043"/>
            <a:ext cx="2196431" cy="1436124"/>
            <a:chOff x="1" y="0"/>
            <a:chExt cx="4392858" cy="2872248"/>
          </a:xfrm>
        </p:grpSpPr>
        <p:sp>
          <p:nvSpPr>
            <p:cNvPr id="116" name="Shape 333">
              <a:extLst>
                <a:ext uri="{FF2B5EF4-FFF2-40B4-BE49-F238E27FC236}">
                  <a16:creationId xmlns:a16="http://schemas.microsoft.com/office/drawing/2014/main" id="{65313E8A-4528-4AFA-87A6-1E92E0685D88}"/>
                </a:ext>
              </a:extLst>
            </p:cNvPr>
            <p:cNvSpPr/>
            <p:nvPr/>
          </p:nvSpPr>
          <p:spPr>
            <a:xfrm>
              <a:off x="1" y="0"/>
              <a:ext cx="4392858"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rgbClr val="0070C0"/>
            </a:solidFill>
            <a:ln w="12700" cap="flat">
              <a:noFill/>
              <a:miter lim="400000"/>
            </a:ln>
            <a:effec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11200"/>
              </a:pPr>
              <a:endParaRPr sz="1600">
                <a:solidFill>
                  <a:schemeClr val="bg1"/>
                </a:solidFill>
                <a:cs typeface="+mn-ea"/>
                <a:sym typeface="+mn-lt"/>
              </a:endParaRPr>
            </a:p>
          </p:txBody>
        </p:sp>
        <p:sp>
          <p:nvSpPr>
            <p:cNvPr id="117" name="Shape 335">
              <a:extLst>
                <a:ext uri="{FF2B5EF4-FFF2-40B4-BE49-F238E27FC236}">
                  <a16:creationId xmlns:a16="http://schemas.microsoft.com/office/drawing/2014/main" id="{365E06F1-325D-4610-A0B5-80306F77627A}"/>
                </a:ext>
              </a:extLst>
            </p:cNvPr>
            <p:cNvSpPr/>
            <p:nvPr/>
          </p:nvSpPr>
          <p:spPr>
            <a:xfrm>
              <a:off x="1288920" y="1207646"/>
              <a:ext cx="2462212" cy="492442"/>
            </a:xfrm>
            <a:prstGeom prst="rect">
              <a:avLst/>
            </a:prstGeom>
            <a:noFill/>
            <a:ln w="12700" cap="flat">
              <a:noFill/>
              <a:miter lim="400000"/>
            </a:ln>
            <a:effectLst/>
          </p:spPr>
          <p:txBody>
            <a:bodyPr wrap="none" lIns="0" tIns="0" rIns="0" bIns="0" numCol="1" anchor="ctr">
              <a:sp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bg1"/>
                  </a:solidFill>
                  <a:latin typeface="+mn-lt"/>
                  <a:ea typeface="+mn-ea"/>
                  <a:cs typeface="+mn-ea"/>
                  <a:sym typeface="+mn-lt"/>
                </a:rPr>
                <a:t>客户端发请求</a:t>
              </a:r>
              <a:endParaRPr lang="id-ID" altLang="zh-CN" sz="1600" b="1" dirty="0">
                <a:solidFill>
                  <a:schemeClr val="bg1"/>
                </a:solidFill>
                <a:latin typeface="+mn-lt"/>
                <a:ea typeface="+mn-ea"/>
                <a:cs typeface="+mn-ea"/>
                <a:sym typeface="+mn-lt"/>
              </a:endParaRPr>
            </a:p>
          </p:txBody>
        </p:sp>
      </p:grpSp>
      <p:grpSp>
        <p:nvGrpSpPr>
          <p:cNvPr id="84" name="Group 342">
            <a:extLst>
              <a:ext uri="{FF2B5EF4-FFF2-40B4-BE49-F238E27FC236}">
                <a16:creationId xmlns:a16="http://schemas.microsoft.com/office/drawing/2014/main" id="{6FF8F1A6-D7F7-4A23-B53D-EC35096D8D43}"/>
              </a:ext>
            </a:extLst>
          </p:cNvPr>
          <p:cNvGrpSpPr/>
          <p:nvPr/>
        </p:nvGrpSpPr>
        <p:grpSpPr>
          <a:xfrm>
            <a:off x="3015631" y="1697043"/>
            <a:ext cx="2196431" cy="1436124"/>
            <a:chOff x="0" y="0"/>
            <a:chExt cx="4392859" cy="2872248"/>
          </a:xfrm>
        </p:grpSpPr>
        <p:sp>
          <p:nvSpPr>
            <p:cNvPr id="114" name="Shape 338">
              <a:extLst>
                <a:ext uri="{FF2B5EF4-FFF2-40B4-BE49-F238E27FC236}">
                  <a16:creationId xmlns:a16="http://schemas.microsoft.com/office/drawing/2014/main" id="{C8F882CF-C9BC-4DB8-BC4F-1CD2D540C3AD}"/>
                </a:ext>
              </a:extLst>
            </p:cNvPr>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bg2"/>
            </a:solidFill>
            <a:ln w="12700" cap="flat">
              <a:noFill/>
              <a:miter lim="400000"/>
            </a:ln>
            <a:effec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11200"/>
              </a:pPr>
              <a:endParaRPr sz="1600">
                <a:cs typeface="+mn-ea"/>
                <a:sym typeface="+mn-lt"/>
              </a:endParaRPr>
            </a:p>
          </p:txBody>
        </p:sp>
        <p:sp>
          <p:nvSpPr>
            <p:cNvPr id="115" name="Shape 340">
              <a:extLst>
                <a:ext uri="{FF2B5EF4-FFF2-40B4-BE49-F238E27FC236}">
                  <a16:creationId xmlns:a16="http://schemas.microsoft.com/office/drawing/2014/main" id="{18043948-6BEE-45CE-9984-352382490106}"/>
                </a:ext>
              </a:extLst>
            </p:cNvPr>
            <p:cNvSpPr/>
            <p:nvPr/>
          </p:nvSpPr>
          <p:spPr>
            <a:xfrm>
              <a:off x="1194479" y="1289712"/>
              <a:ext cx="2852436" cy="43180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tx1">
                      <a:lumMod val="75000"/>
                      <a:lumOff val="25000"/>
                    </a:schemeClr>
                  </a:solidFill>
                  <a:latin typeface="+mn-lt"/>
                  <a:ea typeface="+mn-ea"/>
                  <a:cs typeface="+mn-ea"/>
                  <a:sym typeface="+mn-lt"/>
                </a:rPr>
                <a:t>验证身份权限</a:t>
              </a:r>
              <a:endParaRPr lang="id-ID" altLang="zh-CN" sz="1600" b="1" dirty="0">
                <a:solidFill>
                  <a:schemeClr val="tx1">
                    <a:lumMod val="75000"/>
                    <a:lumOff val="25000"/>
                  </a:schemeClr>
                </a:solidFill>
                <a:latin typeface="+mn-lt"/>
                <a:ea typeface="+mn-ea"/>
                <a:cs typeface="+mn-ea"/>
                <a:sym typeface="+mn-lt"/>
              </a:endParaRPr>
            </a:p>
          </p:txBody>
        </p:sp>
      </p:grpSp>
      <p:grpSp>
        <p:nvGrpSpPr>
          <p:cNvPr id="85" name="Group 347">
            <a:extLst>
              <a:ext uri="{FF2B5EF4-FFF2-40B4-BE49-F238E27FC236}">
                <a16:creationId xmlns:a16="http://schemas.microsoft.com/office/drawing/2014/main" id="{5548F9E2-7874-4E06-B34D-96BA2F8A8C30}"/>
              </a:ext>
            </a:extLst>
          </p:cNvPr>
          <p:cNvGrpSpPr/>
          <p:nvPr/>
        </p:nvGrpSpPr>
        <p:grpSpPr>
          <a:xfrm>
            <a:off x="4975872" y="1697043"/>
            <a:ext cx="2196431" cy="1436124"/>
            <a:chOff x="0" y="0"/>
            <a:chExt cx="4392859" cy="2872248"/>
          </a:xfrm>
        </p:grpSpPr>
        <p:sp>
          <p:nvSpPr>
            <p:cNvPr id="112" name="Shape 343">
              <a:extLst>
                <a:ext uri="{FF2B5EF4-FFF2-40B4-BE49-F238E27FC236}">
                  <a16:creationId xmlns:a16="http://schemas.microsoft.com/office/drawing/2014/main" id="{86AFA163-85D9-4D3C-8962-1DB19E560882}"/>
                </a:ext>
              </a:extLst>
            </p:cNvPr>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rgbClr val="0070C0"/>
            </a:solidFill>
            <a:ln w="12700" cap="flat">
              <a:noFill/>
              <a:miter lim="400000"/>
            </a:ln>
            <a:effec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11200"/>
              </a:pPr>
              <a:endParaRPr sz="1600">
                <a:solidFill>
                  <a:schemeClr val="bg1"/>
                </a:solidFill>
                <a:cs typeface="+mn-ea"/>
                <a:sym typeface="+mn-lt"/>
              </a:endParaRPr>
            </a:p>
          </p:txBody>
        </p:sp>
        <p:sp>
          <p:nvSpPr>
            <p:cNvPr id="113" name="Shape 345">
              <a:extLst>
                <a:ext uri="{FF2B5EF4-FFF2-40B4-BE49-F238E27FC236}">
                  <a16:creationId xmlns:a16="http://schemas.microsoft.com/office/drawing/2014/main" id="{2BFC773A-B64C-4246-9DF7-682CA50FB5C1}"/>
                </a:ext>
              </a:extLst>
            </p:cNvPr>
            <p:cNvSpPr/>
            <p:nvPr/>
          </p:nvSpPr>
          <p:spPr>
            <a:xfrm>
              <a:off x="1086541" y="1289712"/>
              <a:ext cx="2972476" cy="43180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bg1"/>
                  </a:solidFill>
                  <a:latin typeface="+mn-lt"/>
                  <a:ea typeface="+mn-ea"/>
                  <a:cs typeface="+mn-ea"/>
                  <a:sym typeface="+mn-lt"/>
                </a:rPr>
                <a:t>解析缓存</a:t>
              </a:r>
              <a:endParaRPr lang="id-ID" altLang="zh-CN" sz="1600" b="1" dirty="0">
                <a:solidFill>
                  <a:schemeClr val="bg1"/>
                </a:solidFill>
                <a:latin typeface="+mn-lt"/>
                <a:ea typeface="+mn-ea"/>
                <a:cs typeface="+mn-ea"/>
                <a:sym typeface="+mn-lt"/>
              </a:endParaRPr>
            </a:p>
          </p:txBody>
        </p:sp>
      </p:grpSp>
      <p:grpSp>
        <p:nvGrpSpPr>
          <p:cNvPr id="86" name="Group 352">
            <a:extLst>
              <a:ext uri="{FF2B5EF4-FFF2-40B4-BE49-F238E27FC236}">
                <a16:creationId xmlns:a16="http://schemas.microsoft.com/office/drawing/2014/main" id="{46BB4C89-0C32-482E-8FE4-9C0EE364E9CD}"/>
              </a:ext>
            </a:extLst>
          </p:cNvPr>
          <p:cNvGrpSpPr/>
          <p:nvPr/>
        </p:nvGrpSpPr>
        <p:grpSpPr>
          <a:xfrm>
            <a:off x="6919965" y="1697043"/>
            <a:ext cx="2196429" cy="1436124"/>
            <a:chOff x="0" y="0"/>
            <a:chExt cx="4392859" cy="2872248"/>
          </a:xfrm>
        </p:grpSpPr>
        <p:sp>
          <p:nvSpPr>
            <p:cNvPr id="110" name="Shape 348">
              <a:extLst>
                <a:ext uri="{FF2B5EF4-FFF2-40B4-BE49-F238E27FC236}">
                  <a16:creationId xmlns:a16="http://schemas.microsoft.com/office/drawing/2014/main" id="{BD6409A0-726C-4B51-8C70-884D265FF145}"/>
                </a:ext>
              </a:extLst>
            </p:cNvPr>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bg2"/>
            </a:solidFill>
            <a:ln w="12700" cap="flat">
              <a:noFill/>
              <a:miter lim="400000"/>
            </a:ln>
            <a:effec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11200"/>
              </a:pPr>
              <a:endParaRPr sz="1600">
                <a:cs typeface="+mn-ea"/>
                <a:sym typeface="+mn-lt"/>
              </a:endParaRPr>
            </a:p>
          </p:txBody>
        </p:sp>
        <p:sp>
          <p:nvSpPr>
            <p:cNvPr id="111" name="Shape 350">
              <a:extLst>
                <a:ext uri="{FF2B5EF4-FFF2-40B4-BE49-F238E27FC236}">
                  <a16:creationId xmlns:a16="http://schemas.microsoft.com/office/drawing/2014/main" id="{F49A4923-DBF9-496D-8905-F00A2D7A68DE}"/>
                </a:ext>
              </a:extLst>
            </p:cNvPr>
            <p:cNvSpPr/>
            <p:nvPr/>
          </p:nvSpPr>
          <p:spPr>
            <a:xfrm>
              <a:off x="1186403" y="1289712"/>
              <a:ext cx="2924718" cy="431800"/>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tx1">
                      <a:lumMod val="75000"/>
                      <a:lumOff val="25000"/>
                    </a:schemeClr>
                  </a:solidFill>
                  <a:latin typeface="+mn-lt"/>
                  <a:ea typeface="+mn-ea"/>
                  <a:cs typeface="+mn-ea"/>
                  <a:sym typeface="+mn-lt"/>
                </a:rPr>
                <a:t>记录</a:t>
              </a:r>
              <a:r>
                <a:rPr lang="en-US" altLang="zh-CN" sz="1600" b="1" dirty="0">
                  <a:solidFill>
                    <a:schemeClr val="tx1">
                      <a:lumMod val="75000"/>
                      <a:lumOff val="25000"/>
                    </a:schemeClr>
                  </a:solidFill>
                  <a:latin typeface="+mn-lt"/>
                  <a:ea typeface="+mn-ea"/>
                  <a:cs typeface="+mn-ea"/>
                  <a:sym typeface="+mn-lt"/>
                </a:rPr>
                <a:t>WAL</a:t>
              </a:r>
              <a:r>
                <a:rPr lang="zh-CN" altLang="en-US" sz="1600" b="1" dirty="0">
                  <a:solidFill>
                    <a:schemeClr val="tx1">
                      <a:lumMod val="75000"/>
                      <a:lumOff val="25000"/>
                    </a:schemeClr>
                  </a:solidFill>
                  <a:latin typeface="+mn-lt"/>
                  <a:ea typeface="+mn-ea"/>
                  <a:cs typeface="+mn-ea"/>
                  <a:sym typeface="+mn-lt"/>
                </a:rPr>
                <a:t>日志</a:t>
              </a:r>
              <a:endParaRPr lang="id-ID" altLang="zh-CN" sz="1600" b="1" dirty="0">
                <a:solidFill>
                  <a:schemeClr val="tx1">
                    <a:lumMod val="75000"/>
                    <a:lumOff val="25000"/>
                  </a:schemeClr>
                </a:solidFill>
                <a:latin typeface="+mn-lt"/>
                <a:ea typeface="+mn-ea"/>
                <a:cs typeface="+mn-ea"/>
                <a:sym typeface="+mn-lt"/>
              </a:endParaRPr>
            </a:p>
          </p:txBody>
        </p:sp>
      </p:grpSp>
      <p:grpSp>
        <p:nvGrpSpPr>
          <p:cNvPr id="87" name="Group 357">
            <a:extLst>
              <a:ext uri="{FF2B5EF4-FFF2-40B4-BE49-F238E27FC236}">
                <a16:creationId xmlns:a16="http://schemas.microsoft.com/office/drawing/2014/main" id="{170757B0-061B-4B8C-B1E8-98656C279C6B}"/>
              </a:ext>
            </a:extLst>
          </p:cNvPr>
          <p:cNvGrpSpPr/>
          <p:nvPr/>
        </p:nvGrpSpPr>
        <p:grpSpPr>
          <a:xfrm>
            <a:off x="8891332" y="1697043"/>
            <a:ext cx="2196429" cy="1436124"/>
            <a:chOff x="0" y="0"/>
            <a:chExt cx="4392859" cy="2872248"/>
          </a:xfrm>
        </p:grpSpPr>
        <p:sp>
          <p:nvSpPr>
            <p:cNvPr id="108" name="Shape 353">
              <a:extLst>
                <a:ext uri="{FF2B5EF4-FFF2-40B4-BE49-F238E27FC236}">
                  <a16:creationId xmlns:a16="http://schemas.microsoft.com/office/drawing/2014/main" id="{31947CBD-4826-4265-90F1-8FB478211D06}"/>
                </a:ext>
              </a:extLst>
            </p:cNvPr>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rgbClr val="0070C0"/>
            </a:solidFill>
            <a:ln w="12700" cap="flat">
              <a:noFill/>
              <a:miter lim="400000"/>
            </a:ln>
            <a:effec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11200"/>
              </a:pPr>
              <a:endParaRPr sz="1600">
                <a:solidFill>
                  <a:schemeClr val="bg1"/>
                </a:solidFill>
                <a:cs typeface="+mn-ea"/>
                <a:sym typeface="+mn-lt"/>
              </a:endParaRPr>
            </a:p>
          </p:txBody>
        </p:sp>
        <p:sp>
          <p:nvSpPr>
            <p:cNvPr id="109" name="Shape 355">
              <a:extLst>
                <a:ext uri="{FF2B5EF4-FFF2-40B4-BE49-F238E27FC236}">
                  <a16:creationId xmlns:a16="http://schemas.microsoft.com/office/drawing/2014/main" id="{2144AF59-70EE-4FB3-912A-73D11F8F75D9}"/>
                </a:ext>
              </a:extLst>
            </p:cNvPr>
            <p:cNvSpPr/>
            <p:nvPr/>
          </p:nvSpPr>
          <p:spPr>
            <a:xfrm>
              <a:off x="1186405" y="1289715"/>
              <a:ext cx="3014432" cy="369333"/>
            </a:xfrm>
            <a:prstGeom prst="rect">
              <a:avLst/>
            </a:prstGeom>
            <a:noFill/>
            <a:ln w="12700" cap="flat">
              <a:noFill/>
              <a:miter lim="400000"/>
            </a:ln>
            <a:effec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600" b="1" dirty="0">
                  <a:solidFill>
                    <a:schemeClr val="bg1"/>
                  </a:solidFill>
                  <a:latin typeface="+mn-lt"/>
                  <a:ea typeface="+mn-ea"/>
                  <a:cs typeface="+mn-ea"/>
                  <a:sym typeface="+mn-lt"/>
                </a:rPr>
                <a:t>返回确认响应</a:t>
              </a:r>
              <a:endParaRPr lang="id-ID" altLang="zh-CN" sz="1600" b="1" dirty="0">
                <a:solidFill>
                  <a:schemeClr val="bg1"/>
                </a:solidFill>
                <a:latin typeface="+mn-lt"/>
                <a:ea typeface="+mn-ea"/>
                <a:cs typeface="+mn-ea"/>
                <a:sym typeface="+mn-lt"/>
              </a:endParaRPr>
            </a:p>
          </p:txBody>
        </p:sp>
      </p:grpSp>
      <p:grpSp>
        <p:nvGrpSpPr>
          <p:cNvPr id="88" name="Group 360">
            <a:extLst>
              <a:ext uri="{FF2B5EF4-FFF2-40B4-BE49-F238E27FC236}">
                <a16:creationId xmlns:a16="http://schemas.microsoft.com/office/drawing/2014/main" id="{59445F16-3765-488A-A1DE-BF79C2EE6399}"/>
              </a:ext>
            </a:extLst>
          </p:cNvPr>
          <p:cNvGrpSpPr/>
          <p:nvPr/>
        </p:nvGrpSpPr>
        <p:grpSpPr>
          <a:xfrm>
            <a:off x="1988219" y="2927918"/>
            <a:ext cx="425297" cy="425297"/>
            <a:chOff x="0" y="0"/>
            <a:chExt cx="850594" cy="850594"/>
          </a:xfrm>
        </p:grpSpPr>
        <p:sp>
          <p:nvSpPr>
            <p:cNvPr id="106" name="Shape 358">
              <a:extLst>
                <a:ext uri="{FF2B5EF4-FFF2-40B4-BE49-F238E27FC236}">
                  <a16:creationId xmlns:a16="http://schemas.microsoft.com/office/drawing/2014/main" id="{CAC4A204-F971-447F-BCDF-3082ECA9618C}"/>
                </a:ext>
              </a:extLst>
            </p:cNvPr>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50800" cap="flat">
              <a:solidFill>
                <a:srgbClr val="FBF9FC"/>
              </a:solidFill>
              <a:prstDash val="solid"/>
              <a:miter lim="400000"/>
            </a:ln>
            <a:effec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11200"/>
              </a:pPr>
              <a:endParaRPr sz="14935">
                <a:solidFill>
                  <a:schemeClr val="bg1"/>
                </a:solidFill>
                <a:cs typeface="+mn-ea"/>
                <a:sym typeface="+mn-lt"/>
              </a:endParaRPr>
            </a:p>
          </p:txBody>
        </p:sp>
        <p:sp>
          <p:nvSpPr>
            <p:cNvPr id="107" name="Shape 359">
              <a:extLst>
                <a:ext uri="{FF2B5EF4-FFF2-40B4-BE49-F238E27FC236}">
                  <a16:creationId xmlns:a16="http://schemas.microsoft.com/office/drawing/2014/main" id="{9B909AE4-2F83-49D9-B860-2F3FEE78807D}"/>
                </a:ext>
              </a:extLst>
            </p:cNvPr>
            <p:cNvSpPr/>
            <p:nvPr/>
          </p:nvSpPr>
          <p:spPr>
            <a:xfrm>
              <a:off x="300082" y="114147"/>
              <a:ext cx="250430" cy="622301"/>
            </a:xfrm>
            <a:prstGeom prst="rect">
              <a:avLst/>
            </a:prstGeom>
            <a:noFill/>
            <a:ln w="12700" cap="flat">
              <a:noFill/>
              <a:miter lim="400000"/>
            </a:ln>
            <a:effec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dirty="0">
                  <a:solidFill>
                    <a:schemeClr val="bg1"/>
                  </a:solidFill>
                  <a:latin typeface="+mn-lt"/>
                  <a:ea typeface="+mn-ea"/>
                  <a:cs typeface="+mn-ea"/>
                  <a:sym typeface="+mn-lt"/>
                </a:rPr>
                <a:t>1</a:t>
              </a:r>
            </a:p>
          </p:txBody>
        </p:sp>
      </p:grpSp>
      <p:grpSp>
        <p:nvGrpSpPr>
          <p:cNvPr id="89" name="Group 363">
            <a:extLst>
              <a:ext uri="{FF2B5EF4-FFF2-40B4-BE49-F238E27FC236}">
                <a16:creationId xmlns:a16="http://schemas.microsoft.com/office/drawing/2014/main" id="{FE496289-3E42-4DAE-900C-563E440786F0}"/>
              </a:ext>
            </a:extLst>
          </p:cNvPr>
          <p:cNvGrpSpPr/>
          <p:nvPr/>
        </p:nvGrpSpPr>
        <p:grpSpPr>
          <a:xfrm>
            <a:off x="3905235" y="2927918"/>
            <a:ext cx="425297" cy="425297"/>
            <a:chOff x="0" y="0"/>
            <a:chExt cx="850594" cy="850594"/>
          </a:xfrm>
        </p:grpSpPr>
        <p:sp>
          <p:nvSpPr>
            <p:cNvPr id="104" name="Shape 361">
              <a:extLst>
                <a:ext uri="{FF2B5EF4-FFF2-40B4-BE49-F238E27FC236}">
                  <a16:creationId xmlns:a16="http://schemas.microsoft.com/office/drawing/2014/main" id="{7310B36F-BB99-4B38-8B4E-F3C128633651}"/>
                </a:ext>
              </a:extLst>
            </p:cNvPr>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50800" cap="flat">
              <a:solidFill>
                <a:srgbClr val="FBF9FC"/>
              </a:solidFill>
              <a:prstDash val="solid"/>
              <a:miter lim="400000"/>
            </a:ln>
            <a:effec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11200"/>
              </a:pPr>
              <a:endParaRPr sz="14935">
                <a:cs typeface="+mn-ea"/>
                <a:sym typeface="+mn-lt"/>
              </a:endParaRPr>
            </a:p>
          </p:txBody>
        </p:sp>
        <p:sp>
          <p:nvSpPr>
            <p:cNvPr id="105" name="Shape 362">
              <a:extLst>
                <a:ext uri="{FF2B5EF4-FFF2-40B4-BE49-F238E27FC236}">
                  <a16:creationId xmlns:a16="http://schemas.microsoft.com/office/drawing/2014/main" id="{E77CB827-E611-46EC-ADE8-9F39F8DE60AC}"/>
                </a:ext>
              </a:extLst>
            </p:cNvPr>
            <p:cNvSpPr/>
            <p:nvPr/>
          </p:nvSpPr>
          <p:spPr>
            <a:xfrm>
              <a:off x="311486" y="179080"/>
              <a:ext cx="214804"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dirty="0">
                  <a:latin typeface="+mn-lt"/>
                  <a:ea typeface="+mn-ea"/>
                  <a:cs typeface="+mn-ea"/>
                  <a:sym typeface="+mn-lt"/>
                </a:rPr>
                <a:t>2</a:t>
              </a:r>
            </a:p>
          </p:txBody>
        </p:sp>
      </p:grpSp>
      <p:grpSp>
        <p:nvGrpSpPr>
          <p:cNvPr id="90" name="Group 366">
            <a:extLst>
              <a:ext uri="{FF2B5EF4-FFF2-40B4-BE49-F238E27FC236}">
                <a16:creationId xmlns:a16="http://schemas.microsoft.com/office/drawing/2014/main" id="{752D69F7-0544-4F62-B3F9-666C1C345BE8}"/>
              </a:ext>
            </a:extLst>
          </p:cNvPr>
          <p:cNvGrpSpPr/>
          <p:nvPr/>
        </p:nvGrpSpPr>
        <p:grpSpPr>
          <a:xfrm>
            <a:off x="5861439" y="2927918"/>
            <a:ext cx="425297" cy="425297"/>
            <a:chOff x="0" y="0"/>
            <a:chExt cx="850594" cy="850594"/>
          </a:xfrm>
        </p:grpSpPr>
        <p:sp>
          <p:nvSpPr>
            <p:cNvPr id="102" name="Shape 364">
              <a:extLst>
                <a:ext uri="{FF2B5EF4-FFF2-40B4-BE49-F238E27FC236}">
                  <a16:creationId xmlns:a16="http://schemas.microsoft.com/office/drawing/2014/main" id="{44D9C620-2D2E-48A1-8216-252F49562BDE}"/>
                </a:ext>
              </a:extLst>
            </p:cNvPr>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50800" cap="flat">
              <a:solidFill>
                <a:srgbClr val="FBF9FC"/>
              </a:solidFill>
              <a:prstDash val="solid"/>
              <a:miter lim="400000"/>
            </a:ln>
            <a:effec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11200"/>
              </a:pPr>
              <a:endParaRPr sz="14935">
                <a:solidFill>
                  <a:schemeClr val="bg1"/>
                </a:solidFill>
                <a:cs typeface="+mn-ea"/>
                <a:sym typeface="+mn-lt"/>
              </a:endParaRPr>
            </a:p>
          </p:txBody>
        </p:sp>
        <p:sp>
          <p:nvSpPr>
            <p:cNvPr id="103" name="Shape 365">
              <a:extLst>
                <a:ext uri="{FF2B5EF4-FFF2-40B4-BE49-F238E27FC236}">
                  <a16:creationId xmlns:a16="http://schemas.microsoft.com/office/drawing/2014/main" id="{541D6970-970D-483C-ABA2-10FED385F303}"/>
                </a:ext>
              </a:extLst>
            </p:cNvPr>
            <p:cNvSpPr/>
            <p:nvPr/>
          </p:nvSpPr>
          <p:spPr>
            <a:xfrm>
              <a:off x="311486" y="179080"/>
              <a:ext cx="214804"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a:solidFill>
                    <a:schemeClr val="bg1"/>
                  </a:solidFill>
                  <a:latin typeface="+mn-lt"/>
                  <a:ea typeface="+mn-ea"/>
                  <a:cs typeface="+mn-ea"/>
                  <a:sym typeface="+mn-lt"/>
                </a:rPr>
                <a:t>3</a:t>
              </a:r>
            </a:p>
          </p:txBody>
        </p:sp>
      </p:grpSp>
      <p:grpSp>
        <p:nvGrpSpPr>
          <p:cNvPr id="91" name="Group 369">
            <a:extLst>
              <a:ext uri="{FF2B5EF4-FFF2-40B4-BE49-F238E27FC236}">
                <a16:creationId xmlns:a16="http://schemas.microsoft.com/office/drawing/2014/main" id="{BF46D241-BB51-4918-A9B1-70D095F301D1}"/>
              </a:ext>
            </a:extLst>
          </p:cNvPr>
          <p:cNvGrpSpPr/>
          <p:nvPr/>
        </p:nvGrpSpPr>
        <p:grpSpPr>
          <a:xfrm>
            <a:off x="7805531" y="2927918"/>
            <a:ext cx="425297" cy="425297"/>
            <a:chOff x="0" y="0"/>
            <a:chExt cx="850594" cy="850594"/>
          </a:xfrm>
        </p:grpSpPr>
        <p:sp>
          <p:nvSpPr>
            <p:cNvPr id="100" name="Shape 367">
              <a:extLst>
                <a:ext uri="{FF2B5EF4-FFF2-40B4-BE49-F238E27FC236}">
                  <a16:creationId xmlns:a16="http://schemas.microsoft.com/office/drawing/2014/main" id="{F2F4A178-AA54-4FF6-8261-CB0EFAFBD1DC}"/>
                </a:ext>
              </a:extLst>
            </p:cNvPr>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50800" cap="flat">
              <a:solidFill>
                <a:srgbClr val="FBF9FC"/>
              </a:solidFill>
              <a:prstDash val="solid"/>
              <a:miter lim="400000"/>
            </a:ln>
            <a:effec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11200"/>
              </a:pPr>
              <a:endParaRPr sz="14935">
                <a:cs typeface="+mn-ea"/>
                <a:sym typeface="+mn-lt"/>
              </a:endParaRPr>
            </a:p>
          </p:txBody>
        </p:sp>
        <p:sp>
          <p:nvSpPr>
            <p:cNvPr id="101" name="Shape 368">
              <a:extLst>
                <a:ext uri="{FF2B5EF4-FFF2-40B4-BE49-F238E27FC236}">
                  <a16:creationId xmlns:a16="http://schemas.microsoft.com/office/drawing/2014/main" id="{9B7E194B-7E7A-49CB-A73C-2E6E2FE128BB}"/>
                </a:ext>
              </a:extLst>
            </p:cNvPr>
            <p:cNvSpPr/>
            <p:nvPr/>
          </p:nvSpPr>
          <p:spPr>
            <a:xfrm>
              <a:off x="243825" y="114147"/>
              <a:ext cx="362944" cy="622301"/>
            </a:xfrm>
            <a:prstGeom prst="rect">
              <a:avLst/>
            </a:prstGeom>
            <a:noFill/>
            <a:ln w="12700" cap="flat">
              <a:noFill/>
              <a:miter lim="400000"/>
            </a:ln>
            <a:effec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dirty="0">
                  <a:latin typeface="+mn-lt"/>
                  <a:ea typeface="+mn-ea"/>
                  <a:cs typeface="+mn-ea"/>
                  <a:sym typeface="+mn-lt"/>
                </a:rPr>
                <a:t>4</a:t>
              </a:r>
            </a:p>
          </p:txBody>
        </p:sp>
      </p:grpSp>
      <p:grpSp>
        <p:nvGrpSpPr>
          <p:cNvPr id="92" name="Group 372">
            <a:extLst>
              <a:ext uri="{FF2B5EF4-FFF2-40B4-BE49-F238E27FC236}">
                <a16:creationId xmlns:a16="http://schemas.microsoft.com/office/drawing/2014/main" id="{AD66C582-3B3B-4D03-9A20-FA0C53D08AA2}"/>
              </a:ext>
            </a:extLst>
          </p:cNvPr>
          <p:cNvGrpSpPr/>
          <p:nvPr/>
        </p:nvGrpSpPr>
        <p:grpSpPr>
          <a:xfrm>
            <a:off x="9776899" y="2927918"/>
            <a:ext cx="425297" cy="425297"/>
            <a:chOff x="0" y="0"/>
            <a:chExt cx="850594" cy="850594"/>
          </a:xfrm>
        </p:grpSpPr>
        <p:sp>
          <p:nvSpPr>
            <p:cNvPr id="98" name="Shape 370">
              <a:extLst>
                <a:ext uri="{FF2B5EF4-FFF2-40B4-BE49-F238E27FC236}">
                  <a16:creationId xmlns:a16="http://schemas.microsoft.com/office/drawing/2014/main" id="{2A464E14-E616-4F5D-A7F2-5ADF960D6405}"/>
                </a:ext>
              </a:extLst>
            </p:cNvPr>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70C0"/>
            </a:solidFill>
            <a:ln w="50800" cap="flat">
              <a:solidFill>
                <a:srgbClr val="FBF9FC"/>
              </a:solidFill>
              <a:prstDash val="solid"/>
              <a:miter lim="400000"/>
            </a:ln>
            <a:effectLst/>
          </p:spPr>
          <p:txBody>
            <a:bodyPr wrap="square" lIns="0" tIns="0" rIns="0" bIns="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11200"/>
              </a:pPr>
              <a:endParaRPr sz="14935">
                <a:solidFill>
                  <a:schemeClr val="bg1"/>
                </a:solidFill>
                <a:cs typeface="+mn-ea"/>
                <a:sym typeface="+mn-lt"/>
              </a:endParaRPr>
            </a:p>
          </p:txBody>
        </p:sp>
        <p:sp>
          <p:nvSpPr>
            <p:cNvPr id="99" name="Shape 371">
              <a:extLst>
                <a:ext uri="{FF2B5EF4-FFF2-40B4-BE49-F238E27FC236}">
                  <a16:creationId xmlns:a16="http://schemas.microsoft.com/office/drawing/2014/main" id="{BFEFF522-D45C-4669-AD43-F83AB590DFCE}"/>
                </a:ext>
              </a:extLst>
            </p:cNvPr>
            <p:cNvSpPr/>
            <p:nvPr/>
          </p:nvSpPr>
          <p:spPr>
            <a:xfrm>
              <a:off x="311486" y="179080"/>
              <a:ext cx="214804" cy="492442"/>
            </a:xfrm>
            <a:prstGeom prst="rect">
              <a:avLst/>
            </a:prstGeom>
            <a:noFill/>
            <a:ln w="12700" cap="flat">
              <a:noFill/>
              <a:miter lim="400000"/>
            </a:ln>
            <a:effec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600" dirty="0">
                  <a:solidFill>
                    <a:schemeClr val="bg1"/>
                  </a:solidFill>
                  <a:latin typeface="+mn-lt"/>
                  <a:ea typeface="+mn-ea"/>
                  <a:cs typeface="+mn-ea"/>
                  <a:sym typeface="+mn-lt"/>
                </a:rPr>
                <a:t>5</a:t>
              </a:r>
            </a:p>
          </p:txBody>
        </p:sp>
      </p:grpSp>
      <p:sp>
        <p:nvSpPr>
          <p:cNvPr id="93" name="Shape 373">
            <a:extLst>
              <a:ext uri="{FF2B5EF4-FFF2-40B4-BE49-F238E27FC236}">
                <a16:creationId xmlns:a16="http://schemas.microsoft.com/office/drawing/2014/main" id="{9B52B37C-7605-46F6-9358-606587591A3F}"/>
              </a:ext>
            </a:extLst>
          </p:cNvPr>
          <p:cNvSpPr/>
          <p:nvPr/>
        </p:nvSpPr>
        <p:spPr>
          <a:xfrm>
            <a:off x="1270670" y="3701439"/>
            <a:ext cx="1690299" cy="797782"/>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10000"/>
              </a:lnSpc>
            </a:pPr>
            <a:r>
              <a:rPr lang="zh-CN" altLang="en-US" sz="1600" dirty="0">
                <a:solidFill>
                  <a:schemeClr val="tx1">
                    <a:lumMod val="75000"/>
                    <a:lumOff val="25000"/>
                  </a:schemeClr>
                </a:solidFill>
                <a:latin typeface="+mn-lt"/>
                <a:ea typeface="+mn-ea"/>
                <a:cs typeface="+mn-ea"/>
                <a:sym typeface="+mn-lt"/>
              </a:rPr>
              <a:t>客户端向</a:t>
            </a:r>
            <a:r>
              <a:rPr lang="en-US" altLang="zh-CN" sz="1600" dirty="0">
                <a:solidFill>
                  <a:schemeClr val="tx1">
                    <a:lumMod val="75000"/>
                    <a:lumOff val="25000"/>
                  </a:schemeClr>
                </a:solidFill>
                <a:latin typeface="+mn-lt"/>
                <a:ea typeface="+mn-ea"/>
                <a:cs typeface="+mn-ea"/>
                <a:sym typeface="+mn-lt"/>
              </a:rPr>
              <a:t>MongoDB</a:t>
            </a:r>
            <a:r>
              <a:rPr lang="zh-CN" altLang="en-US" sz="1600" dirty="0">
                <a:solidFill>
                  <a:schemeClr val="tx1">
                    <a:lumMod val="75000"/>
                    <a:lumOff val="25000"/>
                  </a:schemeClr>
                </a:solidFill>
                <a:latin typeface="+mn-lt"/>
                <a:ea typeface="+mn-ea"/>
                <a:cs typeface="+mn-ea"/>
                <a:sym typeface="+mn-lt"/>
              </a:rPr>
              <a:t>服务发送</a:t>
            </a:r>
            <a:r>
              <a:rPr lang="zh-CN" altLang="en-US" sz="1600" dirty="0">
                <a:solidFill>
                  <a:srgbClr val="1369B2"/>
                </a:solidFill>
                <a:latin typeface="+mn-lt"/>
                <a:ea typeface="+mn-ea"/>
                <a:cs typeface="+mn-ea"/>
                <a:sym typeface="+mn-lt"/>
              </a:rPr>
              <a:t>写入</a:t>
            </a:r>
            <a:r>
              <a:rPr lang="zh-CN" altLang="en-US" sz="1600" dirty="0">
                <a:solidFill>
                  <a:schemeClr val="tx1">
                    <a:lumMod val="75000"/>
                    <a:lumOff val="25000"/>
                  </a:schemeClr>
                </a:solidFill>
                <a:latin typeface="+mn-lt"/>
                <a:ea typeface="+mn-ea"/>
                <a:cs typeface="+mn-ea"/>
                <a:sym typeface="+mn-lt"/>
              </a:rPr>
              <a:t>操作的请求。</a:t>
            </a:r>
            <a:endParaRPr lang="en-US" altLang="zh-CN" sz="1600" dirty="0">
              <a:solidFill>
                <a:schemeClr val="tx1">
                  <a:lumMod val="75000"/>
                  <a:lumOff val="25000"/>
                </a:schemeClr>
              </a:solidFill>
              <a:latin typeface="+mn-lt"/>
              <a:ea typeface="+mn-ea"/>
              <a:cs typeface="+mn-ea"/>
              <a:sym typeface="+mn-lt"/>
            </a:endParaRPr>
          </a:p>
        </p:txBody>
      </p:sp>
      <p:sp>
        <p:nvSpPr>
          <p:cNvPr id="94" name="Shape 376">
            <a:extLst>
              <a:ext uri="{FF2B5EF4-FFF2-40B4-BE49-F238E27FC236}">
                <a16:creationId xmlns:a16="http://schemas.microsoft.com/office/drawing/2014/main" id="{91DED915-5103-4E56-B455-C91CF87D1F26}"/>
              </a:ext>
            </a:extLst>
          </p:cNvPr>
          <p:cNvSpPr/>
          <p:nvPr/>
        </p:nvSpPr>
        <p:spPr>
          <a:xfrm>
            <a:off x="3142878" y="3701439"/>
            <a:ext cx="1772418" cy="1610313"/>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10000"/>
              </a:lnSpc>
            </a:pPr>
            <a:r>
              <a:rPr lang="en-US" altLang="zh-CN" sz="1600" dirty="0">
                <a:solidFill>
                  <a:schemeClr val="tx1">
                    <a:lumMod val="75000"/>
                    <a:lumOff val="25000"/>
                  </a:schemeClr>
                </a:solidFill>
                <a:latin typeface="+mn-lt"/>
                <a:ea typeface="+mn-ea"/>
                <a:cs typeface="+mn-ea"/>
                <a:sym typeface="+mn-lt"/>
              </a:rPr>
              <a:t>MongoDB</a:t>
            </a:r>
            <a:r>
              <a:rPr lang="zh-CN" altLang="en-US" sz="1600" dirty="0">
                <a:solidFill>
                  <a:schemeClr val="tx1">
                    <a:lumMod val="75000"/>
                    <a:lumOff val="25000"/>
                  </a:schemeClr>
                </a:solidFill>
                <a:latin typeface="+mn-lt"/>
                <a:ea typeface="+mn-ea"/>
                <a:cs typeface="+mn-ea"/>
                <a:sym typeface="+mn-lt"/>
              </a:rPr>
              <a:t>服务接收到请求后，会对客户端的</a:t>
            </a:r>
            <a:r>
              <a:rPr lang="zh-CN" altLang="en-US" sz="1600" dirty="0">
                <a:solidFill>
                  <a:srgbClr val="1369B2"/>
                </a:solidFill>
                <a:latin typeface="+mn-lt"/>
                <a:ea typeface="+mn-ea"/>
                <a:cs typeface="+mn-ea"/>
                <a:sym typeface="+mn-lt"/>
              </a:rPr>
              <a:t>身份</a:t>
            </a:r>
            <a:r>
              <a:rPr lang="zh-CN" altLang="en-US" sz="1600" dirty="0">
                <a:solidFill>
                  <a:schemeClr val="tx1">
                    <a:lumMod val="75000"/>
                    <a:lumOff val="25000"/>
                  </a:schemeClr>
                </a:solidFill>
                <a:latin typeface="+mn-lt"/>
                <a:ea typeface="+mn-ea"/>
                <a:cs typeface="+mn-ea"/>
                <a:sym typeface="+mn-lt"/>
              </a:rPr>
              <a:t>和</a:t>
            </a:r>
            <a:r>
              <a:rPr lang="zh-CN" altLang="en-US" sz="1600" dirty="0">
                <a:solidFill>
                  <a:srgbClr val="1369B2"/>
                </a:solidFill>
                <a:latin typeface="+mn-lt"/>
                <a:ea typeface="+mn-ea"/>
                <a:cs typeface="+mn-ea"/>
                <a:sym typeface="+mn-lt"/>
              </a:rPr>
              <a:t>权限进行验证</a:t>
            </a:r>
            <a:r>
              <a:rPr lang="zh-CN" altLang="en-US" sz="1600" dirty="0">
                <a:solidFill>
                  <a:schemeClr val="tx1">
                    <a:lumMod val="75000"/>
                    <a:lumOff val="25000"/>
                  </a:schemeClr>
                </a:solidFill>
                <a:latin typeface="+mn-lt"/>
                <a:ea typeface="+mn-ea"/>
                <a:cs typeface="+mn-ea"/>
                <a:sym typeface="+mn-lt"/>
              </a:rPr>
              <a:t>，确保其有权执行相应的写入操作。</a:t>
            </a:r>
            <a:endParaRPr lang="en-US" altLang="zh-CN" sz="1600" dirty="0">
              <a:solidFill>
                <a:schemeClr val="tx1">
                  <a:lumMod val="75000"/>
                  <a:lumOff val="25000"/>
                </a:schemeClr>
              </a:solidFill>
              <a:latin typeface="+mn-lt"/>
              <a:ea typeface="+mn-ea"/>
              <a:cs typeface="+mn-ea"/>
              <a:sym typeface="+mn-lt"/>
            </a:endParaRPr>
          </a:p>
        </p:txBody>
      </p:sp>
      <p:sp>
        <p:nvSpPr>
          <p:cNvPr id="95" name="Shape 379">
            <a:extLst>
              <a:ext uri="{FF2B5EF4-FFF2-40B4-BE49-F238E27FC236}">
                <a16:creationId xmlns:a16="http://schemas.microsoft.com/office/drawing/2014/main" id="{2D22542F-CCDF-4F62-894F-78539674A339}"/>
              </a:ext>
            </a:extLst>
          </p:cNvPr>
          <p:cNvSpPr/>
          <p:nvPr/>
        </p:nvSpPr>
        <p:spPr>
          <a:xfrm>
            <a:off x="5265225" y="3701439"/>
            <a:ext cx="1654740" cy="1160959"/>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en-US" altLang="zh-CN" sz="1600" dirty="0">
                <a:solidFill>
                  <a:schemeClr val="tx1">
                    <a:lumMod val="75000"/>
                    <a:lumOff val="25000"/>
                  </a:schemeClr>
                </a:solidFill>
                <a:latin typeface="+mn-lt"/>
                <a:ea typeface="+mn-ea"/>
                <a:cs typeface="+mn-ea"/>
                <a:sym typeface="+mn-lt"/>
              </a:rPr>
              <a:t>MongoDB</a:t>
            </a:r>
            <a:r>
              <a:rPr lang="zh-CN" altLang="en-US" sz="1600" dirty="0">
                <a:solidFill>
                  <a:schemeClr val="tx1">
                    <a:lumMod val="75000"/>
                    <a:lumOff val="25000"/>
                  </a:schemeClr>
                </a:solidFill>
                <a:latin typeface="+mn-lt"/>
                <a:ea typeface="+mn-ea"/>
                <a:cs typeface="+mn-ea"/>
                <a:sym typeface="+mn-lt"/>
              </a:rPr>
              <a:t>服务</a:t>
            </a:r>
            <a:r>
              <a:rPr lang="zh-CN" altLang="en-US" sz="1600" dirty="0">
                <a:solidFill>
                  <a:srgbClr val="1369B2"/>
                </a:solidFill>
                <a:latin typeface="+mn-lt"/>
                <a:ea typeface="+mn-ea"/>
                <a:cs typeface="+mn-ea"/>
                <a:sym typeface="+mn-lt"/>
              </a:rPr>
              <a:t>解析</a:t>
            </a:r>
            <a:r>
              <a:rPr lang="zh-CN" altLang="en-US" sz="1600" dirty="0">
                <a:solidFill>
                  <a:schemeClr val="tx1">
                    <a:lumMod val="75000"/>
                    <a:lumOff val="25000"/>
                  </a:schemeClr>
                </a:solidFill>
                <a:latin typeface="+mn-lt"/>
                <a:ea typeface="+mn-ea"/>
                <a:cs typeface="+mn-ea"/>
                <a:sym typeface="+mn-lt"/>
              </a:rPr>
              <a:t>请求内容，将文档写入</a:t>
            </a:r>
            <a:r>
              <a:rPr lang="en-US" altLang="zh-CN" sz="1600" dirty="0" err="1">
                <a:solidFill>
                  <a:srgbClr val="1369B2"/>
                </a:solidFill>
                <a:latin typeface="+mn-lt"/>
                <a:ea typeface="+mn-ea"/>
                <a:cs typeface="+mn-ea"/>
                <a:sym typeface="+mn-lt"/>
              </a:rPr>
              <a:t>WiredTiger</a:t>
            </a:r>
            <a:r>
              <a:rPr lang="zh-CN" altLang="en-US" sz="1600" dirty="0">
                <a:solidFill>
                  <a:schemeClr val="tx1">
                    <a:lumMod val="75000"/>
                    <a:lumOff val="25000"/>
                  </a:schemeClr>
                </a:solidFill>
                <a:latin typeface="+mn-lt"/>
                <a:ea typeface="+mn-ea"/>
                <a:cs typeface="+mn-ea"/>
                <a:sym typeface="+mn-lt"/>
              </a:rPr>
              <a:t>内部缓存。</a:t>
            </a:r>
            <a:endParaRPr lang="en-US" altLang="zh-CN" sz="1600" dirty="0">
              <a:solidFill>
                <a:schemeClr val="tx1">
                  <a:lumMod val="75000"/>
                  <a:lumOff val="25000"/>
                </a:schemeClr>
              </a:solidFill>
              <a:latin typeface="+mn-lt"/>
              <a:ea typeface="+mn-ea"/>
              <a:cs typeface="+mn-ea"/>
              <a:sym typeface="+mn-lt"/>
            </a:endParaRPr>
          </a:p>
        </p:txBody>
      </p:sp>
      <p:sp>
        <p:nvSpPr>
          <p:cNvPr id="96" name="Shape 382">
            <a:extLst>
              <a:ext uri="{FF2B5EF4-FFF2-40B4-BE49-F238E27FC236}">
                <a16:creationId xmlns:a16="http://schemas.microsoft.com/office/drawing/2014/main" id="{03E5ECD2-3641-4CA3-819B-E38F0AA6AF86}"/>
              </a:ext>
            </a:extLst>
          </p:cNvPr>
          <p:cNvSpPr/>
          <p:nvPr/>
        </p:nvSpPr>
        <p:spPr>
          <a:xfrm>
            <a:off x="7247334" y="3701439"/>
            <a:ext cx="1570285" cy="865493"/>
          </a:xfrm>
          <a:prstGeom prst="rect">
            <a:avLst/>
          </a:prstGeom>
          <a:noFill/>
          <a:ln w="12700" cap="flat">
            <a:noFill/>
            <a:miter lim="400000"/>
          </a:ln>
          <a:effectLst/>
        </p:spPr>
        <p:txBody>
          <a:bodyPr wrap="square" lIns="0" tIns="0" rIns="0" bIns="0" numCol="1" anchor="t">
            <a:spAutoFit/>
          </a:bodyPr>
          <a:lstStyle>
            <a:lvl1pPr>
              <a:defRPr sz="2000">
                <a:solidFill>
                  <a:srgbClr val="606B83"/>
                </a:solidFill>
                <a:latin typeface="STIXGeneral-Bold"/>
                <a:ea typeface="STIXGeneral-Bold"/>
                <a:cs typeface="STIXGeneral-Bold"/>
                <a:sym typeface="STIXGeneral-Bold"/>
              </a:defRPr>
            </a:lvl1pPr>
          </a:lstStyle>
          <a:p>
            <a:pPr algn="just">
              <a:lnSpc>
                <a:spcPct val="120000"/>
              </a:lnSpc>
            </a:pPr>
            <a:r>
              <a:rPr lang="en-US" altLang="zh-CN" sz="1600" dirty="0">
                <a:solidFill>
                  <a:schemeClr val="tx1">
                    <a:lumMod val="75000"/>
                    <a:lumOff val="25000"/>
                  </a:schemeClr>
                </a:solidFill>
                <a:latin typeface="+mn-lt"/>
                <a:ea typeface="+mn-ea"/>
                <a:cs typeface="+mn-ea"/>
                <a:sym typeface="+mn-lt"/>
              </a:rPr>
              <a:t>MongoDB</a:t>
            </a:r>
            <a:r>
              <a:rPr lang="zh-CN" altLang="en-US" sz="1600" dirty="0">
                <a:solidFill>
                  <a:schemeClr val="tx1">
                    <a:lumMod val="75000"/>
                    <a:lumOff val="25000"/>
                  </a:schemeClr>
                </a:solidFill>
                <a:latin typeface="+mn-lt"/>
                <a:ea typeface="+mn-ea"/>
                <a:cs typeface="+mn-ea"/>
                <a:sym typeface="+mn-lt"/>
              </a:rPr>
              <a:t>服务将</a:t>
            </a:r>
            <a:r>
              <a:rPr lang="zh-CN" altLang="en-US" sz="1600" dirty="0">
                <a:solidFill>
                  <a:srgbClr val="1369B2"/>
                </a:solidFill>
                <a:latin typeface="+mn-lt"/>
                <a:ea typeface="+mn-ea"/>
                <a:cs typeface="+mn-ea"/>
                <a:sym typeface="+mn-lt"/>
              </a:rPr>
              <a:t>写入操作</a:t>
            </a:r>
            <a:r>
              <a:rPr lang="zh-CN" altLang="en-US" sz="1600" dirty="0">
                <a:solidFill>
                  <a:schemeClr val="tx1">
                    <a:lumMod val="75000"/>
                    <a:lumOff val="25000"/>
                  </a:schemeClr>
                </a:solidFill>
                <a:latin typeface="+mn-lt"/>
                <a:ea typeface="+mn-ea"/>
                <a:cs typeface="+mn-ea"/>
                <a:sym typeface="+mn-lt"/>
              </a:rPr>
              <a:t>记录到</a:t>
            </a:r>
            <a:r>
              <a:rPr lang="zh-CN" altLang="en-US" sz="1600" dirty="0">
                <a:solidFill>
                  <a:srgbClr val="1369B2"/>
                </a:solidFill>
                <a:latin typeface="+mn-lt"/>
                <a:ea typeface="+mn-ea"/>
                <a:cs typeface="+mn-ea"/>
                <a:sym typeface="+mn-lt"/>
              </a:rPr>
              <a:t>预写日志</a:t>
            </a:r>
            <a:r>
              <a:rPr lang="zh-CN" altLang="en-US" sz="1600" dirty="0">
                <a:solidFill>
                  <a:schemeClr val="tx1">
                    <a:lumMod val="75000"/>
                    <a:lumOff val="25000"/>
                  </a:schemeClr>
                </a:solidFill>
                <a:latin typeface="+mn-lt"/>
                <a:ea typeface="+mn-ea"/>
                <a:cs typeface="+mn-ea"/>
                <a:sym typeface="+mn-lt"/>
              </a:rPr>
              <a:t>。</a:t>
            </a:r>
            <a:endParaRPr lang="en-US" altLang="zh-CN" sz="1600" dirty="0">
              <a:solidFill>
                <a:schemeClr val="tx1">
                  <a:lumMod val="75000"/>
                  <a:lumOff val="25000"/>
                </a:schemeClr>
              </a:solidFill>
              <a:latin typeface="+mn-lt"/>
              <a:ea typeface="+mn-ea"/>
              <a:cs typeface="+mn-ea"/>
              <a:sym typeface="+mn-lt"/>
            </a:endParaRPr>
          </a:p>
        </p:txBody>
      </p:sp>
      <p:sp>
        <p:nvSpPr>
          <p:cNvPr id="97" name="Shape 385">
            <a:extLst>
              <a:ext uri="{FF2B5EF4-FFF2-40B4-BE49-F238E27FC236}">
                <a16:creationId xmlns:a16="http://schemas.microsoft.com/office/drawing/2014/main" id="{61E436C3-1BFA-4880-BC13-DCAD14473225}"/>
              </a:ext>
            </a:extLst>
          </p:cNvPr>
          <p:cNvSpPr/>
          <p:nvPr/>
        </p:nvSpPr>
        <p:spPr>
          <a:xfrm>
            <a:off x="9201663" y="3701439"/>
            <a:ext cx="1654740" cy="1751890"/>
          </a:xfrm>
          <a:prstGeom prst="rect">
            <a:avLst/>
          </a:prstGeom>
          <a:noFill/>
          <a:ln w="12700" cap="flat">
            <a:noFill/>
            <a:miter lim="400000"/>
          </a:ln>
          <a:effec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1600" dirty="0">
                <a:solidFill>
                  <a:schemeClr val="tx1">
                    <a:lumMod val="75000"/>
                    <a:lumOff val="25000"/>
                  </a:schemeClr>
                </a:solidFill>
                <a:latin typeface="+mn-lt"/>
                <a:ea typeface="+mn-ea"/>
                <a:cs typeface="+mn-ea"/>
                <a:sym typeface="+mn-lt"/>
              </a:rPr>
              <a:t>一旦写入操作成功记录到预写日志中，</a:t>
            </a:r>
            <a:r>
              <a:rPr lang="en-US" altLang="zh-CN" sz="1600" dirty="0">
                <a:solidFill>
                  <a:schemeClr val="tx1">
                    <a:lumMod val="75000"/>
                    <a:lumOff val="25000"/>
                  </a:schemeClr>
                </a:solidFill>
                <a:latin typeface="+mn-lt"/>
                <a:ea typeface="+mn-ea"/>
                <a:cs typeface="+mn-ea"/>
                <a:sym typeface="+mn-lt"/>
              </a:rPr>
              <a:t>MongoDB</a:t>
            </a:r>
            <a:r>
              <a:rPr lang="zh-CN" altLang="en-US" sz="1600" dirty="0">
                <a:solidFill>
                  <a:schemeClr val="tx1">
                    <a:lumMod val="75000"/>
                    <a:lumOff val="25000"/>
                  </a:schemeClr>
                </a:solidFill>
                <a:latin typeface="+mn-lt"/>
                <a:ea typeface="+mn-ea"/>
                <a:cs typeface="+mn-ea"/>
                <a:sym typeface="+mn-lt"/>
              </a:rPr>
              <a:t>服务会向客户端发送</a:t>
            </a:r>
            <a:r>
              <a:rPr lang="zh-CN" altLang="en-US" sz="1600" dirty="0">
                <a:solidFill>
                  <a:srgbClr val="1369B2"/>
                </a:solidFill>
                <a:latin typeface="+mn-lt"/>
                <a:ea typeface="+mn-ea"/>
                <a:cs typeface="+mn-ea"/>
                <a:sym typeface="+mn-lt"/>
              </a:rPr>
              <a:t>确认响应</a:t>
            </a:r>
            <a:r>
              <a:rPr lang="zh-CN" altLang="en-US" sz="1600" dirty="0">
                <a:solidFill>
                  <a:schemeClr val="tx1">
                    <a:lumMod val="75000"/>
                    <a:lumOff val="25000"/>
                  </a:schemeClr>
                </a:solidFill>
                <a:latin typeface="+mn-lt"/>
                <a:ea typeface="+mn-ea"/>
                <a:cs typeface="+mn-ea"/>
                <a:sym typeface="+mn-lt"/>
              </a:rPr>
              <a:t>，表示写入操作成功完成。</a:t>
            </a:r>
            <a:endParaRPr lang="en-US" altLang="zh-CN" sz="1600" dirty="0">
              <a:solidFill>
                <a:schemeClr val="tx1">
                  <a:lumMod val="75000"/>
                  <a:lumOff val="25000"/>
                </a:schemeClr>
              </a:solidFill>
              <a:latin typeface="+mn-lt"/>
              <a:ea typeface="+mn-ea"/>
              <a:cs typeface="+mn-ea"/>
              <a:sym typeface="+mn-lt"/>
            </a:endParaRPr>
          </a:p>
        </p:txBody>
      </p:sp>
      <p:sp>
        <p:nvSpPr>
          <p:cNvPr id="118" name="矩形: 圆顶角 117">
            <a:extLst>
              <a:ext uri="{FF2B5EF4-FFF2-40B4-BE49-F238E27FC236}">
                <a16:creationId xmlns:a16="http://schemas.microsoft.com/office/drawing/2014/main" id="{09795E3D-CFEE-4B0C-A83B-C704275E82CC}"/>
              </a:ext>
            </a:extLst>
          </p:cNvPr>
          <p:cNvSpPr/>
          <p:nvPr/>
        </p:nvSpPr>
        <p:spPr>
          <a:xfrm rot="10800000">
            <a:off x="982638" y="841441"/>
            <a:ext cx="1872208"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19" name="矩形 118">
            <a:extLst>
              <a:ext uri="{FF2B5EF4-FFF2-40B4-BE49-F238E27FC236}">
                <a16:creationId xmlns:a16="http://schemas.microsoft.com/office/drawing/2014/main" id="{996B352E-2988-4813-9213-99B6FD253C2F}"/>
              </a:ext>
            </a:extLst>
          </p:cNvPr>
          <p:cNvSpPr/>
          <p:nvPr/>
        </p:nvSpPr>
        <p:spPr>
          <a:xfrm>
            <a:off x="982639" y="862621"/>
            <a:ext cx="1512167"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1.  </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写流程</a:t>
            </a:r>
          </a:p>
        </p:txBody>
      </p:sp>
    </p:spTree>
    <p:extLst>
      <p:ext uri="{BB962C8B-B14F-4D97-AF65-F5344CB8AC3E}">
        <p14:creationId xmlns:p14="http://schemas.microsoft.com/office/powerpoint/2010/main" val="242487559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itle 1">
            <a:extLst>
              <a:ext uri="{FF2B5EF4-FFF2-40B4-BE49-F238E27FC236}">
                <a16:creationId xmlns:a16="http://schemas.microsoft.com/office/drawing/2014/main" id="{90EA412F-0EBB-4D37-BC62-D8097DE11635}"/>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的读写流程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8" name="矩形: 圆顶角 117">
            <a:extLst>
              <a:ext uri="{FF2B5EF4-FFF2-40B4-BE49-F238E27FC236}">
                <a16:creationId xmlns:a16="http://schemas.microsoft.com/office/drawing/2014/main" id="{09795E3D-CFEE-4B0C-A83B-C704275E82CC}"/>
              </a:ext>
            </a:extLst>
          </p:cNvPr>
          <p:cNvSpPr/>
          <p:nvPr/>
        </p:nvSpPr>
        <p:spPr>
          <a:xfrm rot="10800000">
            <a:off x="982638" y="841441"/>
            <a:ext cx="1872208" cy="43204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a:p>
        </p:txBody>
      </p:sp>
      <p:sp>
        <p:nvSpPr>
          <p:cNvPr id="119" name="矩形 118">
            <a:extLst>
              <a:ext uri="{FF2B5EF4-FFF2-40B4-BE49-F238E27FC236}">
                <a16:creationId xmlns:a16="http://schemas.microsoft.com/office/drawing/2014/main" id="{996B352E-2988-4813-9213-99B6FD253C2F}"/>
              </a:ext>
            </a:extLst>
          </p:cNvPr>
          <p:cNvSpPr/>
          <p:nvPr/>
        </p:nvSpPr>
        <p:spPr>
          <a:xfrm>
            <a:off x="982639" y="862621"/>
            <a:ext cx="1512167" cy="369332"/>
          </a:xfrm>
          <a:prstGeom prst="rect">
            <a:avLst/>
          </a:prstGeom>
          <a:noFill/>
          <a:ln w="9525">
            <a:noFill/>
          </a:ln>
        </p:spPr>
        <p:txBody>
          <a:bodyPr wrap="square">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rPr>
              <a:t>2.  </a:t>
            </a:r>
            <a:r>
              <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rPr>
              <a:t>读流程</a:t>
            </a:r>
          </a:p>
        </p:txBody>
      </p:sp>
      <p:sp>
        <p:nvSpPr>
          <p:cNvPr id="40" name="形状 39">
            <a:extLst>
              <a:ext uri="{FF2B5EF4-FFF2-40B4-BE49-F238E27FC236}">
                <a16:creationId xmlns:a16="http://schemas.microsoft.com/office/drawing/2014/main" id="{2CB3844A-91D9-427F-8D39-8F31E32BEFF5}"/>
              </a:ext>
            </a:extLst>
          </p:cNvPr>
          <p:cNvSpPr/>
          <p:nvPr/>
        </p:nvSpPr>
        <p:spPr>
          <a:xfrm>
            <a:off x="2435702" y="2906554"/>
            <a:ext cx="2361565" cy="2361565"/>
          </a:xfrm>
          <a:prstGeom prst="leftCircularArrow">
            <a:avLst>
              <a:gd name="adj1" fmla="val 2872"/>
              <a:gd name="adj2" fmla="val 351158"/>
              <a:gd name="adj3" fmla="val 2126668"/>
              <a:gd name="adj4" fmla="val 9024489"/>
              <a:gd name="adj5" fmla="val 3351"/>
            </a:avLst>
          </a:prstGeom>
          <a:solidFill>
            <a:srgbClr val="0070C0"/>
          </a:solidFill>
          <a:ln w="0">
            <a:solidFill>
              <a:schemeClr val="accent1"/>
            </a:solidFill>
          </a:ln>
        </p:spPr>
        <p:style>
          <a:lnRef idx="2">
            <a:schemeClr val="accent1"/>
          </a:lnRef>
          <a:fillRef idx="0">
            <a:schemeClr val="accent1"/>
          </a:fillRef>
          <a:effectRef idx="1">
            <a:schemeClr val="accent1"/>
          </a:effectRef>
          <a:fontRef idx="minor">
            <a:schemeClr val="tx1"/>
          </a:fontRef>
        </p:style>
        <p:txBody>
          <a:bodyPr vert="horz" wrap="square" lIns="91440" tIns="45720" rIns="91440" bIns="45720" anchor="t">
            <a:noAutofit/>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auto" latinLnBrk="0" hangingPunct="1">
              <a:lnSpc>
                <a:spcPct val="100000"/>
              </a:lnSpc>
              <a:spcBef>
                <a:spcPts val="0"/>
              </a:spcBef>
              <a:spcAft>
                <a:spcPts val="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微软雅黑" panose="020B0503020204020204" pitchFamily="34" charset="-122"/>
              <a:cs typeface="+mn-lt"/>
            </a:endParaRPr>
          </a:p>
        </p:txBody>
      </p:sp>
      <p:sp>
        <p:nvSpPr>
          <p:cNvPr id="41" name="形状 16501">
            <a:extLst>
              <a:ext uri="{FF2B5EF4-FFF2-40B4-BE49-F238E27FC236}">
                <a16:creationId xmlns:a16="http://schemas.microsoft.com/office/drawing/2014/main" id="{8542D884-F876-4097-9B28-AD88CFB83140}"/>
              </a:ext>
            </a:extLst>
          </p:cNvPr>
          <p:cNvSpPr/>
          <p:nvPr/>
        </p:nvSpPr>
        <p:spPr>
          <a:xfrm>
            <a:off x="1332707" y="2647474"/>
            <a:ext cx="1938655" cy="159893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91440" tIns="66040" rIns="66040" bIns="9144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42" name="形状 16502">
            <a:extLst>
              <a:ext uri="{FF2B5EF4-FFF2-40B4-BE49-F238E27FC236}">
                <a16:creationId xmlns:a16="http://schemas.microsoft.com/office/drawing/2014/main" id="{D518348E-7333-49D6-9FE3-5F0CB0E6E7D2}"/>
              </a:ext>
            </a:extLst>
          </p:cNvPr>
          <p:cNvSpPr/>
          <p:nvPr/>
        </p:nvSpPr>
        <p:spPr>
          <a:xfrm>
            <a:off x="1763237" y="3896519"/>
            <a:ext cx="1723390" cy="685800"/>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60" tIns="45085" rIns="60960" bIns="45085"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43" name="形状 16503">
            <a:extLst>
              <a:ext uri="{FF2B5EF4-FFF2-40B4-BE49-F238E27FC236}">
                <a16:creationId xmlns:a16="http://schemas.microsoft.com/office/drawing/2014/main" id="{B68ABF3F-2AEC-4720-93BA-918BC610193F}"/>
              </a:ext>
            </a:extLst>
          </p:cNvPr>
          <p:cNvSpPr/>
          <p:nvPr/>
        </p:nvSpPr>
        <p:spPr>
          <a:xfrm>
            <a:off x="4742022" y="1591469"/>
            <a:ext cx="2642870" cy="2642870"/>
          </a:xfrm>
          <a:prstGeom prst="circularArrow">
            <a:avLst>
              <a:gd name="adj1" fmla="val 2567"/>
              <a:gd name="adj2" fmla="val 311540"/>
              <a:gd name="adj3" fmla="val 19512949"/>
              <a:gd name="adj4" fmla="val 12575511"/>
              <a:gd name="adj5" fmla="val 2994"/>
            </a:avLst>
          </a:prstGeom>
          <a:solidFill>
            <a:srgbClr val="0070C0"/>
          </a:solidFill>
          <a:ln w="0">
            <a:solidFill>
              <a:schemeClr val="accent1"/>
            </a:solidFill>
          </a:ln>
        </p:spPr>
        <p:style>
          <a:lnRef idx="2">
            <a:schemeClr val="accent1"/>
          </a:lnRef>
          <a:fillRef idx="0">
            <a:schemeClr val="accent1"/>
          </a:fillRef>
          <a:effectRef idx="1">
            <a:schemeClr val="accent1"/>
          </a:effectRef>
          <a:fontRef idx="minor">
            <a:schemeClr val="tx1"/>
          </a:fontRef>
        </p:style>
        <p:txBody>
          <a:bodyPr vert="horz" wrap="square" lIns="91440" tIns="45720" rIns="91440" bIns="45720" anchor="t">
            <a:noAutofit/>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auto" latinLnBrk="0" hangingPunct="1">
              <a:lnSpc>
                <a:spcPct val="100000"/>
              </a:lnSpc>
              <a:spcBef>
                <a:spcPts val="0"/>
              </a:spcBef>
              <a:spcAft>
                <a:spcPts val="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微软雅黑" panose="020B0503020204020204" pitchFamily="34" charset="-122"/>
              <a:cs typeface="+mn-lt"/>
            </a:endParaRPr>
          </a:p>
        </p:txBody>
      </p:sp>
      <p:sp>
        <p:nvSpPr>
          <p:cNvPr id="44" name="形状 16504">
            <a:extLst>
              <a:ext uri="{FF2B5EF4-FFF2-40B4-BE49-F238E27FC236}">
                <a16:creationId xmlns:a16="http://schemas.microsoft.com/office/drawing/2014/main" id="{A915DE3E-5E08-4E4B-BA61-DA05F3B7909C}"/>
              </a:ext>
            </a:extLst>
          </p:cNvPr>
          <p:cNvSpPr/>
          <p:nvPr/>
        </p:nvSpPr>
        <p:spPr>
          <a:xfrm>
            <a:off x="3800952" y="2646839"/>
            <a:ext cx="1938655" cy="159893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66040" tIns="292735" rIns="66040" bIns="66040" anchor="b">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45" name="形状 16505">
            <a:extLst>
              <a:ext uri="{FF2B5EF4-FFF2-40B4-BE49-F238E27FC236}">
                <a16:creationId xmlns:a16="http://schemas.microsoft.com/office/drawing/2014/main" id="{C1DD4993-4F08-4F20-BA18-8333DB21FFCD}"/>
              </a:ext>
            </a:extLst>
          </p:cNvPr>
          <p:cNvSpPr/>
          <p:nvPr/>
        </p:nvSpPr>
        <p:spPr>
          <a:xfrm>
            <a:off x="4230847" y="2303939"/>
            <a:ext cx="1723390" cy="685800"/>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60" tIns="45085" rIns="60960" bIns="45085"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46" name="形状 16506">
            <a:extLst>
              <a:ext uri="{FF2B5EF4-FFF2-40B4-BE49-F238E27FC236}">
                <a16:creationId xmlns:a16="http://schemas.microsoft.com/office/drawing/2014/main" id="{D5116A10-A7A0-40F1-B954-DAC61247D79C}"/>
              </a:ext>
            </a:extLst>
          </p:cNvPr>
          <p:cNvSpPr/>
          <p:nvPr/>
        </p:nvSpPr>
        <p:spPr>
          <a:xfrm>
            <a:off x="6252687" y="2665889"/>
            <a:ext cx="1938655" cy="159893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91440" tIns="66040" rIns="66040" bIns="9144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47" name="形状 16507">
            <a:extLst>
              <a:ext uri="{FF2B5EF4-FFF2-40B4-BE49-F238E27FC236}">
                <a16:creationId xmlns:a16="http://schemas.microsoft.com/office/drawing/2014/main" id="{F8F9D444-9F77-45CA-9600-E67982EF6257}"/>
              </a:ext>
            </a:extLst>
          </p:cNvPr>
          <p:cNvSpPr/>
          <p:nvPr/>
        </p:nvSpPr>
        <p:spPr>
          <a:xfrm>
            <a:off x="6682582" y="3926999"/>
            <a:ext cx="1723390" cy="685800"/>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60" tIns="45085" rIns="60960" bIns="45085"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48" name="形状 16508">
            <a:extLst>
              <a:ext uri="{FF2B5EF4-FFF2-40B4-BE49-F238E27FC236}">
                <a16:creationId xmlns:a16="http://schemas.microsoft.com/office/drawing/2014/main" id="{A85DF948-6943-41A6-87E0-BD802E49A8B6}"/>
              </a:ext>
            </a:extLst>
          </p:cNvPr>
          <p:cNvSpPr/>
          <p:nvPr/>
        </p:nvSpPr>
        <p:spPr>
          <a:xfrm>
            <a:off x="8703787" y="2664619"/>
            <a:ext cx="1938655" cy="159893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66040" tIns="292735" rIns="66040" bIns="66040" anchor="b">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49" name="形状 16509">
            <a:extLst>
              <a:ext uri="{FF2B5EF4-FFF2-40B4-BE49-F238E27FC236}">
                <a16:creationId xmlns:a16="http://schemas.microsoft.com/office/drawing/2014/main" id="{23E3C5F9-5B25-447F-8671-AE9CBCEF17DE}"/>
              </a:ext>
            </a:extLst>
          </p:cNvPr>
          <p:cNvSpPr/>
          <p:nvPr/>
        </p:nvSpPr>
        <p:spPr>
          <a:xfrm>
            <a:off x="9134317" y="2316004"/>
            <a:ext cx="1723390" cy="685800"/>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60" tIns="45085" rIns="60960" bIns="45085"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50" name="文本框 52">
            <a:extLst>
              <a:ext uri="{FF2B5EF4-FFF2-40B4-BE49-F238E27FC236}">
                <a16:creationId xmlns:a16="http://schemas.microsoft.com/office/drawing/2014/main" id="{BE00467B-0D44-4198-A9CC-B246F00AEEEA}"/>
              </a:ext>
            </a:extLst>
          </p:cNvPr>
          <p:cNvSpPr txBox="1"/>
          <p:nvPr/>
        </p:nvSpPr>
        <p:spPr>
          <a:xfrm>
            <a:off x="1712559" y="4045714"/>
            <a:ext cx="1808480" cy="400110"/>
          </a:xfrm>
          <a:prstGeom prst="rect">
            <a:avLst/>
          </a:prstGeom>
          <a:noFill/>
        </p:spPr>
        <p:txBody>
          <a:bodyPr vert="horz" wrap="square" lIns="91440" tIns="45720" rIns="91440" bIns="4572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508000" rtl="0" eaLnBrk="0" fontAlgn="auto" latinLnBrk="0" hangingPunct="1">
              <a:lnSpc>
                <a:spcPct val="100000"/>
              </a:lnSpc>
              <a:spcBef>
                <a:spcPts val="0"/>
              </a:spcBef>
              <a:spcAft>
                <a:spcPts val="0"/>
              </a:spcAft>
              <a:buClrTx/>
              <a:buSzTx/>
              <a:buFontTx/>
              <a:buNone/>
              <a:defRPr/>
            </a:pPr>
            <a:r>
              <a:rPr lang="zh-CN" altLang="en-US" sz="2000" b="1" noProof="0" dirty="0">
                <a:ln>
                  <a:noFill/>
                </a:ln>
                <a:solidFill>
                  <a:schemeClr val="bg1"/>
                </a:solidFill>
                <a:effectLst/>
                <a:uLnTx/>
                <a:uFillTx/>
                <a:ea typeface="+mn-lt"/>
                <a:sym typeface="+mn-ea"/>
              </a:rPr>
              <a:t>客户端发请求</a:t>
            </a:r>
            <a:endParaRPr kumimoji="0" lang="zh-CN" altLang="en-US" sz="2000" b="1" i="0" u="none" strike="noStrike" kern="1200" cap="none" spc="0" normalizeH="0" baseline="0" noProof="0" dirty="0">
              <a:ln>
                <a:noFill/>
              </a:ln>
              <a:solidFill>
                <a:schemeClr val="bg1"/>
              </a:solidFill>
              <a:effectLst/>
              <a:uLnTx/>
              <a:uFillTx/>
              <a:ea typeface="+mn-lt"/>
              <a:sym typeface="+mn-ea"/>
            </a:endParaRPr>
          </a:p>
        </p:txBody>
      </p:sp>
      <p:sp>
        <p:nvSpPr>
          <p:cNvPr id="51" name="文本框 53">
            <a:extLst>
              <a:ext uri="{FF2B5EF4-FFF2-40B4-BE49-F238E27FC236}">
                <a16:creationId xmlns:a16="http://schemas.microsoft.com/office/drawing/2014/main" id="{78EDF332-03E7-476B-81F4-85D2E535872C}"/>
              </a:ext>
            </a:extLst>
          </p:cNvPr>
          <p:cNvSpPr txBox="1"/>
          <p:nvPr/>
        </p:nvSpPr>
        <p:spPr>
          <a:xfrm>
            <a:off x="4220687" y="2445688"/>
            <a:ext cx="1743710" cy="400110"/>
          </a:xfrm>
          <a:prstGeom prst="rect">
            <a:avLst/>
          </a:prstGeom>
          <a:noFill/>
        </p:spPr>
        <p:txBody>
          <a:bodyPr vert="horz" wrap="square" lIns="91440" tIns="45720" rIns="91440" bIns="4572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508000" rtl="0" eaLnBrk="0" fontAlgn="auto" latinLnBrk="0" hangingPunct="1">
              <a:lnSpc>
                <a:spcPct val="100000"/>
              </a:lnSpc>
              <a:spcBef>
                <a:spcPts val="0"/>
              </a:spcBef>
              <a:spcAft>
                <a:spcPts val="0"/>
              </a:spcAft>
              <a:buClrTx/>
              <a:buSzTx/>
              <a:buFontTx/>
              <a:buNone/>
              <a:defRPr/>
            </a:pPr>
            <a:r>
              <a:rPr lang="zh-CN" altLang="en-US" sz="2000" b="1" noProof="0" dirty="0">
                <a:ln>
                  <a:noFill/>
                </a:ln>
                <a:solidFill>
                  <a:schemeClr val="bg1"/>
                </a:solidFill>
                <a:effectLst/>
                <a:uLnTx/>
                <a:uFillTx/>
                <a:ea typeface="+mn-lt"/>
                <a:sym typeface="+mn-ea"/>
              </a:rPr>
              <a:t>验证身份权限</a:t>
            </a:r>
            <a:endParaRPr kumimoji="0" lang="zh-CN" altLang="en-US" sz="2000" b="1" i="0" u="none" strike="noStrike" kern="1200" cap="none" spc="0" normalizeH="0" baseline="0" noProof="0" dirty="0">
              <a:ln>
                <a:noFill/>
              </a:ln>
              <a:solidFill>
                <a:schemeClr val="bg1"/>
              </a:solidFill>
              <a:effectLst/>
              <a:uLnTx/>
              <a:uFillTx/>
              <a:ea typeface="+mn-lt"/>
              <a:sym typeface="+mn-ea"/>
            </a:endParaRPr>
          </a:p>
        </p:txBody>
      </p:sp>
      <p:sp>
        <p:nvSpPr>
          <p:cNvPr id="52" name="文本框 54">
            <a:extLst>
              <a:ext uri="{FF2B5EF4-FFF2-40B4-BE49-F238E27FC236}">
                <a16:creationId xmlns:a16="http://schemas.microsoft.com/office/drawing/2014/main" id="{1AB64CD7-D1B2-4533-9B52-86C5C80FBDD3}"/>
              </a:ext>
            </a:extLst>
          </p:cNvPr>
          <p:cNvSpPr txBox="1"/>
          <p:nvPr/>
        </p:nvSpPr>
        <p:spPr>
          <a:xfrm>
            <a:off x="6656864" y="4064745"/>
            <a:ext cx="1774825" cy="400110"/>
          </a:xfrm>
          <a:prstGeom prst="rect">
            <a:avLst/>
          </a:prstGeom>
          <a:noFill/>
        </p:spPr>
        <p:txBody>
          <a:bodyPr vert="horz" wrap="square" lIns="91440" tIns="45720" rIns="91440" bIns="4572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auto" latinLnBrk="0" hangingPunct="1">
              <a:lnSpc>
                <a:spcPct val="100000"/>
              </a:lnSpc>
              <a:spcBef>
                <a:spcPts val="0"/>
              </a:spcBef>
              <a:spcAft>
                <a:spcPts val="0"/>
              </a:spcAft>
              <a:buClrTx/>
              <a:buSzTx/>
              <a:buFontTx/>
              <a:buNone/>
              <a:defRPr/>
            </a:pPr>
            <a:r>
              <a:rPr lang="zh-CN" altLang="en-US" sz="2000" b="1" noProof="0" dirty="0">
                <a:ln>
                  <a:noFill/>
                </a:ln>
                <a:solidFill>
                  <a:schemeClr val="bg1"/>
                </a:solidFill>
                <a:effectLst/>
                <a:uLnTx/>
                <a:uFillTx/>
                <a:ea typeface="+mn-lt"/>
                <a:sym typeface="+mn-ea"/>
              </a:rPr>
              <a:t>解析优化查询</a:t>
            </a:r>
            <a:endParaRPr kumimoji="0" lang="ko-KR" altLang="en-US" sz="2000" b="1" i="0" u="none" strike="noStrike" kern="1200" cap="none" spc="0" normalizeH="0" baseline="0" noProof="0" dirty="0">
              <a:ln>
                <a:noFill/>
              </a:ln>
              <a:solidFill>
                <a:schemeClr val="bg1"/>
              </a:solidFill>
              <a:effectLst/>
              <a:uLnTx/>
              <a:uFillTx/>
              <a:ea typeface="微软雅黑" panose="020B0503020204020204" pitchFamily="34" charset="-122"/>
              <a:cs typeface="+mn-cs"/>
            </a:endParaRPr>
          </a:p>
        </p:txBody>
      </p:sp>
      <p:sp>
        <p:nvSpPr>
          <p:cNvPr id="53" name="文本框 55">
            <a:extLst>
              <a:ext uri="{FF2B5EF4-FFF2-40B4-BE49-F238E27FC236}">
                <a16:creationId xmlns:a16="http://schemas.microsoft.com/office/drawing/2014/main" id="{75F5DB2B-B183-4230-9EE0-00EBCF7A9D66}"/>
              </a:ext>
            </a:extLst>
          </p:cNvPr>
          <p:cNvSpPr txBox="1"/>
          <p:nvPr/>
        </p:nvSpPr>
        <p:spPr>
          <a:xfrm>
            <a:off x="9092438" y="2464564"/>
            <a:ext cx="1781810" cy="400110"/>
          </a:xfrm>
          <a:prstGeom prst="rect">
            <a:avLst/>
          </a:prstGeom>
          <a:noFill/>
        </p:spPr>
        <p:txBody>
          <a:bodyPr vert="horz" wrap="square" lIns="91440" tIns="45720" rIns="91440" bIns="4572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508000" rtl="0" eaLnBrk="0" fontAlgn="auto" latinLnBrk="0" hangingPunct="1">
              <a:lnSpc>
                <a:spcPct val="100000"/>
              </a:lnSpc>
              <a:spcBef>
                <a:spcPts val="0"/>
              </a:spcBef>
              <a:spcAft>
                <a:spcPts val="0"/>
              </a:spcAft>
              <a:buClrTx/>
              <a:buSzTx/>
              <a:buFontTx/>
              <a:buNone/>
              <a:defRPr/>
            </a:pPr>
            <a:r>
              <a:rPr lang="zh-CN" altLang="en-US" sz="2000" b="1" noProof="0" dirty="0">
                <a:ln>
                  <a:noFill/>
                </a:ln>
                <a:solidFill>
                  <a:schemeClr val="bg1"/>
                </a:solidFill>
                <a:effectLst/>
                <a:uLnTx/>
                <a:uFillTx/>
                <a:ea typeface="+mn-lt"/>
                <a:sym typeface="+mn-ea"/>
              </a:rPr>
              <a:t>索引定向返回</a:t>
            </a:r>
            <a:endParaRPr kumimoji="0" lang="zh-CN" altLang="en-US" sz="2000" b="1" i="0" u="none" strike="noStrike" kern="1200" cap="none" spc="0" normalizeH="0" baseline="0" noProof="0" dirty="0">
              <a:ln>
                <a:noFill/>
              </a:ln>
              <a:solidFill>
                <a:schemeClr val="bg1"/>
              </a:solidFill>
              <a:effectLst/>
              <a:uLnTx/>
              <a:uFillTx/>
              <a:ea typeface="+mn-lt"/>
              <a:sym typeface="+mn-ea"/>
            </a:endParaRPr>
          </a:p>
        </p:txBody>
      </p:sp>
      <p:sp>
        <p:nvSpPr>
          <p:cNvPr id="54" name="形状 53">
            <a:extLst>
              <a:ext uri="{FF2B5EF4-FFF2-40B4-BE49-F238E27FC236}">
                <a16:creationId xmlns:a16="http://schemas.microsoft.com/office/drawing/2014/main" id="{6A4B555C-CDBE-449E-AA89-5A838FA83BBB}"/>
              </a:ext>
            </a:extLst>
          </p:cNvPr>
          <p:cNvSpPr/>
          <p:nvPr/>
        </p:nvSpPr>
        <p:spPr>
          <a:xfrm>
            <a:off x="7218522" y="2906554"/>
            <a:ext cx="2361565" cy="2361565"/>
          </a:xfrm>
          <a:prstGeom prst="leftCircularArrow">
            <a:avLst>
              <a:gd name="adj1" fmla="val 2872"/>
              <a:gd name="adj2" fmla="val 351158"/>
              <a:gd name="adj3" fmla="val 2126668"/>
              <a:gd name="adj4" fmla="val 9024489"/>
              <a:gd name="adj5" fmla="val 3351"/>
            </a:avLst>
          </a:prstGeom>
          <a:solidFill>
            <a:srgbClr val="0070C0"/>
          </a:solidFill>
          <a:ln w="0">
            <a:solidFill>
              <a:schemeClr val="accent1"/>
            </a:solidFill>
          </a:ln>
        </p:spPr>
        <p:style>
          <a:lnRef idx="2">
            <a:schemeClr val="accent1"/>
          </a:lnRef>
          <a:fillRef idx="0">
            <a:schemeClr val="accent1"/>
          </a:fillRef>
          <a:effectRef idx="1">
            <a:schemeClr val="accent1"/>
          </a:effectRef>
          <a:fontRef idx="minor">
            <a:schemeClr val="tx1"/>
          </a:fontRef>
        </p:style>
        <p:txBody>
          <a:bodyPr vert="horz" wrap="square" lIns="91440" tIns="45720" rIns="91440" bIns="45720" anchor="t">
            <a:noAutofit/>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auto" latinLnBrk="0" hangingPunct="1">
              <a:lnSpc>
                <a:spcPct val="100000"/>
              </a:lnSpc>
              <a:spcBef>
                <a:spcPts val="0"/>
              </a:spcBef>
              <a:spcAft>
                <a:spcPts val="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微软雅黑" panose="020B0503020204020204" pitchFamily="34" charset="-122"/>
              <a:cs typeface="+mn-lt"/>
            </a:endParaRPr>
          </a:p>
        </p:txBody>
      </p:sp>
      <p:sp>
        <p:nvSpPr>
          <p:cNvPr id="55" name="文本框 57">
            <a:extLst>
              <a:ext uri="{FF2B5EF4-FFF2-40B4-BE49-F238E27FC236}">
                <a16:creationId xmlns:a16="http://schemas.microsoft.com/office/drawing/2014/main" id="{681C0754-8973-495B-9C45-60740AD85E06}"/>
              </a:ext>
            </a:extLst>
          </p:cNvPr>
          <p:cNvSpPr txBox="1"/>
          <p:nvPr/>
        </p:nvSpPr>
        <p:spPr>
          <a:xfrm>
            <a:off x="1392052" y="2925738"/>
            <a:ext cx="1894842" cy="786113"/>
          </a:xfrm>
          <a:prstGeom prst="rect">
            <a:avLst/>
          </a:prstGeom>
          <a:noFill/>
          <a:ln w="0">
            <a:noFill/>
          </a:ln>
        </p:spPr>
        <p:txBody>
          <a:bodyPr vert="horz" wrap="square" lIns="89535" tIns="46355" rIns="89535" bIns="46355"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ts val="1800"/>
              </a:lnSpc>
              <a:defRPr/>
            </a:pPr>
            <a:r>
              <a:rPr lang="zh-CN" altLang="en-US" sz="1600" dirty="0">
                <a:solidFill>
                  <a:schemeClr val="tx1">
                    <a:lumMod val="95000"/>
                    <a:lumOff val="5000"/>
                  </a:schemeClr>
                </a:solidFill>
                <a:ea typeface="+mn-lt"/>
                <a:cs typeface="+mn-lt"/>
                <a:sym typeface="+mn-ea"/>
              </a:rPr>
              <a:t>客户端向</a:t>
            </a:r>
            <a:r>
              <a:rPr lang="en-US" altLang="zh-CN" sz="1600" dirty="0">
                <a:solidFill>
                  <a:schemeClr val="tx1">
                    <a:lumMod val="95000"/>
                    <a:lumOff val="5000"/>
                  </a:schemeClr>
                </a:solidFill>
                <a:ea typeface="+mn-lt"/>
                <a:cs typeface="+mn-lt"/>
                <a:sym typeface="+mn-ea"/>
              </a:rPr>
              <a:t>MongoDB</a:t>
            </a:r>
            <a:r>
              <a:rPr lang="zh-CN" altLang="en-US" sz="1600" dirty="0">
                <a:solidFill>
                  <a:schemeClr val="tx1">
                    <a:lumMod val="95000"/>
                    <a:lumOff val="5000"/>
                  </a:schemeClr>
                </a:solidFill>
                <a:ea typeface="+mn-lt"/>
                <a:cs typeface="+mn-lt"/>
                <a:sym typeface="+mn-ea"/>
              </a:rPr>
              <a:t>服务发送</a:t>
            </a:r>
            <a:r>
              <a:rPr lang="zh-CN" altLang="en-US" sz="1600" dirty="0">
                <a:solidFill>
                  <a:srgbClr val="1369B2"/>
                </a:solidFill>
                <a:ea typeface="+mn-lt"/>
                <a:cs typeface="+mn-lt"/>
                <a:sym typeface="+mn-ea"/>
              </a:rPr>
              <a:t>读取操作</a:t>
            </a:r>
            <a:r>
              <a:rPr lang="zh-CN" altLang="en-US" sz="1600" dirty="0">
                <a:solidFill>
                  <a:schemeClr val="tx1">
                    <a:lumMod val="95000"/>
                    <a:lumOff val="5000"/>
                  </a:schemeClr>
                </a:solidFill>
                <a:ea typeface="+mn-lt"/>
                <a:cs typeface="+mn-lt"/>
                <a:sym typeface="+mn-ea"/>
              </a:rPr>
              <a:t>的请求。</a:t>
            </a:r>
            <a:endParaRPr kumimoji="0" lang="en-US" altLang="zh-CN" sz="1600" b="0" i="0" u="none" strike="noStrike" kern="1200" cap="none" spc="0" normalizeH="0" baseline="0" noProof="0" dirty="0">
              <a:ln>
                <a:noFill/>
              </a:ln>
              <a:solidFill>
                <a:prstClr val="black">
                  <a:lumMod val="85000"/>
                  <a:lumOff val="15000"/>
                </a:prstClr>
              </a:solidFill>
              <a:effectLst/>
              <a:uLnTx/>
              <a:uFillTx/>
              <a:ea typeface="方正黑体简体" panose="02010601030101010101" pitchFamily="2" charset="-122"/>
              <a:cs typeface="+mn-lt"/>
            </a:endParaRPr>
          </a:p>
        </p:txBody>
      </p:sp>
      <p:sp>
        <p:nvSpPr>
          <p:cNvPr id="56" name="文本框 58">
            <a:extLst>
              <a:ext uri="{FF2B5EF4-FFF2-40B4-BE49-F238E27FC236}">
                <a16:creationId xmlns:a16="http://schemas.microsoft.com/office/drawing/2014/main" id="{95BAF10E-EE8C-4554-A5C8-A8DBCA9A771C}"/>
              </a:ext>
            </a:extLst>
          </p:cNvPr>
          <p:cNvSpPr txBox="1"/>
          <p:nvPr/>
        </p:nvSpPr>
        <p:spPr>
          <a:xfrm>
            <a:off x="6283165" y="2709714"/>
            <a:ext cx="1894842" cy="1236429"/>
          </a:xfrm>
          <a:prstGeom prst="rect">
            <a:avLst/>
          </a:prstGeom>
          <a:noFill/>
          <a:ln w="0">
            <a:noFill/>
          </a:ln>
        </p:spPr>
        <p:txBody>
          <a:bodyPr vert="horz" wrap="square" lIns="89535" tIns="46355" rIns="89535" bIns="46355"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ts val="1800"/>
              </a:lnSpc>
              <a:defRPr/>
            </a:pPr>
            <a:r>
              <a:rPr lang="en-US" altLang="zh-CN" sz="1600" dirty="0">
                <a:solidFill>
                  <a:schemeClr val="tx1">
                    <a:lumMod val="95000"/>
                    <a:lumOff val="5000"/>
                  </a:schemeClr>
                </a:solidFill>
                <a:ea typeface="+mn-lt"/>
                <a:sym typeface="+mn-ea"/>
              </a:rPr>
              <a:t>MongoDB</a:t>
            </a:r>
            <a:r>
              <a:rPr lang="zh-CN" altLang="en-US" sz="1600" dirty="0">
                <a:solidFill>
                  <a:schemeClr val="tx1">
                    <a:lumMod val="95000"/>
                    <a:lumOff val="5000"/>
                  </a:schemeClr>
                </a:solidFill>
                <a:ea typeface="+mn-lt"/>
                <a:sym typeface="+mn-ea"/>
              </a:rPr>
              <a:t>服务</a:t>
            </a:r>
            <a:r>
              <a:rPr lang="zh-CN" altLang="en-US" sz="1600" dirty="0">
                <a:solidFill>
                  <a:srgbClr val="1369B2"/>
                </a:solidFill>
                <a:ea typeface="+mn-lt"/>
                <a:sym typeface="+mn-ea"/>
              </a:rPr>
              <a:t>解析</a:t>
            </a:r>
            <a:r>
              <a:rPr lang="zh-CN" altLang="en-US" sz="1600" dirty="0">
                <a:solidFill>
                  <a:schemeClr val="tx1">
                    <a:lumMod val="95000"/>
                    <a:lumOff val="5000"/>
                  </a:schemeClr>
                </a:solidFill>
                <a:ea typeface="+mn-lt"/>
                <a:sym typeface="+mn-ea"/>
              </a:rPr>
              <a:t>请求内容，分析查询的具体需求，并利用查询</a:t>
            </a:r>
            <a:r>
              <a:rPr lang="zh-CN" altLang="en-US" sz="1600" dirty="0">
                <a:solidFill>
                  <a:srgbClr val="1369B2"/>
                </a:solidFill>
                <a:ea typeface="+mn-lt"/>
                <a:sym typeface="+mn-ea"/>
              </a:rPr>
              <a:t>优化器选择最佳的执行计划</a:t>
            </a:r>
            <a:r>
              <a:rPr lang="zh-CN" altLang="en-US" sz="1600" dirty="0">
                <a:solidFill>
                  <a:schemeClr val="tx1">
                    <a:lumMod val="95000"/>
                    <a:lumOff val="5000"/>
                  </a:schemeClr>
                </a:solidFill>
                <a:ea typeface="+mn-lt"/>
                <a:sym typeface="+mn-ea"/>
              </a:rPr>
              <a:t>。</a:t>
            </a:r>
            <a:endParaRPr kumimoji="0" lang="zh-CN" altLang="en-US" sz="1600" b="0" i="0" u="none" strike="noStrike" kern="1200" cap="none" spc="0" normalizeH="0" baseline="0" noProof="0" dirty="0">
              <a:ln>
                <a:noFill/>
              </a:ln>
              <a:solidFill>
                <a:schemeClr val="tx1">
                  <a:lumMod val="95000"/>
                  <a:lumOff val="5000"/>
                </a:schemeClr>
              </a:solidFill>
              <a:effectLst/>
              <a:uLnTx/>
              <a:uFillTx/>
              <a:ea typeface="+mn-lt"/>
              <a:sym typeface="+mn-ea"/>
            </a:endParaRPr>
          </a:p>
        </p:txBody>
      </p:sp>
      <p:sp>
        <p:nvSpPr>
          <p:cNvPr id="57" name="文本框 59">
            <a:extLst>
              <a:ext uri="{FF2B5EF4-FFF2-40B4-BE49-F238E27FC236}">
                <a16:creationId xmlns:a16="http://schemas.microsoft.com/office/drawing/2014/main" id="{515C00CF-8E41-46E4-A69C-6FEC4869EED3}"/>
              </a:ext>
            </a:extLst>
          </p:cNvPr>
          <p:cNvSpPr txBox="1"/>
          <p:nvPr/>
        </p:nvSpPr>
        <p:spPr>
          <a:xfrm>
            <a:off x="3868780" y="3028066"/>
            <a:ext cx="1894842" cy="1247777"/>
          </a:xfrm>
          <a:prstGeom prst="rect">
            <a:avLst/>
          </a:prstGeom>
          <a:noFill/>
          <a:ln w="0">
            <a:noFill/>
          </a:ln>
        </p:spPr>
        <p:txBody>
          <a:bodyPr vert="horz" wrap="square" lIns="89535" tIns="46355" rIns="89535" bIns="46355"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ts val="1800"/>
              </a:lnSpc>
              <a:defRPr/>
            </a:pPr>
            <a:r>
              <a:rPr lang="en-US" altLang="zh-CN" sz="1600" dirty="0">
                <a:solidFill>
                  <a:schemeClr val="tx1">
                    <a:lumMod val="95000"/>
                    <a:lumOff val="5000"/>
                  </a:schemeClr>
                </a:solidFill>
                <a:ea typeface="+mn-lt"/>
                <a:sym typeface="+mn-ea"/>
              </a:rPr>
              <a:t>MongoDB</a:t>
            </a:r>
            <a:r>
              <a:rPr lang="zh-CN" altLang="en-US" sz="1600" dirty="0">
                <a:solidFill>
                  <a:schemeClr val="tx1">
                    <a:lumMod val="95000"/>
                    <a:lumOff val="5000"/>
                  </a:schemeClr>
                </a:solidFill>
                <a:ea typeface="+mn-lt"/>
                <a:sym typeface="+mn-ea"/>
              </a:rPr>
              <a:t>服务接收到请求后，验证</a:t>
            </a:r>
            <a:r>
              <a:rPr lang="zh-CN" altLang="en-US" sz="1600" dirty="0">
                <a:solidFill>
                  <a:srgbClr val="1369B2"/>
                </a:solidFill>
                <a:ea typeface="+mn-lt"/>
                <a:sym typeface="+mn-ea"/>
              </a:rPr>
              <a:t>身份</a:t>
            </a:r>
            <a:r>
              <a:rPr lang="zh-CN" altLang="en-US" sz="1600" dirty="0">
                <a:solidFill>
                  <a:schemeClr val="tx1">
                    <a:lumMod val="95000"/>
                    <a:lumOff val="5000"/>
                  </a:schemeClr>
                </a:solidFill>
                <a:ea typeface="+mn-lt"/>
                <a:sym typeface="+mn-ea"/>
              </a:rPr>
              <a:t>和</a:t>
            </a:r>
            <a:r>
              <a:rPr lang="zh-CN" altLang="en-US" sz="1600" dirty="0">
                <a:solidFill>
                  <a:srgbClr val="1369B2"/>
                </a:solidFill>
                <a:ea typeface="+mn-lt"/>
                <a:sym typeface="+mn-ea"/>
              </a:rPr>
              <a:t>权限</a:t>
            </a:r>
            <a:r>
              <a:rPr lang="zh-CN" altLang="en-US" sz="1600" dirty="0">
                <a:solidFill>
                  <a:schemeClr val="tx1">
                    <a:lumMod val="95000"/>
                    <a:lumOff val="5000"/>
                  </a:schemeClr>
                </a:solidFill>
                <a:ea typeface="+mn-lt"/>
                <a:sym typeface="+mn-ea"/>
              </a:rPr>
              <a:t>，确保其有权执行相应的读取操作。</a:t>
            </a:r>
            <a:endParaRPr kumimoji="0" lang="zh-CN" altLang="en-US" sz="1600" b="0" i="0" u="none" strike="noStrike" kern="1200" cap="none" spc="0" normalizeH="0" baseline="0" noProof="0" dirty="0">
              <a:ln>
                <a:noFill/>
              </a:ln>
              <a:solidFill>
                <a:schemeClr val="tx1">
                  <a:lumMod val="95000"/>
                  <a:lumOff val="5000"/>
                </a:schemeClr>
              </a:solidFill>
              <a:effectLst/>
              <a:uLnTx/>
              <a:uFillTx/>
              <a:ea typeface="+mn-lt"/>
              <a:sym typeface="+mn-ea"/>
            </a:endParaRPr>
          </a:p>
        </p:txBody>
      </p:sp>
      <p:sp>
        <p:nvSpPr>
          <p:cNvPr id="58" name="文本框 60">
            <a:extLst>
              <a:ext uri="{FF2B5EF4-FFF2-40B4-BE49-F238E27FC236}">
                <a16:creationId xmlns:a16="http://schemas.microsoft.com/office/drawing/2014/main" id="{D4070E68-DB3F-4340-B8D1-E3C4ACB1BE72}"/>
              </a:ext>
            </a:extLst>
          </p:cNvPr>
          <p:cNvSpPr txBox="1"/>
          <p:nvPr/>
        </p:nvSpPr>
        <p:spPr>
          <a:xfrm>
            <a:off x="8778715" y="3147737"/>
            <a:ext cx="1894842" cy="786113"/>
          </a:xfrm>
          <a:prstGeom prst="rect">
            <a:avLst/>
          </a:prstGeom>
          <a:noFill/>
          <a:ln w="0">
            <a:noFill/>
          </a:ln>
        </p:spPr>
        <p:txBody>
          <a:bodyPr vert="horz" wrap="square" lIns="89535" tIns="46355" rIns="89535" bIns="46355"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ts val="1800"/>
              </a:lnSpc>
              <a:defRPr/>
            </a:pPr>
            <a:r>
              <a:rPr lang="en-US" altLang="zh-CN" sz="1600" dirty="0">
                <a:solidFill>
                  <a:schemeClr val="tx1">
                    <a:lumMod val="95000"/>
                    <a:lumOff val="5000"/>
                  </a:schemeClr>
                </a:solidFill>
                <a:ea typeface="+mn-lt"/>
                <a:sym typeface="+mn-ea"/>
              </a:rPr>
              <a:t>MongoDB</a:t>
            </a:r>
            <a:r>
              <a:rPr lang="zh-CN" altLang="en-US" sz="1600" dirty="0">
                <a:solidFill>
                  <a:schemeClr val="tx1">
                    <a:lumMod val="95000"/>
                    <a:lumOff val="5000"/>
                  </a:schemeClr>
                </a:solidFill>
                <a:ea typeface="+mn-lt"/>
                <a:sym typeface="+mn-ea"/>
              </a:rPr>
              <a:t>服务在查询文档时会考虑文档是否具有</a:t>
            </a:r>
            <a:r>
              <a:rPr lang="zh-CN" altLang="en-US" sz="1600" dirty="0">
                <a:solidFill>
                  <a:srgbClr val="1369B2"/>
                </a:solidFill>
                <a:ea typeface="+mn-lt"/>
                <a:sym typeface="+mn-ea"/>
              </a:rPr>
              <a:t>索引</a:t>
            </a:r>
            <a:r>
              <a:rPr lang="zh-CN" altLang="en-US" sz="1600" dirty="0">
                <a:solidFill>
                  <a:schemeClr val="tx1">
                    <a:lumMod val="95000"/>
                    <a:lumOff val="5000"/>
                  </a:schemeClr>
                </a:solidFill>
                <a:ea typeface="+mn-lt"/>
                <a:sym typeface="+mn-ea"/>
              </a:rPr>
              <a:t>。</a:t>
            </a:r>
            <a:endParaRPr kumimoji="0" lang="zh-CN" altLang="en-US" sz="1600" b="0" i="0" u="none" strike="noStrike" kern="1200" cap="none" spc="0" normalizeH="0" baseline="0" noProof="0" dirty="0">
              <a:ln>
                <a:noFill/>
              </a:ln>
              <a:solidFill>
                <a:schemeClr val="tx1">
                  <a:lumMod val="95000"/>
                  <a:lumOff val="5000"/>
                </a:schemeClr>
              </a:solidFill>
              <a:effectLst/>
              <a:uLnTx/>
              <a:uFillTx/>
              <a:ea typeface="+mn-lt"/>
              <a:sym typeface="+mn-ea"/>
            </a:endParaRPr>
          </a:p>
        </p:txBody>
      </p:sp>
    </p:spTree>
    <p:extLst>
      <p:ext uri="{BB962C8B-B14F-4D97-AF65-F5344CB8AC3E}">
        <p14:creationId xmlns:p14="http://schemas.microsoft.com/office/powerpoint/2010/main" val="18754904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itle 1">
            <a:extLst>
              <a:ext uri="{FF2B5EF4-FFF2-40B4-BE49-F238E27FC236}">
                <a16:creationId xmlns:a16="http://schemas.microsoft.com/office/drawing/2014/main" id="{90EA412F-0EBB-4D37-BC62-D8097DE11635}"/>
              </a:ext>
            </a:extLst>
          </p:cNvPr>
          <p:cNvSpPr txBox="1"/>
          <p:nvPr/>
        </p:nvSpPr>
        <p:spPr>
          <a:xfrm>
            <a:off x="1143690" y="266995"/>
            <a:ext cx="5201283"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  MongoDB</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的读写流程</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4" name="图形 22" descr="讲故事">
            <a:extLst>
              <a:ext uri="{FF2B5EF4-FFF2-40B4-BE49-F238E27FC236}">
                <a16:creationId xmlns:a16="http://schemas.microsoft.com/office/drawing/2014/main" id="{5762E03C-6EC7-4735-BBC7-3EC6C270F3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2638" y="1053530"/>
            <a:ext cx="1016001" cy="1016001"/>
          </a:xfrm>
          <a:prstGeom prst="rect">
            <a:avLst/>
          </a:prstGeom>
        </p:spPr>
      </p:pic>
      <p:sp>
        <p:nvSpPr>
          <p:cNvPr id="25" name="矩形 24">
            <a:extLst>
              <a:ext uri="{FF2B5EF4-FFF2-40B4-BE49-F238E27FC236}">
                <a16:creationId xmlns:a16="http://schemas.microsoft.com/office/drawing/2014/main" id="{42D75227-CAB6-4650-9405-D3E12F4C4FF5}"/>
              </a:ext>
            </a:extLst>
          </p:cNvPr>
          <p:cNvSpPr/>
          <p:nvPr/>
        </p:nvSpPr>
        <p:spPr>
          <a:xfrm>
            <a:off x="2420382" y="1263507"/>
            <a:ext cx="4250888"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a:extLst>
              <a:ext uri="{FF2B5EF4-FFF2-40B4-BE49-F238E27FC236}">
                <a16:creationId xmlns:a16="http://schemas.microsoft.com/office/drawing/2014/main" id="{BFB2FBDB-8FF3-4BC6-A585-8C00F67784F4}"/>
              </a:ext>
            </a:extLst>
          </p:cNvPr>
          <p:cNvSpPr txBox="1"/>
          <p:nvPr/>
        </p:nvSpPr>
        <p:spPr>
          <a:xfrm>
            <a:off x="2530346" y="1362544"/>
            <a:ext cx="4140924"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2400" dirty="0" err="1">
                <a:solidFill>
                  <a:schemeClr val="bg1"/>
                </a:solidFill>
                <a:latin typeface="Arial" panose="020B0604020202020204" pitchFamily="34" charset="0"/>
                <a:ea typeface="思源黑体 CN Regular" panose="020B0500000000000000" pitchFamily="34" charset="-122"/>
                <a:sym typeface="Arial" panose="020B0604020202020204" pitchFamily="34" charset="0"/>
              </a:rPr>
              <a:t>WiredTiger</a:t>
            </a:r>
            <a:r>
              <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内部缓存管理策略</a:t>
            </a:r>
          </a:p>
        </p:txBody>
      </p:sp>
      <p:sp>
        <p:nvSpPr>
          <p:cNvPr id="27" name="矩形 26">
            <a:extLst>
              <a:ext uri="{FF2B5EF4-FFF2-40B4-BE49-F238E27FC236}">
                <a16:creationId xmlns:a16="http://schemas.microsoft.com/office/drawing/2014/main" id="{D4936314-72AC-461D-9AFC-DCC38A1765C1}"/>
              </a:ext>
            </a:extLst>
          </p:cNvPr>
          <p:cNvSpPr/>
          <p:nvPr/>
        </p:nvSpPr>
        <p:spPr>
          <a:xfrm>
            <a:off x="6815286" y="1263507"/>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a:extLst>
              <a:ext uri="{FF2B5EF4-FFF2-40B4-BE49-F238E27FC236}">
                <a16:creationId xmlns:a16="http://schemas.microsoft.com/office/drawing/2014/main" id="{91D0FC48-103D-4EDC-A8DA-F68E3C15E189}"/>
              </a:ext>
            </a:extLst>
          </p:cNvPr>
          <p:cNvSpPr/>
          <p:nvPr/>
        </p:nvSpPr>
        <p:spPr>
          <a:xfrm>
            <a:off x="7003015" y="1263507"/>
            <a:ext cx="8312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a:extLst>
              <a:ext uri="{FF2B5EF4-FFF2-40B4-BE49-F238E27FC236}">
                <a16:creationId xmlns:a16="http://schemas.microsoft.com/office/drawing/2014/main" id="{159C596F-D11E-4309-9A85-F235D1B0814A}"/>
              </a:ext>
            </a:extLst>
          </p:cNvPr>
          <p:cNvSpPr/>
          <p:nvPr/>
        </p:nvSpPr>
        <p:spPr>
          <a:xfrm>
            <a:off x="1054646" y="2248413"/>
            <a:ext cx="10502049" cy="3269613"/>
          </a:xfrm>
          <a:prstGeom prst="rect">
            <a:avLst/>
          </a:prstGeom>
        </p:spPr>
        <p:txBody>
          <a:bodyPr wrap="square">
            <a:spAutoFit/>
          </a:bodyPr>
          <a:lstStyle/>
          <a:p>
            <a:pPr algn="just">
              <a:lnSpc>
                <a:spcPct val="150000"/>
              </a:lnSpc>
            </a:pPr>
            <a:r>
              <a:rPr lang="en-US" altLang="zh-CN" sz="2000" kern="100" dirty="0" err="1">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WiredTiger</a:t>
            </a: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内部缓存采用了一种称为</a:t>
            </a:r>
            <a:r>
              <a:rPr lang="zh-CN" altLang="en-US" sz="20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最近最少使用</a:t>
            </a: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LRU</a:t>
            </a: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Least Recently Used</a:t>
            </a: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）的策略来管理缓存。当缓存满时，</a:t>
            </a:r>
            <a:r>
              <a:rPr lang="en-US" altLang="zh-CN" sz="2000" kern="100" dirty="0" err="1">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WiredTiger</a:t>
            </a: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会根据这些策略将最近最少使用的数据和索引</a:t>
            </a:r>
            <a:r>
              <a:rPr lang="zh-CN" altLang="en-US" sz="20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逐出缓存</a:t>
            </a: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，以腾出空间存储新的数据和索引。在</a:t>
            </a:r>
            <a:r>
              <a:rPr lang="en-US" altLang="zh-CN" sz="2000" kern="100" dirty="0" err="1">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WiredTiger</a:t>
            </a: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内部缓存中，被逐出的数据和索引如果被修改过，则会被</a:t>
            </a:r>
            <a:r>
              <a:rPr lang="zh-CN" altLang="en-US" sz="20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写入磁盘</a:t>
            </a: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以确保持久化存储。反之，如果数据和索引未被修改，则可以直接</a:t>
            </a:r>
            <a:r>
              <a:rPr lang="zh-CN" altLang="en-US" sz="20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丢弃</a:t>
            </a: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而不需要进行额外的存储操作。</a:t>
            </a:r>
          </a:p>
          <a:p>
            <a:pPr algn="just">
              <a:lnSpc>
                <a:spcPct val="150000"/>
              </a:lnSpc>
            </a:pP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默认情况下，</a:t>
            </a:r>
            <a:r>
              <a:rPr lang="en-US" altLang="zh-CN" sz="2000" kern="100" dirty="0" err="1">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WiredTiger</a:t>
            </a: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内部缓存占用内存大小为服务器可用内存</a:t>
            </a:r>
            <a:r>
              <a:rPr lang="zh-CN" altLang="en-US" sz="20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减去 </a:t>
            </a:r>
            <a:r>
              <a:rPr lang="en-US" altLang="zh-CN" sz="20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rPr>
              <a:t>1GB </a:t>
            </a: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后一半的计算结果，若计算结果小于</a:t>
            </a:r>
            <a:r>
              <a:rPr lang="en-US" altLang="zh-CN"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256MB</a:t>
            </a: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，则</a:t>
            </a:r>
            <a:r>
              <a:rPr lang="en-US" altLang="zh-CN" sz="2000" kern="100" dirty="0" err="1">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WiredTiger</a:t>
            </a: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内部缓存占用内存大小</a:t>
            </a:r>
            <a:r>
              <a:rPr lang="en-US" altLang="zh-CN"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256MB</a:t>
            </a:r>
            <a:r>
              <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000" kern="1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7774796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圆角矩形 2">
            <a:extLst>
              <a:ext uri="{FF2B5EF4-FFF2-40B4-BE49-F238E27FC236}">
                <a16:creationId xmlns:a16="http://schemas.microsoft.com/office/drawing/2014/main" id="{74001968-0B50-4F92-A10D-0E7C42088D87}"/>
              </a:ext>
            </a:extLst>
          </p:cNvPr>
          <p:cNvSpPr/>
          <p:nvPr/>
        </p:nvSpPr>
        <p:spPr>
          <a:xfrm>
            <a:off x="1162768" y="1865559"/>
            <a:ext cx="9864878" cy="3488511"/>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endParaRPr lang="zh-CN" altLang="en-US" sz="3200">
              <a:cs typeface="+mn-ea"/>
              <a:sym typeface="+mn-lt"/>
            </a:endParaRPr>
          </a:p>
        </p:txBody>
      </p:sp>
      <p:sp>
        <p:nvSpPr>
          <p:cNvPr id="4" name="TextBox 38">
            <a:extLst>
              <a:ext uri="{FF2B5EF4-FFF2-40B4-BE49-F238E27FC236}">
                <a16:creationId xmlns:a16="http://schemas.microsoft.com/office/drawing/2014/main" id="{0330ADB7-DC0E-4994-84D6-A2F8834CA93E}"/>
              </a:ext>
            </a:extLst>
          </p:cNvPr>
          <p:cNvSpPr txBox="1"/>
          <p:nvPr/>
        </p:nvSpPr>
        <p:spPr>
          <a:xfrm>
            <a:off x="1558594" y="2543996"/>
            <a:ext cx="9109012" cy="2253950"/>
          </a:xfrm>
          <a:prstGeom prst="rect">
            <a:avLst/>
          </a:prstGeom>
          <a:noFill/>
        </p:spPr>
        <p:txBody>
          <a:bodyPr wrap="square" lIns="0" tIns="0" rIns="0" bIns="0" rtlCol="0">
            <a:spAutoFit/>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pPr algn="just">
              <a:lnSpc>
                <a:spcPct val="15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本章主要讲解了</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MongoDB</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的相关知识。首先，介绍了</a:t>
            </a:r>
            <a:r>
              <a:rPr lang="en-US"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MongoDB</a:t>
            </a:r>
            <a:r>
              <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的概念及发展历程</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。接着，介绍了</a:t>
            </a:r>
            <a:r>
              <a:rPr lang="en-US"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MongoDB</a:t>
            </a:r>
            <a:r>
              <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的逻辑结构</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，包括</a:t>
            </a:r>
            <a:r>
              <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数据库</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集合和文档</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。然后，介绍了</a:t>
            </a:r>
            <a:r>
              <a:rPr lang="en-US"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MongoDB</a:t>
            </a:r>
            <a:r>
              <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数据类型和特点</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。最后，介绍了</a:t>
            </a:r>
            <a:r>
              <a:rPr lang="en-US"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MongoDB</a:t>
            </a:r>
            <a:r>
              <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lt"/>
              </a:rPr>
              <a:t>读写流程</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。通过本章的学习，读者能够对</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MongoDB</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有一个初步的认识，为后续深入学习</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MongoDB</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奠定基础。</a:t>
            </a:r>
          </a:p>
        </p:txBody>
      </p:sp>
      <p:sp>
        <p:nvSpPr>
          <p:cNvPr id="5" name="椭圆 4">
            <a:extLst>
              <a:ext uri="{FF2B5EF4-FFF2-40B4-BE49-F238E27FC236}">
                <a16:creationId xmlns:a16="http://schemas.microsoft.com/office/drawing/2014/main" id="{328C8197-40F6-4393-B092-3CB9B72CFAA1}"/>
              </a:ext>
            </a:extLst>
          </p:cNvPr>
          <p:cNvSpPr/>
          <p:nvPr/>
        </p:nvSpPr>
        <p:spPr>
          <a:xfrm>
            <a:off x="4384123" y="150551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algn="ctr"/>
            <a:r>
              <a:rPr lang="zh-CN" altLang="en-US" sz="2800">
                <a:latin typeface="微软雅黑" panose="020B0503020204020204" pitchFamily="34" charset="-122"/>
                <a:ea typeface="微软雅黑" panose="020B0503020204020204" pitchFamily="34" charset="-122"/>
              </a:rPr>
              <a:t>本</a:t>
            </a:r>
          </a:p>
        </p:txBody>
      </p:sp>
      <p:sp>
        <p:nvSpPr>
          <p:cNvPr id="6" name="椭圆 5">
            <a:extLst>
              <a:ext uri="{FF2B5EF4-FFF2-40B4-BE49-F238E27FC236}">
                <a16:creationId xmlns:a16="http://schemas.microsoft.com/office/drawing/2014/main" id="{6CF0AF9C-7B58-4CBA-82B1-2299D84B64DC}"/>
              </a:ext>
            </a:extLst>
          </p:cNvPr>
          <p:cNvSpPr/>
          <p:nvPr/>
        </p:nvSpPr>
        <p:spPr>
          <a:xfrm>
            <a:off x="5102943" y="150551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lvl="0" algn="ctr"/>
            <a:r>
              <a:rPr lang="zh-CN" altLang="en-US" sz="2800" dirty="0">
                <a:latin typeface="微软雅黑" panose="020B0503020204020204" pitchFamily="34" charset="-122"/>
                <a:ea typeface="微软雅黑" panose="020B0503020204020204" pitchFamily="34" charset="-122"/>
                <a:sym typeface="+mn-ea"/>
              </a:rPr>
              <a:t>章</a:t>
            </a:r>
          </a:p>
        </p:txBody>
      </p:sp>
      <p:sp>
        <p:nvSpPr>
          <p:cNvPr id="7" name="椭圆 6">
            <a:extLst>
              <a:ext uri="{FF2B5EF4-FFF2-40B4-BE49-F238E27FC236}">
                <a16:creationId xmlns:a16="http://schemas.microsoft.com/office/drawing/2014/main" id="{FAFDF729-AA92-4F00-B83C-BE1ACBA2868B}"/>
              </a:ext>
            </a:extLst>
          </p:cNvPr>
          <p:cNvSpPr/>
          <p:nvPr/>
        </p:nvSpPr>
        <p:spPr>
          <a:xfrm>
            <a:off x="5821763" y="150551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lvl="0" algn="ctr"/>
            <a:r>
              <a:rPr lang="zh-CN" altLang="en-US" sz="2800">
                <a:latin typeface="微软雅黑" panose="020B0503020204020204" pitchFamily="34" charset="-122"/>
                <a:ea typeface="微软雅黑" panose="020B0503020204020204" pitchFamily="34" charset="-122"/>
                <a:sym typeface="+mn-ea"/>
              </a:rPr>
              <a:t>小</a:t>
            </a:r>
          </a:p>
        </p:txBody>
      </p:sp>
      <p:sp>
        <p:nvSpPr>
          <p:cNvPr id="8" name="椭圆 7">
            <a:extLst>
              <a:ext uri="{FF2B5EF4-FFF2-40B4-BE49-F238E27FC236}">
                <a16:creationId xmlns:a16="http://schemas.microsoft.com/office/drawing/2014/main" id="{472AFB70-94CA-4F19-A67C-F6205D153955}"/>
              </a:ext>
            </a:extLst>
          </p:cNvPr>
          <p:cNvSpPr/>
          <p:nvPr/>
        </p:nvSpPr>
        <p:spPr>
          <a:xfrm>
            <a:off x="6540583" y="150551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200" algn="l" defTabSz="1219200" rtl="0" eaLnBrk="1" latinLnBrk="0" hangingPunct="1">
              <a:defRPr sz="2400" kern="1200">
                <a:solidFill>
                  <a:schemeClr val="lt1"/>
                </a:solidFill>
                <a:latin typeface="+mn-lt"/>
                <a:ea typeface="+mn-ea"/>
                <a:cs typeface="+mn-cs"/>
              </a:defRPr>
            </a:lvl3pPr>
            <a:lvl4pPr marL="1828800" algn="l" defTabSz="1219200" rtl="0" eaLnBrk="1" latinLnBrk="0" hangingPunct="1">
              <a:defRPr sz="2400" kern="1200">
                <a:solidFill>
                  <a:schemeClr val="lt1"/>
                </a:solidFill>
                <a:latin typeface="+mn-lt"/>
                <a:ea typeface="+mn-ea"/>
                <a:cs typeface="+mn-cs"/>
              </a:defRPr>
            </a:lvl4pPr>
            <a:lvl5pPr marL="2438400" algn="l" defTabSz="1219200" rtl="0" eaLnBrk="1" latinLnBrk="0" hangingPunct="1">
              <a:defRPr sz="2400" kern="1200">
                <a:solidFill>
                  <a:schemeClr val="lt1"/>
                </a:solidFill>
                <a:latin typeface="+mn-lt"/>
                <a:ea typeface="+mn-ea"/>
                <a:cs typeface="+mn-cs"/>
              </a:defRPr>
            </a:lvl5pPr>
            <a:lvl6pPr marL="3048000" algn="l" defTabSz="1219200" rtl="0" eaLnBrk="1" latinLnBrk="0" hangingPunct="1">
              <a:defRPr sz="2400" kern="1200">
                <a:solidFill>
                  <a:schemeClr val="lt1"/>
                </a:solidFill>
                <a:latin typeface="+mn-lt"/>
                <a:ea typeface="+mn-ea"/>
                <a:cs typeface="+mn-cs"/>
              </a:defRPr>
            </a:lvl6pPr>
            <a:lvl7pPr marL="3657600" algn="l" defTabSz="1219200" rtl="0" eaLnBrk="1" latinLnBrk="0" hangingPunct="1">
              <a:defRPr sz="2400" kern="1200">
                <a:solidFill>
                  <a:schemeClr val="lt1"/>
                </a:solidFill>
                <a:latin typeface="+mn-lt"/>
                <a:ea typeface="+mn-ea"/>
                <a:cs typeface="+mn-cs"/>
              </a:defRPr>
            </a:lvl7pPr>
            <a:lvl8pPr marL="4267200" algn="l" defTabSz="1219200" rtl="0" eaLnBrk="1" latinLnBrk="0" hangingPunct="1">
              <a:defRPr sz="2400" kern="1200">
                <a:solidFill>
                  <a:schemeClr val="lt1"/>
                </a:solidFill>
                <a:latin typeface="+mn-lt"/>
                <a:ea typeface="+mn-ea"/>
                <a:cs typeface="+mn-cs"/>
              </a:defRPr>
            </a:lvl8pPr>
            <a:lvl9pPr marL="4876800" algn="l" defTabSz="1219200" rtl="0" eaLnBrk="1" latinLnBrk="0" hangingPunct="1">
              <a:defRPr sz="2400" kern="1200">
                <a:solidFill>
                  <a:schemeClr val="lt1"/>
                </a:solidFill>
                <a:latin typeface="+mn-lt"/>
                <a:ea typeface="+mn-ea"/>
                <a:cs typeface="+mn-cs"/>
              </a:defRPr>
            </a:lvl9pPr>
          </a:lstStyle>
          <a:p>
            <a:pPr lvl="0" algn="ctr"/>
            <a:r>
              <a:rPr lang="zh-CN" altLang="en-US" sz="2800">
                <a:latin typeface="微软雅黑" panose="020B0503020204020204" pitchFamily="34" charset="-122"/>
                <a:ea typeface="微软雅黑" panose="020B0503020204020204" pitchFamily="34" charset="-122"/>
                <a:sym typeface="+mn-ea"/>
              </a:rPr>
              <a:t>结</a:t>
            </a: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3f15e6573a385e41c33bb97e7105a62faa5c484"/>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2949</TotalTime>
  <Words>2502</Words>
  <Application>Microsoft Office PowerPoint</Application>
  <PresentationFormat>自定义</PresentationFormat>
  <Paragraphs>252</Paragraphs>
  <Slides>31</Slides>
  <Notes>31</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31</vt:i4>
      </vt:variant>
    </vt:vector>
  </HeadingPairs>
  <TitlesOfParts>
    <vt:vector size="47" baseType="lpstr">
      <vt:lpstr>±¼¸²</vt:lpstr>
      <vt:lpstr>Source Han Sans K Bold</vt:lpstr>
      <vt:lpstr>方正黑体简体</vt:lpstr>
      <vt:lpstr>思源黑体 CN Medium</vt:lpstr>
      <vt:lpstr>思源黑体 CN Regular</vt:lpstr>
      <vt:lpstr>宋体</vt:lpstr>
      <vt:lpstr>微软雅黑</vt:lpstr>
      <vt:lpstr>字魂105号-简雅黑</vt:lpstr>
      <vt:lpstr>字魂58号-创中黑</vt:lpstr>
      <vt:lpstr>Arial</vt:lpstr>
      <vt:lpstr>Calibri</vt:lpstr>
      <vt:lpstr>Courier New</vt:lpstr>
      <vt:lpstr>Times New Roman</vt:lpstr>
      <vt:lpstr>Wingdings</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lidan</cp:lastModifiedBy>
  <cp:revision>520</cp:revision>
  <dcterms:created xsi:type="dcterms:W3CDTF">2020-11-11T09:29:40Z</dcterms:created>
  <dcterms:modified xsi:type="dcterms:W3CDTF">2025-07-16T03:01:47Z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ies>
</file>