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39"/>
  </p:handoutMasterIdLst>
  <p:sldIdLst>
    <p:sldId id="325" r:id="rId4"/>
    <p:sldId id="385" r:id="rId6"/>
    <p:sldId id="386" r:id="rId7"/>
    <p:sldId id="328" r:id="rId8"/>
    <p:sldId id="327" r:id="rId9"/>
    <p:sldId id="387" r:id="rId10"/>
    <p:sldId id="309" r:id="rId11"/>
    <p:sldId id="259" r:id="rId12"/>
    <p:sldId id="849" r:id="rId13"/>
    <p:sldId id="848" r:id="rId14"/>
    <p:sldId id="824" r:id="rId15"/>
    <p:sldId id="767" r:id="rId16"/>
    <p:sldId id="994" r:id="rId17"/>
    <p:sldId id="850" r:id="rId18"/>
    <p:sldId id="851" r:id="rId19"/>
    <p:sldId id="853" r:id="rId20"/>
    <p:sldId id="854" r:id="rId21"/>
    <p:sldId id="995" r:id="rId22"/>
    <p:sldId id="855" r:id="rId23"/>
    <p:sldId id="856" r:id="rId24"/>
    <p:sldId id="857" r:id="rId25"/>
    <p:sldId id="769" r:id="rId26"/>
    <p:sldId id="858" r:id="rId27"/>
    <p:sldId id="859" r:id="rId28"/>
    <p:sldId id="860" r:id="rId29"/>
    <p:sldId id="861" r:id="rId30"/>
    <p:sldId id="862" r:id="rId31"/>
    <p:sldId id="863" r:id="rId32"/>
    <p:sldId id="864" r:id="rId33"/>
    <p:sldId id="865" r:id="rId34"/>
    <p:sldId id="866" r:id="rId35"/>
    <p:sldId id="867" r:id="rId36"/>
    <p:sldId id="868" r:id="rId37"/>
    <p:sldId id="996" r:id="rId38"/>
    <p:sldId id="869" r:id="rId39"/>
    <p:sldId id="913" r:id="rId40"/>
    <p:sldId id="914" r:id="rId41"/>
    <p:sldId id="915" r:id="rId42"/>
    <p:sldId id="916" r:id="rId43"/>
    <p:sldId id="917" r:id="rId44"/>
    <p:sldId id="918" r:id="rId45"/>
    <p:sldId id="1016" r:id="rId46"/>
    <p:sldId id="919" r:id="rId47"/>
    <p:sldId id="920" r:id="rId48"/>
    <p:sldId id="921" r:id="rId49"/>
    <p:sldId id="922" r:id="rId50"/>
    <p:sldId id="923" r:id="rId51"/>
    <p:sldId id="997" r:id="rId52"/>
    <p:sldId id="924" r:id="rId53"/>
    <p:sldId id="925" r:id="rId54"/>
    <p:sldId id="926" r:id="rId55"/>
    <p:sldId id="927" r:id="rId56"/>
    <p:sldId id="929" r:id="rId57"/>
    <p:sldId id="930" r:id="rId58"/>
    <p:sldId id="931" r:id="rId59"/>
    <p:sldId id="932" r:id="rId60"/>
    <p:sldId id="934" r:id="rId61"/>
    <p:sldId id="933" r:id="rId62"/>
    <p:sldId id="935" r:id="rId63"/>
    <p:sldId id="936" r:id="rId64"/>
    <p:sldId id="937" r:id="rId65"/>
    <p:sldId id="938" r:id="rId66"/>
    <p:sldId id="939" r:id="rId67"/>
    <p:sldId id="940" r:id="rId68"/>
    <p:sldId id="941" r:id="rId69"/>
    <p:sldId id="942" r:id="rId70"/>
    <p:sldId id="943" r:id="rId71"/>
    <p:sldId id="944" r:id="rId72"/>
    <p:sldId id="946" r:id="rId73"/>
    <p:sldId id="945" r:id="rId74"/>
    <p:sldId id="947" r:id="rId75"/>
    <p:sldId id="948" r:id="rId76"/>
    <p:sldId id="949" r:id="rId77"/>
    <p:sldId id="950" r:id="rId78"/>
    <p:sldId id="951" r:id="rId79"/>
    <p:sldId id="952" r:id="rId80"/>
    <p:sldId id="953" r:id="rId81"/>
    <p:sldId id="954" r:id="rId82"/>
    <p:sldId id="955" r:id="rId83"/>
    <p:sldId id="956" r:id="rId84"/>
    <p:sldId id="957" r:id="rId85"/>
    <p:sldId id="958" r:id="rId86"/>
    <p:sldId id="959" r:id="rId87"/>
    <p:sldId id="960" r:id="rId88"/>
    <p:sldId id="961" r:id="rId89"/>
    <p:sldId id="962" r:id="rId90"/>
    <p:sldId id="965" r:id="rId91"/>
    <p:sldId id="964" r:id="rId92"/>
    <p:sldId id="967" r:id="rId93"/>
    <p:sldId id="968" r:id="rId94"/>
    <p:sldId id="969" r:id="rId95"/>
    <p:sldId id="970" r:id="rId96"/>
    <p:sldId id="971" r:id="rId97"/>
    <p:sldId id="972" r:id="rId98"/>
    <p:sldId id="973" r:id="rId99"/>
    <p:sldId id="974" r:id="rId100"/>
    <p:sldId id="975" r:id="rId101"/>
    <p:sldId id="976" r:id="rId102"/>
    <p:sldId id="977" r:id="rId103"/>
    <p:sldId id="978" r:id="rId104"/>
    <p:sldId id="979" r:id="rId105"/>
    <p:sldId id="980" r:id="rId106"/>
    <p:sldId id="981" r:id="rId107"/>
    <p:sldId id="982" r:id="rId108"/>
    <p:sldId id="983" r:id="rId109"/>
    <p:sldId id="984" r:id="rId110"/>
    <p:sldId id="985" r:id="rId111"/>
    <p:sldId id="986" r:id="rId112"/>
    <p:sldId id="987" r:id="rId113"/>
    <p:sldId id="988" r:id="rId114"/>
    <p:sldId id="989" r:id="rId115"/>
    <p:sldId id="990" r:id="rId116"/>
    <p:sldId id="991" r:id="rId117"/>
    <p:sldId id="992" r:id="rId118"/>
    <p:sldId id="993" r:id="rId119"/>
    <p:sldId id="998" r:id="rId120"/>
    <p:sldId id="1000" r:id="rId121"/>
    <p:sldId id="999" r:id="rId122"/>
    <p:sldId id="1002" r:id="rId123"/>
    <p:sldId id="1003" r:id="rId124"/>
    <p:sldId id="1004" r:id="rId125"/>
    <p:sldId id="1005" r:id="rId126"/>
    <p:sldId id="1006" r:id="rId127"/>
    <p:sldId id="1007" r:id="rId128"/>
    <p:sldId id="1008" r:id="rId129"/>
    <p:sldId id="1009" r:id="rId130"/>
    <p:sldId id="1010" r:id="rId131"/>
    <p:sldId id="1011" r:id="rId132"/>
    <p:sldId id="1012" r:id="rId133"/>
    <p:sldId id="1014" r:id="rId134"/>
    <p:sldId id="1013" r:id="rId135"/>
    <p:sldId id="1015" r:id="rId136"/>
    <p:sldId id="338" r:id="rId137"/>
    <p:sldId id="326" r:id="rId138"/>
  </p:sldIdLst>
  <p:sldSz cx="12190095" cy="6859270"/>
  <p:notesSz cx="6858000" cy="9144000"/>
  <p:custDataLst>
    <p:tags r:id="rId143"/>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256" userDrawn="1">
          <p15:clr>
            <a:srgbClr val="A4A3A4"/>
          </p15:clr>
        </p15:guide>
        <p15:guide id="3" pos="65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AFAFA"/>
    <a:srgbClr val="F2F2F2"/>
    <a:srgbClr val="006BBC"/>
    <a:srgbClr val="0075CC"/>
    <a:srgbClr val="008DF6"/>
    <a:srgbClr val="005DA2"/>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1" autoAdjust="0"/>
    <p:restoredTop sz="94660" autoAdjust="0"/>
  </p:normalViewPr>
  <p:slideViewPr>
    <p:cSldViewPr showGuides="1">
      <p:cViewPr varScale="1">
        <p:scale>
          <a:sx n="87" d="100"/>
          <a:sy n="87" d="100"/>
        </p:scale>
        <p:origin x="552" y="82"/>
      </p:cViewPr>
      <p:guideLst>
        <p:guide orient="horz" pos="2150"/>
        <p:guide pos="256"/>
        <p:guide pos="656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66"/>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3" Type="http://schemas.openxmlformats.org/officeDocument/2006/relationships/tags" Target="tags/tag49.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0.xml"/><Relationship Id="rId139" Type="http://schemas.openxmlformats.org/officeDocument/2006/relationships/handoutMaster" Target="handoutMasters/handoutMaster1.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advClick="0"/>
    </mc:Choice>
    <mc:Fallback>
      <p:transition advClick="0"/>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p14:dur="10" advClick="0"/>
    </mc:Choice>
    <mc:Fallback>
      <p:transition advClick="0"/>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5.xml"/><Relationship Id="rId2" Type="http://schemas.openxmlformats.org/officeDocument/2006/relationships/tags" Target="../tags/tag2.xml"/><Relationship Id="rId19" Type="http://schemas.openxmlformats.org/officeDocument/2006/relationships/slideLayout" Target="../slideLayouts/slideLayout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0" Type="http://schemas.openxmlformats.org/officeDocument/2006/relationships/notesSlide" Target="../notesSlides/notesSlide6.xml"/><Relationship Id="rId2" Type="http://schemas.openxmlformats.org/officeDocument/2006/relationships/tags" Target="../tags/tag20.xml"/><Relationship Id="rId19" Type="http://schemas.openxmlformats.org/officeDocument/2006/relationships/slideLayout" Target="../slideLayouts/slideLayout19.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3" Type="http://schemas.openxmlformats.org/officeDocument/2006/relationships/slideLayout" Target="../slideLayouts/slideLayout10.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8.sv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5.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0.xml"/><Relationship Id="rId4" Type="http://schemas.openxmlformats.org/officeDocument/2006/relationships/image" Target="../media/image19.wmf"/><Relationship Id="rId3" Type="http://schemas.openxmlformats.org/officeDocument/2006/relationships/oleObject" Target="../embeddings/oleObject1.bin"/><Relationship Id="rId2" Type="http://schemas.openxmlformats.org/officeDocument/2006/relationships/image" Target="../media/image18.svg"/><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image" Target="../media/image8.svg"/><Relationship Id="rId1" Type="http://schemas.openxmlformats.org/officeDocument/2006/relationships/image" Target="../media/image7.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image" Target="../media/image8.svg"/><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image" Target="../media/image8.svg"/><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0.xml"/><Relationship Id="rId2" Type="http://schemas.openxmlformats.org/officeDocument/2006/relationships/image" Target="../media/image21.jpeg"/><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image" Target="../media/image23.jpeg"/><Relationship Id="rId1" Type="http://schemas.openxmlformats.org/officeDocument/2006/relationships/image" Target="../media/image22.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image" Target="../media/image24.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image" Target="../media/image25.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9.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0.jpe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1.jpe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2.jpe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3.jpe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5.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6.jpe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7.jpe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8.jpe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350790" y="2670805"/>
            <a:ext cx="7706107" cy="829945"/>
          </a:xfrm>
          <a:prstGeom prst="rect">
            <a:avLst/>
          </a:prstGeom>
          <a:noFill/>
        </p:spPr>
        <p:txBody>
          <a:bodyPr wrap="square" rtlCol="0">
            <a:spAutoFit/>
          </a:bodyPr>
          <a:lstStyle/>
          <a:p>
            <a:pPr algn="ctr"/>
            <a:r>
              <a:rPr lang="zh-CN" altLang="en-US"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4</a:t>
            </a:r>
            <a:r>
              <a:rPr lang="zh-CN" altLang="en-US"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MongoDB</a:t>
            </a:r>
            <a:r>
              <a:rPr lang="zh-CN" altLang="en-US"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副本集</a:t>
            </a:r>
            <a:endParaRPr lang="zh-CN" altLang="en-US"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68" name="Rectangle 4"/>
          <p:cNvSpPr txBox="1">
            <a:spLocks noChangeArrowheads="1"/>
          </p:cNvSpPr>
          <p:nvPr/>
        </p:nvSpPr>
        <p:spPr>
          <a:xfrm>
            <a:off x="4943078" y="3861589"/>
            <a:ext cx="4969803" cy="430312"/>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《NoSQL</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数据库技术与应用</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198662" y="2277666"/>
            <a:ext cx="8856984" cy="688075"/>
            <a:chOff x="978872" y="1800500"/>
            <a:chExt cx="6967680" cy="515937"/>
          </a:xfrm>
        </p:grpSpPr>
        <p:sp>
          <p:nvSpPr>
            <p:cNvPr id="81" name="Pentagon 3"/>
            <p:cNvSpPr/>
            <p:nvPr/>
          </p:nvSpPr>
          <p:spPr bwMode="auto">
            <a:xfrm>
              <a:off x="978872" y="1800500"/>
              <a:ext cx="6967680"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熟悉副本集概述，能够描述</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副本集架构</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的核心概念</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198662" y="3454325"/>
            <a:ext cx="8856984"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了解选举机制，能够说出</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选举机制</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的实现过程及其触发条件</a:t>
              </a:r>
              <a:endParaRPr lang="en-GB"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1198662" y="4685933"/>
            <a:ext cx="8856984" cy="688077"/>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掌握部署副本集，能够在</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Linux</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操作系统部署</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三节点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的副本集</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198662" y="2277666"/>
            <a:ext cx="8856984" cy="688075"/>
            <a:chOff x="978872" y="1800500"/>
            <a:chExt cx="6967680" cy="515937"/>
          </a:xfrm>
        </p:grpSpPr>
        <p:sp>
          <p:nvSpPr>
            <p:cNvPr id="81" name="Pentagon 3"/>
            <p:cNvSpPr/>
            <p:nvPr/>
          </p:nvSpPr>
          <p:spPr bwMode="auto">
            <a:xfrm>
              <a:off x="978872" y="1800500"/>
              <a:ext cx="6967680"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掌握初始化副本集，能够在初始化副本集时</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配置各节点</a:t>
              </a:r>
              <a:endParaRPr lang="en-GB"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198662" y="3454325"/>
            <a:ext cx="8856984"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熟悉副本集操作，能够使用客户端连接副本集并进行</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管理</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修改节点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的操作</a:t>
              </a:r>
              <a:endParaRPr lang="en-GB"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1198662" y="4685933"/>
            <a:ext cx="8856984" cy="688077"/>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熟悉访问控制，能够采用身份验证方法</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Keyfiles</a:t>
              </a:r>
              <a:r>
                <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启用副本集</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的访问控制</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1714674"/>
            <a:ext cx="10151132"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单机模式部署的</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存在一个较为明显的弊端，那就是当发生硬件故障或其他意外情况，导致</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服务被关闭时，用户将无法与</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进行交互。这可能导致业务中断，甚至造成无法挽回的数据丢失，这在生产环境中是绝对不允许发生的。因此，为了保障数据的可用性，</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提供了一种</a:t>
            </a:r>
            <a:r>
              <a:rPr lang="zh-CN" altLang="en-US" sz="2000" dirty="0">
                <a:solidFill>
                  <a:schemeClr val="accent1"/>
                </a:solidFill>
                <a:latin typeface="微软雅黑" panose="020B0503020204020204" pitchFamily="34" charset="-122"/>
                <a:ea typeface="微软雅黑" panose="020B0503020204020204" pitchFamily="34" charset="-122"/>
              </a:rPr>
              <a:t>分布式架构</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rPr>
              <a:t>副本集</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Replica Set</a:t>
            </a:r>
            <a:r>
              <a:rPr lang="zh-CN" altLang="en-US" sz="2000" dirty="0">
                <a:solidFill>
                  <a:srgbClr val="595959"/>
                </a:solidFill>
                <a:latin typeface="微软雅黑" panose="020B0503020204020204" pitchFamily="34" charset="-122"/>
                <a:ea typeface="微软雅黑" panose="020B0503020204020204" pitchFamily="34" charset="-122"/>
              </a:rPr>
              <a:t>）。本章将对副本集的概念和部署方式进行详细讲解</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4" name="Picture 4" descr="https://timgsa.baidu.com/timg?image&amp;quality=80&amp;size=b9999_10000&amp;sec=1553764787053&amp;di=63201b69439172d2f26edff5c9a921d9&amp;imgtype=0&amp;src=http%3A%2F%2Fscimg.jb51.net%2Fallimg%2F150701%2F14-150F11I343I7.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479582" y="4149874"/>
            <a:ext cx="1904365" cy="2419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custDataLst>
              <p:tags r:id="rId1"/>
            </p:custDataLst>
          </p:nvPr>
        </p:nvGrpSpPr>
        <p:grpSpPr>
          <a:xfrm>
            <a:off x="3119265" y="2188429"/>
            <a:ext cx="1192190" cy="613062"/>
            <a:chOff x="2215144" y="982844"/>
            <a:chExt cx="1244730" cy="842780"/>
          </a:xfrm>
        </p:grpSpPr>
        <p:sp>
          <p:nvSpPr>
            <p:cNvPr id="46" name="平行四边形 45"/>
            <p:cNvSpPr/>
            <p:nvPr>
              <p:custDataLst>
                <p:tags r:id="rId2"/>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custDataLst>
                <p:tags r:id="rId3"/>
              </p:custDataLst>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custDataLst>
              <p:tags r:id="rId4"/>
            </p:custDataLst>
          </p:nvPr>
        </p:nvGrpSpPr>
        <p:grpSpPr>
          <a:xfrm>
            <a:off x="3119265" y="3396859"/>
            <a:ext cx="1192190" cy="618406"/>
            <a:chOff x="2215144" y="2026500"/>
            <a:chExt cx="1244730" cy="850129"/>
          </a:xfrm>
        </p:grpSpPr>
        <p:sp>
          <p:nvSpPr>
            <p:cNvPr id="49" name="平行四边形 48"/>
            <p:cNvSpPr/>
            <p:nvPr>
              <p:custDataLst>
                <p:tags r:id="rId5"/>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custDataLst>
                <p:tags r:id="rId6"/>
              </p:custDataLst>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custDataLst>
              <p:tags r:id="rId7"/>
            </p:custDataLst>
          </p:nvPr>
        </p:nvGrpSpPr>
        <p:grpSpPr>
          <a:xfrm>
            <a:off x="3119265" y="4615469"/>
            <a:ext cx="1192190" cy="614525"/>
            <a:chOff x="2215144" y="3084852"/>
            <a:chExt cx="1244730" cy="844793"/>
          </a:xfrm>
        </p:grpSpPr>
        <p:sp>
          <p:nvSpPr>
            <p:cNvPr id="52" name="平行四边形 51"/>
            <p:cNvSpPr/>
            <p:nvPr>
              <p:custDataLst>
                <p:tags r:id="rId8"/>
              </p:custDataLst>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custDataLst>
                <p:tags r:id="rId9"/>
              </p:custDataLst>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custDataLst>
              <p:tags r:id="rId10"/>
            </p:custDataLst>
          </p:nvPr>
        </p:nvGrpSpPr>
        <p:grpSpPr>
          <a:xfrm>
            <a:off x="4024817" y="2166250"/>
            <a:ext cx="5142331" cy="613062"/>
            <a:chOff x="4315150" y="953426"/>
            <a:chExt cx="3857250" cy="540057"/>
          </a:xfrm>
        </p:grpSpPr>
        <p:sp>
          <p:nvSpPr>
            <p:cNvPr id="61" name="矩形 60"/>
            <p:cNvSpPr/>
            <p:nvPr>
              <p:custDataLst>
                <p:tags r:id="rId11"/>
              </p:custDataLst>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副本集概述</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custDataLst>
                <p:tags r:id="rId12"/>
              </p:custDataLst>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custDataLst>
              <p:tags r:id="rId13"/>
            </p:custDataLst>
          </p:nvPr>
        </p:nvGrpSpPr>
        <p:grpSpPr>
          <a:xfrm>
            <a:off x="4024817" y="3380033"/>
            <a:ext cx="5142331" cy="613062"/>
            <a:chOff x="4315150" y="1647579"/>
            <a:chExt cx="3857250" cy="540057"/>
          </a:xfrm>
        </p:grpSpPr>
        <p:sp>
          <p:nvSpPr>
            <p:cNvPr id="64" name="矩形 63"/>
            <p:cNvSpPr/>
            <p:nvPr>
              <p:custDataLst>
                <p:tags r:id="rId14"/>
              </p:custDataLst>
            </p:nvPr>
          </p:nvSpPr>
          <p:spPr>
            <a:xfrm>
              <a:off x="4841196" y="1730243"/>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选举机制</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custDataLst>
                <p:tags r:id="rId15"/>
              </p:custDataLst>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16"/>
            </p:custDataLst>
          </p:nvPr>
        </p:nvGrpSpPr>
        <p:grpSpPr>
          <a:xfrm>
            <a:off x="4024817" y="4593816"/>
            <a:ext cx="5142331" cy="613062"/>
            <a:chOff x="4315150" y="2341731"/>
            <a:chExt cx="3857250" cy="540057"/>
          </a:xfrm>
        </p:grpSpPr>
        <p:sp>
          <p:nvSpPr>
            <p:cNvPr id="67" name="矩形 66"/>
            <p:cNvSpPr/>
            <p:nvPr>
              <p:custDataLst>
                <p:tags r:id="rId17"/>
              </p:custDataLst>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部署副本集</a:t>
              </a:r>
              <a:endParaRPr lang="en-GB"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custDataLst>
                <p:tags r:id="rId18"/>
              </p:custDataLst>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custDataLst>
              <p:tags r:id="rId1"/>
            </p:custDataLst>
          </p:nvPr>
        </p:nvGrpSpPr>
        <p:grpSpPr>
          <a:xfrm>
            <a:off x="3119265" y="2188429"/>
            <a:ext cx="1192190" cy="613062"/>
            <a:chOff x="2215144" y="982844"/>
            <a:chExt cx="1244730" cy="842780"/>
          </a:xfrm>
        </p:grpSpPr>
        <p:sp>
          <p:nvSpPr>
            <p:cNvPr id="46" name="平行四边形 45"/>
            <p:cNvSpPr/>
            <p:nvPr>
              <p:custDataLst>
                <p:tags r:id="rId2"/>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custDataLst>
                <p:tags r:id="rId3"/>
              </p:custDataLst>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custDataLst>
              <p:tags r:id="rId4"/>
            </p:custDataLst>
          </p:nvPr>
        </p:nvGrpSpPr>
        <p:grpSpPr>
          <a:xfrm>
            <a:off x="3119265" y="3396859"/>
            <a:ext cx="1192190" cy="618406"/>
            <a:chOff x="2215144" y="2026500"/>
            <a:chExt cx="1244730" cy="850129"/>
          </a:xfrm>
        </p:grpSpPr>
        <p:sp>
          <p:nvSpPr>
            <p:cNvPr id="49" name="平行四边形 48"/>
            <p:cNvSpPr/>
            <p:nvPr>
              <p:custDataLst>
                <p:tags r:id="rId5"/>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custDataLst>
                <p:tags r:id="rId6"/>
              </p:custDataLst>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custDataLst>
              <p:tags r:id="rId7"/>
            </p:custDataLst>
          </p:nvPr>
        </p:nvGrpSpPr>
        <p:grpSpPr>
          <a:xfrm>
            <a:off x="3119265" y="4615469"/>
            <a:ext cx="1192190" cy="614525"/>
            <a:chOff x="2215144" y="3084852"/>
            <a:chExt cx="1244730" cy="844793"/>
          </a:xfrm>
        </p:grpSpPr>
        <p:sp>
          <p:nvSpPr>
            <p:cNvPr id="52" name="平行四边形 51"/>
            <p:cNvSpPr/>
            <p:nvPr>
              <p:custDataLst>
                <p:tags r:id="rId8"/>
              </p:custDataLst>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custDataLst>
                <p:tags r:id="rId9"/>
              </p:custDataLst>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custDataLst>
              <p:tags r:id="rId10"/>
            </p:custDataLst>
          </p:nvPr>
        </p:nvGrpSpPr>
        <p:grpSpPr>
          <a:xfrm>
            <a:off x="4024817" y="2166250"/>
            <a:ext cx="5142331" cy="613062"/>
            <a:chOff x="4315150" y="953426"/>
            <a:chExt cx="3857250" cy="540057"/>
          </a:xfrm>
        </p:grpSpPr>
        <p:sp>
          <p:nvSpPr>
            <p:cNvPr id="61" name="矩形 60"/>
            <p:cNvSpPr/>
            <p:nvPr>
              <p:custDataLst>
                <p:tags r:id="rId11"/>
              </p:custDataLst>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初始化副本集</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custDataLst>
                <p:tags r:id="rId12"/>
              </p:custDataLst>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custDataLst>
              <p:tags r:id="rId13"/>
            </p:custDataLst>
          </p:nvPr>
        </p:nvGrpSpPr>
        <p:grpSpPr>
          <a:xfrm>
            <a:off x="4024817" y="3380033"/>
            <a:ext cx="5142331" cy="613062"/>
            <a:chOff x="4315150" y="1647579"/>
            <a:chExt cx="3857250" cy="540057"/>
          </a:xfrm>
        </p:grpSpPr>
        <p:sp>
          <p:nvSpPr>
            <p:cNvPr id="64" name="矩形 63"/>
            <p:cNvSpPr/>
            <p:nvPr>
              <p:custDataLst>
                <p:tags r:id="rId14"/>
              </p:custDataLst>
            </p:nvPr>
          </p:nvSpPr>
          <p:spPr>
            <a:xfrm>
              <a:off x="4841196" y="1730243"/>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副本集操作</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custDataLst>
                <p:tags r:id="rId15"/>
              </p:custDataLst>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custDataLst>
              <p:tags r:id="rId16"/>
            </p:custDataLst>
          </p:nvPr>
        </p:nvGrpSpPr>
        <p:grpSpPr>
          <a:xfrm>
            <a:off x="4024817" y="4593816"/>
            <a:ext cx="5142331" cy="613062"/>
            <a:chOff x="4315150" y="2341731"/>
            <a:chExt cx="3857250" cy="540057"/>
          </a:xfrm>
        </p:grpSpPr>
        <p:sp>
          <p:nvSpPr>
            <p:cNvPr id="67" name="矩形 66"/>
            <p:cNvSpPr/>
            <p:nvPr>
              <p:custDataLst>
                <p:tags r:id="rId17"/>
              </p:custDataLst>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访问控制</a:t>
              </a:r>
              <a:endParaRPr lang="en-GB"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custDataLst>
                <p:tags r:id="rId18"/>
              </p:custDataLst>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副本集概述</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副本集概述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501802"/>
            <a:ext cx="4504046" cy="11350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熟悉副本集概述，能够描述</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副本集架构</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的核心概念。</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807174" y="1845618"/>
            <a:ext cx="5201283" cy="280794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副本集是一组协同工作的</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服务，它们共同维护同一份数据的</a:t>
            </a:r>
            <a:r>
              <a:rPr lang="zh-CN" altLang="en-US" sz="2000" dirty="0">
                <a:solidFill>
                  <a:srgbClr val="1369B2"/>
                </a:solidFill>
                <a:latin typeface="微软雅黑" panose="020B0503020204020204" pitchFamily="34" charset="-122"/>
                <a:ea typeface="微软雅黑" panose="020B0503020204020204" pitchFamily="34" charset="-122"/>
              </a:rPr>
              <a:t>多个副本</a:t>
            </a:r>
            <a:r>
              <a:rPr lang="zh-CN" altLang="en-US" sz="2000" dirty="0">
                <a:solidFill>
                  <a:srgbClr val="595959"/>
                </a:solidFill>
                <a:latin typeface="微软雅黑" panose="020B0503020204020204" pitchFamily="34" charset="-122"/>
                <a:ea typeface="微软雅黑" panose="020B0503020204020204" pitchFamily="34" charset="-122"/>
              </a:rPr>
              <a:t>，就像将文件备份到多台计算机上一样。一个副本集最多可以有</a:t>
            </a:r>
            <a:r>
              <a:rPr lang="en-US" altLang="zh-CN" sz="2000" dirty="0">
                <a:solidFill>
                  <a:srgbClr val="1369B2"/>
                </a:solidFill>
                <a:latin typeface="微软雅黑" panose="020B0503020204020204" pitchFamily="34" charset="-122"/>
                <a:ea typeface="微软雅黑" panose="020B0503020204020204" pitchFamily="34" charset="-122"/>
              </a:rPr>
              <a:t>50</a:t>
            </a:r>
            <a:r>
              <a:rPr lang="zh-CN" altLang="en-US" sz="2000" dirty="0">
                <a:solidFill>
                  <a:srgbClr val="1369B2"/>
                </a:solidFill>
                <a:latin typeface="微软雅黑" panose="020B0503020204020204" pitchFamily="34" charset="-122"/>
                <a:ea typeface="微软雅黑" panose="020B0503020204020204" pitchFamily="34" charset="-122"/>
              </a:rPr>
              <a:t>个节点</a:t>
            </a:r>
            <a:r>
              <a:rPr lang="zh-CN" altLang="en-US" sz="2000" dirty="0">
                <a:solidFill>
                  <a:srgbClr val="595959"/>
                </a:solidFill>
                <a:latin typeface="微软雅黑" panose="020B0503020204020204" pitchFamily="34" charset="-122"/>
                <a:ea typeface="微软雅黑" panose="020B0503020204020204" pitchFamily="34" charset="-122"/>
              </a:rPr>
              <a:t>，其中包含一个</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Primary</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多个从节点</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Secondary</a:t>
            </a:r>
            <a:r>
              <a:rPr lang="zh-CN" altLang="en-US" sz="2000" dirty="0">
                <a:solidFill>
                  <a:srgbClr val="595959"/>
                </a:solidFill>
                <a:latin typeface="微软雅黑" panose="020B0503020204020204" pitchFamily="34" charset="-122"/>
                <a:ea typeface="微软雅黑" panose="020B0503020204020204" pitchFamily="34" charset="-122"/>
              </a:rPr>
              <a:t>），以及</a:t>
            </a:r>
            <a:r>
              <a:rPr lang="zh-CN" altLang="en-US" sz="2000" dirty="0">
                <a:solidFill>
                  <a:srgbClr val="1369B2"/>
                </a:solidFill>
                <a:latin typeface="微软雅黑" panose="020B0503020204020204" pitchFamily="34" charset="-122"/>
                <a:ea typeface="微软雅黑" panose="020B0503020204020204" pitchFamily="34" charset="-122"/>
              </a:rPr>
              <a:t>一个可选的仲裁节点</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Arbiter</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副本集概述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
          <p:cNvSpPr txBox="1"/>
          <p:nvPr/>
        </p:nvSpPr>
        <p:spPr>
          <a:xfrm>
            <a:off x="927714" y="1129970"/>
            <a:ext cx="8839900" cy="49962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下面是包含一个</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一个从节</a:t>
            </a:r>
            <a:r>
              <a:rPr lang="zh-CN" altLang="en-US" sz="2000" dirty="0">
                <a:solidFill>
                  <a:srgbClr val="595959"/>
                </a:solidFill>
                <a:latin typeface="微软雅黑" panose="020B0503020204020204" pitchFamily="34" charset="-122"/>
                <a:ea typeface="微软雅黑" panose="020B0503020204020204" pitchFamily="34" charset="-122"/>
              </a:rPr>
              <a:t>点和</a:t>
            </a:r>
            <a:r>
              <a:rPr lang="zh-CN" altLang="en-US" sz="2000" dirty="0">
                <a:solidFill>
                  <a:srgbClr val="1369B2"/>
                </a:solidFill>
                <a:latin typeface="微软雅黑" panose="020B0503020204020204" pitchFamily="34" charset="-122"/>
                <a:ea typeface="微软雅黑" panose="020B0503020204020204" pitchFamily="34" charset="-122"/>
              </a:rPr>
              <a:t>一个仲裁节点</a:t>
            </a:r>
            <a:r>
              <a:rPr lang="zh-CN" altLang="en-US" sz="2000" dirty="0">
                <a:solidFill>
                  <a:srgbClr val="595959"/>
                </a:solidFill>
                <a:latin typeface="微软雅黑" panose="020B0503020204020204" pitchFamily="34" charset="-122"/>
                <a:ea typeface="微软雅黑" panose="020B0503020204020204" pitchFamily="34" charset="-122"/>
              </a:rPr>
              <a:t>的副本集架构。</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副本集概述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26" name="Picture 2" descr="C:\Users\16366\AppData\Local\Temp\ksohtml17796\wps36.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4330" y="1973286"/>
            <a:ext cx="5303203" cy="45307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923598"/>
            <a:ext cx="9793088" cy="458908"/>
          </a:xfrm>
          <a:prstGeom prst="rect">
            <a:avLst/>
          </a:prstGeom>
        </p:spPr>
        <p:txBody>
          <a:bodyPr wrap="square">
            <a:spAutoFit/>
          </a:bodyPr>
          <a:lstStyle/>
          <a:p>
            <a:pPr>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针对</a:t>
            </a:r>
            <a:r>
              <a:rPr lang="zh-CN" altLang="en-US" sz="1800" dirty="0">
                <a:solidFill>
                  <a:srgbClr val="1369B2"/>
                </a:solidFill>
                <a:latin typeface="微软雅黑" panose="020B0503020204020204" pitchFamily="34" charset="-122"/>
                <a:ea typeface="微软雅黑" panose="020B0503020204020204" pitchFamily="34" charset="-122"/>
              </a:rPr>
              <a:t>副本集架构</a:t>
            </a:r>
            <a:r>
              <a:rPr lang="zh-CN" altLang="en-US" sz="1800" dirty="0">
                <a:solidFill>
                  <a:srgbClr val="595959"/>
                </a:solidFill>
                <a:latin typeface="微软雅黑" panose="020B0503020204020204" pitchFamily="34" charset="-122"/>
                <a:ea typeface="微软雅黑" panose="020B0503020204020204" pitchFamily="34" charset="-122"/>
              </a:rPr>
              <a:t>的核心概念进行如下讲解。</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椭圆 2"/>
          <p:cNvSpPr/>
          <p:nvPr/>
        </p:nvSpPr>
        <p:spPr bwMode="auto">
          <a:xfrm rot="574600">
            <a:off x="1562710" y="2218690"/>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4" name="TextBox 3"/>
          <p:cNvSpPr txBox="1">
            <a:spLocks noChangeArrowheads="1"/>
          </p:cNvSpPr>
          <p:nvPr/>
        </p:nvSpPr>
        <p:spPr bwMode="auto">
          <a:xfrm>
            <a:off x="1604085" y="2249746"/>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1</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5" name="矩形 4"/>
          <p:cNvSpPr/>
          <p:nvPr/>
        </p:nvSpPr>
        <p:spPr>
          <a:xfrm>
            <a:off x="2051050" y="2208480"/>
            <a:ext cx="1307852" cy="417358"/>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300"/>
              </a:spcAft>
              <a:buClrTx/>
              <a:buSzTx/>
              <a:buFontTx/>
              <a:buNone/>
              <a:defRPr/>
            </a:pPr>
            <a:r>
              <a:rPr kumimoji="0" lang="zh-CN" altLang="en-US" sz="18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主节点：</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6" name="矩形 5"/>
          <p:cNvSpPr/>
          <p:nvPr/>
        </p:nvSpPr>
        <p:spPr>
          <a:xfrm>
            <a:off x="2035798" y="3796853"/>
            <a:ext cx="1407758"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仲裁节点：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7" name="直接连接符 6"/>
          <p:cNvCxnSpPr/>
          <p:nvPr/>
        </p:nvCxnSpPr>
        <p:spPr>
          <a:xfrm>
            <a:off x="1949736" y="2665520"/>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8" name="直接连接符 7"/>
          <p:cNvCxnSpPr/>
          <p:nvPr/>
        </p:nvCxnSpPr>
        <p:spPr>
          <a:xfrm>
            <a:off x="1998271" y="4218285"/>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9" name="矩形 8"/>
          <p:cNvSpPr/>
          <p:nvPr/>
        </p:nvSpPr>
        <p:spPr>
          <a:xfrm>
            <a:off x="3396862" y="1848654"/>
            <a:ext cx="4759078" cy="701346"/>
          </a:xfrm>
          <a:prstGeom prst="rect">
            <a:avLst/>
          </a:prstGeom>
        </p:spPr>
        <p:txBody>
          <a:bodyPr wrap="square">
            <a:spAutoFit/>
          </a:bodyPr>
          <a:lstStyle/>
          <a:p>
            <a:pPr>
              <a:lnSpc>
                <a:spcPct val="130000"/>
              </a:lnSpc>
              <a:spcAft>
                <a:spcPts val="300"/>
              </a:spcAf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负责接收客户端发送的所有写请求，并在其自身的操作日志中记录对数据的任何更改</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bwMode="auto">
          <a:xfrm rot="574600">
            <a:off x="1533830" y="3794671"/>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1" name="TextBox 10"/>
          <p:cNvSpPr txBox="1">
            <a:spLocks noChangeArrowheads="1"/>
          </p:cNvSpPr>
          <p:nvPr/>
        </p:nvSpPr>
        <p:spPr bwMode="auto">
          <a:xfrm>
            <a:off x="1575205" y="3825727"/>
            <a:ext cx="345440" cy="36830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3</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12" name="矩形 11"/>
          <p:cNvSpPr/>
          <p:nvPr/>
        </p:nvSpPr>
        <p:spPr>
          <a:xfrm>
            <a:off x="1998463" y="4547859"/>
            <a:ext cx="856383" cy="417358"/>
          </a:xfrm>
          <a:prstGeom prst="rect">
            <a:avLst/>
          </a:prstGeom>
        </p:spPr>
        <p:txBody>
          <a:bodyPr wrap="square">
            <a:spAutoFit/>
          </a:bodyPr>
          <a:lstStyle/>
          <a:p>
            <a:pPr lvl="0" defTabSz="914400">
              <a:lnSpc>
                <a:spcPct val="130000"/>
              </a:lnSpc>
              <a:spcAft>
                <a:spcPts val="300"/>
              </a:spcAft>
              <a:defRPr/>
            </a:pPr>
            <a:r>
              <a:rPr lang="zh-CN" altLang="en-US" sz="1800" b="1" kern="0" dirty="0">
                <a:solidFill>
                  <a:srgbClr val="0070C0"/>
                </a:solidFill>
                <a:latin typeface="微软雅黑" panose="020B0503020204020204" pitchFamily="34" charset="-122"/>
                <a:ea typeface="微软雅黑" panose="020B0503020204020204" pitchFamily="34" charset="-122"/>
              </a:rPr>
              <a:t>复制：</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1976435" y="5041602"/>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4" name="椭圆 13"/>
          <p:cNvSpPr/>
          <p:nvPr/>
        </p:nvSpPr>
        <p:spPr bwMode="auto">
          <a:xfrm rot="574600">
            <a:off x="1532333" y="4700275"/>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5" name="TextBox 14"/>
          <p:cNvSpPr txBox="1">
            <a:spLocks noChangeArrowheads="1"/>
          </p:cNvSpPr>
          <p:nvPr/>
        </p:nvSpPr>
        <p:spPr bwMode="auto">
          <a:xfrm>
            <a:off x="1573708" y="4731331"/>
            <a:ext cx="345440" cy="36830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4</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38" name="矩形 37"/>
          <p:cNvSpPr/>
          <p:nvPr/>
        </p:nvSpPr>
        <p:spPr>
          <a:xfrm>
            <a:off x="3503385" y="4521317"/>
            <a:ext cx="3853815" cy="338554"/>
          </a:xfrm>
          <a:prstGeom prst="rect">
            <a:avLst/>
          </a:prstGeom>
        </p:spPr>
        <p:txBody>
          <a:bodyPr wrap="square">
            <a:spAutoFit/>
          </a:bodyPr>
          <a:lstStyle/>
          <a:p>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保持从节点和主节点的数据一致</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0" name="矩形 19"/>
          <p:cNvSpPr/>
          <p:nvPr>
            <p:custDataLst>
              <p:tags r:id="rId1"/>
            </p:custDataLst>
          </p:nvPr>
        </p:nvSpPr>
        <p:spPr>
          <a:xfrm>
            <a:off x="2019288" y="2919283"/>
            <a:ext cx="117692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从节点：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22" name="直接连接符 21"/>
          <p:cNvCxnSpPr/>
          <p:nvPr>
            <p:custDataLst>
              <p:tags r:id="rId2"/>
            </p:custDataLst>
          </p:nvPr>
        </p:nvCxnSpPr>
        <p:spPr>
          <a:xfrm>
            <a:off x="1981761" y="3340715"/>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23" name="椭圆 22"/>
          <p:cNvSpPr/>
          <p:nvPr>
            <p:custDataLst>
              <p:tags r:id="rId3"/>
            </p:custDataLst>
          </p:nvPr>
        </p:nvSpPr>
        <p:spPr bwMode="auto">
          <a:xfrm rot="574600">
            <a:off x="1517320" y="2917101"/>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24" name="TextBox 10"/>
          <p:cNvSpPr txBox="1">
            <a:spLocks noChangeArrowheads="1"/>
          </p:cNvSpPr>
          <p:nvPr>
            <p:custDataLst>
              <p:tags r:id="rId4"/>
            </p:custDataLst>
          </p:nvPr>
        </p:nvSpPr>
        <p:spPr bwMode="auto">
          <a:xfrm>
            <a:off x="1558695" y="2948157"/>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25" name="矩形 24"/>
          <p:cNvSpPr/>
          <p:nvPr>
            <p:custDataLst>
              <p:tags r:id="rId5"/>
            </p:custDataLst>
          </p:nvPr>
        </p:nvSpPr>
        <p:spPr>
          <a:xfrm>
            <a:off x="3430910" y="2854325"/>
            <a:ext cx="4509135" cy="381258"/>
          </a:xfrm>
          <a:prstGeom prst="rect">
            <a:avLst/>
          </a:prstGeom>
        </p:spPr>
        <p:txBody>
          <a:bodyPr wrap="square">
            <a:spAutoFit/>
          </a:bodyPr>
          <a:lstStyle/>
          <a:p>
            <a:pPr>
              <a:lnSpc>
                <a:spcPct val="130000"/>
              </a:lnSpc>
              <a:spcAft>
                <a:spcPts val="300"/>
              </a:spcAf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mn-ea"/>
              </a:rPr>
              <a:t>负责维护主节点的数据副本</a:t>
            </a:r>
            <a:endParaRPr 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6" name="矩形 25"/>
          <p:cNvSpPr/>
          <p:nvPr>
            <p:custDataLst>
              <p:tags r:id="rId6"/>
            </p:custDataLst>
          </p:nvPr>
        </p:nvSpPr>
        <p:spPr>
          <a:xfrm>
            <a:off x="3502918" y="3696608"/>
            <a:ext cx="3155315" cy="381258"/>
          </a:xfrm>
          <a:prstGeom prst="rect">
            <a:avLst/>
          </a:prstGeom>
        </p:spPr>
        <p:txBody>
          <a:bodyPr wrap="square">
            <a:spAutoFit/>
          </a:bodyPr>
          <a:lstStyle/>
          <a:p>
            <a:pPr>
              <a:lnSpc>
                <a:spcPct val="130000"/>
              </a:lnSpc>
              <a:spcAft>
                <a:spcPts val="300"/>
              </a:spcAf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仅负责在选举主节点时参与投票</a:t>
            </a:r>
            <a:endParaRPr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矩形 26"/>
          <p:cNvSpPr/>
          <p:nvPr>
            <p:custDataLst>
              <p:tags r:id="rId7"/>
            </p:custDataLst>
          </p:nvPr>
        </p:nvSpPr>
        <p:spPr>
          <a:xfrm>
            <a:off x="1981835" y="5464175"/>
            <a:ext cx="1238885" cy="417358"/>
          </a:xfrm>
          <a:prstGeom prst="rect">
            <a:avLst/>
          </a:prstGeom>
        </p:spPr>
        <p:txBody>
          <a:bodyPr wrap="square">
            <a:spAutoFit/>
          </a:bodyPr>
          <a:lstStyle/>
          <a:p>
            <a:pPr lvl="0" defTabSz="914400">
              <a:lnSpc>
                <a:spcPct val="130000"/>
              </a:lnSpc>
              <a:spcAft>
                <a:spcPts val="300"/>
              </a:spcAft>
              <a:defRPr/>
            </a:pPr>
            <a:r>
              <a:rPr lang="zh-CN" altLang="en-US" sz="1800" b="1" kern="0" dirty="0">
                <a:solidFill>
                  <a:srgbClr val="0070C0"/>
                </a:solidFill>
                <a:latin typeface="微软雅黑" panose="020B0503020204020204" pitchFamily="34" charset="-122"/>
                <a:ea typeface="微软雅黑" panose="020B0503020204020204" pitchFamily="34" charset="-122"/>
              </a:rPr>
              <a:t>心跳：</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cxnSp>
        <p:nvCxnSpPr>
          <p:cNvPr id="29" name="直接连接符 28"/>
          <p:cNvCxnSpPr/>
          <p:nvPr>
            <p:custDataLst>
              <p:tags r:id="rId8"/>
            </p:custDataLst>
          </p:nvPr>
        </p:nvCxnSpPr>
        <p:spPr>
          <a:xfrm>
            <a:off x="1959925" y="5957907"/>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30" name="椭圆 29"/>
          <p:cNvSpPr/>
          <p:nvPr>
            <p:custDataLst>
              <p:tags r:id="rId9"/>
            </p:custDataLst>
          </p:nvPr>
        </p:nvSpPr>
        <p:spPr bwMode="auto">
          <a:xfrm rot="574600">
            <a:off x="1515823" y="5616580"/>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31" name="TextBox 14"/>
          <p:cNvSpPr txBox="1">
            <a:spLocks noChangeArrowheads="1"/>
          </p:cNvSpPr>
          <p:nvPr>
            <p:custDataLst>
              <p:tags r:id="rId10"/>
            </p:custDataLst>
          </p:nvPr>
        </p:nvSpPr>
        <p:spPr bwMode="auto">
          <a:xfrm>
            <a:off x="1557198" y="5647636"/>
            <a:ext cx="345440" cy="36830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5</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33" name="矩形 32"/>
          <p:cNvSpPr/>
          <p:nvPr>
            <p:custDataLst>
              <p:tags r:id="rId11"/>
            </p:custDataLst>
          </p:nvPr>
        </p:nvSpPr>
        <p:spPr>
          <a:xfrm>
            <a:off x="3502918" y="5163573"/>
            <a:ext cx="4298315" cy="701346"/>
          </a:xfrm>
          <a:prstGeom prst="rect">
            <a:avLst/>
          </a:prstGeom>
        </p:spPr>
        <p:txBody>
          <a:bodyPr wrap="square">
            <a:spAutoFit/>
          </a:bodyPr>
          <a:lstStyle/>
          <a:p>
            <a:pPr>
              <a:lnSpc>
                <a:spcPct val="130000"/>
              </a:lnSpc>
              <a:spcAft>
                <a:spcPts val="300"/>
              </a:spcAf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为了监控节点的健康状态，副本集中的所有节点每两秒会向彼此发送一次心跳消息</a:t>
            </a:r>
            <a:endParaRPr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2" name="矩形 31"/>
          <p:cNvSpPr/>
          <p:nvPr>
            <p:custDataLst>
              <p:tags r:id="rId12"/>
            </p:custDataLst>
          </p:nvPr>
        </p:nvSpPr>
        <p:spPr>
          <a:xfrm>
            <a:off x="6527254" y="4202144"/>
            <a:ext cx="4813218" cy="739818"/>
          </a:xfrm>
          <a:prstGeom prst="rect">
            <a:avLst/>
          </a:prstGeom>
        </p:spPr>
        <p:txBody>
          <a:bodyPr wrap="square">
            <a:spAutoFit/>
          </a:bodyPr>
          <a:lstStyle/>
          <a:p>
            <a:pPr marL="228600" indent="-228600">
              <a:lnSpc>
                <a:spcPct val="130000"/>
              </a:lnSpc>
              <a:spcAft>
                <a:spcPts val="300"/>
              </a:spcAft>
              <a:buFont typeface="+mj-ea"/>
              <a:buAutoNum type="circleNumDbPlain"/>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初始复制在副本集中添加新的从节点时触发</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28600" indent="-228600">
              <a:lnSpc>
                <a:spcPct val="130000"/>
              </a:lnSpc>
              <a:spcAft>
                <a:spcPts val="300"/>
              </a:spcAft>
              <a:buFont typeface="+mj-ea"/>
              <a:buAutoNum type="circleNumDbPlain"/>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同步复制会在从节点完成初始复制后持续触发</a:t>
            </a:r>
            <a:endParaRPr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副本集概述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4646" y="1053530"/>
            <a:ext cx="1016001" cy="1016001"/>
          </a:xfrm>
          <a:prstGeom prst="rect">
            <a:avLst/>
          </a:prstGeom>
        </p:spPr>
      </p:pic>
      <p:sp>
        <p:nvSpPr>
          <p:cNvPr id="6" name="矩形 5"/>
          <p:cNvSpPr/>
          <p:nvPr/>
        </p:nvSpPr>
        <p:spPr>
          <a:xfrm>
            <a:off x="2492391" y="1263507"/>
            <a:ext cx="3098759"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530346" y="1362544"/>
            <a:ext cx="306080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操作日志的存储位置</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矩形 7"/>
          <p:cNvSpPr/>
          <p:nvPr/>
        </p:nvSpPr>
        <p:spPr>
          <a:xfrm>
            <a:off x="5680334"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5868063"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
          <p:cNvSpPr txBox="1"/>
          <p:nvPr/>
        </p:nvSpPr>
        <p:spPr>
          <a:xfrm>
            <a:off x="1054647" y="2487485"/>
            <a:ext cx="9747654" cy="280794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操作日志存储在</a:t>
            </a:r>
            <a:r>
              <a:rPr lang="en-US" altLang="zh-CN" sz="2000" dirty="0">
                <a:solidFill>
                  <a:srgbClr val="1369B2"/>
                </a:solidFill>
                <a:latin typeface="微软雅黑" panose="020B0503020204020204" pitchFamily="34" charset="-122"/>
                <a:ea typeface="微软雅黑" panose="020B0503020204020204" pitchFamily="34" charset="-122"/>
              </a:rPr>
              <a:t>local</a:t>
            </a:r>
            <a:r>
              <a:rPr lang="zh-CN" altLang="en-US" sz="2000" dirty="0">
                <a:solidFill>
                  <a:srgbClr val="1369B2"/>
                </a:solidFill>
                <a:latin typeface="微软雅黑" panose="020B0503020204020204" pitchFamily="34" charset="-122"/>
                <a:ea typeface="微软雅黑" panose="020B0503020204020204" pitchFamily="34" charset="-122"/>
              </a:rPr>
              <a:t>数据库</a:t>
            </a:r>
            <a:r>
              <a:rPr lang="zh-CN" altLang="en-US" sz="2000" dirty="0">
                <a:solidFill>
                  <a:srgbClr val="595959"/>
                </a:solidFill>
                <a:latin typeface="微软雅黑" panose="020B0503020204020204" pitchFamily="34" charset="-122"/>
                <a:ea typeface="微软雅黑" panose="020B0503020204020204" pitchFamily="34" charset="-122"/>
              </a:rPr>
              <a:t>的固定大小集合</a:t>
            </a:r>
            <a:r>
              <a:rPr lang="en-US" altLang="zh-CN" sz="2000" dirty="0">
                <a:solidFill>
                  <a:srgbClr val="1369B2"/>
                </a:solidFill>
                <a:latin typeface="微软雅黑" panose="020B0503020204020204" pitchFamily="34" charset="-122"/>
                <a:ea typeface="微软雅黑" panose="020B0503020204020204" pitchFamily="34" charset="-122"/>
              </a:rPr>
              <a:t>local.oplog.rs</a:t>
            </a:r>
            <a:r>
              <a:rPr lang="zh-CN" altLang="en-US" sz="2000" dirty="0">
                <a:solidFill>
                  <a:srgbClr val="595959"/>
                </a:solidFill>
                <a:latin typeface="微软雅黑" panose="020B0503020204020204" pitchFamily="34" charset="-122"/>
                <a:ea typeface="微软雅黑" panose="020B0503020204020204" pitchFamily="34" charset="-122"/>
              </a:rPr>
              <a:t>中，该集合的容量上限可以在初始化副本集时配置，如果初始化副本集时未配置容量上限，那么副本集会根据操作系统为</a:t>
            </a:r>
            <a:r>
              <a:rPr lang="en-US" altLang="zh-CN" sz="2000" dirty="0">
                <a:solidFill>
                  <a:srgbClr val="595959"/>
                </a:solidFill>
                <a:latin typeface="微软雅黑" panose="020B0503020204020204" pitchFamily="34" charset="-122"/>
                <a:ea typeface="微软雅黑" panose="020B0503020204020204" pitchFamily="34" charset="-122"/>
              </a:rPr>
              <a:t>local.oplog.rs</a:t>
            </a:r>
            <a:r>
              <a:rPr lang="zh-CN" altLang="en-US" sz="2000" dirty="0">
                <a:solidFill>
                  <a:srgbClr val="595959"/>
                </a:solidFill>
                <a:latin typeface="微软雅黑" panose="020B0503020204020204" pitchFamily="34" charset="-122"/>
                <a:ea typeface="微软雅黑" panose="020B0503020204020204" pitchFamily="34" charset="-122"/>
              </a:rPr>
              <a:t>配置默认的</a:t>
            </a:r>
            <a:r>
              <a:rPr lang="zh-CN" altLang="en-US" sz="2000" dirty="0">
                <a:solidFill>
                  <a:srgbClr val="1369B2"/>
                </a:solidFill>
                <a:latin typeface="微软雅黑" panose="020B0503020204020204" pitchFamily="34" charset="-122"/>
                <a:ea typeface="微软雅黑" panose="020B0503020204020204" pitchFamily="34" charset="-122"/>
              </a:rPr>
              <a:t>容量上限</a:t>
            </a:r>
            <a:r>
              <a:rPr lang="zh-CN" altLang="en-US" sz="2000" dirty="0">
                <a:solidFill>
                  <a:srgbClr val="595959"/>
                </a:solidFill>
                <a:latin typeface="微软雅黑" panose="020B0503020204020204" pitchFamily="34" charset="-122"/>
                <a:ea typeface="微软雅黑" panose="020B0503020204020204" pitchFamily="34" charset="-122"/>
              </a:rPr>
              <a:t>，具体介绍如下。</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对于</a:t>
            </a:r>
            <a:r>
              <a:rPr lang="en-US" altLang="zh-CN" sz="2000" dirty="0">
                <a:solidFill>
                  <a:srgbClr val="595959"/>
                </a:solidFill>
                <a:latin typeface="微软雅黑" panose="020B0503020204020204" pitchFamily="34" charset="-122"/>
                <a:ea typeface="微软雅黑" panose="020B0503020204020204" pitchFamily="34" charset="-122"/>
              </a:rPr>
              <a:t>Linux</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Windows</a:t>
            </a:r>
            <a:r>
              <a:rPr lang="zh-CN" altLang="en-US" sz="2000" dirty="0">
                <a:solidFill>
                  <a:srgbClr val="595959"/>
                </a:solidFill>
                <a:latin typeface="微软雅黑" panose="020B0503020204020204" pitchFamily="34" charset="-122"/>
                <a:ea typeface="微软雅黑" panose="020B0503020204020204" pitchFamily="34" charset="-122"/>
              </a:rPr>
              <a:t>操作系统来说，</a:t>
            </a:r>
            <a:r>
              <a:rPr lang="en-US" altLang="zh-CN" sz="2000" dirty="0">
                <a:solidFill>
                  <a:srgbClr val="595959"/>
                </a:solidFill>
                <a:latin typeface="微软雅黑" panose="020B0503020204020204" pitchFamily="34" charset="-122"/>
                <a:ea typeface="微软雅黑" panose="020B0503020204020204" pitchFamily="34" charset="-122"/>
              </a:rPr>
              <a:t>local.oplog.rs</a:t>
            </a:r>
            <a:r>
              <a:rPr lang="zh-CN" altLang="en-US" sz="2000" dirty="0">
                <a:solidFill>
                  <a:srgbClr val="595959"/>
                </a:solidFill>
                <a:latin typeface="微软雅黑" panose="020B0503020204020204" pitchFamily="34" charset="-122"/>
                <a:ea typeface="微软雅黑" panose="020B0503020204020204" pitchFamily="34" charset="-122"/>
              </a:rPr>
              <a:t>默认的容量上限为可用磁盘空间的</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en-US" sz="2000" dirty="0">
                <a:solidFill>
                  <a:srgbClr val="595959"/>
                </a:solidFill>
                <a:latin typeface="微软雅黑" panose="020B0503020204020204" pitchFamily="34" charset="-122"/>
                <a:ea typeface="微软雅黑" panose="020B0503020204020204" pitchFamily="34" charset="-122"/>
              </a:rPr>
              <a:t>。若可用磁盘空间的</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en-US" sz="2000" dirty="0">
                <a:solidFill>
                  <a:srgbClr val="595959"/>
                </a:solidFill>
                <a:latin typeface="微软雅黑" panose="020B0503020204020204" pitchFamily="34" charset="-122"/>
                <a:ea typeface="微软雅黑" panose="020B0503020204020204" pitchFamily="34" charset="-122"/>
              </a:rPr>
              <a:t>小于</a:t>
            </a:r>
            <a:r>
              <a:rPr lang="en-US" altLang="zh-CN" sz="2000" dirty="0">
                <a:solidFill>
                  <a:srgbClr val="595959"/>
                </a:solidFill>
                <a:latin typeface="微软雅黑" panose="020B0503020204020204" pitchFamily="34" charset="-122"/>
                <a:ea typeface="微软雅黑" panose="020B0503020204020204" pitchFamily="34" charset="-122"/>
              </a:rPr>
              <a:t>990MB</a:t>
            </a:r>
            <a:r>
              <a:rPr lang="zh-CN" altLang="en-US" sz="2000" dirty="0">
                <a:solidFill>
                  <a:srgbClr val="595959"/>
                </a:solidFill>
                <a:latin typeface="微软雅黑" panose="020B0503020204020204" pitchFamily="34" charset="-122"/>
                <a:ea typeface="微软雅黑" panose="020B0503020204020204" pitchFamily="34" charset="-122"/>
              </a:rPr>
              <a:t>，那么</a:t>
            </a:r>
            <a:r>
              <a:rPr lang="en-US" altLang="zh-CN" sz="2000" dirty="0">
                <a:solidFill>
                  <a:srgbClr val="595959"/>
                </a:solidFill>
                <a:latin typeface="微软雅黑" panose="020B0503020204020204" pitchFamily="34" charset="-122"/>
                <a:ea typeface="微软雅黑" panose="020B0503020204020204" pitchFamily="34" charset="-122"/>
              </a:rPr>
              <a:t>local.oplog.rs</a:t>
            </a:r>
            <a:r>
              <a:rPr lang="zh-CN" altLang="en-US" sz="2000" dirty="0">
                <a:solidFill>
                  <a:srgbClr val="595959"/>
                </a:solidFill>
                <a:latin typeface="微软雅黑" panose="020B0503020204020204" pitchFamily="34" charset="-122"/>
                <a:ea typeface="微软雅黑" panose="020B0503020204020204" pitchFamily="34" charset="-122"/>
              </a:rPr>
              <a:t>默认的容量上限为</a:t>
            </a:r>
            <a:r>
              <a:rPr lang="en-US" altLang="zh-CN" sz="2000" dirty="0">
                <a:solidFill>
                  <a:srgbClr val="595959"/>
                </a:solidFill>
                <a:latin typeface="微软雅黑" panose="020B0503020204020204" pitchFamily="34" charset="-122"/>
                <a:ea typeface="微软雅黑" panose="020B0503020204020204" pitchFamily="34" charset="-122"/>
              </a:rPr>
              <a:t>990MB</a:t>
            </a:r>
            <a:r>
              <a:rPr lang="zh-CN" altLang="en-US" sz="2000" dirty="0">
                <a:solidFill>
                  <a:srgbClr val="595959"/>
                </a:solidFill>
                <a:latin typeface="微软雅黑" panose="020B0503020204020204" pitchFamily="34" charset="-122"/>
                <a:ea typeface="微软雅黑" panose="020B0503020204020204" pitchFamily="34" charset="-122"/>
              </a:rPr>
              <a:t>。对于</a:t>
            </a:r>
            <a:r>
              <a:rPr lang="en-US" altLang="zh-CN" sz="2000" dirty="0">
                <a:solidFill>
                  <a:srgbClr val="595959"/>
                </a:solidFill>
                <a:latin typeface="微软雅黑" panose="020B0503020204020204" pitchFamily="34" charset="-122"/>
                <a:ea typeface="微软雅黑" panose="020B0503020204020204" pitchFamily="34" charset="-122"/>
              </a:rPr>
              <a:t>macOS</a:t>
            </a:r>
            <a:r>
              <a:rPr lang="zh-CN" altLang="en-US" sz="2000" dirty="0">
                <a:solidFill>
                  <a:srgbClr val="595959"/>
                </a:solidFill>
                <a:latin typeface="微软雅黑" panose="020B0503020204020204" pitchFamily="34" charset="-122"/>
                <a:ea typeface="微软雅黑" panose="020B0503020204020204" pitchFamily="34" charset="-122"/>
              </a:rPr>
              <a:t>操作系统来说，</a:t>
            </a:r>
            <a:r>
              <a:rPr lang="en-US" altLang="zh-CN" sz="2000" dirty="0">
                <a:solidFill>
                  <a:srgbClr val="595959"/>
                </a:solidFill>
                <a:latin typeface="微软雅黑" panose="020B0503020204020204" pitchFamily="34" charset="-122"/>
                <a:ea typeface="微软雅黑" panose="020B0503020204020204" pitchFamily="34" charset="-122"/>
              </a:rPr>
              <a:t>local.oplog.rs</a:t>
            </a:r>
            <a:r>
              <a:rPr lang="zh-CN" altLang="en-US" sz="2000" dirty="0">
                <a:solidFill>
                  <a:srgbClr val="595959"/>
                </a:solidFill>
                <a:latin typeface="微软雅黑" panose="020B0503020204020204" pitchFamily="34" charset="-122"/>
                <a:ea typeface="微软雅黑" panose="020B0503020204020204" pitchFamily="34" charset="-122"/>
              </a:rPr>
              <a:t>默认的容量上限是</a:t>
            </a:r>
            <a:r>
              <a:rPr lang="en-US" altLang="zh-CN" sz="2000" dirty="0">
                <a:solidFill>
                  <a:srgbClr val="595959"/>
                </a:solidFill>
                <a:latin typeface="微软雅黑" panose="020B0503020204020204" pitchFamily="34" charset="-122"/>
                <a:ea typeface="微软雅黑" panose="020B0503020204020204" pitchFamily="34" charset="-122"/>
              </a:rPr>
              <a:t>192MB</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副本集概述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选举机制</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选举机制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了解选举机制，能够说出选举机制的</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实现过程</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及其</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触发条件</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910630" y="1701602"/>
            <a:ext cx="6336704" cy="373127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选举机制是副本集实现</a:t>
            </a:r>
            <a:r>
              <a:rPr lang="zh-CN" altLang="en-US" sz="2000" dirty="0">
                <a:solidFill>
                  <a:srgbClr val="1369B2"/>
                </a:solidFill>
                <a:latin typeface="微软雅黑" panose="020B0503020204020204" pitchFamily="34" charset="-122"/>
                <a:ea typeface="微软雅黑" panose="020B0503020204020204" pitchFamily="34" charset="-122"/>
              </a:rPr>
              <a:t>自动故障转移</a:t>
            </a:r>
            <a:r>
              <a:rPr lang="zh-CN" altLang="en-US" sz="2000" dirty="0">
                <a:solidFill>
                  <a:srgbClr val="595959"/>
                </a:solidFill>
                <a:latin typeface="微软雅黑" panose="020B0503020204020204" pitchFamily="34" charset="-122"/>
                <a:ea typeface="微软雅黑" panose="020B0503020204020204" pitchFamily="34" charset="-122"/>
              </a:rPr>
              <a:t>的基础，它可以确保副本集在主节点不可用时，能够快速选出新的</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，保障副本集的</a:t>
            </a:r>
            <a:r>
              <a:rPr lang="zh-CN" altLang="en-US" sz="2000" dirty="0">
                <a:solidFill>
                  <a:srgbClr val="1369B2"/>
                </a:solidFill>
                <a:latin typeface="微软雅黑" panose="020B0503020204020204" pitchFamily="34" charset="-122"/>
                <a:ea typeface="微软雅黑" panose="020B0503020204020204" pitchFamily="34" charset="-122"/>
              </a:rPr>
              <a:t>可用性</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持续</a:t>
            </a:r>
            <a:r>
              <a:rPr lang="zh-CN" altLang="en-US" sz="2000" dirty="0">
                <a:solidFill>
                  <a:srgbClr val="595959"/>
                </a:solidFill>
                <a:latin typeface="微软雅黑" panose="020B0503020204020204" pitchFamily="34" charset="-122"/>
                <a:ea typeface="微软雅黑" panose="020B0503020204020204" pitchFamily="34" charset="-122"/>
              </a:rPr>
              <a:t>的写入能力。选举过程由副本集中具备投票权的节点共同参与，通过投票决定哪个节点被选举为主节点。默认情况下，副本集中的所有节点都拥有投票权。然而，一个副本集最多只能容纳</a:t>
            </a:r>
            <a:r>
              <a:rPr lang="en-US" altLang="zh-CN" sz="2000" dirty="0">
                <a:solidFill>
                  <a:srgbClr val="1369B2"/>
                </a:solidFill>
                <a:latin typeface="微软雅黑" panose="020B0503020204020204" pitchFamily="34" charset="-122"/>
                <a:ea typeface="微软雅黑" panose="020B0503020204020204" pitchFamily="34" charset="-122"/>
              </a:rPr>
              <a:t>7</a:t>
            </a:r>
            <a:r>
              <a:rPr lang="zh-CN" altLang="en-US" sz="2000" dirty="0">
                <a:solidFill>
                  <a:srgbClr val="1369B2"/>
                </a:solidFill>
                <a:latin typeface="微软雅黑" panose="020B0503020204020204" pitchFamily="34" charset="-122"/>
                <a:ea typeface="微软雅黑" panose="020B0503020204020204" pitchFamily="34" charset="-122"/>
              </a:rPr>
              <a:t>个</a:t>
            </a:r>
            <a:r>
              <a:rPr lang="zh-CN" altLang="en-US" sz="2000" dirty="0">
                <a:solidFill>
                  <a:srgbClr val="595959"/>
                </a:solidFill>
                <a:latin typeface="微软雅黑" panose="020B0503020204020204" pitchFamily="34" charset="-122"/>
                <a:ea typeface="微软雅黑" panose="020B0503020204020204" pitchFamily="34" charset="-122"/>
              </a:rPr>
              <a:t>具有投票权的节点。因此，当副本集的节点数量超过</a:t>
            </a:r>
            <a:r>
              <a:rPr lang="en-US" altLang="zh-CN" sz="2000" dirty="0">
                <a:solidFill>
                  <a:srgbClr val="595959"/>
                </a:solidFill>
                <a:latin typeface="微软雅黑" panose="020B0503020204020204" pitchFamily="34" charset="-122"/>
                <a:ea typeface="微软雅黑" panose="020B0503020204020204" pitchFamily="34" charset="-122"/>
              </a:rPr>
              <a:t>7</a:t>
            </a:r>
            <a:r>
              <a:rPr lang="zh-CN" altLang="en-US" sz="2000" dirty="0">
                <a:solidFill>
                  <a:srgbClr val="595959"/>
                </a:solidFill>
                <a:latin typeface="微软雅黑" panose="020B0503020204020204" pitchFamily="34" charset="-122"/>
                <a:ea typeface="微软雅黑" panose="020B0503020204020204" pitchFamily="34" charset="-122"/>
              </a:rPr>
              <a:t>个时，我们需要手动配置，取消部分节点的投票权。</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选举机制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1"/>
          <a:stretch>
            <a:fillRect/>
          </a:stretch>
        </p:blipFill>
        <p:spPr>
          <a:xfrm>
            <a:off x="7463358" y="1917626"/>
            <a:ext cx="3694212" cy="351525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0630" y="1314702"/>
            <a:ext cx="9793088" cy="4192943"/>
          </a:xfrm>
          <a:prstGeom prst="rect">
            <a:avLst/>
          </a:prstGeom>
        </p:spPr>
        <p:txBody>
          <a:bodyPr wrap="square">
            <a:spAutoFit/>
          </a:body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选举机制</a:t>
            </a:r>
            <a:r>
              <a:rPr lang="zh-CN" altLang="en-US" sz="2000" dirty="0">
                <a:solidFill>
                  <a:srgbClr val="595959"/>
                </a:solidFill>
                <a:latin typeface="微软雅黑" panose="020B0503020204020204" pitchFamily="34" charset="-122"/>
                <a:ea typeface="微软雅黑" panose="020B0503020204020204" pitchFamily="34" charset="-122"/>
              </a:rPr>
              <a:t>的实现过程如下。</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）副本集中的所有</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将检查自己是否具备</a:t>
            </a:r>
            <a:r>
              <a:rPr lang="zh-CN" altLang="en-US" sz="2000" dirty="0">
                <a:solidFill>
                  <a:srgbClr val="1369B2"/>
                </a:solidFill>
                <a:latin typeface="微软雅黑" panose="020B0503020204020204" pitchFamily="34" charset="-122"/>
                <a:ea typeface="微软雅黑" panose="020B0503020204020204" pitchFamily="34" charset="-122"/>
              </a:rPr>
              <a:t>发起选举</a:t>
            </a:r>
            <a:r>
              <a:rPr lang="zh-CN" altLang="en-US" sz="2000" dirty="0">
                <a:solidFill>
                  <a:srgbClr val="595959"/>
                </a:solidFill>
                <a:latin typeface="微软雅黑" panose="020B0503020204020204" pitchFamily="34" charset="-122"/>
                <a:ea typeface="微软雅黑" panose="020B0503020204020204" pitchFamily="34" charset="-122"/>
              </a:rPr>
              <a:t>的资格，即优先级需大于</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）具备选举资格的从节点首先会</a:t>
            </a:r>
            <a:r>
              <a:rPr lang="zh-CN" altLang="en-US" sz="2000" dirty="0">
                <a:solidFill>
                  <a:srgbClr val="1369B2"/>
                </a:solidFill>
                <a:latin typeface="微软雅黑" panose="020B0503020204020204" pitchFamily="34" charset="-122"/>
                <a:ea typeface="微软雅黑" panose="020B0503020204020204" pitchFamily="34" charset="-122"/>
              </a:rPr>
              <a:t>给自己投票</a:t>
            </a:r>
            <a:r>
              <a:rPr lang="zh-CN" altLang="en-US" sz="2000" dirty="0">
                <a:solidFill>
                  <a:srgbClr val="595959"/>
                </a:solidFill>
                <a:latin typeface="微软雅黑" panose="020B0503020204020204" pitchFamily="34" charset="-122"/>
                <a:ea typeface="微软雅黑" panose="020B0503020204020204" pitchFamily="34" charset="-122"/>
              </a:rPr>
              <a:t>，并将自身状态更新为</a:t>
            </a:r>
            <a:r>
              <a:rPr lang="zh-CN" altLang="en-US" sz="2000" dirty="0">
                <a:solidFill>
                  <a:srgbClr val="1369B2"/>
                </a:solidFill>
                <a:latin typeface="微软雅黑" panose="020B0503020204020204" pitchFamily="34" charset="-122"/>
                <a:ea typeface="微软雅黑" panose="020B0503020204020204" pitchFamily="34" charset="-122"/>
              </a:rPr>
              <a:t>候选者</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）每个</a:t>
            </a:r>
            <a:r>
              <a:rPr lang="zh-CN" altLang="en-US" sz="2000" dirty="0">
                <a:solidFill>
                  <a:srgbClr val="1369B2"/>
                </a:solidFill>
                <a:latin typeface="微软雅黑" panose="020B0503020204020204" pitchFamily="34" charset="-122"/>
                <a:ea typeface="微软雅黑" panose="020B0503020204020204" pitchFamily="34" charset="-122"/>
              </a:rPr>
              <a:t>候选者</a:t>
            </a:r>
            <a:r>
              <a:rPr lang="zh-CN" altLang="en-US" sz="2000" dirty="0">
                <a:solidFill>
                  <a:srgbClr val="595959"/>
                </a:solidFill>
                <a:latin typeface="微软雅黑" panose="020B0503020204020204" pitchFamily="34" charset="-122"/>
                <a:ea typeface="微软雅黑" panose="020B0503020204020204" pitchFamily="34" charset="-122"/>
              </a:rPr>
              <a:t>会向其他拥有投票权的节点发送</a:t>
            </a:r>
            <a:r>
              <a:rPr lang="zh-CN" altLang="en-US" sz="2000" dirty="0">
                <a:solidFill>
                  <a:srgbClr val="1369B2"/>
                </a:solidFill>
                <a:latin typeface="微软雅黑" panose="020B0503020204020204" pitchFamily="34" charset="-122"/>
                <a:ea typeface="微软雅黑" panose="020B0503020204020204" pitchFamily="34" charset="-122"/>
              </a:rPr>
              <a:t>投票请求</a:t>
            </a:r>
            <a:r>
              <a:rPr lang="zh-CN" altLang="en-US" sz="2000" dirty="0">
                <a:solidFill>
                  <a:srgbClr val="595959"/>
                </a:solidFill>
                <a:latin typeface="微软雅黑" panose="020B0503020204020204" pitchFamily="34" charset="-122"/>
                <a:ea typeface="微软雅黑" panose="020B0503020204020204" pitchFamily="34" charset="-122"/>
              </a:rPr>
              <a:t>，请求对方为</a:t>
            </a:r>
            <a:r>
              <a:rPr lang="zh-CN" altLang="en-US" sz="2000" dirty="0">
                <a:solidFill>
                  <a:srgbClr val="1369B2"/>
                </a:solidFill>
                <a:latin typeface="微软雅黑" panose="020B0503020204020204" pitchFamily="34" charset="-122"/>
                <a:ea typeface="微软雅黑" panose="020B0503020204020204" pitchFamily="34" charset="-122"/>
              </a:rPr>
              <a:t>自身投票</a:t>
            </a:r>
            <a:r>
              <a:rPr lang="zh-CN" altLang="en-US" sz="2000" dirty="0">
                <a:solidFill>
                  <a:srgbClr val="595959"/>
                </a:solidFill>
                <a:latin typeface="微软雅黑" panose="020B0503020204020204" pitchFamily="34" charset="-122"/>
                <a:ea typeface="微软雅黑" panose="020B0503020204020204" pitchFamily="34" charset="-122"/>
              </a:rPr>
              <a:t>。每个拥有投票权的节点只能投出一票。</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① </a:t>
            </a:r>
            <a:r>
              <a:rPr lang="zh-CN" altLang="en-US" sz="2000" dirty="0">
                <a:solidFill>
                  <a:srgbClr val="1369B2"/>
                </a:solidFill>
                <a:latin typeface="微软雅黑" panose="020B0503020204020204" pitchFamily="34" charset="-122"/>
                <a:ea typeface="微软雅黑" panose="020B0503020204020204" pitchFamily="34" charset="-122"/>
              </a:rPr>
              <a:t>仲裁节点</a:t>
            </a:r>
            <a:r>
              <a:rPr lang="zh-CN" altLang="en-US" sz="2000" dirty="0">
                <a:solidFill>
                  <a:srgbClr val="595959"/>
                </a:solidFill>
                <a:latin typeface="微软雅黑" panose="020B0503020204020204" pitchFamily="34" charset="-122"/>
                <a:ea typeface="微软雅黑" panose="020B0503020204020204" pitchFamily="34" charset="-122"/>
              </a:rPr>
              <a:t>在评估投票时，会将票投给</a:t>
            </a:r>
            <a:r>
              <a:rPr lang="zh-CN" altLang="en-US" sz="2000" dirty="0">
                <a:solidFill>
                  <a:srgbClr val="1369B2"/>
                </a:solidFill>
                <a:latin typeface="微软雅黑" panose="020B0503020204020204" pitchFamily="34" charset="-122"/>
                <a:ea typeface="微软雅黑" panose="020B0503020204020204" pitchFamily="34" charset="-122"/>
              </a:rPr>
              <a:t>优先级最高</a:t>
            </a:r>
            <a:r>
              <a:rPr lang="zh-CN" altLang="en-US" sz="2000" dirty="0">
                <a:solidFill>
                  <a:srgbClr val="595959"/>
                </a:solidFill>
                <a:latin typeface="微软雅黑" panose="020B0503020204020204" pitchFamily="34" charset="-122"/>
                <a:ea typeface="微软雅黑" panose="020B0503020204020204" pitchFamily="34" charset="-122"/>
              </a:rPr>
              <a:t>的候选者。</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② 具备投票权的</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在评估投票时，会比较候选者的</a:t>
            </a:r>
            <a:r>
              <a:rPr lang="zh-CN" altLang="en-US" sz="2000" dirty="0">
                <a:solidFill>
                  <a:srgbClr val="1369B2"/>
                </a:solidFill>
                <a:latin typeface="微软雅黑" panose="020B0503020204020204" pitchFamily="34" charset="-122"/>
                <a:ea typeface="微软雅黑" panose="020B0503020204020204" pitchFamily="34" charset="-122"/>
              </a:rPr>
              <a:t>优先级是否高于自己</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）当某个候选者获得的票数超过拥有投票权节点总数的</a:t>
            </a:r>
            <a:r>
              <a:rPr lang="zh-CN" altLang="en-US" sz="2000" dirty="0">
                <a:solidFill>
                  <a:srgbClr val="1369B2"/>
                </a:solidFill>
                <a:latin typeface="微软雅黑" panose="020B0503020204020204" pitchFamily="34" charset="-122"/>
                <a:ea typeface="微软雅黑" panose="020B0503020204020204" pitchFamily="34" charset="-122"/>
              </a:rPr>
              <a:t>一半时</a:t>
            </a:r>
            <a:r>
              <a:rPr lang="zh-CN" altLang="en-US" sz="2000" dirty="0">
                <a:solidFill>
                  <a:srgbClr val="595959"/>
                </a:solidFill>
                <a:latin typeface="微软雅黑" panose="020B0503020204020204" pitchFamily="34" charset="-122"/>
                <a:ea typeface="微软雅黑" panose="020B0503020204020204" pitchFamily="34" charset="-122"/>
              </a:rPr>
              <a:t>，它将被选举为新的主节点。</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选举机制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6" name="矩形: 圆顶角 35"/>
          <p:cNvSpPr/>
          <p:nvPr/>
        </p:nvSpPr>
        <p:spPr>
          <a:xfrm rot="10800000">
            <a:off x="991180" y="858497"/>
            <a:ext cx="1431617"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7" name="矩形 36"/>
          <p:cNvSpPr/>
          <p:nvPr/>
        </p:nvSpPr>
        <p:spPr>
          <a:xfrm>
            <a:off x="991181" y="879677"/>
            <a:ext cx="143161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实现过程</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0630" y="1314702"/>
            <a:ext cx="10369152" cy="4654608"/>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副本集在以下三种条件下会</a:t>
            </a:r>
            <a:r>
              <a:rPr lang="zh-CN" altLang="en-US" sz="2000" dirty="0">
                <a:solidFill>
                  <a:srgbClr val="1369B2"/>
                </a:solidFill>
                <a:latin typeface="微软雅黑" panose="020B0503020204020204" pitchFamily="34" charset="-122"/>
                <a:ea typeface="微软雅黑" panose="020B0503020204020204" pitchFamily="34" charset="-122"/>
              </a:rPr>
              <a:t>自动触发选举机制</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）初始化副本集是部署副本集的关键步骤，它的作用是建立各节点之间的连接，为后续的</a:t>
            </a:r>
            <a:r>
              <a:rPr lang="zh-CN" altLang="en-US" sz="2000" dirty="0">
                <a:solidFill>
                  <a:srgbClr val="1369B2"/>
                </a:solidFill>
                <a:latin typeface="微软雅黑" panose="020B0503020204020204" pitchFamily="34" charset="-122"/>
                <a:ea typeface="微软雅黑" panose="020B0503020204020204" pitchFamily="34" charset="-122"/>
              </a:rPr>
              <a:t>数据同步</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故障转移</a:t>
            </a:r>
            <a:r>
              <a:rPr lang="zh-CN" altLang="en-US" sz="2000" dirty="0">
                <a:solidFill>
                  <a:srgbClr val="595959"/>
                </a:solidFill>
                <a:latin typeface="微软雅黑" panose="020B0503020204020204" pitchFamily="34" charset="-122"/>
                <a:ea typeface="微软雅黑" panose="020B0503020204020204" pitchFamily="34" charset="-122"/>
              </a:rPr>
              <a:t>奠定基础。</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）在副本集运行过程中，当某个从节点向主节点发送心跳消息且主节点未在</a:t>
            </a:r>
            <a:r>
              <a:rPr lang="en-US" altLang="zh-CN" sz="2000" dirty="0">
                <a:solidFill>
                  <a:srgbClr val="1369B2"/>
                </a:solidFill>
                <a:latin typeface="微软雅黑" panose="020B0503020204020204" pitchFamily="34" charset="-122"/>
                <a:ea typeface="微软雅黑" panose="020B0503020204020204" pitchFamily="34" charset="-122"/>
              </a:rPr>
              <a:t>10</a:t>
            </a:r>
            <a:r>
              <a:rPr lang="zh-CN" altLang="en-US" sz="2000" dirty="0">
                <a:solidFill>
                  <a:srgbClr val="1369B2"/>
                </a:solidFill>
                <a:latin typeface="微软雅黑" panose="020B0503020204020204" pitchFamily="34" charset="-122"/>
                <a:ea typeface="微软雅黑" panose="020B0503020204020204" pitchFamily="34" charset="-122"/>
              </a:rPr>
              <a:t>秒内</a:t>
            </a:r>
            <a:r>
              <a:rPr lang="zh-CN" altLang="en-US" sz="2000" dirty="0">
                <a:solidFill>
                  <a:srgbClr val="595959"/>
                </a:solidFill>
                <a:latin typeface="微软雅黑" panose="020B0503020204020204" pitchFamily="34" charset="-122"/>
                <a:ea typeface="微软雅黑" panose="020B0503020204020204" pitchFamily="34" charset="-122"/>
              </a:rPr>
              <a:t>响应时，主节点将被视为不可用。此时，副本集会触发选举机制，选举出一个新的主节点。当原有</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恢复连接时，副本集会先将其降级为</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，以避免副本集中同时存在两个主节点，出现脑裂（</a:t>
            </a:r>
            <a:r>
              <a:rPr lang="en-US" altLang="zh-CN" sz="2000" dirty="0">
                <a:solidFill>
                  <a:srgbClr val="595959"/>
                </a:solidFill>
                <a:latin typeface="微软雅黑" panose="020B0503020204020204" pitchFamily="34" charset="-122"/>
                <a:ea typeface="微软雅黑" panose="020B0503020204020204" pitchFamily="34" charset="-122"/>
              </a:rPr>
              <a:t>Brain Split</a:t>
            </a:r>
            <a:r>
              <a:rPr lang="zh-CN" altLang="en-US" sz="2000" dirty="0">
                <a:solidFill>
                  <a:srgbClr val="595959"/>
                </a:solidFill>
                <a:latin typeface="微软雅黑" panose="020B0503020204020204" pitchFamily="34" charset="-122"/>
                <a:ea typeface="微软雅黑" panose="020B0503020204020204" pitchFamily="34" charset="-122"/>
              </a:rPr>
              <a:t>）的情况。如果原有</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的优先级要</a:t>
            </a:r>
            <a:r>
              <a:rPr lang="zh-CN" altLang="en-US" sz="2000" dirty="0">
                <a:solidFill>
                  <a:srgbClr val="1369B2"/>
                </a:solidFill>
                <a:latin typeface="微软雅黑" panose="020B0503020204020204" pitchFamily="34" charset="-122"/>
                <a:ea typeface="微软雅黑" panose="020B0503020204020204" pitchFamily="34" charset="-122"/>
              </a:rPr>
              <a:t>高于新的主节点</a:t>
            </a:r>
            <a:r>
              <a:rPr lang="zh-CN" altLang="en-US" sz="2000" dirty="0">
                <a:solidFill>
                  <a:srgbClr val="595959"/>
                </a:solidFill>
                <a:latin typeface="微软雅黑" panose="020B0503020204020204" pitchFamily="34" charset="-122"/>
                <a:ea typeface="微软雅黑" panose="020B0503020204020204" pitchFamily="34" charset="-122"/>
              </a:rPr>
              <a:t>，那么副本集会</a:t>
            </a:r>
            <a:r>
              <a:rPr lang="zh-CN" altLang="en-US" sz="2000" dirty="0">
                <a:solidFill>
                  <a:srgbClr val="1369B2"/>
                </a:solidFill>
                <a:latin typeface="微软雅黑" panose="020B0503020204020204" pitchFamily="34" charset="-122"/>
                <a:ea typeface="微软雅黑" panose="020B0503020204020204" pitchFamily="34" charset="-122"/>
              </a:rPr>
              <a:t>触发选举机制</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）在副本集运行过程中，如果添加了一个具备</a:t>
            </a:r>
            <a:r>
              <a:rPr lang="zh-CN" altLang="en-US" sz="2000" dirty="0">
                <a:solidFill>
                  <a:srgbClr val="1369B2"/>
                </a:solidFill>
                <a:latin typeface="微软雅黑" panose="020B0503020204020204" pitchFamily="34" charset="-122"/>
                <a:ea typeface="微软雅黑" panose="020B0503020204020204" pitchFamily="34" charset="-122"/>
              </a:rPr>
              <a:t>选举资格</a:t>
            </a:r>
            <a:r>
              <a:rPr lang="zh-CN" altLang="en-US" sz="2000" dirty="0">
                <a:solidFill>
                  <a:srgbClr val="595959"/>
                </a:solidFill>
                <a:latin typeface="微软雅黑" panose="020B0503020204020204" pitchFamily="34" charset="-122"/>
                <a:ea typeface="微软雅黑" panose="020B0503020204020204" pitchFamily="34" charset="-122"/>
              </a:rPr>
              <a:t>的从节点，在该节点完成初始复制后，副本集将触发选举机制。</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选举机制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6" name="矩形: 圆顶角 35"/>
          <p:cNvSpPr/>
          <p:nvPr/>
        </p:nvSpPr>
        <p:spPr>
          <a:xfrm rot="10800000">
            <a:off x="991180" y="858497"/>
            <a:ext cx="1431617"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7" name="矩形 36"/>
          <p:cNvSpPr/>
          <p:nvPr/>
        </p:nvSpPr>
        <p:spPr>
          <a:xfrm>
            <a:off x="991181" y="879677"/>
            <a:ext cx="143161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触发条件</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部署副本集</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掌握部署副本集，能够在</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Linux</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操作系统</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部署三节点的副本集</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807174" y="1845618"/>
            <a:ext cx="5201283" cy="3269613"/>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本节我们将在虚拟机</a:t>
            </a:r>
            <a:r>
              <a:rPr lang="en-US" altLang="zh-CN" sz="2000" dirty="0">
                <a:solidFill>
                  <a:srgbClr val="1369B2"/>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上部署一个包含三个节点的副本集。该副本集将由</a:t>
            </a:r>
            <a:r>
              <a:rPr lang="zh-CN" altLang="en-US" sz="2000" dirty="0">
                <a:solidFill>
                  <a:srgbClr val="1369B2"/>
                </a:solidFill>
                <a:latin typeface="微软雅黑" panose="020B0503020204020204" pitchFamily="34" charset="-122"/>
                <a:ea typeface="微软雅黑" panose="020B0503020204020204" pitchFamily="34" charset="-122"/>
              </a:rPr>
              <a:t>一个主节点</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两个从节点</a:t>
            </a:r>
            <a:r>
              <a:rPr lang="zh-CN" altLang="en-US" sz="2000" dirty="0">
                <a:solidFill>
                  <a:srgbClr val="595959"/>
                </a:solidFill>
                <a:latin typeface="微软雅黑" panose="020B0503020204020204" pitchFamily="34" charset="-122"/>
                <a:ea typeface="微软雅黑" panose="020B0503020204020204" pitchFamily="34" charset="-122"/>
              </a:rPr>
              <a:t>组成，其中主节点位于虚拟机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，两个从节点则分别位于虚拟机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。因此，我们需要在这三台虚拟机中安装</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并启动</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991180" y="2133650"/>
            <a:ext cx="6328162" cy="3291377"/>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1486694" y="2709714"/>
            <a:ext cx="5336969" cy="188461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在副本集模式下，用户通过</a:t>
            </a:r>
            <a:r>
              <a:rPr lang="zh-CN" altLang="en-US" sz="2000" dirty="0">
                <a:solidFill>
                  <a:srgbClr val="1369B2"/>
                </a:solidFill>
                <a:latin typeface="微软雅黑" panose="020B0503020204020204" pitchFamily="34" charset="-122"/>
                <a:ea typeface="微软雅黑" panose="020B0503020204020204" pitchFamily="34" charset="-122"/>
              </a:rPr>
              <a:t>配置文件</a:t>
            </a:r>
            <a:r>
              <a:rPr lang="zh-CN" altLang="en-US" sz="2000" dirty="0">
                <a:solidFill>
                  <a:srgbClr val="595959"/>
                </a:solidFill>
                <a:latin typeface="微软雅黑" panose="020B0503020204020204" pitchFamily="34" charset="-122"/>
                <a:ea typeface="微软雅黑" panose="020B0503020204020204" pitchFamily="34" charset="-122"/>
              </a:rPr>
              <a:t>或</a:t>
            </a:r>
            <a:r>
              <a:rPr lang="zh-CN" altLang="en-US" sz="2000" dirty="0">
                <a:solidFill>
                  <a:srgbClr val="1369B2"/>
                </a:solidFill>
                <a:latin typeface="微软雅黑" panose="020B0503020204020204" pitchFamily="34" charset="-122"/>
                <a:ea typeface="微软雅黑" panose="020B0503020204020204" pitchFamily="34" charset="-122"/>
              </a:rPr>
              <a:t>命令行选项</a:t>
            </a:r>
            <a:r>
              <a:rPr lang="zh-CN" altLang="en-US" sz="2000" dirty="0">
                <a:solidFill>
                  <a:srgbClr val="595959"/>
                </a:solidFill>
                <a:latin typeface="微软雅黑" panose="020B0503020204020204" pitchFamily="34" charset="-122"/>
                <a:ea typeface="微软雅黑" panose="020B0503020204020204" pitchFamily="34" charset="-122"/>
              </a:rPr>
              <a:t>启动</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服务时，除了需要添加</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服务的基础配置之外，还需要添加</a:t>
            </a:r>
            <a:r>
              <a:rPr lang="zh-CN" altLang="en-US" sz="2000" dirty="0">
                <a:solidFill>
                  <a:srgbClr val="1369B2"/>
                </a:solidFill>
                <a:latin typeface="微软雅黑" panose="020B0503020204020204" pitchFamily="34" charset="-122"/>
                <a:ea typeface="微软雅黑" panose="020B0503020204020204" pitchFamily="34" charset="-122"/>
              </a:rPr>
              <a:t>副本集的相应配置</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1"/>
          <a:stretch>
            <a:fillRect/>
          </a:stretch>
        </p:blipFill>
        <p:spPr>
          <a:xfrm>
            <a:off x="7670841" y="1890701"/>
            <a:ext cx="3528392" cy="33391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638" y="956337"/>
            <a:ext cx="10208099" cy="961289"/>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）如果用户通过配置文件</a:t>
            </a:r>
            <a:r>
              <a:rPr lang="zh-CN" altLang="en-US" sz="2000" dirty="0">
                <a:solidFill>
                  <a:srgbClr val="1369B2"/>
                </a:solidFill>
                <a:latin typeface="微软雅黑" panose="020B0503020204020204" pitchFamily="34" charset="-122"/>
                <a:ea typeface="微软雅黑" panose="020B0503020204020204" pitchFamily="34" charset="-122"/>
              </a:rPr>
              <a:t>启动</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，那么必须在配置文件中添加配置文件选项</a:t>
            </a:r>
            <a:r>
              <a:rPr lang="en-US" altLang="zh-CN" sz="2000" dirty="0">
                <a:solidFill>
                  <a:srgbClr val="595959"/>
                </a:solidFill>
                <a:latin typeface="微软雅黑" panose="020B0503020204020204" pitchFamily="34" charset="-122"/>
                <a:ea typeface="微软雅黑" panose="020B0503020204020204" pitchFamily="34" charset="-122"/>
              </a:rPr>
              <a:t>replication</a:t>
            </a:r>
            <a:r>
              <a:rPr lang="zh-CN" altLang="en-US" sz="2000" dirty="0">
                <a:solidFill>
                  <a:srgbClr val="595959"/>
                </a:solidFill>
                <a:latin typeface="微软雅黑" panose="020B0503020204020204" pitchFamily="34" charset="-122"/>
                <a:ea typeface="微软雅黑" panose="020B0503020204020204" pitchFamily="34" charset="-122"/>
              </a:rPr>
              <a:t>，该选项包含以下参数。</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 name="椭圆 2"/>
          <p:cNvSpPr/>
          <p:nvPr/>
        </p:nvSpPr>
        <p:spPr bwMode="auto">
          <a:xfrm rot="574600">
            <a:off x="1562710" y="3079750"/>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sz="2000" dirty="0">
              <a:solidFill>
                <a:schemeClr val="bg1"/>
              </a:solidFill>
              <a:latin typeface="Arial" panose="020B0604020202020204" pitchFamily="34" charset="0"/>
            </a:endParaRPr>
          </a:p>
        </p:txBody>
      </p:sp>
      <p:sp>
        <p:nvSpPr>
          <p:cNvPr id="4" name="TextBox 3"/>
          <p:cNvSpPr txBox="1">
            <a:spLocks noChangeArrowheads="1"/>
          </p:cNvSpPr>
          <p:nvPr/>
        </p:nvSpPr>
        <p:spPr bwMode="auto">
          <a:xfrm>
            <a:off x="1604085" y="3110806"/>
            <a:ext cx="367408" cy="40011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1</a:t>
            </a:r>
            <a:endParaRPr kumimoji="0" lang="zh-CN" altLang="en-US" sz="20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5" name="矩形 4"/>
          <p:cNvSpPr/>
          <p:nvPr/>
        </p:nvSpPr>
        <p:spPr>
          <a:xfrm>
            <a:off x="2051049" y="3069540"/>
            <a:ext cx="1854171" cy="453457"/>
          </a:xfrm>
          <a:prstGeom prst="rect">
            <a:avLst/>
          </a:prstGeom>
        </p:spPr>
        <p:txBody>
          <a:bodyPr wrap="square">
            <a:spAutoFit/>
          </a:bodyPr>
          <a:lstStyle/>
          <a:p>
            <a:pPr lvl="0" defTabSz="914400">
              <a:lnSpc>
                <a:spcPct val="130000"/>
              </a:lnSpc>
              <a:spcAft>
                <a:spcPts val="300"/>
              </a:spcAft>
              <a:defRPr/>
            </a:pPr>
            <a:r>
              <a:rPr lang="en-US" altLang="zh-CN" sz="2000" b="1" kern="0" dirty="0" err="1">
                <a:solidFill>
                  <a:srgbClr val="0070C0"/>
                </a:solidFill>
                <a:latin typeface="微软雅黑" panose="020B0503020204020204" pitchFamily="34" charset="-122"/>
                <a:ea typeface="微软雅黑" panose="020B0503020204020204" pitchFamily="34" charset="-122"/>
              </a:rPr>
              <a:t>replSetName</a:t>
            </a:r>
            <a:r>
              <a:rPr kumimoji="0" lang="zh-CN" altLang="en-US" sz="20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a:t>
            </a:r>
            <a:endParaRPr kumimoji="0" lang="en-US" altLang="zh-CN" sz="20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6" name="矩形 5"/>
          <p:cNvSpPr/>
          <p:nvPr/>
        </p:nvSpPr>
        <p:spPr>
          <a:xfrm>
            <a:off x="2035798" y="4191186"/>
            <a:ext cx="2220480" cy="400110"/>
          </a:xfrm>
          <a:prstGeom prst="rect">
            <a:avLst/>
          </a:prstGeom>
        </p:spPr>
        <p:txBody>
          <a:bodyPr wrap="none">
            <a:spAutoFit/>
          </a:bodyPr>
          <a:lstStyle/>
          <a:p>
            <a:pPr lvl="0" defTabSz="914400">
              <a:defRPr/>
            </a:pPr>
            <a:r>
              <a:rPr lang="en-US" altLang="zh-CN" sz="2000" b="1" kern="0" dirty="0" err="1">
                <a:solidFill>
                  <a:srgbClr val="0070C0"/>
                </a:solidFill>
                <a:latin typeface="微软雅黑" panose="020B0503020204020204" pitchFamily="34" charset="-122"/>
                <a:ea typeface="微软雅黑" panose="020B0503020204020204" pitchFamily="34" charset="-122"/>
              </a:rPr>
              <a:t>oplogSizeMB</a:t>
            </a:r>
            <a:r>
              <a:rPr kumimoji="0" lang="zh-CN" altLang="en-US" sz="20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 </a:t>
            </a:r>
            <a:endParaRPr kumimoji="0" lang="zh-CN" altLang="en-US" sz="20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7" name="直接连接符 6"/>
          <p:cNvCxnSpPr/>
          <p:nvPr/>
        </p:nvCxnSpPr>
        <p:spPr>
          <a:xfrm>
            <a:off x="1949736" y="3526580"/>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8" name="直接连接符 7"/>
          <p:cNvCxnSpPr/>
          <p:nvPr/>
        </p:nvCxnSpPr>
        <p:spPr>
          <a:xfrm>
            <a:off x="1998271" y="4612618"/>
            <a:ext cx="5904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9" name="矩形 8"/>
          <p:cNvSpPr/>
          <p:nvPr/>
        </p:nvSpPr>
        <p:spPr>
          <a:xfrm>
            <a:off x="4173155" y="2997746"/>
            <a:ext cx="3680581" cy="453457"/>
          </a:xfrm>
          <a:prstGeom prst="rect">
            <a:avLst/>
          </a:prstGeom>
        </p:spPr>
        <p:txBody>
          <a:bodyPr wrap="square">
            <a:spAutoFit/>
          </a:bodyPr>
          <a:lstStyle/>
          <a:p>
            <a:pPr>
              <a:lnSpc>
                <a:spcPct val="130000"/>
              </a:lnSpc>
              <a:spcAft>
                <a:spcPts val="300"/>
              </a:spcAft>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用于指定</a:t>
            </a:r>
            <a:r>
              <a:rPr lang="zh-CN" altLang="en-US" sz="2000" dirty="0">
                <a:solidFill>
                  <a:srgbClr val="1369B2"/>
                </a:solidFill>
                <a:latin typeface="微软雅黑" panose="020B0503020204020204" pitchFamily="34" charset="-122"/>
                <a:ea typeface="微软雅黑" panose="020B0503020204020204" pitchFamily="34" charset="-122"/>
              </a:rPr>
              <a:t>副本集的名称</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椭圆 9"/>
          <p:cNvSpPr/>
          <p:nvPr/>
        </p:nvSpPr>
        <p:spPr bwMode="auto">
          <a:xfrm rot="574600">
            <a:off x="1533830" y="4189004"/>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anose="020B0604020202020204" pitchFamily="34" charset="0"/>
              <a:buNone/>
            </a:pPr>
            <a:endParaRPr lang="zh-CN" altLang="en-US" sz="2000" dirty="0">
              <a:solidFill>
                <a:schemeClr val="bg1"/>
              </a:solidFill>
              <a:latin typeface="Arial" panose="020B0604020202020204" pitchFamily="34" charset="0"/>
            </a:endParaRPr>
          </a:p>
        </p:txBody>
      </p:sp>
      <p:sp>
        <p:nvSpPr>
          <p:cNvPr id="11" name="TextBox 10"/>
          <p:cNvSpPr txBox="1">
            <a:spLocks noChangeArrowheads="1"/>
          </p:cNvSpPr>
          <p:nvPr/>
        </p:nvSpPr>
        <p:spPr bwMode="auto">
          <a:xfrm>
            <a:off x="1575205" y="4220060"/>
            <a:ext cx="367408" cy="40011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20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28" name="矩形 27"/>
          <p:cNvSpPr/>
          <p:nvPr/>
        </p:nvSpPr>
        <p:spPr>
          <a:xfrm>
            <a:off x="4173287" y="4077866"/>
            <a:ext cx="5522319" cy="453457"/>
          </a:xfrm>
          <a:prstGeom prst="rect">
            <a:avLst/>
          </a:prstGeom>
        </p:spPr>
        <p:txBody>
          <a:bodyPr wrap="square">
            <a:spAutoFit/>
          </a:bodyPr>
          <a:lstStyle/>
          <a:p>
            <a:pPr>
              <a:lnSpc>
                <a:spcPct val="130000"/>
              </a:lnSpc>
              <a:spcAft>
                <a:spcPts val="300"/>
              </a:spcAft>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用于指定</a:t>
            </a:r>
            <a:r>
              <a:rPr lang="zh-CN" altLang="en-US" sz="2000" dirty="0">
                <a:solidFill>
                  <a:srgbClr val="1369B2"/>
                </a:solidFill>
                <a:latin typeface="微软雅黑" panose="020B0503020204020204" pitchFamily="34" charset="-122"/>
                <a:ea typeface="微软雅黑" panose="020B0503020204020204" pitchFamily="34" charset="-122"/>
              </a:rPr>
              <a:t>操作日志的容量上限</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，单位为</a:t>
            </a:r>
            <a:r>
              <a:rPr lang="zh-CN" altLang="en-US" sz="2000" dirty="0">
                <a:solidFill>
                  <a:srgbClr val="1369B2"/>
                </a:solidFill>
                <a:latin typeface="微软雅黑" panose="020B0503020204020204" pitchFamily="34" charset="-122"/>
                <a:ea typeface="微软雅黑" panose="020B0503020204020204" pitchFamily="34" charset="-122"/>
              </a:rPr>
              <a:t>兆字节</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42678" y="2421682"/>
            <a:ext cx="5472608" cy="2346283"/>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）如果用户通过命令行选项启动</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服务，那么必须添加命令行选项</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replSet</a:t>
            </a:r>
            <a:r>
              <a:rPr lang="zh-CN" altLang="en-US" sz="2000" dirty="0">
                <a:solidFill>
                  <a:srgbClr val="595959"/>
                </a:solidFill>
                <a:latin typeface="微软雅黑" panose="020B0503020204020204" pitchFamily="34" charset="-122"/>
                <a:ea typeface="微软雅黑" panose="020B0503020204020204" pitchFamily="34" charset="-122"/>
              </a:rPr>
              <a:t>用于指定副本集的名称。此外，还可以添加命令行选项</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oplogSize</a:t>
            </a:r>
            <a:r>
              <a:rPr lang="zh-CN" altLang="en-US" sz="2000" dirty="0">
                <a:solidFill>
                  <a:srgbClr val="595959"/>
                </a:solidFill>
                <a:latin typeface="微软雅黑" panose="020B0503020204020204" pitchFamily="34" charset="-122"/>
                <a:ea typeface="微软雅黑" panose="020B0503020204020204" pitchFamily="34" charset="-122"/>
              </a:rPr>
              <a:t>用于指定</a:t>
            </a:r>
            <a:r>
              <a:rPr lang="zh-CN" altLang="en-US" sz="2000" dirty="0">
                <a:solidFill>
                  <a:srgbClr val="1369B2"/>
                </a:solidFill>
                <a:latin typeface="微软雅黑" panose="020B0503020204020204" pitchFamily="34" charset="-122"/>
                <a:ea typeface="微软雅黑" panose="020B0503020204020204" pitchFamily="34" charset="-122"/>
              </a:rPr>
              <a:t>操作日志的容量上限</a:t>
            </a:r>
            <a:r>
              <a:rPr lang="zh-CN" altLang="en-US" sz="2000" dirty="0">
                <a:solidFill>
                  <a:srgbClr val="595959"/>
                </a:solidFill>
                <a:latin typeface="微软雅黑" panose="020B0503020204020204" pitchFamily="34" charset="-122"/>
                <a:ea typeface="微软雅黑" panose="020B0503020204020204" pitchFamily="34" charset="-122"/>
              </a:rPr>
              <a:t>，单位为</a:t>
            </a:r>
            <a:r>
              <a:rPr lang="zh-CN" altLang="en-US" sz="2000" dirty="0">
                <a:solidFill>
                  <a:srgbClr val="1369B2"/>
                </a:solidFill>
                <a:latin typeface="微软雅黑" panose="020B0503020204020204" pitchFamily="34" charset="-122"/>
                <a:ea typeface="微软雅黑" panose="020B0503020204020204" pitchFamily="34" charset="-122"/>
              </a:rPr>
              <a:t>兆字节</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1"/>
          <a:stretch>
            <a:fillRect/>
          </a:stretch>
        </p:blipFill>
        <p:spPr>
          <a:xfrm>
            <a:off x="7391350" y="1694616"/>
            <a:ext cx="3439619" cy="3314996"/>
          </a:xfrm>
          <a:prstGeom prst="rect">
            <a:avLst/>
          </a:prstGeom>
          <a:noFill/>
          <a:ln>
            <a:noFill/>
          </a:ln>
        </p:spPr>
      </p:pic>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807174" y="1845618"/>
            <a:ext cx="520128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接下来，将演示如何在虚拟机</a:t>
            </a:r>
            <a:r>
              <a:rPr lang="en-US" altLang="zh-CN" sz="2000" dirty="0">
                <a:solidFill>
                  <a:srgbClr val="1369B2"/>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上部署副本集，具体操作步骤如下。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639" y="1604409"/>
            <a:ext cx="6696744" cy="499624"/>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上创建以下目录。</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4" name="矩形: 圆顶角 13"/>
          <p:cNvSpPr/>
          <p:nvPr/>
        </p:nvSpPr>
        <p:spPr>
          <a:xfrm rot="10800000">
            <a:off x="991180" y="858497"/>
            <a:ext cx="1431617"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5" name="矩形 14"/>
          <p:cNvSpPr/>
          <p:nvPr/>
        </p:nvSpPr>
        <p:spPr>
          <a:xfrm>
            <a:off x="991181" y="879677"/>
            <a:ext cx="143161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创建目录</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椭圆 15"/>
          <p:cNvSpPr/>
          <p:nvPr/>
        </p:nvSpPr>
        <p:spPr bwMode="auto">
          <a:xfrm rot="574600">
            <a:off x="1045941" y="2857776"/>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7" name="TextBox 3"/>
          <p:cNvSpPr txBox="1">
            <a:spLocks noChangeArrowheads="1"/>
          </p:cNvSpPr>
          <p:nvPr/>
        </p:nvSpPr>
        <p:spPr bwMode="auto">
          <a:xfrm>
            <a:off x="1087316" y="2888832"/>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1</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18" name="矩形 17"/>
          <p:cNvSpPr/>
          <p:nvPr/>
        </p:nvSpPr>
        <p:spPr>
          <a:xfrm>
            <a:off x="1534281" y="2847566"/>
            <a:ext cx="3305616" cy="41735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defTabSz="914400">
              <a:lnSpc>
                <a:spcPct val="130000"/>
              </a:lnSpc>
              <a:spcAft>
                <a:spcPts val="300"/>
              </a:spcAft>
              <a:defRPr/>
            </a:pPr>
            <a:r>
              <a:rPr lang="en-US" altLang="zh-CN" sz="1800" b="1" kern="0" dirty="0">
                <a:solidFill>
                  <a:srgbClr val="0070C0"/>
                </a:solidFill>
                <a:latin typeface="微软雅黑" panose="020B0503020204020204" pitchFamily="34" charset="-122"/>
                <a:ea typeface="微软雅黑" panose="020B0503020204020204" pitchFamily="34" charset="-122"/>
              </a:rPr>
              <a:t>/export/servers/</a:t>
            </a:r>
            <a:r>
              <a:rPr lang="en-US" altLang="zh-CN" sz="1800" b="1" kern="0" dirty="0" err="1">
                <a:solidFill>
                  <a:srgbClr val="0070C0"/>
                </a:solidFill>
                <a:latin typeface="微软雅黑" panose="020B0503020204020204" pitchFamily="34" charset="-122"/>
                <a:ea typeface="微软雅黑" panose="020B0503020204020204" pitchFamily="34" charset="-122"/>
              </a:rPr>
              <a:t>replicaSet</a:t>
            </a:r>
            <a:r>
              <a:rPr kumimoji="0" lang="zh-CN" altLang="en-US" sz="18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rPr>
              <a:t>：</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
        <p:nvSpPr>
          <p:cNvPr id="19" name="矩形 18"/>
          <p:cNvSpPr/>
          <p:nvPr/>
        </p:nvSpPr>
        <p:spPr>
          <a:xfrm>
            <a:off x="1519029" y="3790144"/>
            <a:ext cx="3969356" cy="369332"/>
          </a:xfrm>
          <a:prstGeom prst="rect">
            <a:avLst/>
          </a:prstGeom>
        </p:spPr>
        <p:txBody>
          <a:bodyPr wrap="non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defTabSz="914400">
              <a:defRPr/>
            </a:pPr>
            <a:r>
              <a:rPr lang="en-US" altLang="zh-CN" sz="1800" b="1" kern="0" dirty="0">
                <a:solidFill>
                  <a:srgbClr val="0070C0"/>
                </a:solidFill>
                <a:latin typeface="微软雅黑" panose="020B0503020204020204" pitchFamily="34" charset="-122"/>
                <a:ea typeface="微软雅黑" panose="020B0503020204020204" pitchFamily="34" charset="-122"/>
              </a:rPr>
              <a:t>/export/servers/</a:t>
            </a:r>
            <a:r>
              <a:rPr lang="en-US" altLang="zh-CN" sz="1800" b="1" kern="0" dirty="0" err="1">
                <a:solidFill>
                  <a:srgbClr val="0070C0"/>
                </a:solidFill>
                <a:latin typeface="微软雅黑" panose="020B0503020204020204" pitchFamily="34" charset="-122"/>
                <a:ea typeface="微软雅黑" panose="020B0503020204020204" pitchFamily="34" charset="-122"/>
              </a:rPr>
              <a:t>replicaSet</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en-US" altLang="zh-CN" sz="1800" b="1" kern="0" dirty="0" err="1">
                <a:solidFill>
                  <a:srgbClr val="0070C0"/>
                </a:solidFill>
                <a:latin typeface="微软雅黑" panose="020B0503020204020204" pitchFamily="34" charset="-122"/>
                <a:ea typeface="微软雅黑" panose="020B0503020204020204" pitchFamily="34" charset="-122"/>
              </a:rPr>
              <a:t>db</a:t>
            </a:r>
            <a:r>
              <a:rPr lang="zh-CN" altLang="en-US" sz="1800" b="1" kern="0" dirty="0">
                <a:solidFill>
                  <a:srgbClr val="0070C0"/>
                </a:solidFill>
                <a:latin typeface="微软雅黑" panose="020B0503020204020204" pitchFamily="34" charset="-122"/>
                <a:ea typeface="微软雅黑" panose="020B0503020204020204"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anose="020B0604020202020204" pitchFamily="34" charset="0"/>
              <a:ea typeface="宋体" panose="02010600030101010101" pitchFamily="2" charset="-122"/>
            </a:endParaRPr>
          </a:p>
        </p:txBody>
      </p:sp>
      <p:cxnSp>
        <p:nvCxnSpPr>
          <p:cNvPr id="20" name="直接连接符 19"/>
          <p:cNvCxnSpPr/>
          <p:nvPr/>
        </p:nvCxnSpPr>
        <p:spPr>
          <a:xfrm>
            <a:off x="1432967" y="3304606"/>
            <a:ext cx="8140459" cy="18096"/>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22" name="直接连接符 21"/>
          <p:cNvCxnSpPr/>
          <p:nvPr/>
        </p:nvCxnSpPr>
        <p:spPr>
          <a:xfrm flipV="1">
            <a:off x="1481502" y="4159476"/>
            <a:ext cx="8091924" cy="5210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23" name="矩形 22"/>
          <p:cNvSpPr/>
          <p:nvPr/>
        </p:nvSpPr>
        <p:spPr>
          <a:xfrm>
            <a:off x="5015086" y="2854962"/>
            <a:ext cx="4298315" cy="45345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spcAft>
                <a:spcPts val="300"/>
              </a:spcAft>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用于存放副本集的配置文件</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4" name="椭圆 23"/>
          <p:cNvSpPr/>
          <p:nvPr/>
        </p:nvSpPr>
        <p:spPr bwMode="auto">
          <a:xfrm rot="574600">
            <a:off x="1017061" y="3787962"/>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25" name="TextBox 10"/>
          <p:cNvSpPr txBox="1">
            <a:spLocks noChangeArrowheads="1"/>
          </p:cNvSpPr>
          <p:nvPr/>
        </p:nvSpPr>
        <p:spPr bwMode="auto">
          <a:xfrm>
            <a:off x="1058436" y="3819018"/>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2</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26" name="矩形 25"/>
          <p:cNvSpPr/>
          <p:nvPr/>
        </p:nvSpPr>
        <p:spPr>
          <a:xfrm>
            <a:off x="1481694" y="4684660"/>
            <a:ext cx="4181464" cy="41735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defTabSz="914400">
              <a:lnSpc>
                <a:spcPct val="130000"/>
              </a:lnSpc>
              <a:spcAft>
                <a:spcPts val="300"/>
              </a:spcAft>
              <a:defRPr/>
            </a:pPr>
            <a:r>
              <a:rPr lang="en-US" altLang="zh-CN" sz="1800" b="1" kern="0" dirty="0">
                <a:solidFill>
                  <a:srgbClr val="0070C0"/>
                </a:solidFill>
                <a:latin typeface="微软雅黑" panose="020B0503020204020204" pitchFamily="34" charset="-122"/>
                <a:ea typeface="微软雅黑" panose="020B0503020204020204" pitchFamily="34" charset="-122"/>
              </a:rPr>
              <a:t>/export/servers/</a:t>
            </a:r>
            <a:r>
              <a:rPr lang="en-US" altLang="zh-CN" sz="1800" b="1" kern="0" dirty="0" err="1">
                <a:solidFill>
                  <a:srgbClr val="0070C0"/>
                </a:solidFill>
                <a:latin typeface="微软雅黑" panose="020B0503020204020204" pitchFamily="34" charset="-122"/>
                <a:ea typeface="微软雅黑" panose="020B0503020204020204" pitchFamily="34" charset="-122"/>
              </a:rPr>
              <a:t>replicaSet</a:t>
            </a:r>
            <a:r>
              <a:rPr lang="en-US" altLang="zh-CN" sz="1800" b="1" kern="0" dirty="0">
                <a:solidFill>
                  <a:srgbClr val="0070C0"/>
                </a:solidFill>
                <a:latin typeface="微软雅黑" panose="020B0503020204020204" pitchFamily="34" charset="-122"/>
                <a:ea typeface="微软雅黑" panose="020B0503020204020204" pitchFamily="34" charset="-122"/>
              </a:rPr>
              <a:t>/logs</a:t>
            </a:r>
            <a:r>
              <a:rPr lang="zh-CN" altLang="en-US" sz="1800" b="1" kern="0" dirty="0">
                <a:solidFill>
                  <a:srgbClr val="0070C0"/>
                </a:solidFill>
                <a:latin typeface="微软雅黑" panose="020B0503020204020204" pitchFamily="34" charset="-122"/>
                <a:ea typeface="微软雅黑" panose="020B0503020204020204" pitchFamily="34" charset="-122"/>
              </a:rPr>
              <a:t>：</a:t>
            </a:r>
            <a:endParaRPr kumimoji="0" lang="en-US" altLang="zh-CN"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1459666" y="5178403"/>
            <a:ext cx="8091924" cy="5961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29" name="椭圆 28"/>
          <p:cNvSpPr/>
          <p:nvPr/>
        </p:nvSpPr>
        <p:spPr bwMode="auto">
          <a:xfrm rot="574600">
            <a:off x="1015564" y="4837076"/>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30" name="TextBox 14"/>
          <p:cNvSpPr txBox="1">
            <a:spLocks noChangeArrowheads="1"/>
          </p:cNvSpPr>
          <p:nvPr/>
        </p:nvSpPr>
        <p:spPr bwMode="auto">
          <a:xfrm>
            <a:off x="1056939" y="4868132"/>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ysClr val="window" lastClr="FFFFFF"/>
                </a:solidFill>
                <a:effectLst/>
                <a:uLnTx/>
                <a:uFillTx/>
                <a:latin typeface="Verdana" panose="020B0604030504040204" pitchFamily="34" charset="0"/>
                <a:ea typeface="宋体" panose="02010600030101010101" pitchFamily="2" charset="-122"/>
              </a:rPr>
              <a:t>3</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31" name="矩形 30"/>
          <p:cNvSpPr/>
          <p:nvPr/>
        </p:nvSpPr>
        <p:spPr>
          <a:xfrm>
            <a:off x="5375126" y="3738044"/>
            <a:ext cx="4298315" cy="45345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spcAft>
                <a:spcPts val="300"/>
              </a:spcAft>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用于存放副本集的数据文件</a:t>
            </a:r>
            <a:endParaRPr 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2" name="矩形 31"/>
          <p:cNvSpPr/>
          <p:nvPr/>
        </p:nvSpPr>
        <p:spPr>
          <a:xfrm>
            <a:off x="5522369" y="4628486"/>
            <a:ext cx="3791032" cy="45345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spcAft>
                <a:spcPts val="300"/>
              </a:spcAft>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用于存放副本集的日志文件</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0630" y="1418002"/>
            <a:ext cx="8424936" cy="499624"/>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分别在虚拟机</a:t>
            </a:r>
            <a:r>
              <a:rPr lang="en-US" altLang="zh-CN" sz="2000" dirty="0">
                <a:solidFill>
                  <a:srgbClr val="1369B2"/>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执行下列命令。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071210" y="2493690"/>
            <a:ext cx="7544276" cy="2455856"/>
            <a:chOff x="1181682" y="2283718"/>
            <a:chExt cx="8348540" cy="3392174"/>
          </a:xfrm>
        </p:grpSpPr>
        <p:sp>
          <p:nvSpPr>
            <p:cNvPr id="7" name="矩形 6"/>
            <p:cNvSpPr/>
            <p:nvPr/>
          </p:nvSpPr>
          <p:spPr>
            <a:xfrm>
              <a:off x="1181682" y="2283718"/>
              <a:ext cx="8348540" cy="33921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748646" y="2890964"/>
              <a:ext cx="7568885" cy="196546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mkdir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mkdir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mkdir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80" y="858497"/>
            <a:ext cx="1431617"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143161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创建目录</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0630" y="1418002"/>
            <a:ext cx="10513168" cy="1422954"/>
          </a:xfrm>
          <a:prstGeom prst="rect">
            <a:avLst/>
          </a:prstGeom>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err="1">
                <a:solidFill>
                  <a:srgbClr val="1369B2"/>
                </a:solidFill>
                <a:latin typeface="微软雅黑" panose="020B0503020204020204" pitchFamily="34" charset="-122"/>
                <a:ea typeface="微软雅黑" panose="020B0503020204020204" pitchFamily="34" charset="-122"/>
              </a:rPr>
              <a:t>scp</a:t>
            </a:r>
            <a:r>
              <a:rPr lang="zh-CN" altLang="en-US" sz="2000" dirty="0">
                <a:solidFill>
                  <a:srgbClr val="595959"/>
                </a:solidFill>
                <a:latin typeface="微软雅黑" panose="020B0503020204020204" pitchFamily="34" charset="-122"/>
                <a:ea typeface="微软雅黑" panose="020B0503020204020204" pitchFamily="34" charset="-122"/>
              </a:rPr>
              <a:t>命令将虚拟机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安装目录分发到虚拟机</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zh-CN" altLang="en-US" sz="2000" dirty="0">
                <a:solidFill>
                  <a:srgbClr val="595959"/>
                </a:solidFill>
                <a:latin typeface="微软雅黑" panose="020B0503020204020204" pitchFamily="34" charset="-122"/>
                <a:ea typeface="微软雅黑" panose="020B0503020204020204" pitchFamily="34" charset="-122"/>
              </a:rPr>
              <a:t>目录，从而在虚拟机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中完成</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的安装。在虚拟机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中执行下列命令。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071210" y="3278194"/>
            <a:ext cx="9920540" cy="2527864"/>
            <a:chOff x="1181682" y="2283718"/>
            <a:chExt cx="8348540" cy="3491636"/>
          </a:xfrm>
        </p:grpSpPr>
        <p:sp>
          <p:nvSpPr>
            <p:cNvPr id="7" name="矩形 6"/>
            <p:cNvSpPr/>
            <p:nvPr/>
          </p:nvSpPr>
          <p:spPr>
            <a:xfrm>
              <a:off x="1181682" y="2283718"/>
              <a:ext cx="8348540" cy="33921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531329" y="3172208"/>
              <a:ext cx="7568885" cy="260314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 /export/servers/mongodb-7.0.12/ nosql02:/export/servers/</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 /export/servers/mongodb-7.0.12/ nosql03:/export/servers/</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9" y="858497"/>
            <a:ext cx="2007679"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2007681"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安装</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矩形: 圆角 11"/>
          <p:cNvSpPr/>
          <p:nvPr/>
        </p:nvSpPr>
        <p:spPr>
          <a:xfrm>
            <a:off x="1486694" y="4005858"/>
            <a:ext cx="8136904" cy="44588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nvCxnSpPr>
        <p:spPr>
          <a:xfrm flipV="1">
            <a:off x="9623598" y="3808736"/>
            <a:ext cx="0" cy="497054"/>
          </a:xfrm>
          <a:prstGeom prst="straightConnector1">
            <a:avLst/>
          </a:prstGeom>
          <a:ln w="12700">
            <a:solidFill>
              <a:srgbClr val="1369B2"/>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圆角 13"/>
          <p:cNvSpPr/>
          <p:nvPr/>
        </p:nvSpPr>
        <p:spPr>
          <a:xfrm>
            <a:off x="8183438" y="3374013"/>
            <a:ext cx="2613216" cy="43472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224203" y="3406708"/>
            <a:ext cx="2613216" cy="369332"/>
          </a:xfrm>
          <a:prstGeom prst="rect">
            <a:avLst/>
          </a:prstGeom>
          <a:noFill/>
        </p:spPr>
        <p:txBody>
          <a:bodyPr wrap="none" rtlCol="0">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分发到虚拟机</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NoSQL02</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圆角 15"/>
          <p:cNvSpPr/>
          <p:nvPr/>
        </p:nvSpPr>
        <p:spPr>
          <a:xfrm>
            <a:off x="1501180" y="4501061"/>
            <a:ext cx="8136904" cy="44588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p:nvPr/>
        </p:nvCxnSpPr>
        <p:spPr>
          <a:xfrm>
            <a:off x="9638084" y="4585859"/>
            <a:ext cx="0" cy="555780"/>
          </a:xfrm>
          <a:prstGeom prst="straightConnector1">
            <a:avLst/>
          </a:prstGeom>
          <a:ln w="12700">
            <a:solidFill>
              <a:srgbClr val="1369B2"/>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圆角 17"/>
          <p:cNvSpPr/>
          <p:nvPr/>
        </p:nvSpPr>
        <p:spPr>
          <a:xfrm>
            <a:off x="8246200" y="5138318"/>
            <a:ext cx="2613216" cy="43472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286965" y="5171013"/>
            <a:ext cx="2613216" cy="369332"/>
          </a:xfrm>
          <a:prstGeom prst="rect">
            <a:avLst/>
          </a:prstGeom>
          <a:noFill/>
        </p:spPr>
        <p:txBody>
          <a:bodyPr wrap="none" rtlCol="0">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分发到虚拟机</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p:cNvSpPr/>
          <p:nvPr/>
        </p:nvSpPr>
        <p:spPr>
          <a:xfrm>
            <a:off x="3021596" y="2925738"/>
            <a:ext cx="8462660" cy="3116864"/>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8" y="858497"/>
            <a:ext cx="3375832"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3375833"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配置</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服务运行参数</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402202" cy="13360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创建并编辑配置文件</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595959"/>
                </a:solidFill>
                <a:latin typeface="微软雅黑" panose="020B0503020204020204" pitchFamily="34" charset="-122"/>
                <a:ea typeface="微软雅黑" panose="020B0503020204020204" pitchFamily="34" charset="-122"/>
              </a:rPr>
              <a:t>NoSQL01</a:t>
            </a:r>
            <a:r>
              <a:rPr lang="zh-CN" altLang="en-US" dirty="0">
                <a:solidFill>
                  <a:srgbClr val="595959"/>
                </a:solidFill>
                <a:latin typeface="微软雅黑" panose="020B0503020204020204" pitchFamily="34" charset="-122"/>
                <a:ea typeface="微软雅黑" panose="020B0503020204020204" pitchFamily="34" charset="-122"/>
              </a:rPr>
              <a:t>、</a:t>
            </a:r>
            <a:r>
              <a:rPr lang="en-US" altLang="zh-CN" dirty="0">
                <a:solidFill>
                  <a:srgbClr val="595959"/>
                </a:solidFill>
                <a:latin typeface="微软雅黑" panose="020B0503020204020204" pitchFamily="34" charset="-122"/>
                <a:ea typeface="微软雅黑" panose="020B0503020204020204" pitchFamily="34" charset="-122"/>
              </a:rPr>
              <a:t>NoSQL02</a:t>
            </a:r>
            <a:r>
              <a:rPr lang="zh-CN" altLang="en-US" dirty="0">
                <a:solidFill>
                  <a:srgbClr val="595959"/>
                </a:solidFill>
                <a:latin typeface="微软雅黑" panose="020B0503020204020204" pitchFamily="34" charset="-122"/>
                <a:ea typeface="微软雅黑" panose="020B0503020204020204" pitchFamily="34" charset="-122"/>
              </a:rPr>
              <a:t>和</a:t>
            </a:r>
            <a:r>
              <a:rPr lang="en-US" altLang="zh-CN" dirty="0">
                <a:solidFill>
                  <a:srgbClr val="595959"/>
                </a:solidFill>
                <a:latin typeface="微软雅黑" panose="020B0503020204020204" pitchFamily="34" charset="-122"/>
                <a:ea typeface="微软雅黑" panose="020B0503020204020204" pitchFamily="34" charset="-122"/>
              </a:rPr>
              <a:t>NoSQL03</a:t>
            </a:r>
            <a:r>
              <a:rPr lang="zh-CN" altLang="en-US" dirty="0">
                <a:solidFill>
                  <a:srgbClr val="595959"/>
                </a:solidFill>
                <a:latin typeface="微软雅黑" panose="020B0503020204020204" pitchFamily="34" charset="-122"/>
                <a:ea typeface="微软雅黑" panose="020B0503020204020204" pitchFamily="34" charset="-122"/>
              </a:rPr>
              <a:t>的</a:t>
            </a:r>
            <a:r>
              <a:rPr lang="en-US" altLang="zh-CN" dirty="0">
                <a:solidFill>
                  <a:srgbClr val="595959"/>
                </a:solidFill>
                <a:latin typeface="微软雅黑" panose="020B0503020204020204" pitchFamily="34" charset="-122"/>
                <a:ea typeface="微软雅黑" panose="020B0503020204020204" pitchFamily="34" charset="-122"/>
              </a:rPr>
              <a:t>/export/servers/</a:t>
            </a:r>
            <a:r>
              <a:rPr lang="en-US" altLang="zh-CN" dirty="0" err="1">
                <a:solidFill>
                  <a:srgbClr val="595959"/>
                </a:solidFill>
                <a:latin typeface="微软雅黑" panose="020B0503020204020204" pitchFamily="34" charset="-122"/>
                <a:ea typeface="微软雅黑" panose="020B0503020204020204" pitchFamily="34" charset="-122"/>
              </a:rPr>
              <a:t>replicaSet</a:t>
            </a:r>
            <a:r>
              <a:rPr lang="zh-CN" altLang="en-US" dirty="0">
                <a:solidFill>
                  <a:srgbClr val="595959"/>
                </a:solidFill>
                <a:latin typeface="微软雅黑" panose="020B0503020204020204" pitchFamily="34" charset="-122"/>
                <a:ea typeface="微软雅黑" panose="020B0503020204020204" pitchFamily="34" charset="-122"/>
              </a:rPr>
              <a:t>目录中</a:t>
            </a:r>
            <a:r>
              <a:rPr lang="zh-CN" altLang="en-US" dirty="0">
                <a:solidFill>
                  <a:srgbClr val="1369B2"/>
                </a:solidFill>
                <a:latin typeface="微软雅黑" panose="020B0503020204020204" pitchFamily="34" charset="-122"/>
                <a:ea typeface="微软雅黑" panose="020B0503020204020204" pitchFamily="34" charset="-122"/>
              </a:rPr>
              <a:t>创建并编辑配置文件</a:t>
            </a:r>
            <a:r>
              <a:rPr lang="en-US" altLang="zh-CN" dirty="0" err="1">
                <a:solidFill>
                  <a:srgbClr val="1369B2"/>
                </a:solidFill>
                <a:latin typeface="微软雅黑" panose="020B0503020204020204" pitchFamily="34" charset="-122"/>
                <a:ea typeface="微软雅黑" panose="020B0503020204020204" pitchFamily="34" charset="-122"/>
              </a:rPr>
              <a:t>mongod.conf</a:t>
            </a:r>
            <a:r>
              <a:rPr lang="zh-CN" altLang="en-US" dirty="0">
                <a:solidFill>
                  <a:srgbClr val="595959"/>
                </a:solidFill>
                <a:latin typeface="微软雅黑" panose="020B0503020204020204" pitchFamily="34" charset="-122"/>
                <a:ea typeface="微软雅黑" panose="020B0503020204020204" pitchFamily="34" charset="-122"/>
              </a:rPr>
              <a:t>。分别在这三台虚拟机中执行如下命令。</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502918" y="3749907"/>
            <a:ext cx="7544276" cy="1336071"/>
            <a:chOff x="1181682" y="2283718"/>
            <a:chExt cx="8348540" cy="1845461"/>
          </a:xfrm>
        </p:grpSpPr>
        <p:sp>
          <p:nvSpPr>
            <p:cNvPr id="21" name="矩形 20"/>
            <p:cNvSpPr/>
            <p:nvPr/>
          </p:nvSpPr>
          <p:spPr>
            <a:xfrm>
              <a:off x="1181682" y="2283718"/>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748646" y="2890964"/>
              <a:ext cx="7568885" cy="69011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vi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mongod.conf</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8" y="858497"/>
            <a:ext cx="3375832"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3375833"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配置</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服务运行参数</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402202"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向</a:t>
            </a:r>
            <a:r>
              <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NoSQL01</a:t>
            </a: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的配置文件添加内容</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1369B2"/>
                </a:solidFill>
                <a:latin typeface="微软雅黑" panose="020B0503020204020204" pitchFamily="34" charset="-122"/>
                <a:ea typeface="微软雅黑" panose="020B0503020204020204" pitchFamily="34" charset="-122"/>
              </a:rPr>
              <a:t>NoSQL01</a:t>
            </a:r>
            <a:r>
              <a:rPr lang="zh-CN" altLang="en-US" dirty="0">
                <a:solidFill>
                  <a:srgbClr val="595959"/>
                </a:solidFill>
                <a:latin typeface="微软雅黑" panose="020B0503020204020204" pitchFamily="34" charset="-122"/>
                <a:ea typeface="微软雅黑" panose="020B0503020204020204" pitchFamily="34" charset="-122"/>
              </a:rPr>
              <a:t>的配置文件</a:t>
            </a:r>
            <a:r>
              <a:rPr lang="en-US" altLang="zh-CN" dirty="0" err="1">
                <a:solidFill>
                  <a:srgbClr val="1369B2"/>
                </a:solidFill>
                <a:latin typeface="微软雅黑" panose="020B0503020204020204" pitchFamily="34" charset="-122"/>
                <a:ea typeface="微软雅黑" panose="020B0503020204020204" pitchFamily="34" charset="-122"/>
              </a:rPr>
              <a:t>mongod.conf</a:t>
            </a:r>
            <a:r>
              <a:rPr lang="zh-CN" altLang="en-US" dirty="0">
                <a:solidFill>
                  <a:srgbClr val="595959"/>
                </a:solidFill>
                <a:latin typeface="微软雅黑" panose="020B0503020204020204" pitchFamily="34" charset="-122"/>
                <a:ea typeface="微软雅黑" panose="020B0503020204020204" pitchFamily="34" charset="-122"/>
              </a:rPr>
              <a:t>中添加如下内容。</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351650"/>
            <a:ext cx="8056607" cy="4240943"/>
            <a:chOff x="1181682" y="2283718"/>
            <a:chExt cx="8517066" cy="2981118"/>
          </a:xfrm>
        </p:grpSpPr>
        <p:sp>
          <p:nvSpPr>
            <p:cNvPr id="21" name="矩形 20"/>
            <p:cNvSpPr/>
            <p:nvPr/>
          </p:nvSpPr>
          <p:spPr>
            <a:xfrm>
              <a:off x="1181682" y="2283718"/>
              <a:ext cx="8348540" cy="29811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739473" y="2297572"/>
              <a:ext cx="7959275" cy="294606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systemLog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destination: file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path: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/logs/mongodb.log</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logAppend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bindIp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nosql01</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storage: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processManagement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fork: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replication: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oplogSizeMB</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1024</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rs0</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8" y="858497"/>
            <a:ext cx="3375832"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3375833"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配置</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服务运行参数</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402202"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向</a:t>
            </a:r>
            <a:r>
              <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NoSQL02</a:t>
            </a: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的配置文件添加内容</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1369B2"/>
                </a:solidFill>
                <a:latin typeface="微软雅黑" panose="020B0503020204020204" pitchFamily="34" charset="-122"/>
                <a:ea typeface="微软雅黑" panose="020B0503020204020204" pitchFamily="34" charset="-122"/>
              </a:rPr>
              <a:t>NoSQL02</a:t>
            </a:r>
            <a:r>
              <a:rPr lang="zh-CN" altLang="en-US" dirty="0">
                <a:solidFill>
                  <a:srgbClr val="595959"/>
                </a:solidFill>
                <a:latin typeface="微软雅黑" panose="020B0503020204020204" pitchFamily="34" charset="-122"/>
                <a:ea typeface="微软雅黑" panose="020B0503020204020204" pitchFamily="34" charset="-122"/>
              </a:rPr>
              <a:t>的配置文件</a:t>
            </a:r>
            <a:r>
              <a:rPr lang="en-US" altLang="zh-CN" dirty="0" err="1">
                <a:solidFill>
                  <a:srgbClr val="1369B2"/>
                </a:solidFill>
                <a:latin typeface="微软雅黑" panose="020B0503020204020204" pitchFamily="34" charset="-122"/>
                <a:ea typeface="微软雅黑" panose="020B0503020204020204" pitchFamily="34" charset="-122"/>
              </a:rPr>
              <a:t>mongod.conf</a:t>
            </a:r>
            <a:r>
              <a:rPr lang="zh-CN" altLang="en-US" dirty="0">
                <a:solidFill>
                  <a:srgbClr val="595959"/>
                </a:solidFill>
                <a:latin typeface="微软雅黑" panose="020B0503020204020204" pitchFamily="34" charset="-122"/>
                <a:ea typeface="微软雅黑" panose="020B0503020204020204" pitchFamily="34" charset="-122"/>
              </a:rPr>
              <a:t>中添加如下内容。</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351650"/>
            <a:ext cx="8056607" cy="4240943"/>
            <a:chOff x="1181682" y="2283718"/>
            <a:chExt cx="8517066" cy="2981118"/>
          </a:xfrm>
        </p:grpSpPr>
        <p:sp>
          <p:nvSpPr>
            <p:cNvPr id="21" name="矩形 20"/>
            <p:cNvSpPr/>
            <p:nvPr/>
          </p:nvSpPr>
          <p:spPr>
            <a:xfrm>
              <a:off x="1181682" y="2283718"/>
              <a:ext cx="8348540" cy="29811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739473" y="2297572"/>
              <a:ext cx="7959275" cy="294606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systemLog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destination: file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path: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/logs/mongodb.log</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logAppend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bindIp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nosql02</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storage: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processManagement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fork: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replication: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oplogSizeMB</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1024</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rs0</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8" y="858497"/>
            <a:ext cx="3375832"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3375833"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配置</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服务运行参数</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402202"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向</a:t>
            </a:r>
            <a:r>
              <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NoSQL03</a:t>
            </a: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的配置文件添加内容</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1369B2"/>
                </a:solidFill>
                <a:latin typeface="微软雅黑" panose="020B0503020204020204" pitchFamily="34" charset="-122"/>
                <a:ea typeface="微软雅黑" panose="020B0503020204020204" pitchFamily="34" charset="-122"/>
              </a:rPr>
              <a:t>NoSQL03</a:t>
            </a:r>
            <a:r>
              <a:rPr lang="zh-CN" altLang="en-US" dirty="0">
                <a:solidFill>
                  <a:srgbClr val="595959"/>
                </a:solidFill>
                <a:latin typeface="微软雅黑" panose="020B0503020204020204" pitchFamily="34" charset="-122"/>
                <a:ea typeface="微软雅黑" panose="020B0503020204020204" pitchFamily="34" charset="-122"/>
              </a:rPr>
              <a:t>的配置文件</a:t>
            </a:r>
            <a:r>
              <a:rPr lang="en-US" altLang="zh-CN" dirty="0" err="1">
                <a:solidFill>
                  <a:srgbClr val="1369B2"/>
                </a:solidFill>
                <a:latin typeface="微软雅黑" panose="020B0503020204020204" pitchFamily="34" charset="-122"/>
                <a:ea typeface="微软雅黑" panose="020B0503020204020204" pitchFamily="34" charset="-122"/>
              </a:rPr>
              <a:t>mongod.conf</a:t>
            </a:r>
            <a:r>
              <a:rPr lang="zh-CN" altLang="en-US" dirty="0">
                <a:solidFill>
                  <a:srgbClr val="595959"/>
                </a:solidFill>
                <a:latin typeface="微软雅黑" panose="020B0503020204020204" pitchFamily="34" charset="-122"/>
                <a:ea typeface="微软雅黑" panose="020B0503020204020204" pitchFamily="34" charset="-122"/>
              </a:rPr>
              <a:t>中添加如下内容。</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351650"/>
            <a:ext cx="8056607" cy="4240943"/>
            <a:chOff x="1181682" y="2283718"/>
            <a:chExt cx="8517066" cy="2981118"/>
          </a:xfrm>
        </p:grpSpPr>
        <p:sp>
          <p:nvSpPr>
            <p:cNvPr id="21" name="矩形 20"/>
            <p:cNvSpPr/>
            <p:nvPr/>
          </p:nvSpPr>
          <p:spPr>
            <a:xfrm>
              <a:off x="1181682" y="2283718"/>
              <a:ext cx="8348540" cy="29811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739473" y="2297572"/>
              <a:ext cx="7959275" cy="294606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systemLog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destination: file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path: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/logs/mongodb.log</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logAppend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bindIp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nosql03</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storage: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processManagement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fork: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replication: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oplogSizeMB</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1024</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rs0</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圆顶角 9"/>
          <p:cNvSpPr/>
          <p:nvPr/>
        </p:nvSpPr>
        <p:spPr>
          <a:xfrm rot="10800000">
            <a:off x="991178" y="858497"/>
            <a:ext cx="3591860"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 name="矩形 10"/>
          <p:cNvSpPr/>
          <p:nvPr/>
        </p:nvSpPr>
        <p:spPr>
          <a:xfrm>
            <a:off x="991181" y="879677"/>
            <a:ext cx="36638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4.</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配置</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的系统环境变量</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1"/>
          <p:cNvSpPr txBox="1"/>
          <p:nvPr/>
        </p:nvSpPr>
        <p:spPr>
          <a:xfrm>
            <a:off x="991178" y="1430444"/>
            <a:ext cx="10432620"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err="1">
                <a:solidFill>
                  <a:srgbClr val="595959"/>
                </a:solidFill>
                <a:latin typeface="微软雅黑" panose="020B0503020204020204" pitchFamily="34" charset="-122"/>
                <a:ea typeface="微软雅黑" panose="020B0503020204020204" pitchFamily="34" charset="-122"/>
              </a:rPr>
              <a:t>scp</a:t>
            </a:r>
            <a:r>
              <a:rPr lang="zh-CN" altLang="en-US" sz="2000" dirty="0">
                <a:solidFill>
                  <a:srgbClr val="595959"/>
                </a:solidFill>
                <a:latin typeface="微软雅黑" panose="020B0503020204020204" pitchFamily="34" charset="-122"/>
                <a:ea typeface="微软雅黑" panose="020B0503020204020204" pitchFamily="34" charset="-122"/>
              </a:rPr>
              <a:t>命令将虚拟机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中的系统环境变量文件</a:t>
            </a:r>
            <a:r>
              <a:rPr lang="en-US" altLang="zh-CN" sz="2000" dirty="0">
                <a:solidFill>
                  <a:srgbClr val="1369B2"/>
                </a:solidFill>
                <a:latin typeface="微软雅黑" panose="020B0503020204020204" pitchFamily="34" charset="-122"/>
                <a:ea typeface="微软雅黑" panose="020B0503020204020204" pitchFamily="34" charset="-122"/>
              </a:rPr>
              <a:t>profile</a:t>
            </a:r>
            <a:r>
              <a:rPr lang="zh-CN" altLang="en-US" sz="2000" dirty="0">
                <a:solidFill>
                  <a:srgbClr val="595959"/>
                </a:solidFill>
                <a:latin typeface="微软雅黑" panose="020B0503020204020204" pitchFamily="34" charset="-122"/>
                <a:ea typeface="微软雅黑" panose="020B0503020204020204" pitchFamily="34" charset="-122"/>
              </a:rPr>
              <a:t>分发到虚拟机</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etc</a:t>
            </a:r>
            <a:r>
              <a:rPr lang="zh-CN" altLang="en-US" sz="2000" dirty="0">
                <a:solidFill>
                  <a:srgbClr val="595959"/>
                </a:solidFill>
                <a:latin typeface="微软雅黑" panose="020B0503020204020204" pitchFamily="34" charset="-122"/>
                <a:ea typeface="微软雅黑" panose="020B0503020204020204" pitchFamily="34" charset="-122"/>
              </a:rPr>
              <a:t>目录，从而在虚拟机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中完成配置</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系统环境变量的操作。在虚拟机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中执行下列命令。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1143690" y="3287756"/>
            <a:ext cx="7943984" cy="1798223"/>
            <a:chOff x="-931766" y="2737883"/>
            <a:chExt cx="8398006" cy="1264038"/>
          </a:xfrm>
        </p:grpSpPr>
        <p:sp>
          <p:nvSpPr>
            <p:cNvPr id="21" name="矩形 20"/>
            <p:cNvSpPr/>
            <p:nvPr/>
          </p:nvSpPr>
          <p:spPr>
            <a:xfrm>
              <a:off x="-931766" y="2737883"/>
              <a:ext cx="8348540" cy="12640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493035" y="2992861"/>
              <a:ext cx="7959275" cy="60000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fr-FR"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 /etc/profile nosql02:/etc</a:t>
              </a:r>
              <a:endParaRPr lang="fr-FR"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fr-FR"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 /etc/profile nosql03:/etc</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矩形: 圆角 14"/>
          <p:cNvSpPr/>
          <p:nvPr/>
        </p:nvSpPr>
        <p:spPr>
          <a:xfrm>
            <a:off x="1558702" y="3627712"/>
            <a:ext cx="3816424" cy="44588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a:off x="5015086" y="3627712"/>
            <a:ext cx="720080" cy="0"/>
          </a:xfrm>
          <a:prstGeom prst="straightConnector1">
            <a:avLst/>
          </a:prstGeom>
          <a:ln w="12700">
            <a:solidFill>
              <a:srgbClr val="1369B2"/>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圆角 16"/>
          <p:cNvSpPr/>
          <p:nvPr/>
        </p:nvSpPr>
        <p:spPr>
          <a:xfrm>
            <a:off x="5735166" y="3340395"/>
            <a:ext cx="2613216" cy="43472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775931" y="3373090"/>
            <a:ext cx="2613216" cy="369332"/>
          </a:xfrm>
          <a:prstGeom prst="rect">
            <a:avLst/>
          </a:prstGeom>
          <a:noFill/>
        </p:spPr>
        <p:txBody>
          <a:bodyPr wrap="none" rtlCol="0">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分发到虚拟机</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NoSQL02</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矩形: 圆角 18"/>
          <p:cNvSpPr/>
          <p:nvPr/>
        </p:nvSpPr>
        <p:spPr>
          <a:xfrm>
            <a:off x="1558702" y="4128049"/>
            <a:ext cx="3816424" cy="44588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p:cNvCxnSpPr/>
          <p:nvPr/>
        </p:nvCxnSpPr>
        <p:spPr>
          <a:xfrm>
            <a:off x="5160933" y="4573932"/>
            <a:ext cx="720080" cy="0"/>
          </a:xfrm>
          <a:prstGeom prst="straightConnector1">
            <a:avLst/>
          </a:prstGeom>
          <a:ln w="12700">
            <a:solidFill>
              <a:srgbClr val="1369B2"/>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圆角 25"/>
          <p:cNvSpPr/>
          <p:nvPr/>
        </p:nvSpPr>
        <p:spPr>
          <a:xfrm>
            <a:off x="5879182" y="4291215"/>
            <a:ext cx="2613216" cy="434723"/>
          </a:xfrm>
          <a:prstGeom prst="roundRect">
            <a:avLst/>
          </a:prstGeom>
          <a:noFill/>
          <a:ln>
            <a:solidFill>
              <a:srgbClr val="1369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919947" y="4323910"/>
            <a:ext cx="2613216" cy="369332"/>
          </a:xfrm>
          <a:prstGeom prst="rect">
            <a:avLst/>
          </a:prstGeom>
          <a:noFill/>
        </p:spPr>
        <p:txBody>
          <a:bodyPr wrap="none" rtlCol="0">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分发到虚拟机</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圆角矩形标注 6"/>
          <p:cNvSpPr/>
          <p:nvPr/>
        </p:nvSpPr>
        <p:spPr bwMode="auto">
          <a:xfrm>
            <a:off x="2288234" y="5391106"/>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600" dirty="0">
                <a:solidFill>
                  <a:srgbClr val="FF0000"/>
                </a:solidFill>
                <a:latin typeface="微软雅黑" panose="020B0503020204020204" pitchFamily="34" charset="-122"/>
                <a:ea typeface="微软雅黑" panose="020B0503020204020204" pitchFamily="34" charset="-122"/>
              </a:rPr>
              <a:t>上述命令执行完成后，分别在虚拟机</a:t>
            </a:r>
            <a:r>
              <a:rPr lang="en-US" altLang="zh-CN" sz="1600" dirty="0">
                <a:solidFill>
                  <a:srgbClr val="FF0000"/>
                </a:solidFill>
                <a:latin typeface="微软雅黑" panose="020B0503020204020204" pitchFamily="34" charset="-122"/>
                <a:ea typeface="微软雅黑" panose="020B0503020204020204" pitchFamily="34" charset="-122"/>
              </a:rPr>
              <a:t>NoSQL02</a:t>
            </a:r>
            <a:r>
              <a:rPr lang="zh-CN" altLang="en-US" sz="1600" dirty="0">
                <a:solidFill>
                  <a:srgbClr val="FF0000"/>
                </a:solidFill>
                <a:latin typeface="微软雅黑" panose="020B0503020204020204" pitchFamily="34" charset="-122"/>
                <a:ea typeface="微软雅黑" panose="020B0503020204020204" pitchFamily="34" charset="-122"/>
              </a:rPr>
              <a:t>和</a:t>
            </a:r>
            <a:r>
              <a:rPr lang="en-US" altLang="zh-CN" sz="1600" dirty="0">
                <a:solidFill>
                  <a:srgbClr val="FF0000"/>
                </a:solidFill>
                <a:latin typeface="微软雅黑" panose="020B0503020204020204" pitchFamily="34" charset="-122"/>
                <a:ea typeface="微软雅黑" panose="020B0503020204020204" pitchFamily="34" charset="-122"/>
              </a:rPr>
              <a:t>NoSQL03</a:t>
            </a:r>
            <a:r>
              <a:rPr lang="zh-CN" altLang="en-US" sz="1600" dirty="0">
                <a:solidFill>
                  <a:srgbClr val="FF0000"/>
                </a:solidFill>
                <a:latin typeface="微软雅黑" panose="020B0503020204020204" pitchFamily="34" charset="-122"/>
                <a:ea typeface="微软雅黑" panose="020B0503020204020204" pitchFamily="34" charset="-122"/>
              </a:rPr>
              <a:t>执行</a:t>
            </a:r>
            <a:r>
              <a:rPr lang="en-US" altLang="zh-CN" sz="1600" dirty="0">
                <a:solidFill>
                  <a:srgbClr val="FF0000"/>
                </a:solidFill>
                <a:latin typeface="微软雅黑" panose="020B0503020204020204" pitchFamily="34" charset="-122"/>
                <a:ea typeface="微软雅黑" panose="020B0503020204020204" pitchFamily="34" charset="-122"/>
              </a:rPr>
              <a:t>source /</a:t>
            </a:r>
            <a:r>
              <a:rPr lang="en-US" altLang="zh-CN" sz="1600" dirty="0" err="1">
                <a:solidFill>
                  <a:srgbClr val="FF0000"/>
                </a:solidFill>
                <a:latin typeface="微软雅黑" panose="020B0503020204020204" pitchFamily="34" charset="-122"/>
                <a:ea typeface="微软雅黑" panose="020B0503020204020204" pitchFamily="34" charset="-122"/>
              </a:rPr>
              <a:t>etc</a:t>
            </a:r>
            <a:r>
              <a:rPr lang="en-US" altLang="zh-CN" sz="1600" dirty="0">
                <a:solidFill>
                  <a:srgbClr val="FF0000"/>
                </a:solidFill>
                <a:latin typeface="微软雅黑" panose="020B0503020204020204" pitchFamily="34" charset="-122"/>
                <a:ea typeface="微软雅黑" panose="020B0503020204020204" pitchFamily="34" charset="-122"/>
              </a:rPr>
              <a:t>/profile</a:t>
            </a:r>
            <a:r>
              <a:rPr lang="zh-CN" altLang="en-US" sz="1600" dirty="0">
                <a:solidFill>
                  <a:srgbClr val="FF0000"/>
                </a:solidFill>
                <a:latin typeface="微软雅黑" panose="020B0503020204020204" pitchFamily="34" charset="-122"/>
                <a:ea typeface="微软雅黑" panose="020B0503020204020204" pitchFamily="34" charset="-122"/>
              </a:rPr>
              <a:t> 命令初始化系统环境变量，使系统环境变量文件</a:t>
            </a:r>
            <a:r>
              <a:rPr lang="en-US" altLang="zh-CN" sz="1600" dirty="0">
                <a:solidFill>
                  <a:srgbClr val="FF0000"/>
                </a:solidFill>
                <a:latin typeface="微软雅黑" panose="020B0503020204020204" pitchFamily="34" charset="-122"/>
                <a:ea typeface="微软雅黑" panose="020B0503020204020204" pitchFamily="34" charset="-122"/>
              </a:rPr>
              <a:t>profile</a:t>
            </a:r>
            <a:r>
              <a:rPr lang="zh-CN" altLang="en-US" sz="1600" dirty="0">
                <a:solidFill>
                  <a:srgbClr val="FF0000"/>
                </a:solidFill>
                <a:latin typeface="微软雅黑" panose="020B0503020204020204" pitchFamily="34" charset="-122"/>
                <a:ea typeface="微软雅黑" panose="020B0503020204020204" pitchFamily="34" charset="-122"/>
              </a:rPr>
              <a:t>中的修改生效。</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部署副本集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1"/>
          <p:cNvSpPr txBox="1"/>
          <p:nvPr/>
        </p:nvSpPr>
        <p:spPr>
          <a:xfrm>
            <a:off x="910630" y="1340043"/>
            <a:ext cx="10432620" cy="874407"/>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595959"/>
                </a:solidFill>
                <a:latin typeface="微软雅黑" panose="020B0503020204020204" pitchFamily="34" charset="-122"/>
                <a:ea typeface="微软雅黑" panose="020B0503020204020204" pitchFamily="34" charset="-122"/>
              </a:rPr>
              <a:t>NoSQL01</a:t>
            </a:r>
            <a:r>
              <a:rPr lang="zh-CN" altLang="en-US" dirty="0">
                <a:solidFill>
                  <a:srgbClr val="595959"/>
                </a:solidFill>
                <a:latin typeface="微软雅黑" panose="020B0503020204020204" pitchFamily="34" charset="-122"/>
                <a:ea typeface="微软雅黑" panose="020B0503020204020204" pitchFamily="34" charset="-122"/>
              </a:rPr>
              <a:t>、</a:t>
            </a:r>
            <a:r>
              <a:rPr lang="en-US" altLang="zh-CN" dirty="0">
                <a:solidFill>
                  <a:srgbClr val="595959"/>
                </a:solidFill>
                <a:latin typeface="微软雅黑" panose="020B0503020204020204" pitchFamily="34" charset="-122"/>
                <a:ea typeface="微软雅黑" panose="020B0503020204020204" pitchFamily="34" charset="-122"/>
              </a:rPr>
              <a:t>NoSQL02</a:t>
            </a:r>
            <a:r>
              <a:rPr lang="zh-CN" altLang="en-US" dirty="0">
                <a:solidFill>
                  <a:srgbClr val="595959"/>
                </a:solidFill>
                <a:latin typeface="微软雅黑" panose="020B0503020204020204" pitchFamily="34" charset="-122"/>
                <a:ea typeface="微软雅黑" panose="020B0503020204020204" pitchFamily="34" charset="-122"/>
              </a:rPr>
              <a:t>和</a:t>
            </a:r>
            <a:r>
              <a:rPr lang="en-US" altLang="zh-CN" dirty="0">
                <a:solidFill>
                  <a:srgbClr val="595959"/>
                </a:solidFill>
                <a:latin typeface="微软雅黑" panose="020B0503020204020204" pitchFamily="34" charset="-122"/>
                <a:ea typeface="微软雅黑" panose="020B0503020204020204" pitchFamily="34" charset="-122"/>
              </a:rPr>
              <a:t>NoSQL03</a:t>
            </a:r>
            <a:r>
              <a:rPr lang="zh-CN" altLang="en-US" dirty="0">
                <a:solidFill>
                  <a:srgbClr val="595959"/>
                </a:solidFill>
                <a:latin typeface="微软雅黑" panose="020B0503020204020204" pitchFamily="34" charset="-122"/>
                <a:ea typeface="微软雅黑" panose="020B0503020204020204" pitchFamily="34" charset="-122"/>
              </a:rPr>
              <a:t>中通过</a:t>
            </a:r>
            <a:r>
              <a:rPr lang="zh-CN" altLang="en-US" dirty="0">
                <a:solidFill>
                  <a:srgbClr val="1369B2"/>
                </a:solidFill>
                <a:latin typeface="微软雅黑" panose="020B0503020204020204" pitchFamily="34" charset="-122"/>
                <a:ea typeface="微软雅黑" panose="020B0503020204020204" pitchFamily="34" charset="-122"/>
              </a:rPr>
              <a:t>配置文件</a:t>
            </a:r>
            <a:r>
              <a:rPr lang="en-US" altLang="zh-CN" dirty="0" err="1">
                <a:solidFill>
                  <a:srgbClr val="1369B2"/>
                </a:solidFill>
                <a:latin typeface="微软雅黑" panose="020B0503020204020204" pitchFamily="34" charset="-122"/>
                <a:ea typeface="微软雅黑" panose="020B0503020204020204" pitchFamily="34" charset="-122"/>
              </a:rPr>
              <a:t>mongod.conf</a:t>
            </a:r>
            <a:r>
              <a:rPr lang="zh-CN" altLang="en-US" dirty="0">
                <a:solidFill>
                  <a:srgbClr val="595959"/>
                </a:solidFill>
                <a:latin typeface="微软雅黑" panose="020B0503020204020204" pitchFamily="34" charset="-122"/>
                <a:ea typeface="微软雅黑" panose="020B0503020204020204" pitchFamily="34" charset="-122"/>
              </a:rPr>
              <a:t>启动</a:t>
            </a:r>
            <a:r>
              <a:rPr lang="en-US" altLang="zh-CN" dirty="0">
                <a:solidFill>
                  <a:srgbClr val="595959"/>
                </a:solidFill>
                <a:latin typeface="微软雅黑" panose="020B0503020204020204" pitchFamily="34" charset="-122"/>
                <a:ea typeface="微软雅黑" panose="020B0503020204020204" pitchFamily="34" charset="-122"/>
              </a:rPr>
              <a:t>MongoDB</a:t>
            </a:r>
            <a:r>
              <a:rPr lang="zh-CN" altLang="en-US" dirty="0">
                <a:solidFill>
                  <a:srgbClr val="595959"/>
                </a:solidFill>
                <a:latin typeface="微软雅黑" panose="020B0503020204020204" pitchFamily="34" charset="-122"/>
                <a:ea typeface="微软雅黑" panose="020B0503020204020204" pitchFamily="34" charset="-122"/>
              </a:rPr>
              <a:t>服务，分别在这三台虚拟机中执行如下命令。</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1004666" y="2277666"/>
            <a:ext cx="10059092" cy="874408"/>
            <a:chOff x="-1078735" y="2305148"/>
            <a:chExt cx="8517066" cy="614654"/>
          </a:xfrm>
        </p:grpSpPr>
        <p:sp>
          <p:nvSpPr>
            <p:cNvPr id="21" name="矩形 20"/>
            <p:cNvSpPr/>
            <p:nvPr/>
          </p:nvSpPr>
          <p:spPr>
            <a:xfrm>
              <a:off x="-1078735" y="2305148"/>
              <a:ext cx="8348540" cy="6146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520944" y="2434180"/>
              <a:ext cx="7959275" cy="2933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mongod.conf</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矩形: 圆顶角 14"/>
          <p:cNvSpPr/>
          <p:nvPr/>
        </p:nvSpPr>
        <p:spPr>
          <a:xfrm rot="10800000">
            <a:off x="991178" y="858497"/>
            <a:ext cx="267933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6" name="矩形 15"/>
          <p:cNvSpPr/>
          <p:nvPr/>
        </p:nvSpPr>
        <p:spPr>
          <a:xfrm>
            <a:off x="991181" y="879677"/>
            <a:ext cx="258374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5.</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启动</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服务</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076" name="Picture 4" descr="C:\Users\16366\AppData\Local\Temp\ksohtml17796\wps3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9988" y="3394409"/>
            <a:ext cx="4944705" cy="144041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16366\AppData\Local\Temp\ksohtml17796\wps3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205" y="3357786"/>
            <a:ext cx="4981883" cy="144041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16366\AppData\Local\Temp\ksohtml17796\wps4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339" y="5013970"/>
            <a:ext cx="5579375" cy="1625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初始化副本集</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掌握初始化副本集，能够在初始化副本集时</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配置各节点</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圆角 21"/>
          <p:cNvSpPr/>
          <p:nvPr/>
        </p:nvSpPr>
        <p:spPr>
          <a:xfrm>
            <a:off x="991180" y="2587154"/>
            <a:ext cx="10216594" cy="350693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
          <p:cNvSpPr txBox="1"/>
          <p:nvPr/>
        </p:nvSpPr>
        <p:spPr>
          <a:xfrm>
            <a:off x="991180" y="1125538"/>
            <a:ext cx="10455818"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在使用副本集之前，需要通过</a:t>
            </a:r>
            <a:r>
              <a:rPr lang="zh-CN" altLang="en-US" sz="2000" dirty="0">
                <a:solidFill>
                  <a:srgbClr val="1369B2"/>
                </a:solidFill>
                <a:latin typeface="微软雅黑" panose="020B0503020204020204" pitchFamily="34" charset="-122"/>
                <a:ea typeface="微软雅黑" panose="020B0503020204020204" pitchFamily="34" charset="-122"/>
              </a:rPr>
              <a:t>初始化副本集</a:t>
            </a:r>
            <a:r>
              <a:rPr lang="zh-CN" altLang="en-US" sz="2000" dirty="0">
                <a:solidFill>
                  <a:srgbClr val="595959"/>
                </a:solidFill>
                <a:latin typeface="微软雅黑" panose="020B0503020204020204" pitchFamily="34" charset="-122"/>
                <a:ea typeface="微软雅黑" panose="020B0503020204020204" pitchFamily="34" charset="-122"/>
              </a:rPr>
              <a:t>来建立各节点之间的连接。用户可以通过</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连接副本集中的任意节点来执行初始化副本集的命令。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1" name="矩形 10"/>
          <p:cNvSpPr/>
          <p:nvPr/>
        </p:nvSpPr>
        <p:spPr>
          <a:xfrm>
            <a:off x="1342678" y="3213770"/>
            <a:ext cx="9505055" cy="22832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3" name="矩形 12"/>
          <p:cNvSpPr/>
          <p:nvPr/>
        </p:nvSpPr>
        <p:spPr>
          <a:xfrm>
            <a:off x="1503729" y="3287577"/>
            <a:ext cx="7272808" cy="17054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rs.initiate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members: [node, node,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5" name="矩形 14"/>
          <p:cNvSpPr/>
          <p:nvPr/>
        </p:nvSpPr>
        <p:spPr>
          <a:xfrm>
            <a:off x="2206774" y="3810083"/>
            <a:ext cx="1512168"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6" name="直接箭头连接符 15"/>
          <p:cNvCxnSpPr/>
          <p:nvPr/>
        </p:nvCxnSpPr>
        <p:spPr>
          <a:xfrm>
            <a:off x="3286897" y="3813980"/>
            <a:ext cx="648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932433" y="3466368"/>
            <a:ext cx="1750065" cy="44649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9" name="文本框 7"/>
          <p:cNvSpPr txBox="1"/>
          <p:nvPr/>
        </p:nvSpPr>
        <p:spPr>
          <a:xfrm>
            <a:off x="3934966" y="3503602"/>
            <a:ext cx="1924871" cy="37202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指定副本集的名称</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3" name="矩形: 圆角 22"/>
          <p:cNvSpPr/>
          <p:nvPr/>
        </p:nvSpPr>
        <p:spPr>
          <a:xfrm>
            <a:off x="1846734" y="2303089"/>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918742" y="2329275"/>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2988247" y="4245324"/>
            <a:ext cx="730695"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5" name="直接箭头连接符 24"/>
          <p:cNvCxnSpPr/>
          <p:nvPr/>
        </p:nvCxnSpPr>
        <p:spPr>
          <a:xfrm>
            <a:off x="3394907" y="4581049"/>
            <a:ext cx="648069"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084833" y="4546487"/>
            <a:ext cx="1849321"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7" name="文本框 7"/>
          <p:cNvSpPr txBox="1"/>
          <p:nvPr/>
        </p:nvSpPr>
        <p:spPr>
          <a:xfrm>
            <a:off x="4087366" y="4583722"/>
            <a:ext cx="1924871"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指定副本集中各个节点的配置信息</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
          <p:cNvSpPr txBox="1"/>
          <p:nvPr/>
        </p:nvSpPr>
        <p:spPr>
          <a:xfrm>
            <a:off x="991180" y="981522"/>
            <a:ext cx="10455818" cy="49962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关于</a:t>
            </a:r>
            <a:r>
              <a:rPr lang="zh-CN" altLang="en-US" sz="2000" dirty="0">
                <a:solidFill>
                  <a:srgbClr val="1369B2"/>
                </a:solidFill>
                <a:latin typeface="微软雅黑" panose="020B0503020204020204" pitchFamily="34" charset="-122"/>
                <a:ea typeface="微软雅黑" panose="020B0503020204020204" pitchFamily="34" charset="-122"/>
              </a:rPr>
              <a:t>副本集中各个节点配置信息</a:t>
            </a:r>
            <a:r>
              <a:rPr lang="zh-CN" altLang="en-US" sz="2000" dirty="0">
                <a:solidFill>
                  <a:srgbClr val="595959"/>
                </a:solidFill>
                <a:latin typeface="微软雅黑" panose="020B0503020204020204" pitchFamily="34" charset="-122"/>
                <a:ea typeface="微软雅黑" panose="020B0503020204020204" pitchFamily="34" charset="-122"/>
              </a:rPr>
              <a:t>常用参数的介绍如表。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a:graphicFrameLocks noGrp="1"/>
          </p:cNvGraphicFramePr>
          <p:nvPr/>
        </p:nvGraphicFramePr>
        <p:xfrm>
          <a:off x="996320" y="1629594"/>
          <a:ext cx="10211454" cy="4893591"/>
        </p:xfrm>
        <a:graphic>
          <a:graphicData uri="http://schemas.openxmlformats.org/drawingml/2006/table">
            <a:tbl>
              <a:tblPr>
                <a:tableStyleId>{7DF18680-E054-41AD-8BC1-D1AEF772440D}</a:tableStyleId>
              </a:tblPr>
              <a:tblGrid>
                <a:gridCol w="2182271"/>
                <a:gridCol w="8029183"/>
              </a:tblGrid>
              <a:tr h="472535">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参数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介绍</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743020">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_id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必选，用于指定节点的</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唯一标识符</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MongoDB 5.0</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开始，</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_id</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的值可以是大于或等于</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的任何整数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1137769">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host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必选，用于指定节点的</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主机名</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和</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端口号</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，其值的格式为“主机名</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端口号”。需要注意的是，主机名不能用</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IP</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地址代替</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743020">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arbiterOnly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可选，用于指定节点是否为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仲裁节点</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。若指定节点为仲裁节点，则</a:t>
                      </a:r>
                      <a:r>
                        <a:rPr lang="en-US" altLang="zh-CN" sz="16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arbiterOnly</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的值必须为</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743020">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priority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可选，用于指定节点的</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优先级</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，其值的范围是</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到</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1000</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之间的任意浮点数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743020">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votes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可选，用于指定节点是否具有投票权，其值为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1</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具有投票权</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，值为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0</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不具有投票权</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。默认情况下，副本集中的每个节点都具有投票权。需要注意的是，当指定节点不具备投票权时，该节点的优先级必须为</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90" y="2061642"/>
            <a:ext cx="4392488"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a:t>
            </a:r>
            <a:r>
              <a:rPr lang="zh-CN" altLang="en-US" sz="2000" dirty="0">
                <a:solidFill>
                  <a:srgbClr val="1369B2"/>
                </a:solidFill>
                <a:latin typeface="微软雅黑" panose="020B0503020204020204" pitchFamily="34" charset="-122"/>
                <a:ea typeface="微软雅黑" panose="020B0503020204020204" pitchFamily="34" charset="-122"/>
              </a:rPr>
              <a:t>初始化副本集</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2918564" y="2925738"/>
            <a:ext cx="8618225" cy="3166377"/>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启动</a:t>
            </a:r>
            <a:r>
              <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MongoDB</a:t>
            </a: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服务</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连接虚拟机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a:solidFill>
                  <a:srgbClr val="1369B2"/>
                </a:solidFill>
                <a:latin typeface="微软雅黑" panose="020B0503020204020204" pitchFamily="34" charset="-122"/>
                <a:ea typeface="微软雅黑" panose="020B0503020204020204" pitchFamily="34" charset="-122"/>
              </a:rPr>
              <a:t>启动的</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23175" y="3935827"/>
            <a:ext cx="8056607" cy="1006137"/>
            <a:chOff x="1266568" y="3397293"/>
            <a:chExt cx="8517066" cy="707251"/>
          </a:xfrm>
        </p:grpSpPr>
        <p:sp>
          <p:nvSpPr>
            <p:cNvPr id="21" name="矩形 20"/>
            <p:cNvSpPr/>
            <p:nvPr/>
          </p:nvSpPr>
          <p:spPr>
            <a:xfrm>
              <a:off x="1266568" y="3397293"/>
              <a:ext cx="8348540" cy="70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824359" y="3598372"/>
              <a:ext cx="7959275" cy="2933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--host nosql01 --port 27017</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2918564" y="2925738"/>
            <a:ext cx="8618225" cy="3600400"/>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初始化副本集</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sz="2000" dirty="0">
                <a:solidFill>
                  <a:srgbClr val="1369B2"/>
                </a:solidFill>
                <a:latin typeface="微软雅黑" panose="020B0503020204020204" pitchFamily="34" charset="-122"/>
                <a:ea typeface="微软雅黑" panose="020B0503020204020204" pitchFamily="34" charset="-122"/>
              </a:rPr>
              <a:t>初始化副本集</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23175" y="3141763"/>
            <a:ext cx="8105403" cy="3168350"/>
            <a:chOff x="1266568" y="3355691"/>
            <a:chExt cx="8568651" cy="915266"/>
          </a:xfrm>
        </p:grpSpPr>
        <p:sp>
          <p:nvSpPr>
            <p:cNvPr id="21" name="矩形 20"/>
            <p:cNvSpPr/>
            <p:nvPr/>
          </p:nvSpPr>
          <p:spPr>
            <a:xfrm>
              <a:off x="1266568" y="3355691"/>
              <a:ext cx="8348540" cy="9152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2" name="矩形 21"/>
            <p:cNvSpPr/>
            <p:nvPr/>
          </p:nvSpPr>
          <p:spPr>
            <a:xfrm>
              <a:off x="1875944" y="3397293"/>
              <a:ext cx="7959275" cy="84873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rs.initiate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 "rs0",</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members: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0, host: "nosql01:27017", priority: 3},</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1, host: "nosql02:27017", priority: 2},</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2, host: "nosql03:27017"}</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初始化副本集</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上述命令执行完成后的效果如图</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pic>
        <p:nvPicPr>
          <p:cNvPr id="20482" name="Picture 2" descr="C:\Users\16366\AppData\Local\Temp\ksohtml17796\wps4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4885" y="2528694"/>
            <a:ext cx="5750637" cy="3925435"/>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初始化副本集</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等待片刻，待选举完成后，在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a:solidFill>
                  <a:srgbClr val="1369B2"/>
                </a:solidFill>
                <a:latin typeface="微软雅黑" panose="020B0503020204020204" pitchFamily="34" charset="-122"/>
                <a:ea typeface="微软雅黑" panose="020B0503020204020204" pitchFamily="34" charset="-122"/>
              </a:rPr>
              <a:t>执行一条空命令</a:t>
            </a:r>
            <a:r>
              <a:rPr lang="zh-CN" altLang="en-US" sz="2000" dirty="0">
                <a:solidFill>
                  <a:srgbClr val="595959"/>
                </a:solidFill>
                <a:latin typeface="微软雅黑" panose="020B0503020204020204" pitchFamily="34" charset="-122"/>
                <a:ea typeface="微软雅黑" panose="020B0503020204020204" pitchFamily="34" charset="-122"/>
              </a:rPr>
              <a:t>（回车键），以刷新节点的状态，如图</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050" name="Picture 2" descr="C:\Users\16366\AppData\Local\Temp\ksohtml10976\wps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4886" y="2787044"/>
            <a:ext cx="5688632" cy="38831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查看状态信息</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查看副本集中各节点的</a:t>
            </a:r>
            <a:r>
              <a:rPr lang="zh-CN" altLang="en-US" sz="2000" dirty="0">
                <a:solidFill>
                  <a:srgbClr val="1369B2"/>
                </a:solidFill>
                <a:latin typeface="微软雅黑" panose="020B0503020204020204" pitchFamily="34" charset="-122"/>
                <a:ea typeface="微软雅黑" panose="020B0503020204020204" pitchFamily="34" charset="-122"/>
              </a:rPr>
              <a:t>状态信息</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7" name="矩形: 圆角 6"/>
          <p:cNvSpPr/>
          <p:nvPr/>
        </p:nvSpPr>
        <p:spPr>
          <a:xfrm>
            <a:off x="2918564" y="2925738"/>
            <a:ext cx="8618225" cy="3166377"/>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bwMode="auto">
          <a:xfrm>
            <a:off x="3223175" y="3935827"/>
            <a:ext cx="8056607" cy="1006137"/>
            <a:chOff x="1266568" y="3397293"/>
            <a:chExt cx="8517066" cy="707251"/>
          </a:xfrm>
        </p:grpSpPr>
        <p:sp>
          <p:nvSpPr>
            <p:cNvPr id="10" name="矩形 9"/>
            <p:cNvSpPr/>
            <p:nvPr/>
          </p:nvSpPr>
          <p:spPr>
            <a:xfrm>
              <a:off x="1266568" y="3397293"/>
              <a:ext cx="8348540" cy="70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1" name="矩形 10"/>
            <p:cNvSpPr/>
            <p:nvPr/>
          </p:nvSpPr>
          <p:spPr>
            <a:xfrm>
              <a:off x="1824359" y="3598372"/>
              <a:ext cx="7959275" cy="2933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rs.status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43296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6870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40043"/>
            <a:ext cx="8618226" cy="1884618"/>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查看状态信息</a:t>
            </a:r>
            <a:endParaRPr kumimoji="0" lang="en-US" altLang="zh-CN" sz="20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上述执行完成后可以通过查看输出信息中</a:t>
            </a:r>
            <a:r>
              <a:rPr lang="zh-CN" altLang="en-US" sz="2000" dirty="0">
                <a:solidFill>
                  <a:srgbClr val="1369B2"/>
                </a:solidFill>
                <a:latin typeface="微软雅黑" panose="020B0503020204020204" pitchFamily="34" charset="-122"/>
                <a:ea typeface="微软雅黑" panose="020B0503020204020204" pitchFamily="34" charset="-122"/>
              </a:rPr>
              <a:t>键</a:t>
            </a:r>
            <a:r>
              <a:rPr lang="en-US" altLang="zh-CN" sz="2000" dirty="0">
                <a:solidFill>
                  <a:srgbClr val="1369B2"/>
                </a:solidFill>
                <a:latin typeface="微软雅黑" panose="020B0503020204020204" pitchFamily="34" charset="-122"/>
                <a:ea typeface="微软雅黑" panose="020B0503020204020204" pitchFamily="34" charset="-122"/>
              </a:rPr>
              <a:t>members</a:t>
            </a:r>
            <a:r>
              <a:rPr lang="zh-CN" altLang="en-US" sz="2000" dirty="0">
                <a:solidFill>
                  <a:srgbClr val="595959"/>
                </a:solidFill>
                <a:latin typeface="微软雅黑" panose="020B0503020204020204" pitchFamily="34" charset="-122"/>
                <a:ea typeface="微软雅黑" panose="020B0503020204020204" pitchFamily="34" charset="-122"/>
              </a:rPr>
              <a:t>的值获取副本集中各节点的状态信息。由于查看副本集中各节点的状态信息时输出的内容较多，不便于展示完整内容，这里仅展示状态信息中的核心部分</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5" name="原创设计师QQ598969553          _3"/>
          <p:cNvSpPr/>
          <p:nvPr/>
        </p:nvSpPr>
        <p:spPr>
          <a:xfrm>
            <a:off x="5392997" y="4159215"/>
            <a:ext cx="2514034" cy="79675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17" name="原创设计师QQ598969553          _6"/>
          <p:cNvSpPr/>
          <p:nvPr/>
        </p:nvSpPr>
        <p:spPr>
          <a:xfrm>
            <a:off x="5957483" y="3933850"/>
            <a:ext cx="1384341"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defTabSz="1450340">
              <a:lnSpc>
                <a:spcPct val="200000"/>
              </a:lnSpc>
            </a:pPr>
            <a:endParaRPr lang="zh-CN" altLang="en-US" sz="1200">
              <a:solidFill>
                <a:schemeClr val="bg1"/>
              </a:solidFill>
              <a:cs typeface="+mn-ea"/>
              <a:sym typeface="+mn-lt"/>
            </a:endParaRPr>
          </a:p>
        </p:txBody>
      </p:sp>
      <p:sp>
        <p:nvSpPr>
          <p:cNvPr id="18" name="原创设计师QQ598969553          _7"/>
          <p:cNvSpPr txBox="1"/>
          <p:nvPr/>
        </p:nvSpPr>
        <p:spPr>
          <a:xfrm>
            <a:off x="6145113" y="3983681"/>
            <a:ext cx="1009079" cy="33718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点击查看</a:t>
            </a: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pic>
        <p:nvPicPr>
          <p:cNvPr id="19" name="图形 25" descr="指向右边的反手食指 轮廓"/>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5580543">
            <a:off x="6460199" y="4786779"/>
            <a:ext cx="689444" cy="689444"/>
          </a:xfrm>
          <a:prstGeom prst="rect">
            <a:avLst/>
          </a:prstGeom>
        </p:spPr>
      </p:pic>
      <p:sp>
        <p:nvSpPr>
          <p:cNvPr id="2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对象 3"/>
          <p:cNvGraphicFramePr>
            <a:graphicFrameLocks noChangeAspect="1"/>
          </p:cNvGraphicFramePr>
          <p:nvPr/>
        </p:nvGraphicFramePr>
        <p:xfrm>
          <a:off x="6277782" y="4321474"/>
          <a:ext cx="881828" cy="566742"/>
        </p:xfrm>
        <a:graphic>
          <a:graphicData uri="http://schemas.openxmlformats.org/presentationml/2006/ole">
            <mc:AlternateContent xmlns:mc="http://schemas.openxmlformats.org/markup-compatibility/2006">
              <mc:Choice xmlns:v="urn:schemas-microsoft-com:vml" Requires="v">
                <p:oleObj spid="_x0000_s1070" name="包装程序外壳对象" showAsIcon="1" r:id="rId3" imgW="1000125" imgH="638175" progId="Package">
                  <p:embed/>
                </p:oleObj>
              </mc:Choice>
              <mc:Fallback>
                <p:oleObj name="包装程序外壳对象" showAsIcon="1" r:id="rId3" imgW="1000125" imgH="638175" progId="Package">
                  <p:embed/>
                  <p:pic>
                    <p:nvPicPr>
                      <p:cNvPr id="0" name="图片 1069"/>
                      <p:cNvPicPr/>
                      <p:nvPr/>
                    </p:nvPicPr>
                    <p:blipFill>
                      <a:blip r:embed="rId4"/>
                      <a:stretch>
                        <a:fillRect/>
                      </a:stretch>
                    </p:blipFill>
                    <p:spPr>
                      <a:xfrm>
                        <a:off x="6277782" y="4321474"/>
                        <a:ext cx="881828" cy="56674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4646" y="1053530"/>
            <a:ext cx="1016001" cy="1016001"/>
          </a:xfrm>
          <a:prstGeom prst="rect">
            <a:avLst/>
          </a:prstGeom>
        </p:spPr>
      </p:pic>
      <p:sp>
        <p:nvSpPr>
          <p:cNvPr id="6" name="矩形 5"/>
          <p:cNvSpPr/>
          <p:nvPr/>
        </p:nvSpPr>
        <p:spPr>
          <a:xfrm>
            <a:off x="2492390" y="1263507"/>
            <a:ext cx="3458800"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602354" y="1362544"/>
            <a:ext cx="32768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副本集中节点的状态</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矩形 7"/>
          <p:cNvSpPr/>
          <p:nvPr/>
        </p:nvSpPr>
        <p:spPr>
          <a:xfrm>
            <a:off x="6051495"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239224"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
          <p:cNvSpPr txBox="1"/>
          <p:nvPr/>
        </p:nvSpPr>
        <p:spPr>
          <a:xfrm>
            <a:off x="1198662" y="2349674"/>
            <a:ext cx="9937103"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在副本集中，每个节点都有一个状态，这些状态有助于</a:t>
            </a:r>
            <a:r>
              <a:rPr lang="zh-CN" altLang="en-US" sz="2000" dirty="0">
                <a:solidFill>
                  <a:srgbClr val="1369B2"/>
                </a:solidFill>
                <a:latin typeface="微软雅黑" panose="020B0503020204020204" pitchFamily="34" charset="-122"/>
                <a:ea typeface="微软雅黑" panose="020B0503020204020204" pitchFamily="34" charset="-122"/>
              </a:rPr>
              <a:t>监控</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管理副本集</a:t>
            </a:r>
            <a:r>
              <a:rPr lang="zh-CN" altLang="en-US" sz="2000" dirty="0">
                <a:solidFill>
                  <a:srgbClr val="595959"/>
                </a:solidFill>
                <a:latin typeface="微软雅黑" panose="020B0503020204020204" pitchFamily="34" charset="-122"/>
                <a:ea typeface="微软雅黑" panose="020B0503020204020204" pitchFamily="34" charset="-122"/>
              </a:rPr>
              <a:t>。关于副本集中各节点状态的介绍如表。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270669" y="3548626"/>
          <a:ext cx="9865097" cy="2761488"/>
        </p:xfrm>
        <a:graphic>
          <a:graphicData uri="http://schemas.openxmlformats.org/drawingml/2006/table">
            <a:tbl>
              <a:tblPr>
                <a:tableStyleId>{7DF18680-E054-41AD-8BC1-D1AEF772440D}</a:tableStyleId>
              </a:tblPr>
              <a:tblGrid>
                <a:gridCol w="2523629"/>
                <a:gridCol w="2217735"/>
                <a:gridCol w="5123733"/>
              </a:tblGrid>
              <a:tr h="622398">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rPr>
                        <a:t>状态</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rPr>
                        <a:t>状态编号</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lnSpc>
                          <a:spcPct val="15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含义</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978666">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STARTUP</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表示节点</a:t>
                      </a:r>
                      <a:r>
                        <a:rPr lang="zh-CN" altLang="en-US" sz="18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正在启动</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。节点启动完成后，将根据副本集配置转换为</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STARTUP2</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或</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ARBITER</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622398">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PRIMARY</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8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主节点</a:t>
                      </a:r>
                      <a:endParaRPr lang="zh-CN" sz="18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38026">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SECONDARY</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8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从节点</a:t>
                      </a:r>
                      <a:endParaRPr lang="zh-CN" sz="18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4646" y="1053530"/>
            <a:ext cx="1016001" cy="1016001"/>
          </a:xfrm>
          <a:prstGeom prst="rect">
            <a:avLst/>
          </a:prstGeom>
        </p:spPr>
      </p:pic>
      <p:sp>
        <p:nvSpPr>
          <p:cNvPr id="6" name="矩形 5"/>
          <p:cNvSpPr/>
          <p:nvPr/>
        </p:nvSpPr>
        <p:spPr>
          <a:xfrm>
            <a:off x="2492390" y="1263507"/>
            <a:ext cx="3458800"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602354" y="1362544"/>
            <a:ext cx="32768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副本集中节点的状态</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矩形 7"/>
          <p:cNvSpPr/>
          <p:nvPr/>
        </p:nvSpPr>
        <p:spPr>
          <a:xfrm>
            <a:off x="6051495"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239224"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graphicFrame>
        <p:nvGraphicFramePr>
          <p:cNvPr id="2" name="表格 1"/>
          <p:cNvGraphicFramePr>
            <a:graphicFrameLocks noGrp="1"/>
          </p:cNvGraphicFramePr>
          <p:nvPr/>
        </p:nvGraphicFramePr>
        <p:xfrm>
          <a:off x="1270670" y="2205658"/>
          <a:ext cx="9793088" cy="4358455"/>
        </p:xfrm>
        <a:graphic>
          <a:graphicData uri="http://schemas.openxmlformats.org/drawingml/2006/table">
            <a:tbl>
              <a:tblPr>
                <a:tableStyleId>{7DF18680-E054-41AD-8BC1-D1AEF772440D}</a:tableStyleId>
              </a:tblPr>
              <a:tblGrid>
                <a:gridCol w="2049716"/>
                <a:gridCol w="2125631"/>
                <a:gridCol w="5617741"/>
              </a:tblGrid>
              <a:tr h="586104">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状态</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状态编号</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含义</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940357">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RECOVERING</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表示节点正在进行</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同步复制</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或</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故障恢复</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。处于该状态的节点不会接收客户端发送的读请求。当节点完成同步复制或故障恢复后，其状态将转换为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SECONDARY</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1592863">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STARTUP2</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5</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表示除仲裁节点外其他节点启动完成后的状态。如果某个节点需要进行初始复制，那么该节点将保持</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STARTUP2</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状态，直到复制完所有数据后转换为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RECOVERING</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状态，否则将转换为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SECONDARY</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状态，并根据选举结果将其中一个节点转换为</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PRIMARY</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932377">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UNKNOWN</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无法获取</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状态信息的</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节点</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4646" y="1053530"/>
            <a:ext cx="1016001" cy="1016001"/>
          </a:xfrm>
          <a:prstGeom prst="rect">
            <a:avLst/>
          </a:prstGeom>
        </p:spPr>
      </p:pic>
      <p:sp>
        <p:nvSpPr>
          <p:cNvPr id="6" name="矩形 5"/>
          <p:cNvSpPr/>
          <p:nvPr/>
        </p:nvSpPr>
        <p:spPr>
          <a:xfrm>
            <a:off x="2492390" y="1263507"/>
            <a:ext cx="3458800"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602354" y="1362544"/>
            <a:ext cx="32768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副本集中节点的状态</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矩形 7"/>
          <p:cNvSpPr/>
          <p:nvPr/>
        </p:nvSpPr>
        <p:spPr>
          <a:xfrm>
            <a:off x="6051495"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239224"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graphicFrame>
        <p:nvGraphicFramePr>
          <p:cNvPr id="2" name="表格 1"/>
          <p:cNvGraphicFramePr>
            <a:graphicFrameLocks noGrp="1"/>
          </p:cNvGraphicFramePr>
          <p:nvPr/>
        </p:nvGraphicFramePr>
        <p:xfrm>
          <a:off x="1270670" y="2168568"/>
          <a:ext cx="9505057" cy="4332123"/>
        </p:xfrm>
        <a:graphic>
          <a:graphicData uri="http://schemas.openxmlformats.org/drawingml/2006/table">
            <a:tbl>
              <a:tblPr>
                <a:tableStyleId>{7DF18680-E054-41AD-8BC1-D1AEF772440D}</a:tableStyleId>
              </a:tblPr>
              <a:tblGrid>
                <a:gridCol w="1768383"/>
                <a:gridCol w="1915748"/>
                <a:gridCol w="5820926"/>
              </a:tblGrid>
              <a:tr h="613154">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状态</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状态编号</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lnSpc>
                          <a:spcPct val="150000"/>
                        </a:lnSpc>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含义</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03466">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ARBITER</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7</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仲裁节点</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03466">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DOWN</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8</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无法访问的节点</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2208571">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ROLLBACK</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9</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表示在选举过程中，当</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从节点取代主节点</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后，旧的</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主节点</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可能包含尚未复制到从节点的数据。为了确保数据一致性，旧的主节点会执行</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回滚操作</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，将未提交的写操作回滚。在回滚期间，旧的主节点将处于</a:t>
                      </a:r>
                      <a:r>
                        <a:rPr lang="en-US" alt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ROLLBACK</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状态。从</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MongoDB 4.2</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开始，当副本集中任意节点处于</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ROLLBACK</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状态时，所有正在进行的客户端操作都会被终止</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03466">
                <a:tc>
                  <a:txBody>
                    <a:bodyPr/>
                    <a:lstStyle/>
                    <a:p>
                      <a:pPr indent="266700" algn="just">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REMOVED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10</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表示</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已移除的节点</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初始化副本集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副本集操作</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熟悉副本集操作，能够使用</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客户端连接副本集</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原创设计师QQ598969553          _3"/>
          <p:cNvSpPr/>
          <p:nvPr/>
        </p:nvSpPr>
        <p:spPr>
          <a:xfrm>
            <a:off x="870471" y="1704038"/>
            <a:ext cx="4590731" cy="1725756"/>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3" name="原创设计师QQ598969553          _4"/>
          <p:cNvSpPr/>
          <p:nvPr/>
        </p:nvSpPr>
        <p:spPr>
          <a:xfrm>
            <a:off x="1054646" y="2192337"/>
            <a:ext cx="4503864" cy="102143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客户端明确地连接到副本集中的某个</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特定节点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。若客户端连接的是</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，则可以执行</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读写操作</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；若客户端连接的是</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从节点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，则只能执行</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读操作</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4" name="原创设计师QQ598969553          _5"/>
          <p:cNvSpPr/>
          <p:nvPr/>
        </p:nvSpPr>
        <p:spPr>
          <a:xfrm>
            <a:off x="870470" y="3913881"/>
            <a:ext cx="4590731" cy="1725756"/>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5" name="原创设计师QQ598969553          _6"/>
          <p:cNvSpPr/>
          <p:nvPr/>
        </p:nvSpPr>
        <p:spPr>
          <a:xfrm>
            <a:off x="1526077" y="1469955"/>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lnSpc>
                <a:spcPct val="200000"/>
              </a:lnSpc>
            </a:pPr>
            <a:endParaRPr lang="zh-CN" altLang="en-US" sz="1200">
              <a:solidFill>
                <a:schemeClr val="bg1"/>
              </a:solidFill>
              <a:cs typeface="+mn-ea"/>
              <a:sym typeface="+mn-lt"/>
            </a:endParaRPr>
          </a:p>
        </p:txBody>
      </p:sp>
      <p:sp>
        <p:nvSpPr>
          <p:cNvPr id="16" name="原创设计师QQ598969553          _7"/>
          <p:cNvSpPr txBox="1"/>
          <p:nvPr/>
        </p:nvSpPr>
        <p:spPr>
          <a:xfrm>
            <a:off x="1757323" y="1519753"/>
            <a:ext cx="2797972"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6660">
              <a:spcBef>
                <a:spcPct val="20000"/>
              </a:spcBef>
              <a:defRPr/>
            </a:pP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直接连接</a:t>
            </a: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8"/>
          <p:cNvSpPr/>
          <p:nvPr/>
        </p:nvSpPr>
        <p:spPr>
          <a:xfrm>
            <a:off x="1526077" y="3721105"/>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60" tIns="22860" rIns="22860" bIns="22860" numCol="1" spcCol="1270" anchor="ctr" anchorCtr="0">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66700">
              <a:lnSpc>
                <a:spcPct val="90000"/>
              </a:lnSpc>
              <a:spcBef>
                <a:spcPct val="0"/>
              </a:spcBef>
              <a:spcAft>
                <a:spcPct val="35000"/>
              </a:spcAft>
            </a:pPr>
            <a:endParaRPr lang="zh-CN" altLang="en-US" sz="800">
              <a:solidFill>
                <a:srgbClr val="FFFFFF"/>
              </a:solidFill>
              <a:latin typeface="Lato Light"/>
              <a:cs typeface="Lato Light"/>
              <a:sym typeface="+mn-lt"/>
            </a:endParaRPr>
          </a:p>
        </p:txBody>
      </p:sp>
      <p:sp>
        <p:nvSpPr>
          <p:cNvPr id="18" name="原创设计师QQ598969553          _9"/>
          <p:cNvSpPr txBox="1"/>
          <p:nvPr/>
        </p:nvSpPr>
        <p:spPr>
          <a:xfrm>
            <a:off x="1738273" y="3773383"/>
            <a:ext cx="2797972"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6660">
              <a:spcBef>
                <a:spcPct val="20000"/>
              </a:spcBef>
              <a:defRPr/>
            </a:pP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副本集连接</a:t>
            </a: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 name="原创设计师QQ598969553          _10"/>
          <p:cNvSpPr/>
          <p:nvPr/>
        </p:nvSpPr>
        <p:spPr>
          <a:xfrm>
            <a:off x="982637" y="4221882"/>
            <a:ext cx="4478563" cy="134152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3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指客户端与整个副本集建立连接，而非直接连接到某个特定节点。驱动程序会自动选择</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来处理客户端的写请求，并根据读取偏好，自动在</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或</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从节点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之间分配客户端的</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读请求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pic>
        <p:nvPicPr>
          <p:cNvPr id="20" name="Picture 2" descr="C:\Users\Administrator\Desktop\ppt展示模板-8.png"/>
          <p:cNvPicPr>
            <a:picLocks noChangeAspect="1" noChangeArrowheads="1"/>
          </p:cNvPicPr>
          <p:nvPr/>
        </p:nvPicPr>
        <p:blipFill>
          <a:blip r:embed="rId1"/>
          <a:srcRect/>
          <a:stretch>
            <a:fillRect/>
          </a:stretch>
        </p:blipFill>
        <p:spPr bwMode="auto">
          <a:xfrm>
            <a:off x="6260135" y="1912074"/>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p:cNvSpPr/>
          <p:nvPr/>
        </p:nvSpPr>
        <p:spPr>
          <a:xfrm>
            <a:off x="6953129" y="2288214"/>
            <a:ext cx="3665189" cy="2112881"/>
          </a:xfrm>
          <a:prstGeom prst="rect">
            <a:avLst/>
          </a:prstGeom>
          <a:blipFill>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90" y="2061642"/>
            <a:ext cx="3888432"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接下来，我们介绍如何通过</a:t>
            </a:r>
            <a:r>
              <a:rPr lang="zh-CN" altLang="en-US" sz="2000" dirty="0">
                <a:solidFill>
                  <a:srgbClr val="1369B2"/>
                </a:solidFill>
                <a:latin typeface="微软雅黑" panose="020B0503020204020204" pitchFamily="34" charset="-122"/>
                <a:ea typeface="微软雅黑" panose="020B0503020204020204" pitchFamily="34" charset="-122"/>
              </a:rPr>
              <a:t>连接</a:t>
            </a:r>
            <a:r>
              <a:rPr lang="en-US" altLang="zh-CN" sz="2000" dirty="0">
                <a:solidFill>
                  <a:srgbClr val="1369B2"/>
                </a:solidFill>
                <a:latin typeface="微软雅黑" panose="020B0503020204020204" pitchFamily="34" charset="-122"/>
                <a:ea typeface="微软雅黑" panose="020B0503020204020204" pitchFamily="34" charset="-122"/>
              </a:rPr>
              <a:t>URI</a:t>
            </a:r>
            <a:r>
              <a:rPr lang="zh-CN" altLang="en-US" sz="2000" dirty="0">
                <a:solidFill>
                  <a:srgbClr val="595959"/>
                </a:solidFill>
                <a:latin typeface="微软雅黑" panose="020B0503020204020204" pitchFamily="34" charset="-122"/>
                <a:ea typeface="微软雅黑" panose="020B0503020204020204" pitchFamily="34" charset="-122"/>
              </a:rPr>
              <a:t>实现</a:t>
            </a:r>
            <a:r>
              <a:rPr lang="zh-CN" altLang="en-US" sz="2000" dirty="0">
                <a:solidFill>
                  <a:srgbClr val="1369B2"/>
                </a:solidFill>
                <a:latin typeface="微软雅黑" panose="020B0503020204020204" pitchFamily="34" charset="-122"/>
                <a:ea typeface="微软雅黑" panose="020B0503020204020204" pitchFamily="34" charset="-122"/>
              </a:rPr>
              <a:t>直接连接</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副本集连接</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91180" y="2133650"/>
            <a:ext cx="6112138" cy="3291377"/>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1630710" y="2637706"/>
            <a:ext cx="4536504" cy="2346283"/>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）通过连接</a:t>
            </a:r>
            <a:r>
              <a:rPr lang="en-US" altLang="zh-CN" sz="2000" dirty="0">
                <a:solidFill>
                  <a:srgbClr val="595959"/>
                </a:solidFill>
                <a:latin typeface="微软雅黑" panose="020B0503020204020204" pitchFamily="34" charset="-122"/>
                <a:ea typeface="微软雅黑" panose="020B0503020204020204" pitchFamily="34" charset="-122"/>
              </a:rPr>
              <a:t>URI</a:t>
            </a:r>
            <a:r>
              <a:rPr lang="zh-CN" altLang="en-US" sz="2000" dirty="0">
                <a:solidFill>
                  <a:srgbClr val="595959"/>
                </a:solidFill>
                <a:latin typeface="微软雅黑" panose="020B0503020204020204" pitchFamily="34" charset="-122"/>
                <a:ea typeface="微软雅黑" panose="020B0503020204020204" pitchFamily="34" charset="-122"/>
              </a:rPr>
              <a:t>实现直接连接时，需要在连接</a:t>
            </a:r>
            <a:r>
              <a:rPr lang="en-US" altLang="zh-CN" sz="2000" dirty="0">
                <a:solidFill>
                  <a:srgbClr val="1369B2"/>
                </a:solidFill>
                <a:latin typeface="微软雅黑" panose="020B0503020204020204" pitchFamily="34" charset="-122"/>
                <a:ea typeface="微软雅黑" panose="020B0503020204020204" pitchFamily="34" charset="-122"/>
              </a:rPr>
              <a:t>URI</a:t>
            </a:r>
            <a:r>
              <a:rPr lang="zh-CN" altLang="en-US" sz="2000" dirty="0">
                <a:solidFill>
                  <a:srgbClr val="595959"/>
                </a:solidFill>
                <a:latin typeface="微软雅黑" panose="020B0503020204020204" pitchFamily="34" charset="-122"/>
                <a:ea typeface="微软雅黑" panose="020B0503020204020204" pitchFamily="34" charset="-122"/>
              </a:rPr>
              <a:t>中提供副本集中某个特定节点的地址，并添加</a:t>
            </a:r>
            <a:r>
              <a:rPr lang="en-US" altLang="zh-CN" sz="2000" dirty="0" err="1">
                <a:solidFill>
                  <a:srgbClr val="1369B2"/>
                </a:solidFill>
                <a:latin typeface="微软雅黑" panose="020B0503020204020204" pitchFamily="34" charset="-122"/>
                <a:ea typeface="微软雅黑" panose="020B0503020204020204" pitchFamily="34" charset="-122"/>
              </a:rPr>
              <a:t>directConnection</a:t>
            </a:r>
            <a:r>
              <a:rPr lang="zh-CN" altLang="en-US" sz="2000" dirty="0">
                <a:solidFill>
                  <a:srgbClr val="595959"/>
                </a:solidFill>
                <a:latin typeface="微软雅黑" panose="020B0503020204020204" pitchFamily="34" charset="-122"/>
                <a:ea typeface="微软雅黑" panose="020B0503020204020204" pitchFamily="34" charset="-122"/>
              </a:rPr>
              <a:t>选项，将该选项的值设置为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en-US" sz="2000" dirty="0">
                <a:solidFill>
                  <a:srgbClr val="595959"/>
                </a:solidFill>
                <a:latin typeface="微软雅黑" panose="020B0503020204020204" pitchFamily="34" charset="-122"/>
                <a:ea typeface="微软雅黑" panose="020B0503020204020204" pitchFamily="34" charset="-122"/>
              </a:rPr>
              <a:t>，表示使用</a:t>
            </a:r>
            <a:r>
              <a:rPr lang="zh-CN" altLang="en-US" sz="2000" dirty="0">
                <a:solidFill>
                  <a:srgbClr val="1369B2"/>
                </a:solidFill>
                <a:latin typeface="微软雅黑" panose="020B0503020204020204" pitchFamily="34" charset="-122"/>
                <a:ea typeface="微软雅黑" panose="020B0503020204020204" pitchFamily="34" charset="-122"/>
              </a:rPr>
              <a:t>直接连接方式</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1"/>
          <a:stretch>
            <a:fillRect/>
          </a:stretch>
        </p:blipFill>
        <p:spPr>
          <a:xfrm>
            <a:off x="7660184" y="1917626"/>
            <a:ext cx="3528392" cy="33391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982638" y="1053530"/>
            <a:ext cx="10369152"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接下来，使用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演示如何通过</a:t>
            </a:r>
            <a:r>
              <a:rPr lang="zh-CN" altLang="en-US" sz="2000" dirty="0">
                <a:solidFill>
                  <a:srgbClr val="1369B2"/>
                </a:solidFill>
                <a:latin typeface="微软雅黑" panose="020B0503020204020204" pitchFamily="34" charset="-122"/>
                <a:ea typeface="微软雅黑" panose="020B0503020204020204" pitchFamily="34" charset="-122"/>
              </a:rPr>
              <a:t>直接连接</a:t>
            </a:r>
            <a:r>
              <a:rPr lang="zh-CN" altLang="en-US" sz="2000" dirty="0">
                <a:solidFill>
                  <a:srgbClr val="595959"/>
                </a:solidFill>
                <a:latin typeface="微软雅黑" panose="020B0503020204020204" pitchFamily="34" charset="-122"/>
                <a:ea typeface="微软雅黑" panose="020B0503020204020204" pitchFamily="34" charset="-122"/>
              </a:rPr>
              <a:t>的方式连接副本集中的</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，该从节点位于虚拟机</a:t>
            </a:r>
            <a:r>
              <a:rPr lang="en-US" altLang="zh-CN" sz="2000" dirty="0">
                <a:solidFill>
                  <a:srgbClr val="1369B2"/>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 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982638" y="2349674"/>
            <a:ext cx="10297144" cy="1080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455496" y="2610846"/>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://nosql02:27017/?</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directConnection</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=true"</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pic>
        <p:nvPicPr>
          <p:cNvPr id="26626" name="Picture 2" descr="C:\Users\16366\AppData\Local\Temp\ksohtml17796\wps4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3994472"/>
            <a:ext cx="3672408" cy="1979907"/>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2350790" y="3461512"/>
            <a:ext cx="396044" cy="45890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842" name="Picture 2" descr="C:\Users\16366\AppData\Local\Temp\ksohtml17796\wps4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938" y="4232702"/>
            <a:ext cx="4938726" cy="1357332"/>
          </a:xfrm>
          <a:prstGeom prst="rect">
            <a:avLst/>
          </a:prstGeom>
          <a:noFill/>
          <a:extLst>
            <a:ext uri="{909E8E84-426E-40DD-AFC4-6F175D3DCCD1}">
              <a14:hiddenFill xmlns:a14="http://schemas.microsoft.com/office/drawing/2010/main">
                <a:solidFill>
                  <a:srgbClr val="FFFFFF"/>
                </a:solidFill>
              </a14:hiddenFill>
            </a:ext>
          </a:extLst>
        </p:spPr>
      </p:pic>
      <p:sp>
        <p:nvSpPr>
          <p:cNvPr id="3" name="箭头: 右 2"/>
          <p:cNvSpPr/>
          <p:nvPr/>
        </p:nvSpPr>
        <p:spPr>
          <a:xfrm>
            <a:off x="4847785" y="4869954"/>
            <a:ext cx="1247421" cy="43204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7"/>
          <p:cNvSpPr txBox="1"/>
          <p:nvPr/>
        </p:nvSpPr>
        <p:spPr>
          <a:xfrm>
            <a:off x="4682100" y="3974711"/>
            <a:ext cx="1578790" cy="98757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在数据库</a:t>
            </a:r>
            <a:r>
              <a:rPr lang="en-US" altLang="zh-CN" sz="1600" dirty="0">
                <a:solidFill>
                  <a:srgbClr val="FF0000"/>
                </a:solidFill>
                <a:latin typeface="微软雅黑" panose="020B0503020204020204" pitchFamily="34" charset="-122"/>
                <a:ea typeface="微软雅黑" panose="020B0503020204020204" pitchFamily="34" charset="-122"/>
              </a:rPr>
              <a:t>test</a:t>
            </a:r>
            <a:r>
              <a:rPr lang="zh-CN" altLang="en-US" sz="1600" dirty="0">
                <a:solidFill>
                  <a:srgbClr val="FF0000"/>
                </a:solidFill>
                <a:latin typeface="微软雅黑" panose="020B0503020204020204" pitchFamily="34" charset="-122"/>
                <a:ea typeface="微软雅黑" panose="020B0503020204020204" pitchFamily="34" charset="-122"/>
              </a:rPr>
              <a:t>中创建集合</a:t>
            </a:r>
            <a:r>
              <a:rPr lang="en-US" altLang="zh-CN" sz="1600" dirty="0" err="1">
                <a:solidFill>
                  <a:srgbClr val="FF0000"/>
                </a:solidFill>
                <a:latin typeface="微软雅黑" panose="020B0503020204020204" pitchFamily="34" charset="-122"/>
                <a:ea typeface="微软雅黑" panose="020B0503020204020204" pitchFamily="34" charset="-122"/>
              </a:rPr>
              <a:t>myCollection</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82638" y="1557586"/>
            <a:ext cx="6552728" cy="4169697"/>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1260055" y="1694835"/>
            <a:ext cx="5699247" cy="378289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）通过连接</a:t>
            </a:r>
            <a:r>
              <a:rPr lang="en-US" altLang="zh-CN" sz="1800" dirty="0">
                <a:solidFill>
                  <a:srgbClr val="595959"/>
                </a:solidFill>
                <a:latin typeface="微软雅黑" panose="020B0503020204020204" pitchFamily="34" charset="-122"/>
                <a:ea typeface="微软雅黑" panose="020B0503020204020204" pitchFamily="34" charset="-122"/>
              </a:rPr>
              <a:t>URI</a:t>
            </a:r>
            <a:r>
              <a:rPr lang="zh-CN" altLang="en-US" sz="1800" dirty="0">
                <a:solidFill>
                  <a:srgbClr val="595959"/>
                </a:solidFill>
                <a:latin typeface="微软雅黑" panose="020B0503020204020204" pitchFamily="34" charset="-122"/>
                <a:ea typeface="微软雅黑" panose="020B0503020204020204" pitchFamily="34" charset="-122"/>
              </a:rPr>
              <a:t>实现副本集连接时，可以在连接</a:t>
            </a:r>
            <a:r>
              <a:rPr lang="en-US" altLang="zh-CN" sz="1800" dirty="0">
                <a:solidFill>
                  <a:srgbClr val="595959"/>
                </a:solidFill>
                <a:latin typeface="微软雅黑" panose="020B0503020204020204" pitchFamily="34" charset="-122"/>
                <a:ea typeface="微软雅黑" panose="020B0503020204020204" pitchFamily="34" charset="-122"/>
              </a:rPr>
              <a:t>URI</a:t>
            </a:r>
            <a:r>
              <a:rPr lang="zh-CN" altLang="en-US" sz="1800" dirty="0">
                <a:solidFill>
                  <a:srgbClr val="595959"/>
                </a:solidFill>
                <a:latin typeface="微软雅黑" panose="020B0503020204020204" pitchFamily="34" charset="-122"/>
                <a:ea typeface="微软雅黑" panose="020B0503020204020204" pitchFamily="34" charset="-122"/>
              </a:rPr>
              <a:t>中提供副本集中</a:t>
            </a:r>
            <a:r>
              <a:rPr lang="zh-CN" altLang="en-US" sz="1800" dirty="0">
                <a:solidFill>
                  <a:srgbClr val="1369B2"/>
                </a:solidFill>
                <a:latin typeface="微软雅黑" panose="020B0503020204020204" pitchFamily="34" charset="-122"/>
                <a:ea typeface="微软雅黑" panose="020B0503020204020204" pitchFamily="34" charset="-122"/>
              </a:rPr>
              <a:t>所有节点</a:t>
            </a:r>
            <a:r>
              <a:rPr lang="zh-CN" altLang="en-US" sz="1800" dirty="0">
                <a:solidFill>
                  <a:srgbClr val="595959"/>
                </a:solidFill>
                <a:latin typeface="微软雅黑" panose="020B0503020204020204" pitchFamily="34" charset="-122"/>
                <a:ea typeface="微软雅黑" panose="020B0503020204020204" pitchFamily="34" charset="-122"/>
              </a:rPr>
              <a:t>的地址，也可以仅提供</a:t>
            </a:r>
            <a:r>
              <a:rPr lang="zh-CN" altLang="en-US" sz="1800" dirty="0">
                <a:solidFill>
                  <a:srgbClr val="1369B2"/>
                </a:solidFill>
                <a:latin typeface="微软雅黑" panose="020B0503020204020204" pitchFamily="34" charset="-122"/>
                <a:ea typeface="微软雅黑" panose="020B0503020204020204" pitchFamily="34" charset="-122"/>
              </a:rPr>
              <a:t>副本集中部分节点</a:t>
            </a:r>
            <a:r>
              <a:rPr lang="zh-CN" altLang="en-US" sz="1800" dirty="0">
                <a:solidFill>
                  <a:srgbClr val="595959"/>
                </a:solidFill>
                <a:latin typeface="微软雅黑" panose="020B0503020204020204" pitchFamily="34" charset="-122"/>
                <a:ea typeface="微软雅黑" panose="020B0503020204020204" pitchFamily="34" charset="-122"/>
              </a:rPr>
              <a:t>的地址，驱动程序会自动发现整个副本集的</a:t>
            </a:r>
            <a:r>
              <a:rPr lang="zh-CN" altLang="en-US" sz="1800" dirty="0">
                <a:solidFill>
                  <a:srgbClr val="1369B2"/>
                </a:solidFill>
                <a:latin typeface="微软雅黑" panose="020B0503020204020204" pitchFamily="34" charset="-122"/>
                <a:ea typeface="微软雅黑" panose="020B0503020204020204" pitchFamily="34" charset="-122"/>
              </a:rPr>
              <a:t>拓扑结构</a:t>
            </a:r>
            <a:r>
              <a:rPr lang="zh-CN" altLang="en-US" sz="1800" dirty="0">
                <a:solidFill>
                  <a:srgbClr val="595959"/>
                </a:solidFill>
                <a:latin typeface="微软雅黑" panose="020B0503020204020204" pitchFamily="34" charset="-122"/>
                <a:ea typeface="微软雅黑" panose="020B0503020204020204" pitchFamily="34" charset="-122"/>
              </a:rPr>
              <a:t>。不过，为了提高连接的可靠性，尤其是在某个节点不可用时，客户端仍然可以连接到其他节点，通常建议在连接</a:t>
            </a:r>
            <a:r>
              <a:rPr lang="en-US" altLang="zh-CN" sz="1800" dirty="0">
                <a:solidFill>
                  <a:srgbClr val="595959"/>
                </a:solidFill>
                <a:latin typeface="微软雅黑" panose="020B0503020204020204" pitchFamily="34" charset="-122"/>
                <a:ea typeface="微软雅黑" panose="020B0503020204020204" pitchFamily="34" charset="-122"/>
              </a:rPr>
              <a:t>URI</a:t>
            </a:r>
            <a:r>
              <a:rPr lang="zh-CN" altLang="en-US" sz="1800" dirty="0">
                <a:solidFill>
                  <a:srgbClr val="595959"/>
                </a:solidFill>
                <a:latin typeface="微软雅黑" panose="020B0503020204020204" pitchFamily="34" charset="-122"/>
                <a:ea typeface="微软雅黑" panose="020B0503020204020204" pitchFamily="34" charset="-122"/>
              </a:rPr>
              <a:t>中提供副本集中多个节点的地址。建议在连接</a:t>
            </a:r>
            <a:r>
              <a:rPr lang="en-US" altLang="zh-CN" sz="1800" dirty="0">
                <a:solidFill>
                  <a:srgbClr val="595959"/>
                </a:solidFill>
                <a:latin typeface="微软雅黑" panose="020B0503020204020204" pitchFamily="34" charset="-122"/>
                <a:ea typeface="微软雅黑" panose="020B0503020204020204" pitchFamily="34" charset="-122"/>
              </a:rPr>
              <a:t>URI</a:t>
            </a:r>
            <a:r>
              <a:rPr lang="zh-CN" altLang="en-US" sz="1800" dirty="0">
                <a:solidFill>
                  <a:srgbClr val="595959"/>
                </a:solidFill>
                <a:latin typeface="微软雅黑" panose="020B0503020204020204" pitchFamily="34" charset="-122"/>
                <a:ea typeface="微软雅黑" panose="020B0503020204020204" pitchFamily="34" charset="-122"/>
              </a:rPr>
              <a:t>中添加</a:t>
            </a:r>
            <a:r>
              <a:rPr lang="en-US" altLang="zh-CN" sz="1800" dirty="0" err="1">
                <a:solidFill>
                  <a:srgbClr val="595959"/>
                </a:solidFill>
                <a:latin typeface="微软雅黑" panose="020B0503020204020204" pitchFamily="34" charset="-122"/>
                <a:ea typeface="微软雅黑" panose="020B0503020204020204" pitchFamily="34" charset="-122"/>
              </a:rPr>
              <a:t>replicaSet</a:t>
            </a:r>
            <a:r>
              <a:rPr lang="zh-CN" altLang="en-US" sz="1800" dirty="0">
                <a:solidFill>
                  <a:srgbClr val="595959"/>
                </a:solidFill>
                <a:latin typeface="微软雅黑" panose="020B0503020204020204" pitchFamily="34" charset="-122"/>
                <a:ea typeface="微软雅黑" panose="020B0503020204020204" pitchFamily="34" charset="-122"/>
              </a:rPr>
              <a:t>选项，显式指定副本集名称，确保在复杂的网络环境中，驱动程序能够正确地识别副本集。</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1"/>
          <a:stretch>
            <a:fillRect/>
          </a:stretch>
        </p:blipFill>
        <p:spPr>
          <a:xfrm>
            <a:off x="7660183" y="1735131"/>
            <a:ext cx="3721231" cy="35216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982638" y="1053530"/>
            <a:ext cx="9721080"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接下来，使用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演示如何通过</a:t>
            </a:r>
            <a:r>
              <a:rPr lang="zh-CN" altLang="en-US" sz="2000" dirty="0">
                <a:solidFill>
                  <a:srgbClr val="1369B2"/>
                </a:solidFill>
                <a:latin typeface="微软雅黑" panose="020B0503020204020204" pitchFamily="34" charset="-122"/>
                <a:ea typeface="微软雅黑" panose="020B0503020204020204" pitchFamily="34" charset="-122"/>
              </a:rPr>
              <a:t>副本集连接的方式</a:t>
            </a:r>
            <a:r>
              <a:rPr lang="zh-CN" altLang="en-US" sz="2000" dirty="0">
                <a:solidFill>
                  <a:srgbClr val="595959"/>
                </a:solidFill>
                <a:latin typeface="微软雅黑" panose="020B0503020204020204" pitchFamily="34" charset="-122"/>
                <a:ea typeface="微软雅黑" panose="020B0503020204020204" pitchFamily="34" charset="-122"/>
              </a:rPr>
              <a:t>连接副本集，在虚拟机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连接副本集</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982638" y="2205658"/>
            <a:ext cx="9721080" cy="11345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455496" y="2260064"/>
            <a:ext cx="8640961" cy="87440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://nosql01:27017,nosql02:27017,nosql03:27017/?</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箭头: 下 1"/>
          <p:cNvSpPr/>
          <p:nvPr/>
        </p:nvSpPr>
        <p:spPr>
          <a:xfrm>
            <a:off x="5159102" y="3357786"/>
            <a:ext cx="432048" cy="504056"/>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866" name="Picture 2" descr="C:\Users\16366\AppData\Local\Temp\ksohtml17796\wps4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02918" y="3933850"/>
            <a:ext cx="4381500" cy="278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配置读取偏好</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配置读取偏好</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807174" y="1701602"/>
            <a:ext cx="5040560" cy="2346283"/>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通过客户端以副本集连接的方式连接副本集时，可以在连接</a:t>
            </a:r>
            <a:r>
              <a:rPr lang="en-US" altLang="zh-CN" sz="2000" dirty="0">
                <a:solidFill>
                  <a:srgbClr val="595959"/>
                </a:solidFill>
                <a:latin typeface="微软雅黑" panose="020B0503020204020204" pitchFamily="34" charset="-122"/>
                <a:ea typeface="微软雅黑" panose="020B0503020204020204" pitchFamily="34" charset="-122"/>
              </a:rPr>
              <a:t>URI</a:t>
            </a:r>
            <a:r>
              <a:rPr lang="zh-CN" altLang="en-US" sz="2000" dirty="0">
                <a:solidFill>
                  <a:srgbClr val="595959"/>
                </a:solidFill>
                <a:latin typeface="微软雅黑" panose="020B0503020204020204" pitchFamily="34" charset="-122"/>
                <a:ea typeface="微软雅黑" panose="020B0503020204020204" pitchFamily="34" charset="-122"/>
              </a:rPr>
              <a:t>中添加</a:t>
            </a:r>
            <a:r>
              <a:rPr lang="en-US" altLang="zh-CN" sz="2000" dirty="0" err="1">
                <a:solidFill>
                  <a:srgbClr val="1369B2"/>
                </a:solidFill>
                <a:latin typeface="微软雅黑" panose="020B0503020204020204" pitchFamily="34" charset="-122"/>
                <a:ea typeface="微软雅黑" panose="020B0503020204020204" pitchFamily="34" charset="-122"/>
              </a:rPr>
              <a:t>readPreference</a:t>
            </a:r>
            <a:r>
              <a:rPr lang="zh-CN" altLang="en-US" sz="2000" dirty="0">
                <a:solidFill>
                  <a:srgbClr val="595959"/>
                </a:solidFill>
                <a:latin typeface="微软雅黑" panose="020B0503020204020204" pitchFamily="34" charset="-122"/>
                <a:ea typeface="微软雅黑" panose="020B0503020204020204" pitchFamily="34" charset="-122"/>
              </a:rPr>
              <a:t>选项配置读取偏好，该选项的可选值包括</a:t>
            </a:r>
            <a:r>
              <a:rPr lang="en-US" altLang="zh-CN" sz="2000" dirty="0">
                <a:solidFill>
                  <a:srgbClr val="1369B2"/>
                </a:solidFill>
                <a:latin typeface="微软雅黑" panose="020B0503020204020204" pitchFamily="34" charset="-122"/>
                <a:ea typeface="微软雅黑" panose="020B0503020204020204" pitchFamily="34" charset="-122"/>
              </a:rPr>
              <a:t>primary</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primaryPreferred</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secondary</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err="1">
                <a:solidFill>
                  <a:srgbClr val="1369B2"/>
                </a:solidFill>
                <a:latin typeface="微软雅黑" panose="020B0503020204020204" pitchFamily="34" charset="-122"/>
                <a:ea typeface="微软雅黑" panose="020B0503020204020204" pitchFamily="34" charset="-122"/>
              </a:rPr>
              <a:t>secondaryPreferred</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配置读取偏好</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1452"/>
          <p:cNvSpPr/>
          <p:nvPr/>
        </p:nvSpPr>
        <p:spPr>
          <a:xfrm>
            <a:off x="1138028" y="3037848"/>
            <a:ext cx="2292817" cy="2768210"/>
          </a:xfrm>
          <a:prstGeom prst="roundRect">
            <a:avLst>
              <a:gd name="adj" fmla="val 6924"/>
            </a:avLst>
          </a:prstGeom>
          <a:ln w="12700">
            <a:solidFill>
              <a:srgbClr val="A6AAA9"/>
            </a:solidFill>
            <a:miter lim="400000"/>
          </a:ln>
        </p:spPr>
        <p:txBody>
          <a:bodyPr lIns="19051" tIns="19051" rIns="19051" bIns="1905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8" name="Shape 1454"/>
          <p:cNvSpPr/>
          <p:nvPr/>
        </p:nvSpPr>
        <p:spPr>
          <a:xfrm>
            <a:off x="3685357" y="3037848"/>
            <a:ext cx="2292819" cy="2768210"/>
          </a:xfrm>
          <a:prstGeom prst="roundRect">
            <a:avLst>
              <a:gd name="adj" fmla="val 6924"/>
            </a:avLst>
          </a:prstGeom>
          <a:ln w="12700">
            <a:solidFill>
              <a:srgbClr val="A6AAA9"/>
            </a:solidFill>
            <a:miter lim="400000"/>
          </a:ln>
        </p:spPr>
        <p:txBody>
          <a:bodyPr lIns="19051" tIns="19051" rIns="19051" bIns="1905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Shape 1456"/>
          <p:cNvSpPr/>
          <p:nvPr/>
        </p:nvSpPr>
        <p:spPr>
          <a:xfrm>
            <a:off x="6212238" y="3037848"/>
            <a:ext cx="2292819" cy="2768210"/>
          </a:xfrm>
          <a:prstGeom prst="roundRect">
            <a:avLst>
              <a:gd name="adj" fmla="val 6924"/>
            </a:avLst>
          </a:prstGeom>
          <a:ln w="12700">
            <a:solidFill>
              <a:srgbClr val="A6AAA9"/>
            </a:solidFill>
            <a:miter lim="400000"/>
          </a:ln>
        </p:spPr>
        <p:txBody>
          <a:bodyPr lIns="19051" tIns="19051" rIns="19051" bIns="1905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Shape 1458"/>
          <p:cNvSpPr/>
          <p:nvPr/>
        </p:nvSpPr>
        <p:spPr>
          <a:xfrm>
            <a:off x="8759567" y="3037848"/>
            <a:ext cx="2292819" cy="2768210"/>
          </a:xfrm>
          <a:prstGeom prst="roundRect">
            <a:avLst>
              <a:gd name="adj" fmla="val 6924"/>
            </a:avLst>
          </a:prstGeom>
          <a:ln w="12700">
            <a:solidFill>
              <a:srgbClr val="A6AAA9"/>
            </a:solidFill>
            <a:miter lim="400000"/>
          </a:ln>
        </p:spPr>
        <p:txBody>
          <a:bodyPr lIns="19051" tIns="19051" rIns="19051" bIns="1905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1460"/>
          <p:cNvSpPr/>
          <p:nvPr/>
        </p:nvSpPr>
        <p:spPr>
          <a:xfrm>
            <a:off x="1440531" y="1944828"/>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2" name="Group 20"/>
          <p:cNvGrpSpPr/>
          <p:nvPr/>
        </p:nvGrpSpPr>
        <p:grpSpPr>
          <a:xfrm>
            <a:off x="1368295" y="1985060"/>
            <a:ext cx="474017" cy="474017"/>
            <a:chOff x="1369087" y="2088729"/>
            <a:chExt cx="474017" cy="474016"/>
          </a:xfrm>
        </p:grpSpPr>
        <p:sp>
          <p:nvSpPr>
            <p:cNvPr id="39"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25400" tIns="25400" rIns="25400" bIns="254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0"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13" name="Shape 1465"/>
          <p:cNvSpPr/>
          <p:nvPr/>
        </p:nvSpPr>
        <p:spPr>
          <a:xfrm>
            <a:off x="3987861" y="1944828"/>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4" name="Shape 1468"/>
          <p:cNvSpPr/>
          <p:nvPr/>
        </p:nvSpPr>
        <p:spPr>
          <a:xfrm>
            <a:off x="6532611" y="1944965"/>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5" name="Shape 1471"/>
          <p:cNvSpPr/>
          <p:nvPr/>
        </p:nvSpPr>
        <p:spPr>
          <a:xfrm>
            <a:off x="9084250" y="1946555"/>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6" name="Group 32"/>
          <p:cNvGrpSpPr/>
          <p:nvPr/>
        </p:nvGrpSpPr>
        <p:grpSpPr>
          <a:xfrm>
            <a:off x="3905798" y="1985059"/>
            <a:ext cx="474017" cy="474017"/>
            <a:chOff x="3906591" y="2088732"/>
            <a:chExt cx="474017" cy="474017"/>
          </a:xfrm>
        </p:grpSpPr>
        <p:sp>
          <p:nvSpPr>
            <p:cNvPr id="35"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36" name="Group 1479"/>
            <p:cNvGrpSpPr/>
            <p:nvPr/>
          </p:nvGrpSpPr>
          <p:grpSpPr>
            <a:xfrm>
              <a:off x="4031314" y="2211790"/>
              <a:ext cx="199171" cy="186336"/>
              <a:chOff x="0" y="0"/>
              <a:chExt cx="398341" cy="372668"/>
            </a:xfrm>
          </p:grpSpPr>
          <p:sp>
            <p:nvSpPr>
              <p:cNvPr id="37"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8"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grpSp>
      <p:grpSp>
        <p:nvGrpSpPr>
          <p:cNvPr id="17" name="Group 40"/>
          <p:cNvGrpSpPr/>
          <p:nvPr/>
        </p:nvGrpSpPr>
        <p:grpSpPr>
          <a:xfrm>
            <a:off x="8994172" y="1985059"/>
            <a:ext cx="474017" cy="474017"/>
            <a:chOff x="8994965" y="2088732"/>
            <a:chExt cx="474017" cy="474017"/>
          </a:xfrm>
        </p:grpSpPr>
        <p:sp>
          <p:nvSpPr>
            <p:cNvPr id="33"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4"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18" name="Text Placeholder 5"/>
          <p:cNvSpPr txBox="1"/>
          <p:nvPr/>
        </p:nvSpPr>
        <p:spPr>
          <a:xfrm>
            <a:off x="1402935" y="2499792"/>
            <a:ext cx="1698820" cy="577887"/>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865" b="1" dirty="0">
                <a:solidFill>
                  <a:schemeClr val="bg1"/>
                </a:solidFill>
                <a:latin typeface="微软雅黑" panose="020B0503020204020204" pitchFamily="34" charset="-122"/>
                <a:ea typeface="微软雅黑" panose="020B0503020204020204" pitchFamily="34" charset="-122"/>
                <a:cs typeface="+mn-ea"/>
                <a:sym typeface="+mn-lt"/>
              </a:rPr>
              <a:t>primary</a:t>
            </a:r>
            <a:endParaRPr lang="zh-CN" altLang="en-US" sz="1865"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 name="Text Placeholder 6"/>
          <p:cNvSpPr txBox="1"/>
          <p:nvPr/>
        </p:nvSpPr>
        <p:spPr>
          <a:xfrm>
            <a:off x="1256865" y="4158564"/>
            <a:ext cx="2054032" cy="1134191"/>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默认值，表示客户端发送的读请求仅由</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处理，当主节点不可用时，副本集将</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无法处理</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客户端发送的读请求。</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0" name="Text Placeholder 5"/>
          <p:cNvSpPr txBox="1"/>
          <p:nvPr/>
        </p:nvSpPr>
        <p:spPr>
          <a:xfrm>
            <a:off x="4075648" y="24997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865" b="1" dirty="0" err="1">
                <a:solidFill>
                  <a:schemeClr val="bg1"/>
                </a:solidFill>
                <a:latin typeface="微软雅黑" panose="020B0503020204020204" pitchFamily="34" charset="-122"/>
                <a:ea typeface="微软雅黑" panose="020B0503020204020204" pitchFamily="34" charset="-122"/>
                <a:cs typeface="+mn-ea"/>
                <a:sym typeface="+mn-lt"/>
              </a:rPr>
              <a:t>primaryPreferred</a:t>
            </a:r>
            <a:endParaRPr lang="zh-CN" altLang="en-US" sz="1865"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1" name="Text Placeholder 5"/>
          <p:cNvSpPr txBox="1"/>
          <p:nvPr/>
        </p:nvSpPr>
        <p:spPr>
          <a:xfrm>
            <a:off x="9170308" y="24997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865" b="1" dirty="0" err="1">
                <a:solidFill>
                  <a:schemeClr val="bg1"/>
                </a:solidFill>
                <a:latin typeface="微软雅黑" panose="020B0503020204020204" pitchFamily="34" charset="-122"/>
                <a:ea typeface="微软雅黑" panose="020B0503020204020204" pitchFamily="34" charset="-122"/>
                <a:cs typeface="+mn-ea"/>
                <a:sym typeface="+mn-lt"/>
              </a:rPr>
              <a:t>secondaryPreferred</a:t>
            </a:r>
            <a:endParaRPr lang="zh-CN" altLang="en-US" sz="1865"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2" name="Text Placeholder 6"/>
          <p:cNvSpPr txBox="1"/>
          <p:nvPr/>
        </p:nvSpPr>
        <p:spPr>
          <a:xfrm>
            <a:off x="3924144" y="4158564"/>
            <a:ext cx="1815245" cy="1134191"/>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表示客户端发送的读请求默认由</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处理，当主节点不可用时，客户端发送的</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读请求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将由从节点处理。</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3" name="Text Placeholder 6"/>
          <p:cNvSpPr txBox="1"/>
          <p:nvPr/>
        </p:nvSpPr>
        <p:spPr>
          <a:xfrm>
            <a:off x="6462189" y="4158564"/>
            <a:ext cx="1815245" cy="1134191"/>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表示客户端发送的读请求仅由</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从节点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处理，当所有从节点都不可用时，副本集将</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无法处理</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客户端发送的读请求。</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4" name="Text Placeholder 6"/>
          <p:cNvSpPr txBox="1"/>
          <p:nvPr/>
        </p:nvSpPr>
        <p:spPr>
          <a:xfrm>
            <a:off x="9018804" y="4158564"/>
            <a:ext cx="1815245" cy="1134191"/>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表示客户端发送的读请求默认由</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从节点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处理，当所有从节点都不可用时，客户端发送的</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读请求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将由</a:t>
            </a:r>
            <a:r>
              <a:rPr lang="zh-CN" altLang="en-US" sz="1600" dirty="0">
                <a:solidFill>
                  <a:srgbClr val="1369B2"/>
                </a:solidFill>
                <a:latin typeface="微软雅黑" panose="020B0503020204020204" pitchFamily="34" charset="-122"/>
                <a:ea typeface="微软雅黑" panose="020B0503020204020204" pitchFamily="34" charset="-122"/>
                <a:cs typeface="+mn-ea"/>
                <a:sym typeface="+mn-lt"/>
              </a:rPr>
              <a:t>主节点处理</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5" name="Text Placeholder 5"/>
          <p:cNvSpPr txBox="1"/>
          <p:nvPr/>
        </p:nvSpPr>
        <p:spPr>
          <a:xfrm>
            <a:off x="6613692" y="24997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865" b="1" dirty="0">
                <a:solidFill>
                  <a:schemeClr val="bg1"/>
                </a:solidFill>
                <a:latin typeface="微软雅黑" panose="020B0503020204020204" pitchFamily="34" charset="-122"/>
                <a:ea typeface="微软雅黑" panose="020B0503020204020204" pitchFamily="34" charset="-122"/>
                <a:cs typeface="+mn-ea"/>
                <a:sym typeface="+mn-lt"/>
              </a:rPr>
              <a:t>secondary</a:t>
            </a:r>
            <a:endParaRPr lang="zh-CN" altLang="en-US" sz="1865"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6" name="Shape 1475"/>
          <p:cNvSpPr/>
          <p:nvPr/>
        </p:nvSpPr>
        <p:spPr>
          <a:xfrm>
            <a:off x="6449986" y="1985059"/>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19051" tIns="19051" rIns="19051" bIns="1905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2" name="Shape 1480"/>
          <p:cNvSpPr/>
          <p:nvPr/>
        </p:nvSpPr>
        <p:spPr>
          <a:xfrm>
            <a:off x="6593498" y="2108117"/>
            <a:ext cx="186347" cy="186335"/>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配置读取偏好</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982638" y="1053530"/>
            <a:ext cx="10441160"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接下来，将演示如何通过客户端以副本集连接的方式连接副本集时配置</a:t>
            </a:r>
            <a:r>
              <a:rPr lang="zh-CN" altLang="en-US" sz="2000" dirty="0">
                <a:solidFill>
                  <a:srgbClr val="1369B2"/>
                </a:solidFill>
                <a:latin typeface="微软雅黑" panose="020B0503020204020204" pitchFamily="34" charset="-122"/>
                <a:ea typeface="微软雅黑" panose="020B0503020204020204" pitchFamily="34" charset="-122"/>
              </a:rPr>
              <a:t>读取偏好</a:t>
            </a:r>
            <a:r>
              <a:rPr lang="zh-CN" altLang="en-US" sz="2000" dirty="0">
                <a:solidFill>
                  <a:srgbClr val="595959"/>
                </a:solidFill>
                <a:latin typeface="微软雅黑" panose="020B0503020204020204" pitchFamily="34" charset="-122"/>
                <a:ea typeface="微软雅黑" panose="020B0503020204020204" pitchFamily="34" charset="-122"/>
              </a:rPr>
              <a:t>，指定</a:t>
            </a:r>
            <a:r>
              <a:rPr lang="en-US" altLang="zh-CN" sz="2000" dirty="0" err="1">
                <a:solidFill>
                  <a:srgbClr val="1369B2"/>
                </a:solidFill>
                <a:latin typeface="微软雅黑" panose="020B0503020204020204" pitchFamily="34" charset="-122"/>
                <a:ea typeface="微软雅黑" panose="020B0503020204020204" pitchFamily="34" charset="-122"/>
              </a:rPr>
              <a:t>readPreference</a:t>
            </a:r>
            <a:r>
              <a:rPr lang="zh-CN" altLang="en-US" sz="2000" dirty="0">
                <a:solidFill>
                  <a:srgbClr val="595959"/>
                </a:solidFill>
                <a:latin typeface="微软雅黑" panose="020B0503020204020204" pitchFamily="34" charset="-122"/>
                <a:ea typeface="微软雅黑" panose="020B0503020204020204" pitchFamily="34" charset="-122"/>
              </a:rPr>
              <a:t>选项的值为</a:t>
            </a:r>
            <a:r>
              <a:rPr lang="en-US" altLang="zh-CN" sz="2000" dirty="0" err="1">
                <a:solidFill>
                  <a:srgbClr val="1369B2"/>
                </a:solidFill>
                <a:latin typeface="微软雅黑" panose="020B0503020204020204" pitchFamily="34" charset="-122"/>
                <a:ea typeface="微软雅黑" panose="020B0503020204020204" pitchFamily="34" charset="-122"/>
              </a:rPr>
              <a:t>secondaryPreferred</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7" name="矩形 6"/>
          <p:cNvSpPr/>
          <p:nvPr/>
        </p:nvSpPr>
        <p:spPr>
          <a:xfrm>
            <a:off x="982638" y="2295268"/>
            <a:ext cx="9721080" cy="14225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455496" y="2277666"/>
            <a:ext cx="8640961" cy="1289905"/>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://nosql01:27017,nosql02:27017,nosql03:27017/?</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=rs0&amp;readPreference=</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secondaryPreferred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箭头: 下 1"/>
          <p:cNvSpPr/>
          <p:nvPr/>
        </p:nvSpPr>
        <p:spPr>
          <a:xfrm>
            <a:off x="5159102" y="3717826"/>
            <a:ext cx="432048" cy="43204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配置读取偏好</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8914" name="Picture 2" descr="C:\Users\16366\AppData\Local\Temp\ksohtml17796\wps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4886" y="4149874"/>
            <a:ext cx="4381500" cy="2571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同步复制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熟悉副本集操作，能够完成</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同步复制</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90" y="1701602"/>
            <a:ext cx="4104456" cy="2346283"/>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通过客户端以</a:t>
            </a:r>
            <a:r>
              <a:rPr lang="zh-CN" altLang="en-US" sz="2000" dirty="0">
                <a:solidFill>
                  <a:srgbClr val="1369B2"/>
                </a:solidFill>
                <a:latin typeface="微软雅黑" panose="020B0503020204020204" pitchFamily="34" charset="-122"/>
                <a:ea typeface="微软雅黑" panose="020B0503020204020204" pitchFamily="34" charset="-122"/>
              </a:rPr>
              <a:t>直接连接的方式</a:t>
            </a:r>
            <a:r>
              <a:rPr lang="zh-CN" altLang="en-US" sz="2000" dirty="0">
                <a:solidFill>
                  <a:srgbClr val="595959"/>
                </a:solidFill>
                <a:latin typeface="微软雅黑" panose="020B0503020204020204" pitchFamily="34" charset="-122"/>
                <a:ea typeface="微软雅黑" panose="020B0503020204020204" pitchFamily="34" charset="-122"/>
              </a:rPr>
              <a:t>连接副本集中的</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执行写操作。然后，通过客户端以直接连接的方式连接副本集中的从节点验证数据是否一致，具体操作步骤如下。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同步复制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701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275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4092"/>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连接副本集中的主节点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通过客户端以直接连接的方式</a:t>
            </a:r>
            <a:r>
              <a:rPr lang="zh-CN" altLang="en-US" sz="2000" dirty="0">
                <a:solidFill>
                  <a:srgbClr val="1369B2"/>
                </a:solidFill>
                <a:latin typeface="微软雅黑" panose="020B0503020204020204" pitchFamily="34" charset="-122"/>
                <a:ea typeface="微软雅黑" panose="020B0503020204020204" pitchFamily="34" charset="-122"/>
              </a:rPr>
              <a:t>连接副本集中的主节点</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同步复制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0" name="组合 19"/>
          <p:cNvGrpSpPr/>
          <p:nvPr/>
        </p:nvGrpSpPr>
        <p:grpSpPr bwMode="auto">
          <a:xfrm>
            <a:off x="3142878" y="2709715"/>
            <a:ext cx="8280920" cy="1080120"/>
            <a:chOff x="1181682" y="2349504"/>
            <a:chExt cx="8348540" cy="1845461"/>
          </a:xfrm>
        </p:grpSpPr>
        <p:sp>
          <p:nvSpPr>
            <p:cNvPr id="22" name="矩形 21"/>
            <p:cNvSpPr/>
            <p:nvPr/>
          </p:nvSpPr>
          <p:spPr>
            <a:xfrm>
              <a:off x="1181682" y="2349504"/>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181682" y="2705438"/>
              <a:ext cx="813585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directConnection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=true"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4" name="圆角矩形 8"/>
          <p:cNvSpPr/>
          <p:nvPr/>
        </p:nvSpPr>
        <p:spPr>
          <a:xfrm>
            <a:off x="1054646" y="395476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5" name="文本框 10"/>
          <p:cNvSpPr txBox="1"/>
          <p:nvPr/>
        </p:nvSpPr>
        <p:spPr>
          <a:xfrm flipH="1">
            <a:off x="1143758" y="409050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6" name="1"/>
          <p:cNvSpPr txBox="1"/>
          <p:nvPr/>
        </p:nvSpPr>
        <p:spPr>
          <a:xfrm>
            <a:off x="3010236" y="3861842"/>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向数据库插入文档</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向数据库</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en-US" sz="2000" dirty="0">
                <a:solidFill>
                  <a:srgbClr val="595959"/>
                </a:solidFill>
                <a:latin typeface="微软雅黑" panose="020B0503020204020204" pitchFamily="34" charset="-122"/>
                <a:ea typeface="微软雅黑" panose="020B0503020204020204" pitchFamily="34" charset="-122"/>
              </a:rPr>
              <a:t>中的集合</a:t>
            </a:r>
            <a:r>
              <a:rPr lang="en-US" altLang="zh-CN" sz="2000" dirty="0" err="1">
                <a:solidFill>
                  <a:srgbClr val="595959"/>
                </a:solidFill>
                <a:latin typeface="微软雅黑" panose="020B0503020204020204" pitchFamily="34" charset="-122"/>
                <a:ea typeface="微软雅黑" panose="020B0503020204020204" pitchFamily="34" charset="-122"/>
              </a:rPr>
              <a:t>myCollection</a:t>
            </a:r>
            <a:r>
              <a:rPr lang="zh-CN" altLang="en-US" sz="2000" dirty="0">
                <a:solidFill>
                  <a:srgbClr val="1369B2"/>
                </a:solidFill>
                <a:latin typeface="微软雅黑" panose="020B0503020204020204" pitchFamily="34" charset="-122"/>
                <a:ea typeface="微软雅黑" panose="020B0503020204020204" pitchFamily="34" charset="-122"/>
              </a:rPr>
              <a:t>插入一个文档</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7" name="组合 26"/>
          <p:cNvGrpSpPr/>
          <p:nvPr/>
        </p:nvGrpSpPr>
        <p:grpSpPr bwMode="auto">
          <a:xfrm>
            <a:off x="3142878" y="5487464"/>
            <a:ext cx="8280920" cy="1120047"/>
            <a:chOff x="1181682" y="2349504"/>
            <a:chExt cx="8348540" cy="1845461"/>
          </a:xfrm>
        </p:grpSpPr>
        <p:sp>
          <p:nvSpPr>
            <p:cNvPr id="28" name="矩形 27"/>
            <p:cNvSpPr/>
            <p:nvPr/>
          </p:nvSpPr>
          <p:spPr>
            <a:xfrm>
              <a:off x="1181682" y="2349504"/>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9" name="矩形 28"/>
            <p:cNvSpPr/>
            <p:nvPr/>
          </p:nvSpPr>
          <p:spPr>
            <a:xfrm>
              <a:off x="1260731" y="2705439"/>
              <a:ext cx="7568885" cy="82321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db.myCollection.insertOne</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({name: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zhangsan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",age: 25})</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701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275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4092"/>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mongosh</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1369B2"/>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同步复制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0" name="组合 19"/>
          <p:cNvGrpSpPr/>
          <p:nvPr/>
        </p:nvGrpSpPr>
        <p:grpSpPr bwMode="auto">
          <a:xfrm>
            <a:off x="3214886" y="2277666"/>
            <a:ext cx="8208912" cy="1080120"/>
            <a:chOff x="1181682" y="2349504"/>
            <a:chExt cx="8348540" cy="1845461"/>
          </a:xfrm>
        </p:grpSpPr>
        <p:sp>
          <p:nvSpPr>
            <p:cNvPr id="22" name="矩形 21"/>
            <p:cNvSpPr/>
            <p:nvPr/>
          </p:nvSpPr>
          <p:spPr>
            <a:xfrm>
              <a:off x="1181682" y="2349504"/>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748646" y="2705438"/>
              <a:ext cx="756888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exit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4" name="圆角矩形 8"/>
          <p:cNvSpPr/>
          <p:nvPr/>
        </p:nvSpPr>
        <p:spPr>
          <a:xfrm>
            <a:off x="1054646" y="359472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5" name="文本框 10"/>
          <p:cNvSpPr txBox="1"/>
          <p:nvPr/>
        </p:nvSpPr>
        <p:spPr>
          <a:xfrm flipH="1">
            <a:off x="1143758" y="373046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6" name="1"/>
          <p:cNvSpPr txBox="1"/>
          <p:nvPr/>
        </p:nvSpPr>
        <p:spPr>
          <a:xfrm>
            <a:off x="3010236" y="3501802"/>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连接副本集中的从节点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通过客户端以直接连接的方式</a:t>
            </a:r>
            <a:r>
              <a:rPr lang="zh-CN" altLang="en-US" sz="2000" dirty="0">
                <a:solidFill>
                  <a:srgbClr val="1369B2"/>
                </a:solidFill>
                <a:latin typeface="微软雅黑" panose="020B0503020204020204" pitchFamily="34" charset="-122"/>
                <a:ea typeface="微软雅黑" panose="020B0503020204020204" pitchFamily="34" charset="-122"/>
              </a:rPr>
              <a:t>连接副本集中的从节点</a:t>
            </a:r>
            <a:r>
              <a:rPr lang="zh-CN" altLang="en-US" sz="2000" dirty="0">
                <a:solidFill>
                  <a:srgbClr val="595959"/>
                </a:solidFill>
                <a:latin typeface="微软雅黑" panose="020B0503020204020204" pitchFamily="34" charset="-122"/>
                <a:ea typeface="微软雅黑" panose="020B0503020204020204" pitchFamily="34" charset="-122"/>
              </a:rPr>
              <a:t>。这里连接位于虚拟机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中的从节点，在虚拟机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7" name="组合 26"/>
          <p:cNvGrpSpPr/>
          <p:nvPr/>
        </p:nvGrpSpPr>
        <p:grpSpPr bwMode="auto">
          <a:xfrm>
            <a:off x="3203526" y="5127425"/>
            <a:ext cx="8220272" cy="1326705"/>
            <a:chOff x="1181682" y="2349504"/>
            <a:chExt cx="8348540" cy="1845461"/>
          </a:xfrm>
        </p:grpSpPr>
        <p:sp>
          <p:nvSpPr>
            <p:cNvPr id="28" name="矩形 27"/>
            <p:cNvSpPr/>
            <p:nvPr/>
          </p:nvSpPr>
          <p:spPr>
            <a:xfrm>
              <a:off x="1181682" y="2349504"/>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9" name="矩形 28"/>
            <p:cNvSpPr/>
            <p:nvPr/>
          </p:nvSpPr>
          <p:spPr>
            <a:xfrm>
              <a:off x="1748646" y="2477008"/>
              <a:ext cx="7568885" cy="158388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directConnection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=true"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701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275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4092"/>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查询所有文档</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查询数据库</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en-US" sz="2000" dirty="0">
                <a:solidFill>
                  <a:srgbClr val="595959"/>
                </a:solidFill>
                <a:latin typeface="微软雅黑" panose="020B0503020204020204" pitchFamily="34" charset="-122"/>
                <a:ea typeface="微软雅黑" panose="020B0503020204020204" pitchFamily="34" charset="-122"/>
              </a:rPr>
              <a:t>中集合</a:t>
            </a:r>
            <a:r>
              <a:rPr lang="en-US" altLang="zh-CN" sz="2000" dirty="0" err="1">
                <a:solidFill>
                  <a:srgbClr val="1369B2"/>
                </a:solidFill>
                <a:latin typeface="微软雅黑" panose="020B0503020204020204" pitchFamily="34" charset="-122"/>
                <a:ea typeface="微软雅黑" panose="020B0503020204020204" pitchFamily="34" charset="-122"/>
              </a:rPr>
              <a:t>myCollection</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所有文档</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同步复制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0" name="组合 19"/>
          <p:cNvGrpSpPr/>
          <p:nvPr/>
        </p:nvGrpSpPr>
        <p:grpSpPr bwMode="auto">
          <a:xfrm>
            <a:off x="3214886" y="2637706"/>
            <a:ext cx="8208912" cy="1080120"/>
            <a:chOff x="1181682" y="2349504"/>
            <a:chExt cx="8348540" cy="1845461"/>
          </a:xfrm>
        </p:grpSpPr>
        <p:sp>
          <p:nvSpPr>
            <p:cNvPr id="22" name="矩形 21"/>
            <p:cNvSpPr/>
            <p:nvPr/>
          </p:nvSpPr>
          <p:spPr>
            <a:xfrm>
              <a:off x="1181682" y="2349504"/>
              <a:ext cx="834854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748646" y="2705438"/>
              <a:ext cx="756888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db.myCollection.find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pic>
        <p:nvPicPr>
          <p:cNvPr id="40962" name="Picture 2" descr="C:\Users\16366\AppData\Local\Temp\ksohtml17796\wps46.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4886" y="4221882"/>
            <a:ext cx="5422629" cy="2154687"/>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591150" y="3717826"/>
            <a:ext cx="360040" cy="4454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熟悉副本集操作，能够完成</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故障转移</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90" y="1833208"/>
            <a:ext cx="4320480" cy="188461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通过手动关闭副本集的</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，验证副本集是否将位于虚拟机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a:solidFill>
                  <a:srgbClr val="1369B2"/>
                </a:solidFill>
                <a:latin typeface="微软雅黑" panose="020B0503020204020204" pitchFamily="34" charset="-122"/>
                <a:ea typeface="微软雅黑" panose="020B0503020204020204" pitchFamily="34" charset="-122"/>
              </a:rPr>
              <a:t>优先级较高的从节点</a:t>
            </a:r>
            <a:r>
              <a:rPr lang="zh-CN" altLang="en-US" sz="2000" dirty="0">
                <a:solidFill>
                  <a:srgbClr val="595959"/>
                </a:solidFill>
                <a:latin typeface="微软雅黑" panose="020B0503020204020204" pitchFamily="34" charset="-122"/>
                <a:ea typeface="微软雅黑" panose="020B0503020204020204" pitchFamily="34" charset="-122"/>
              </a:rPr>
              <a:t>选举为新的</a:t>
            </a:r>
            <a:r>
              <a:rPr lang="zh-CN" altLang="en-US" sz="2000" dirty="0">
                <a:solidFill>
                  <a:srgbClr val="1369B2"/>
                </a:solidFill>
                <a:latin typeface="微软雅黑" panose="020B0503020204020204" pitchFamily="34" charset="-122"/>
                <a:ea typeface="微软雅黑" panose="020B0503020204020204" pitchFamily="34" charset="-122"/>
              </a:rPr>
              <a:t>主节点</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709714"/>
            <a:ext cx="8315536" cy="266429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关闭</a:t>
            </a:r>
            <a:r>
              <a:rPr lang="zh-CN" altLang="en-US" sz="2000" dirty="0">
                <a:solidFill>
                  <a:srgbClr val="595959"/>
                </a:solidFill>
                <a:latin typeface="微软雅黑" panose="020B0503020204020204" pitchFamily="34" charset="-122"/>
                <a:ea typeface="微软雅黑" panose="020B0503020204020204" pitchFamily="34" charset="-122"/>
              </a:rPr>
              <a:t>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14886" y="3357786"/>
            <a:ext cx="8064896" cy="1080120"/>
            <a:chOff x="1181682" y="2349504"/>
            <a:chExt cx="8924660" cy="1845461"/>
          </a:xfrm>
        </p:grpSpPr>
        <p:sp>
          <p:nvSpPr>
            <p:cNvPr id="22" name="矩形 21"/>
            <p:cNvSpPr/>
            <p:nvPr/>
          </p:nvSpPr>
          <p:spPr>
            <a:xfrm>
              <a:off x="1181682" y="2349504"/>
              <a:ext cx="892466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705438"/>
              <a:ext cx="875612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--shutdown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通过客户端以</a:t>
            </a:r>
            <a:r>
              <a:rPr lang="zh-CN" altLang="en-US" sz="2000" dirty="0">
                <a:solidFill>
                  <a:srgbClr val="1369B2"/>
                </a:solidFill>
                <a:latin typeface="微软雅黑" panose="020B0503020204020204" pitchFamily="34" charset="-122"/>
                <a:ea typeface="微软雅黑" panose="020B0503020204020204" pitchFamily="34" charset="-122"/>
              </a:rPr>
              <a:t>直接连接的方式</a:t>
            </a:r>
            <a:r>
              <a:rPr lang="zh-CN" altLang="en-US" sz="2000" dirty="0">
                <a:solidFill>
                  <a:srgbClr val="595959"/>
                </a:solidFill>
                <a:latin typeface="微软雅黑" panose="020B0503020204020204" pitchFamily="34" charset="-122"/>
                <a:ea typeface="微软雅黑" panose="020B0503020204020204" pitchFamily="34" charset="-122"/>
              </a:rPr>
              <a:t>连接位于虚拟机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节点</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14886" y="2781722"/>
            <a:ext cx="8064896" cy="936104"/>
            <a:chOff x="1181682" y="2226473"/>
            <a:chExt cx="8924660" cy="1599399"/>
          </a:xfrm>
        </p:grpSpPr>
        <p:sp>
          <p:nvSpPr>
            <p:cNvPr id="22" name="矩形 21"/>
            <p:cNvSpPr/>
            <p:nvPr/>
          </p:nvSpPr>
          <p:spPr>
            <a:xfrm>
              <a:off x="1181682" y="2226473"/>
              <a:ext cx="8924660" cy="15993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472535"/>
              <a:ext cx="875612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://nosql02:27017/?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directConnection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=true"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pic>
        <p:nvPicPr>
          <p:cNvPr id="45058" name="Picture 2" descr="C:\Users\16366\AppData\Local\Temp\ksohtml17796\wps4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9759" y="4142173"/>
            <a:ext cx="4381500" cy="2552700"/>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087094" y="3717826"/>
            <a:ext cx="360040" cy="36004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709714"/>
            <a:ext cx="8315536" cy="266429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启动</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启动</a:t>
            </a:r>
            <a:r>
              <a:rPr lang="zh-CN" altLang="en-US" sz="2000" dirty="0">
                <a:solidFill>
                  <a:srgbClr val="595959"/>
                </a:solidFill>
                <a:latin typeface="微软雅黑" panose="020B0503020204020204" pitchFamily="34" charset="-122"/>
                <a:ea typeface="微软雅黑" panose="020B0503020204020204" pitchFamily="34" charset="-122"/>
              </a:rPr>
              <a:t>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14886" y="3357786"/>
            <a:ext cx="8064896" cy="1080120"/>
            <a:chOff x="1181682" y="2349504"/>
            <a:chExt cx="8924660" cy="1845461"/>
          </a:xfrm>
        </p:grpSpPr>
        <p:sp>
          <p:nvSpPr>
            <p:cNvPr id="22" name="矩形 21"/>
            <p:cNvSpPr/>
            <p:nvPr/>
          </p:nvSpPr>
          <p:spPr>
            <a:xfrm>
              <a:off x="1181682" y="2349504"/>
              <a:ext cx="892466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705438"/>
              <a:ext cx="875612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mongod.conf</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0"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通过客户端以</a:t>
            </a:r>
            <a:r>
              <a:rPr lang="zh-CN" altLang="en-US" sz="2000" dirty="0">
                <a:solidFill>
                  <a:srgbClr val="1369B2"/>
                </a:solidFill>
                <a:latin typeface="微软雅黑" panose="020B0503020204020204" pitchFamily="34" charset="-122"/>
                <a:ea typeface="微软雅黑" panose="020B0503020204020204" pitchFamily="34" charset="-122"/>
              </a:rPr>
              <a:t>直接连接</a:t>
            </a:r>
            <a:r>
              <a:rPr lang="zh-CN" altLang="en-US" sz="2000" dirty="0">
                <a:solidFill>
                  <a:srgbClr val="595959"/>
                </a:solidFill>
                <a:latin typeface="微软雅黑" panose="020B0503020204020204" pitchFamily="34" charset="-122"/>
                <a:ea typeface="微软雅黑" panose="020B0503020204020204" pitchFamily="34" charset="-122"/>
              </a:rPr>
              <a:t>的方式连接位于虚拟机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节点</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070870" y="2781722"/>
            <a:ext cx="8208912" cy="936104"/>
            <a:chOff x="1181682" y="2226473"/>
            <a:chExt cx="8924660" cy="1599399"/>
          </a:xfrm>
        </p:grpSpPr>
        <p:sp>
          <p:nvSpPr>
            <p:cNvPr id="22" name="矩形 21"/>
            <p:cNvSpPr/>
            <p:nvPr/>
          </p:nvSpPr>
          <p:spPr>
            <a:xfrm>
              <a:off x="1181682" y="2226473"/>
              <a:ext cx="8924660" cy="15993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472535"/>
              <a:ext cx="875612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directConnection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=true"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 name="箭头: 下 1"/>
          <p:cNvSpPr/>
          <p:nvPr/>
        </p:nvSpPr>
        <p:spPr>
          <a:xfrm>
            <a:off x="5087094" y="3717826"/>
            <a:ext cx="360040" cy="36004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154" name="Picture 2" descr="C:\Users\16366\AppData\Local\Temp\ksohtml17796\wps4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1858" y="4077866"/>
            <a:ext cx="4381500" cy="2552700"/>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故障转移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熟悉副本集操作，能够完成</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删除节点</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982638" y="2205658"/>
            <a:ext cx="10441160" cy="4320480"/>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982638" y="1053530"/>
            <a:ext cx="9721080" cy="49962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a:t>
            </a:r>
            <a:r>
              <a:rPr lang="zh-CN" altLang="en-US" sz="2000" dirty="0">
                <a:solidFill>
                  <a:srgbClr val="1369B2"/>
                </a:solidFill>
                <a:latin typeface="微软雅黑" panose="020B0503020204020204" pitchFamily="34" charset="-122"/>
                <a:ea typeface="微软雅黑" panose="020B0503020204020204" pitchFamily="34" charset="-122"/>
              </a:rPr>
              <a:t>删除副本集中的节点</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7" name="矩形 6"/>
          <p:cNvSpPr/>
          <p:nvPr/>
        </p:nvSpPr>
        <p:spPr>
          <a:xfrm>
            <a:off x="1270670" y="2781722"/>
            <a:ext cx="9721080" cy="11345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nvSpPr>
        <p:spPr>
          <a:xfrm>
            <a:off x="1743528" y="3042894"/>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rs.remove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(address)</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2952244" y="3181122"/>
            <a:ext cx="910714"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1" name="直接箭头连接符 10"/>
          <p:cNvCxnSpPr/>
          <p:nvPr/>
        </p:nvCxnSpPr>
        <p:spPr>
          <a:xfrm>
            <a:off x="3862958" y="3516847"/>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949712" y="4022033"/>
            <a:ext cx="163332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3" name="文本框 7"/>
          <p:cNvSpPr txBox="1"/>
          <p:nvPr/>
        </p:nvSpPr>
        <p:spPr>
          <a:xfrm>
            <a:off x="2952245" y="4059268"/>
            <a:ext cx="1558786"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指定节点的主机名和端口号</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5" name="圆角矩形标注 6"/>
          <p:cNvSpPr/>
          <p:nvPr/>
        </p:nvSpPr>
        <p:spPr bwMode="auto">
          <a:xfrm>
            <a:off x="3018629" y="4941961"/>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需要说明的是，在删除副本集中的节点之前，需要先关闭该节点相应的</a:t>
            </a:r>
            <a:r>
              <a:rPr lang="en-US" altLang="zh-CN" sz="1800" dirty="0">
                <a:solidFill>
                  <a:srgbClr val="FF0000"/>
                </a:solidFill>
                <a:latin typeface="微软雅黑" panose="020B0503020204020204" pitchFamily="34" charset="-122"/>
                <a:ea typeface="微软雅黑" panose="020B0503020204020204" pitchFamily="34" charset="-122"/>
              </a:rPr>
              <a:t>MongoDB</a:t>
            </a:r>
            <a:r>
              <a:rPr lang="zh-CN" altLang="en-US" sz="1800" dirty="0">
                <a:solidFill>
                  <a:srgbClr val="FF0000"/>
                </a:solidFill>
                <a:latin typeface="微软雅黑" panose="020B0503020204020204" pitchFamily="34" charset="-122"/>
                <a:ea typeface="微软雅黑" panose="020B0503020204020204" pitchFamily="34" charset="-122"/>
              </a:rPr>
              <a:t>服务。</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6" name="矩形: 圆角 15"/>
          <p:cNvSpPr/>
          <p:nvPr/>
        </p:nvSpPr>
        <p:spPr>
          <a:xfrm>
            <a:off x="1846734" y="1922058"/>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1918742" y="1948244"/>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90" y="1833208"/>
            <a:ext cx="4320480"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a:t>
            </a:r>
            <a:r>
              <a:rPr lang="zh-CN" altLang="en-US" sz="2000" dirty="0">
                <a:solidFill>
                  <a:srgbClr val="1369B2"/>
                </a:solidFill>
                <a:latin typeface="微软雅黑" panose="020B0503020204020204" pitchFamily="34" charset="-122"/>
                <a:ea typeface="微软雅黑" panose="020B0503020204020204" pitchFamily="34" charset="-122"/>
              </a:rPr>
              <a:t>删除副本集中的从节点</a:t>
            </a:r>
            <a:r>
              <a:rPr lang="zh-CN" altLang="en-US" sz="2000" dirty="0">
                <a:solidFill>
                  <a:srgbClr val="595959"/>
                </a:solidFill>
                <a:latin typeface="微软雅黑" panose="020B0503020204020204" pitchFamily="34" charset="-122"/>
                <a:ea typeface="微软雅黑" panose="020B0503020204020204" pitchFamily="34" charset="-122"/>
              </a:rPr>
              <a:t>，该节点位于虚拟机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701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275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4092"/>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关闭</a:t>
            </a:r>
            <a:r>
              <a:rPr lang="zh-CN" altLang="en-US" sz="2000" dirty="0">
                <a:solidFill>
                  <a:srgbClr val="595959"/>
                </a:solidFill>
                <a:latin typeface="微软雅黑" panose="020B0503020204020204" pitchFamily="34" charset="-122"/>
                <a:ea typeface="微软雅黑" panose="020B0503020204020204" pitchFamily="34" charset="-122"/>
              </a:rPr>
              <a:t>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运行的</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执行命令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93690"/>
            <a:ext cx="8221810"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--shutdown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4" name="圆角矩形 8"/>
          <p:cNvSpPr/>
          <p:nvPr/>
        </p:nvSpPr>
        <p:spPr>
          <a:xfrm>
            <a:off x="1054646" y="395476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5" name="文本框 10"/>
          <p:cNvSpPr txBox="1"/>
          <p:nvPr/>
        </p:nvSpPr>
        <p:spPr>
          <a:xfrm flipH="1">
            <a:off x="1143758" y="409050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6" name="1"/>
          <p:cNvSpPr txBox="1"/>
          <p:nvPr/>
        </p:nvSpPr>
        <p:spPr>
          <a:xfrm>
            <a:off x="3010236" y="3861842"/>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a:t>
            </a:r>
            <a:r>
              <a:rPr lang="zh-CN" altLang="en-US" sz="2000" dirty="0">
                <a:solidFill>
                  <a:srgbClr val="1369B2"/>
                </a:solidFill>
                <a:latin typeface="微软雅黑" panose="020B0503020204020204" pitchFamily="34" charset="-122"/>
                <a:ea typeface="微软雅黑" panose="020B0503020204020204" pitchFamily="34" charset="-122"/>
              </a:rPr>
              <a:t>副本集连接的方式</a:t>
            </a:r>
            <a:r>
              <a:rPr lang="zh-CN" altLang="en-US" sz="2000" dirty="0">
                <a:solidFill>
                  <a:srgbClr val="595959"/>
                </a:solidFill>
                <a:latin typeface="微软雅黑" panose="020B0503020204020204" pitchFamily="34" charset="-122"/>
                <a:ea typeface="微软雅黑" panose="020B0503020204020204" pitchFamily="34" charset="-122"/>
              </a:rPr>
              <a:t>连接副本集，在虚拟机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7" name="组合 26"/>
          <p:cNvGrpSpPr/>
          <p:nvPr/>
        </p:nvGrpSpPr>
        <p:grpSpPr bwMode="auto">
          <a:xfrm>
            <a:off x="3142878" y="5111164"/>
            <a:ext cx="8221810" cy="1414974"/>
            <a:chOff x="1114569" y="1729488"/>
            <a:chExt cx="9098302" cy="2465479"/>
          </a:xfrm>
        </p:grpSpPr>
        <p:sp>
          <p:nvSpPr>
            <p:cNvPr id="28" name="矩形 27"/>
            <p:cNvSpPr/>
            <p:nvPr/>
          </p:nvSpPr>
          <p:spPr>
            <a:xfrm>
              <a:off x="1114569" y="1729488"/>
              <a:ext cx="9098302" cy="24654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9" name="矩形 28"/>
            <p:cNvSpPr/>
            <p:nvPr/>
          </p:nvSpPr>
          <p:spPr>
            <a:xfrm>
              <a:off x="1353622" y="1925280"/>
              <a:ext cx="8415653" cy="158388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565698"/>
            <a:ext cx="8402202" cy="3816424"/>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265287"/>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01026"/>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172361"/>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删除从节点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删除</a:t>
            </a:r>
            <a:r>
              <a:rPr lang="zh-CN" altLang="en-US" sz="2000" dirty="0">
                <a:solidFill>
                  <a:srgbClr val="595959"/>
                </a:solidFill>
                <a:latin typeface="微软雅黑" panose="020B0503020204020204" pitchFamily="34" charset="-122"/>
                <a:ea typeface="微软雅黑" panose="020B0503020204020204" pitchFamily="34" charset="-122"/>
              </a:rPr>
              <a:t>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718942" y="3213770"/>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rs.remove</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("nosql03:27017")</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圆角矩形标注 6"/>
          <p:cNvSpPr/>
          <p:nvPr/>
        </p:nvSpPr>
        <p:spPr bwMode="auto">
          <a:xfrm>
            <a:off x="3954733" y="4725938"/>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命令执行完成后，若返回的信息中出现“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表示删除成功。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265287"/>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01026"/>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172361"/>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查看唯一标识符</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查看</a:t>
            </a:r>
            <a:r>
              <a:rPr lang="zh-CN" altLang="en-US" sz="2000" dirty="0">
                <a:solidFill>
                  <a:srgbClr val="595959"/>
                </a:solidFill>
                <a:latin typeface="微软雅黑" panose="020B0503020204020204" pitchFamily="34" charset="-122"/>
                <a:ea typeface="微软雅黑" panose="020B0503020204020204" pitchFamily="34" charset="-122"/>
              </a:rPr>
              <a:t>副本集中</a:t>
            </a:r>
            <a:r>
              <a:rPr lang="zh-CN" altLang="en-US" sz="2000" dirty="0">
                <a:solidFill>
                  <a:srgbClr val="1369B2"/>
                </a:solidFill>
                <a:latin typeface="微软雅黑" panose="020B0503020204020204" pitchFamily="34" charset="-122"/>
                <a:ea typeface="微软雅黑" panose="020B0503020204020204" pitchFamily="34" charset="-122"/>
              </a:rPr>
              <a:t>每个节点的唯一标识符</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93690"/>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rs.status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members.map</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(member =&gt;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member._id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0178" name="Picture 2" descr="C:\Users\16366\AppData\Local\Temp\ksohtml17796\wps49.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36638" y="4221882"/>
            <a:ext cx="4659946" cy="1296144"/>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4943078" y="3650250"/>
            <a:ext cx="432048" cy="49962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熟悉副本集操作，能够完成</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添加节点</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88461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用户可以向副本集中添加</a:t>
            </a:r>
            <a:r>
              <a:rPr lang="zh-CN" altLang="en-US" sz="2000" dirty="0">
                <a:solidFill>
                  <a:srgbClr val="1369B2"/>
                </a:solidFill>
                <a:latin typeface="微软雅黑" panose="020B0503020204020204" pitchFamily="34" charset="-122"/>
                <a:ea typeface="微软雅黑" panose="020B0503020204020204" pitchFamily="34" charset="-122"/>
              </a:rPr>
              <a:t>仲裁节点</a:t>
            </a:r>
            <a:r>
              <a:rPr lang="zh-CN" altLang="en-US" sz="2000" dirty="0">
                <a:solidFill>
                  <a:srgbClr val="595959"/>
                </a:solidFill>
                <a:latin typeface="微软雅黑" panose="020B0503020204020204" pitchFamily="34" charset="-122"/>
                <a:ea typeface="微软雅黑" panose="020B0503020204020204" pitchFamily="34" charset="-122"/>
              </a:rPr>
              <a:t>或</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，以提升副本集的</a:t>
            </a:r>
            <a:r>
              <a:rPr lang="zh-CN" altLang="en-US" sz="2000" dirty="0">
                <a:solidFill>
                  <a:srgbClr val="1369B2"/>
                </a:solidFill>
                <a:latin typeface="微软雅黑" panose="020B0503020204020204" pitchFamily="34" charset="-122"/>
                <a:ea typeface="微软雅黑" panose="020B0503020204020204" pitchFamily="34" charset="-122"/>
              </a:rPr>
              <a:t>可用性</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读性能</a:t>
            </a:r>
            <a:r>
              <a:rPr lang="zh-CN" altLang="en-US" sz="2000" dirty="0">
                <a:solidFill>
                  <a:srgbClr val="595959"/>
                </a:solidFill>
                <a:latin typeface="微软雅黑" panose="020B0503020204020204" pitchFamily="34" charset="-122"/>
                <a:ea typeface="微软雅黑" panose="020B0503020204020204" pitchFamily="34" charset="-122"/>
              </a:rPr>
              <a:t>。本书以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为例，介绍如何向副本集添加节点，具体内容如下。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991180" y="2709714"/>
            <a:ext cx="10345952" cy="3168352"/>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添加仲裁节点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4" name="文本框 1"/>
          <p:cNvSpPr txBox="1"/>
          <p:nvPr/>
        </p:nvSpPr>
        <p:spPr>
          <a:xfrm>
            <a:off x="910630" y="1629594"/>
            <a:ext cx="4824536" cy="453457"/>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rPr>
              <a:t>向副本集添加</a:t>
            </a:r>
            <a:r>
              <a:rPr lang="zh-CN" altLang="en-US" sz="2000" dirty="0">
                <a:solidFill>
                  <a:srgbClr val="1369B2"/>
                </a:solidFill>
                <a:latin typeface="微软雅黑" panose="020B0503020204020204" pitchFamily="34" charset="-122"/>
                <a:ea typeface="微软雅黑" panose="020B0503020204020204" pitchFamily="34" charset="-122"/>
              </a:rPr>
              <a:t>仲裁节点</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5" name="矩形 24"/>
          <p:cNvSpPr/>
          <p:nvPr/>
        </p:nvSpPr>
        <p:spPr>
          <a:xfrm>
            <a:off x="1342678" y="3573810"/>
            <a:ext cx="9577064" cy="1080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6" name="矩形 25"/>
          <p:cNvSpPr/>
          <p:nvPr/>
        </p:nvSpPr>
        <p:spPr>
          <a:xfrm>
            <a:off x="1671520" y="3834982"/>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rs.addArb</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(address)</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8" name="矩形: 圆角 17"/>
          <p:cNvSpPr/>
          <p:nvPr/>
        </p:nvSpPr>
        <p:spPr>
          <a:xfrm>
            <a:off x="1846734" y="2426114"/>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918742" y="2452300"/>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a:xfrm>
            <a:off x="2881881" y="3887114"/>
            <a:ext cx="910714"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3" name="直接箭头连接符 12"/>
          <p:cNvCxnSpPr/>
          <p:nvPr/>
        </p:nvCxnSpPr>
        <p:spPr>
          <a:xfrm>
            <a:off x="3792595" y="4222839"/>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2879349" y="4728025"/>
            <a:ext cx="163332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5" name="文本框 7"/>
          <p:cNvSpPr txBox="1"/>
          <p:nvPr/>
        </p:nvSpPr>
        <p:spPr>
          <a:xfrm>
            <a:off x="2881882" y="4765260"/>
            <a:ext cx="1558786"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指定节点的主机名和端口号</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接下来，将演示如何向副本集添加</a:t>
            </a:r>
            <a:r>
              <a:rPr lang="zh-CN" altLang="en-US" sz="2000" dirty="0">
                <a:solidFill>
                  <a:srgbClr val="1369B2"/>
                </a:solidFill>
                <a:latin typeface="微软雅黑" panose="020B0503020204020204" pitchFamily="34" charset="-122"/>
                <a:ea typeface="微软雅黑" panose="020B0503020204020204" pitchFamily="34" charset="-122"/>
              </a:rPr>
              <a:t>仲裁节点</a:t>
            </a:r>
            <a:r>
              <a:rPr lang="zh-CN" altLang="en-US" sz="2000" dirty="0">
                <a:solidFill>
                  <a:srgbClr val="595959"/>
                </a:solidFill>
                <a:latin typeface="微软雅黑" panose="020B0503020204020204" pitchFamily="34" charset="-122"/>
                <a:ea typeface="微软雅黑" panose="020B0503020204020204" pitchFamily="34" charset="-122"/>
              </a:rPr>
              <a:t>，该节点位于虚拟机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8537"/>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4276"/>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5611"/>
            <a:ext cx="8618226" cy="13360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编辑配置文件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arb_mongod.conf</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rPr>
              <a:t>在虚拟机</a:t>
            </a:r>
            <a:r>
              <a:rPr lang="en-US" altLang="zh-CN" dirty="0">
                <a:solidFill>
                  <a:srgbClr val="595959"/>
                </a:solidFill>
                <a:latin typeface="微软雅黑" panose="020B0503020204020204" pitchFamily="34" charset="-122"/>
                <a:ea typeface="微软雅黑" panose="020B0503020204020204" pitchFamily="34" charset="-122"/>
              </a:rPr>
              <a:t>NoSQL03</a:t>
            </a:r>
            <a:r>
              <a:rPr lang="zh-CN" altLang="en-US" dirty="0">
                <a:solidFill>
                  <a:srgbClr val="595959"/>
                </a:solidFill>
                <a:latin typeface="微软雅黑" panose="020B0503020204020204" pitchFamily="34" charset="-122"/>
                <a:ea typeface="微软雅黑" panose="020B0503020204020204" pitchFamily="34" charset="-122"/>
              </a:rPr>
              <a:t>的</a:t>
            </a:r>
            <a:r>
              <a:rPr lang="en-US" altLang="zh-CN" dirty="0">
                <a:solidFill>
                  <a:srgbClr val="595959"/>
                </a:solidFill>
                <a:latin typeface="微软雅黑" panose="020B0503020204020204" pitchFamily="34" charset="-122"/>
                <a:ea typeface="微软雅黑" panose="020B0503020204020204" pitchFamily="34" charset="-122"/>
              </a:rPr>
              <a:t>/export/servers/</a:t>
            </a:r>
            <a:r>
              <a:rPr lang="en-US" altLang="zh-CN" dirty="0" err="1">
                <a:solidFill>
                  <a:srgbClr val="595959"/>
                </a:solidFill>
                <a:latin typeface="微软雅黑" panose="020B0503020204020204" pitchFamily="34" charset="-122"/>
                <a:ea typeface="微软雅黑" panose="020B0503020204020204" pitchFamily="34" charset="-122"/>
              </a:rPr>
              <a:t>replicaSet</a:t>
            </a:r>
            <a:r>
              <a:rPr lang="zh-CN" altLang="en-US" dirty="0">
                <a:solidFill>
                  <a:srgbClr val="595959"/>
                </a:solidFill>
                <a:latin typeface="微软雅黑" panose="020B0503020204020204" pitchFamily="34" charset="-122"/>
                <a:ea typeface="微软雅黑" panose="020B0503020204020204" pitchFamily="34" charset="-122"/>
              </a:rPr>
              <a:t>目录中，使用</a:t>
            </a:r>
            <a:r>
              <a:rPr lang="en-US" altLang="zh-CN" dirty="0">
                <a:solidFill>
                  <a:srgbClr val="595959"/>
                </a:solidFill>
                <a:latin typeface="微软雅黑" panose="020B0503020204020204" pitchFamily="34" charset="-122"/>
                <a:ea typeface="微软雅黑" panose="020B0503020204020204" pitchFamily="34" charset="-122"/>
              </a:rPr>
              <a:t>vi</a:t>
            </a:r>
            <a:r>
              <a:rPr lang="zh-CN" altLang="en-US" dirty="0">
                <a:solidFill>
                  <a:srgbClr val="595959"/>
                </a:solidFill>
                <a:latin typeface="微软雅黑" panose="020B0503020204020204" pitchFamily="34" charset="-122"/>
                <a:ea typeface="微软雅黑" panose="020B0503020204020204" pitchFamily="34" charset="-122"/>
              </a:rPr>
              <a:t>编辑器编辑配置文件</a:t>
            </a:r>
            <a:r>
              <a:rPr lang="en-US" altLang="zh-CN" dirty="0" err="1">
                <a:solidFill>
                  <a:srgbClr val="595959"/>
                </a:solidFill>
                <a:latin typeface="微软雅黑" panose="020B0503020204020204" pitchFamily="34" charset="-122"/>
                <a:ea typeface="微软雅黑" panose="020B0503020204020204" pitchFamily="34" charset="-122"/>
              </a:rPr>
              <a:t>arb_mongod.conf</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93689"/>
            <a:ext cx="8496944" cy="4098904"/>
            <a:chOff x="1181682" y="1980410"/>
            <a:chExt cx="9255170"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361995" y="1980410"/>
              <a:ext cx="9074857" cy="182478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2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systemLog</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destination: file</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path: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/logs/arb_mongodb.log</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logAppend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true</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bindIp</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nosql03</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storage:</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arb_db</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processManagement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fork: true</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replication: </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2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rs0</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17701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31275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084092"/>
            <a:ext cx="8618226"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创建目录</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a:solidFill>
                  <a:srgbClr val="1369B2"/>
                </a:solidFill>
                <a:latin typeface="微软雅黑" panose="020B0503020204020204" pitchFamily="34" charset="-122"/>
                <a:ea typeface="微软雅黑" panose="020B0503020204020204" pitchFamily="34" charset="-122"/>
              </a:rPr>
              <a:t>创建目录</a:t>
            </a:r>
            <a:r>
              <a:rPr lang="en-US" altLang="zh-CN" sz="2000" dirty="0">
                <a:solidFill>
                  <a:srgbClr val="1369B2"/>
                </a:solidFill>
                <a:latin typeface="微软雅黑" panose="020B0503020204020204" pitchFamily="34" charset="-122"/>
                <a:ea typeface="微软雅黑" panose="020B0503020204020204" pitchFamily="34" charset="-122"/>
              </a:rPr>
              <a:t>/export/servers/</a:t>
            </a:r>
            <a:r>
              <a:rPr lang="en-US" altLang="zh-CN" sz="2000" dirty="0" err="1">
                <a:solidFill>
                  <a:srgbClr val="1369B2"/>
                </a:solidFill>
                <a:latin typeface="微软雅黑" panose="020B0503020204020204" pitchFamily="34" charset="-122"/>
                <a:ea typeface="微软雅黑" panose="020B0503020204020204" pitchFamily="34" charset="-122"/>
              </a:rPr>
              <a:t>replicaSet</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arb_db</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执行如下命令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691422"/>
            <a:ext cx="8221810" cy="954396"/>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3"/>
              <a:ext cx="9074857" cy="96609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mkdir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arb_db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4" name="圆角矩形 8"/>
          <p:cNvSpPr/>
          <p:nvPr/>
        </p:nvSpPr>
        <p:spPr>
          <a:xfrm>
            <a:off x="1054646" y="395476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5" name="文本框 10"/>
          <p:cNvSpPr txBox="1"/>
          <p:nvPr/>
        </p:nvSpPr>
        <p:spPr>
          <a:xfrm flipH="1">
            <a:off x="1143758" y="409050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6" name="1"/>
          <p:cNvSpPr txBox="1"/>
          <p:nvPr/>
        </p:nvSpPr>
        <p:spPr>
          <a:xfrm>
            <a:off x="3010236" y="3861842"/>
            <a:ext cx="8618226"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启动</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1369B2"/>
                </a:solidFill>
                <a:latin typeface="微软雅黑" panose="020B0503020204020204" pitchFamily="34" charset="-122"/>
                <a:ea typeface="微软雅黑" panose="020B0503020204020204" pitchFamily="34" charset="-122"/>
              </a:rPr>
              <a:t>启动</a:t>
            </a:r>
            <a:r>
              <a:rPr lang="zh-CN" altLang="en-US" sz="2000" dirty="0">
                <a:solidFill>
                  <a:srgbClr val="595959"/>
                </a:solidFill>
                <a:latin typeface="微软雅黑" panose="020B0503020204020204" pitchFamily="34" charset="-122"/>
                <a:ea typeface="微软雅黑" panose="020B0503020204020204" pitchFamily="34" charset="-122"/>
              </a:rPr>
              <a:t>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执行命令</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7" name="组合 26"/>
          <p:cNvGrpSpPr/>
          <p:nvPr/>
        </p:nvGrpSpPr>
        <p:grpSpPr bwMode="auto">
          <a:xfrm>
            <a:off x="3142878" y="5111164"/>
            <a:ext cx="8221810" cy="1198950"/>
            <a:chOff x="1114569" y="1729488"/>
            <a:chExt cx="9098302" cy="2089074"/>
          </a:xfrm>
        </p:grpSpPr>
        <p:sp>
          <p:nvSpPr>
            <p:cNvPr id="28" name="矩形 27"/>
            <p:cNvSpPr/>
            <p:nvPr/>
          </p:nvSpPr>
          <p:spPr>
            <a:xfrm>
              <a:off x="1114569" y="1729488"/>
              <a:ext cx="9098302" cy="20890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9" name="矩形 28"/>
            <p:cNvSpPr/>
            <p:nvPr/>
          </p:nvSpPr>
          <p:spPr>
            <a:xfrm>
              <a:off x="1353622" y="2187476"/>
              <a:ext cx="8415654" cy="870555"/>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arb_mongod.conf</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709714"/>
            <a:ext cx="8315536" cy="266429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通过</a:t>
            </a:r>
            <a:r>
              <a:rPr lang="zh-CN" altLang="en-US" sz="2000" dirty="0">
                <a:solidFill>
                  <a:srgbClr val="1369B2"/>
                </a:solidFill>
                <a:latin typeface="微软雅黑" panose="020B0503020204020204" pitchFamily="34" charset="-122"/>
                <a:ea typeface="微软雅黑" panose="020B0503020204020204" pitchFamily="34" charset="-122"/>
              </a:rPr>
              <a:t>副本集连接</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的方式连接副本集，在虚拟机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NoSQL01</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执行如下命令。</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14886" y="3357786"/>
            <a:ext cx="8064896" cy="1440160"/>
            <a:chOff x="1181682" y="2349504"/>
            <a:chExt cx="8924660" cy="1845461"/>
          </a:xfrm>
        </p:grpSpPr>
        <p:sp>
          <p:nvSpPr>
            <p:cNvPr id="22" name="矩形 21"/>
            <p:cNvSpPr/>
            <p:nvPr/>
          </p:nvSpPr>
          <p:spPr>
            <a:xfrm>
              <a:off x="1181682" y="2349504"/>
              <a:ext cx="8924660"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350222" y="2552535"/>
              <a:ext cx="8756120" cy="164243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244369"/>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设置副本集的写关注级别</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将副本集的写关注级别设置为</a:t>
            </a:r>
            <a:r>
              <a:rPr lang="en-US" altLang="zh-CN" sz="2000" dirty="0">
                <a:solidFill>
                  <a:srgbClr val="1369B2"/>
                </a:solidFill>
                <a:latin typeface="微软雅黑" panose="020B0503020204020204" pitchFamily="34" charset="-122"/>
                <a:ea typeface="微软雅黑" panose="020B0503020204020204" pitchFamily="34" charset="-122"/>
              </a:rPr>
              <a:t>majority</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781722"/>
            <a:ext cx="7776864" cy="3096344"/>
            <a:chOff x="1181682" y="2349504"/>
            <a:chExt cx="8924660" cy="2655180"/>
          </a:xfrm>
        </p:grpSpPr>
        <p:sp>
          <p:nvSpPr>
            <p:cNvPr id="22" name="矩形 21"/>
            <p:cNvSpPr/>
            <p:nvPr/>
          </p:nvSpPr>
          <p:spPr>
            <a:xfrm>
              <a:off x="1181682" y="2349504"/>
              <a:ext cx="8924660" cy="26551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350222" y="2596497"/>
              <a:ext cx="8756120" cy="18221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 admin</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db.adminCommand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setDefaultRWConcern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1,</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defaultWriteConcern</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"w": "majority" }</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3306314" y="3175099"/>
            <a:ext cx="1348725"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5" name="直接箭头连接符 14"/>
          <p:cNvCxnSpPr/>
          <p:nvPr/>
        </p:nvCxnSpPr>
        <p:spPr>
          <a:xfrm>
            <a:off x="4511030" y="3175099"/>
            <a:ext cx="369585"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943078" y="2793788"/>
            <a:ext cx="1348725"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文本框 7"/>
          <p:cNvSpPr txBox="1"/>
          <p:nvPr/>
        </p:nvSpPr>
        <p:spPr>
          <a:xfrm>
            <a:off x="4945611" y="2831023"/>
            <a:ext cx="1348725"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使用数据库</a:t>
            </a:r>
            <a:r>
              <a:rPr lang="en-US" altLang="zh-CN" sz="1600" dirty="0">
                <a:solidFill>
                  <a:srgbClr val="FF0000"/>
                </a:solidFill>
                <a:latin typeface="微软雅黑" panose="020B0503020204020204" pitchFamily="34" charset="-122"/>
                <a:ea typeface="微软雅黑" panose="020B0503020204020204" pitchFamily="34" charset="-122"/>
              </a:rPr>
              <a:t>admin</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9" name="矩形 18"/>
          <p:cNvSpPr/>
          <p:nvPr/>
        </p:nvSpPr>
        <p:spPr>
          <a:xfrm>
            <a:off x="3289742" y="3630992"/>
            <a:ext cx="5397752" cy="185172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1" name="直接箭头连接符 20"/>
          <p:cNvCxnSpPr/>
          <p:nvPr/>
        </p:nvCxnSpPr>
        <p:spPr>
          <a:xfrm>
            <a:off x="8687494" y="3630992"/>
            <a:ext cx="369585"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9136436" y="3149517"/>
            <a:ext cx="1636757" cy="102481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5" name="文本框 7"/>
          <p:cNvSpPr txBox="1"/>
          <p:nvPr/>
        </p:nvSpPr>
        <p:spPr>
          <a:xfrm>
            <a:off x="9138969" y="3186751"/>
            <a:ext cx="1636757" cy="98757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将副本集的写关注级别设置为</a:t>
            </a:r>
            <a:r>
              <a:rPr lang="en-US" altLang="zh-CN" sz="1600" dirty="0">
                <a:solidFill>
                  <a:srgbClr val="FF0000"/>
                </a:solidFill>
                <a:latin typeface="微软雅黑" panose="020B0503020204020204" pitchFamily="34" charset="-122"/>
                <a:ea typeface="微软雅黑" panose="020B0503020204020204" pitchFamily="34" charset="-122"/>
              </a:rPr>
              <a:t>majority</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3047718"/>
            <a:ext cx="8402202" cy="3544875"/>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bwMode="auto">
          <a:xfrm>
            <a:off x="3718942" y="3429794"/>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rs.addArb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("nosql03:27017")</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圆角矩形标注 6"/>
          <p:cNvSpPr/>
          <p:nvPr/>
        </p:nvSpPr>
        <p:spPr bwMode="auto">
          <a:xfrm>
            <a:off x="4098749" y="4941961"/>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表示添加成功。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9"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06</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1" name="1"/>
          <p:cNvSpPr txBox="1"/>
          <p:nvPr/>
        </p:nvSpPr>
        <p:spPr>
          <a:xfrm>
            <a:off x="3021596" y="1244369"/>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将</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服务添加到副本集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将位于虚拟机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服务以</a:t>
            </a:r>
            <a:r>
              <a:rPr lang="zh-CN" altLang="en-US" sz="2000" dirty="0">
                <a:solidFill>
                  <a:srgbClr val="1369B2"/>
                </a:solidFill>
                <a:latin typeface="微软雅黑" panose="020B0503020204020204" pitchFamily="34" charset="-122"/>
                <a:ea typeface="微软雅黑" panose="020B0503020204020204" pitchFamily="34" charset="-122"/>
              </a:rPr>
              <a:t>仲裁节点</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的身份添加到</a:t>
            </a:r>
            <a:r>
              <a:rPr lang="zh-CN" altLang="en-US" sz="2000" dirty="0">
                <a:solidFill>
                  <a:srgbClr val="1369B2"/>
                </a:solidFill>
                <a:latin typeface="微软雅黑" panose="020B0503020204020204" pitchFamily="34" charset="-122"/>
                <a:ea typeface="微软雅黑" panose="020B0503020204020204" pitchFamily="34" charset="-122"/>
              </a:rPr>
              <a:t>副本集</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mongosh</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中执行如下命令。</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142878" y="2493690"/>
            <a:ext cx="6984776" cy="792088"/>
            <a:chOff x="1181682" y="1980410"/>
            <a:chExt cx="9098303" cy="1353338"/>
          </a:xfrm>
        </p:grpSpPr>
        <p:sp>
          <p:nvSpPr>
            <p:cNvPr id="22" name="矩形 21"/>
            <p:cNvSpPr/>
            <p:nvPr/>
          </p:nvSpPr>
          <p:spPr>
            <a:xfrm>
              <a:off x="1181682" y="1980410"/>
              <a:ext cx="9098303" cy="13533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9" y="2103441"/>
              <a:ext cx="9074856"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rs.status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圆角矩形 8"/>
          <p:cNvSpPr/>
          <p:nvPr/>
        </p:nvSpPr>
        <p:spPr>
          <a:xfrm>
            <a:off x="1066006" y="133729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9" name="文本框 10"/>
          <p:cNvSpPr txBox="1"/>
          <p:nvPr/>
        </p:nvSpPr>
        <p:spPr>
          <a:xfrm flipH="1">
            <a:off x="1155118" y="1473034"/>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07</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1" name="1"/>
          <p:cNvSpPr txBox="1"/>
          <p:nvPr/>
        </p:nvSpPr>
        <p:spPr>
          <a:xfrm>
            <a:off x="3021596" y="1244369"/>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查看节点的状态信息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查看副本集中</a:t>
            </a:r>
            <a:r>
              <a:rPr lang="zh-CN" altLang="en-US" sz="2000" dirty="0">
                <a:solidFill>
                  <a:srgbClr val="1369B2"/>
                </a:solidFill>
                <a:latin typeface="微软雅黑" panose="020B0503020204020204" pitchFamily="34" charset="-122"/>
                <a:ea typeface="微软雅黑" panose="020B0503020204020204" pitchFamily="34" charset="-122"/>
              </a:rPr>
              <a:t>各节点的状态信息</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rPr>
              <a:t>mongosh</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执行如下命令。</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5298" name="Picture 2" descr="C:\Users\16366\AppData\Local\Temp\ksohtml17796\wps5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0878" y="3811827"/>
            <a:ext cx="4662520" cy="2858327"/>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231110" y="3285778"/>
            <a:ext cx="432048" cy="526049"/>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991180" y="2709714"/>
            <a:ext cx="10345952" cy="3168352"/>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4" name="文本框 1"/>
          <p:cNvSpPr txBox="1"/>
          <p:nvPr/>
        </p:nvSpPr>
        <p:spPr>
          <a:xfrm>
            <a:off x="910630" y="1629594"/>
            <a:ext cx="4824536" cy="453457"/>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rPr>
              <a:t>向副本集添加</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5" name="矩形 24"/>
          <p:cNvSpPr/>
          <p:nvPr/>
        </p:nvSpPr>
        <p:spPr>
          <a:xfrm>
            <a:off x="1342678" y="3573810"/>
            <a:ext cx="9577064" cy="1080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6" name="矩形 25"/>
          <p:cNvSpPr/>
          <p:nvPr/>
        </p:nvSpPr>
        <p:spPr>
          <a:xfrm>
            <a:off x="1671520" y="3834982"/>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rs.add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({host: address})</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8" name="矩形: 圆角 17"/>
          <p:cNvSpPr/>
          <p:nvPr/>
        </p:nvSpPr>
        <p:spPr>
          <a:xfrm>
            <a:off x="1846734" y="2426114"/>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918742" y="2452300"/>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a:xfrm>
            <a:off x="3168268" y="3933850"/>
            <a:ext cx="910714"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3" name="直接箭头连接符 12"/>
          <p:cNvCxnSpPr/>
          <p:nvPr/>
        </p:nvCxnSpPr>
        <p:spPr>
          <a:xfrm>
            <a:off x="4078982" y="4269575"/>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165736" y="4774761"/>
            <a:ext cx="163332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5" name="文本框 7"/>
          <p:cNvSpPr txBox="1"/>
          <p:nvPr/>
        </p:nvSpPr>
        <p:spPr>
          <a:xfrm>
            <a:off x="3168269" y="4811996"/>
            <a:ext cx="1558786"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指定节点的主机名和端口号</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接下来，将演示如何向副本集添加</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，该节点位于虚拟机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圆顶角 5"/>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7" name="矩形 6"/>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椭圆 5"/>
          <p:cNvSpPr/>
          <p:nvPr/>
        </p:nvSpPr>
        <p:spPr bwMode="auto">
          <a:xfrm rot="574600">
            <a:off x="2954244" y="2597245"/>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7" name="TextBox 3"/>
          <p:cNvSpPr txBox="1">
            <a:spLocks noChangeArrowheads="1"/>
          </p:cNvSpPr>
          <p:nvPr/>
        </p:nvSpPr>
        <p:spPr bwMode="auto">
          <a:xfrm>
            <a:off x="2995619" y="2628301"/>
            <a:ext cx="349250" cy="369888"/>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1</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sp>
        <p:nvSpPr>
          <p:cNvPr id="8" name="文本框 1"/>
          <p:cNvSpPr txBox="1"/>
          <p:nvPr/>
        </p:nvSpPr>
        <p:spPr>
          <a:xfrm>
            <a:off x="3430910" y="2486107"/>
            <a:ext cx="8496944" cy="45890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1800" dirty="0">
                <a:solidFill>
                  <a:srgbClr val="1369B2"/>
                </a:solidFill>
                <a:latin typeface="微软雅黑" panose="020B0503020204020204" pitchFamily="34" charset="-122"/>
                <a:ea typeface="微软雅黑" panose="020B0503020204020204" pitchFamily="34" charset="-122"/>
              </a:rPr>
              <a:t>关闭</a:t>
            </a:r>
            <a:r>
              <a:rPr lang="zh-CN" altLang="en-US" sz="1800" dirty="0">
                <a:solidFill>
                  <a:srgbClr val="595959"/>
                </a:solidFill>
                <a:latin typeface="微软雅黑" panose="020B0503020204020204" pitchFamily="34" charset="-122"/>
                <a:ea typeface="微软雅黑" panose="020B0503020204020204" pitchFamily="34" charset="-122"/>
              </a:rPr>
              <a:t>虚拟机</a:t>
            </a:r>
            <a:r>
              <a:rPr lang="en-US" altLang="zh-CN" sz="1800" dirty="0">
                <a:solidFill>
                  <a:srgbClr val="595959"/>
                </a:solidFill>
                <a:latin typeface="微软雅黑" panose="020B0503020204020204" pitchFamily="34" charset="-122"/>
                <a:ea typeface="微软雅黑" panose="020B0503020204020204" pitchFamily="34" charset="-122"/>
              </a:rPr>
              <a:t>NoSQL03</a:t>
            </a:r>
            <a:r>
              <a:rPr lang="zh-CN" altLang="en-US" sz="1800" dirty="0">
                <a:solidFill>
                  <a:srgbClr val="595959"/>
                </a:solidFill>
                <a:latin typeface="微软雅黑" panose="020B0503020204020204" pitchFamily="34" charset="-122"/>
                <a:ea typeface="微软雅黑" panose="020B0503020204020204" pitchFamily="34" charset="-122"/>
              </a:rPr>
              <a:t>中的</a:t>
            </a:r>
            <a:r>
              <a:rPr lang="en-US" altLang="zh-CN" sz="1800" dirty="0">
                <a:solidFill>
                  <a:srgbClr val="1369B2"/>
                </a:solidFill>
                <a:latin typeface="微软雅黑" panose="020B0503020204020204" pitchFamily="34" charset="-122"/>
                <a:ea typeface="微软雅黑" panose="020B0503020204020204" pitchFamily="34" charset="-122"/>
              </a:rPr>
              <a:t>MongoDB</a:t>
            </a:r>
            <a:r>
              <a:rPr lang="zh-CN" altLang="en-US" sz="1800" dirty="0">
                <a:solidFill>
                  <a:srgbClr val="1369B2"/>
                </a:solidFill>
                <a:latin typeface="微软雅黑" panose="020B0503020204020204" pitchFamily="34" charset="-122"/>
                <a:ea typeface="微软雅黑" panose="020B0503020204020204" pitchFamily="34" charset="-122"/>
              </a:rPr>
              <a:t>服务</a:t>
            </a:r>
            <a:r>
              <a:rPr lang="zh-CN" altLang="en-US" sz="1800" dirty="0">
                <a:solidFill>
                  <a:srgbClr val="595959"/>
                </a:solidFill>
                <a:latin typeface="微软雅黑" panose="020B0503020204020204" pitchFamily="34" charset="-122"/>
                <a:ea typeface="微软雅黑" panose="020B0503020204020204" pitchFamily="34" charset="-122"/>
              </a:rPr>
              <a:t>，在虚拟机</a:t>
            </a:r>
            <a:r>
              <a:rPr lang="en-US" altLang="zh-CN" sz="1800" dirty="0">
                <a:solidFill>
                  <a:srgbClr val="595959"/>
                </a:solidFill>
                <a:latin typeface="微软雅黑" panose="020B0503020204020204" pitchFamily="34" charset="-122"/>
                <a:ea typeface="微软雅黑" panose="020B0503020204020204" pitchFamily="34" charset="-122"/>
              </a:rPr>
              <a:t>NoSQL03</a:t>
            </a:r>
            <a:r>
              <a:rPr lang="zh-CN" altLang="en-US" sz="1800" dirty="0">
                <a:solidFill>
                  <a:srgbClr val="595959"/>
                </a:solidFill>
                <a:latin typeface="微软雅黑" panose="020B0503020204020204" pitchFamily="34" charset="-122"/>
                <a:ea typeface="微软雅黑" panose="020B0503020204020204" pitchFamily="34" charset="-122"/>
              </a:rPr>
              <a:t>执行命令。</a:t>
            </a:r>
            <a:endParaRPr lang="zh-CN" altLang="en-US" sz="1800" dirty="0">
              <a:solidFill>
                <a:srgbClr val="595959"/>
              </a:solidFill>
              <a:latin typeface="微软雅黑" panose="020B0503020204020204" pitchFamily="34" charset="-122"/>
              <a:ea typeface="微软雅黑" panose="020B0503020204020204" pitchFamily="34" charset="-122"/>
            </a:endParaRPr>
          </a:p>
        </p:txBody>
      </p:sp>
      <p:grpSp>
        <p:nvGrpSpPr>
          <p:cNvPr id="9" name="组合 8"/>
          <p:cNvGrpSpPr/>
          <p:nvPr/>
        </p:nvGrpSpPr>
        <p:grpSpPr bwMode="auto">
          <a:xfrm>
            <a:off x="3497382" y="3088288"/>
            <a:ext cx="8640960" cy="701546"/>
            <a:chOff x="1181682" y="1980410"/>
            <a:chExt cx="11255633" cy="1198641"/>
          </a:xfrm>
        </p:grpSpPr>
        <p:sp>
          <p:nvSpPr>
            <p:cNvPr id="10" name="矩形 9"/>
            <p:cNvSpPr/>
            <p:nvPr/>
          </p:nvSpPr>
          <p:spPr>
            <a:xfrm>
              <a:off x="1181682" y="1980410"/>
              <a:ext cx="10512469" cy="11986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1" name="矩形 10"/>
            <p:cNvSpPr/>
            <p:nvPr/>
          </p:nvSpPr>
          <p:spPr>
            <a:xfrm>
              <a:off x="1205129" y="2103441"/>
              <a:ext cx="11232186" cy="7840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--shutdown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arb_db</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2" name="椭圆 11"/>
          <p:cNvSpPr/>
          <p:nvPr/>
        </p:nvSpPr>
        <p:spPr bwMode="auto">
          <a:xfrm rot="574600">
            <a:off x="2954244" y="3900972"/>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14" name="TextBox 3"/>
          <p:cNvSpPr txBox="1">
            <a:spLocks noChangeArrowheads="1"/>
          </p:cNvSpPr>
          <p:nvPr/>
        </p:nvSpPr>
        <p:spPr bwMode="auto">
          <a:xfrm>
            <a:off x="2995619" y="3932028"/>
            <a:ext cx="348172" cy="369332"/>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en-US" altLang="zh-CN" sz="1800" b="1" kern="0" dirty="0">
                <a:solidFill>
                  <a:sysClr val="window" lastClr="FFFFFF"/>
                </a:solidFill>
                <a:latin typeface="Verdana" panose="020B0604030504040204" pitchFamily="34" charset="0"/>
              </a:rPr>
              <a:t>2</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grpSp>
        <p:nvGrpSpPr>
          <p:cNvPr id="15" name="组合 14"/>
          <p:cNvGrpSpPr/>
          <p:nvPr/>
        </p:nvGrpSpPr>
        <p:grpSpPr bwMode="auto">
          <a:xfrm>
            <a:off x="3497382" y="4437906"/>
            <a:ext cx="8142440" cy="792088"/>
            <a:chOff x="1181682" y="1980410"/>
            <a:chExt cx="10606266" cy="1353338"/>
          </a:xfrm>
        </p:grpSpPr>
        <p:sp>
          <p:nvSpPr>
            <p:cNvPr id="16" name="矩形 15"/>
            <p:cNvSpPr/>
            <p:nvPr/>
          </p:nvSpPr>
          <p:spPr>
            <a:xfrm>
              <a:off x="1181682" y="1980410"/>
              <a:ext cx="10512469" cy="13533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8" name="矩形 17"/>
            <p:cNvSpPr/>
            <p:nvPr/>
          </p:nvSpPr>
          <p:spPr>
            <a:xfrm>
              <a:off x="1205129" y="2103441"/>
              <a:ext cx="10582819" cy="7840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9" name="文本框 1"/>
          <p:cNvSpPr txBox="1"/>
          <p:nvPr/>
        </p:nvSpPr>
        <p:spPr>
          <a:xfrm>
            <a:off x="3425374" y="3839414"/>
            <a:ext cx="7062320" cy="45890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通过</a:t>
            </a:r>
            <a:r>
              <a:rPr lang="zh-CN" altLang="en-US" sz="1800" dirty="0">
                <a:solidFill>
                  <a:srgbClr val="1369B2"/>
                </a:solidFill>
                <a:latin typeface="微软雅黑" panose="020B0503020204020204" pitchFamily="34" charset="-122"/>
                <a:ea typeface="微软雅黑" panose="020B0503020204020204" pitchFamily="34" charset="-122"/>
              </a:rPr>
              <a:t>副本集连接的方式</a:t>
            </a:r>
            <a:r>
              <a:rPr lang="zh-CN" altLang="en-US" sz="1800" dirty="0">
                <a:solidFill>
                  <a:srgbClr val="595959"/>
                </a:solidFill>
                <a:latin typeface="微软雅黑" panose="020B0503020204020204" pitchFamily="34" charset="-122"/>
                <a:ea typeface="微软雅黑" panose="020B0503020204020204" pitchFamily="34" charset="-122"/>
              </a:rPr>
              <a:t>连接副本集，在虚拟机</a:t>
            </a:r>
            <a:r>
              <a:rPr lang="en-US" altLang="zh-CN" sz="1800" dirty="0">
                <a:solidFill>
                  <a:srgbClr val="595959"/>
                </a:solidFill>
                <a:latin typeface="微软雅黑" panose="020B0503020204020204" pitchFamily="34" charset="-122"/>
                <a:ea typeface="微软雅黑" panose="020B0503020204020204" pitchFamily="34" charset="-122"/>
              </a:rPr>
              <a:t>NoSQL01</a:t>
            </a:r>
            <a:r>
              <a:rPr lang="zh-CN" altLang="en-US" sz="1800" dirty="0">
                <a:solidFill>
                  <a:srgbClr val="595959"/>
                </a:solidFill>
                <a:latin typeface="微软雅黑" panose="020B0503020204020204" pitchFamily="34" charset="-122"/>
                <a:ea typeface="微软雅黑" panose="020B0503020204020204" pitchFamily="34" charset="-122"/>
              </a:rPr>
              <a:t>执行命令。</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20" name="椭圆 19"/>
          <p:cNvSpPr/>
          <p:nvPr/>
        </p:nvSpPr>
        <p:spPr bwMode="auto">
          <a:xfrm rot="574600">
            <a:off x="2954244" y="5341132"/>
            <a:ext cx="432000" cy="43200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buFont typeface="Arial" panose="020B0604020202020204" pitchFamily="34" charset="0"/>
              <a:buNone/>
            </a:pPr>
            <a:endParaRPr lang="zh-CN" altLang="en-US" dirty="0">
              <a:solidFill>
                <a:schemeClr val="bg1"/>
              </a:solidFill>
              <a:latin typeface="Arial" panose="020B0604020202020204" pitchFamily="34" charset="0"/>
            </a:endParaRPr>
          </a:p>
        </p:txBody>
      </p:sp>
      <p:sp>
        <p:nvSpPr>
          <p:cNvPr id="21" name="TextBox 3"/>
          <p:cNvSpPr txBox="1">
            <a:spLocks noChangeArrowheads="1"/>
          </p:cNvSpPr>
          <p:nvPr/>
        </p:nvSpPr>
        <p:spPr bwMode="auto">
          <a:xfrm>
            <a:off x="2995619" y="5372188"/>
            <a:ext cx="348172" cy="369332"/>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rPr>
              <a:t>3</a:t>
            </a:r>
            <a:endParaRPr kumimoji="0" lang="zh-CN" altLang="en-US" sz="1800" b="1" i="0" u="none" strike="noStrike" kern="0" cap="none" spc="0" normalizeH="0" baseline="0" noProof="0" dirty="0">
              <a:ln>
                <a:noFill/>
              </a:ln>
              <a:solidFill>
                <a:sysClr val="window" lastClr="FFFFFF"/>
              </a:solidFill>
              <a:effectLst/>
              <a:uLnTx/>
              <a:uFillTx/>
              <a:latin typeface="Verdana" panose="020B0604030504040204" pitchFamily="34" charset="0"/>
              <a:ea typeface="宋体" panose="02010600030101010101" pitchFamily="2" charset="-122"/>
            </a:endParaRPr>
          </a:p>
        </p:txBody>
      </p:sp>
      <p:grpSp>
        <p:nvGrpSpPr>
          <p:cNvPr id="22" name="组合 21"/>
          <p:cNvGrpSpPr/>
          <p:nvPr/>
        </p:nvGrpSpPr>
        <p:grpSpPr bwMode="auto">
          <a:xfrm>
            <a:off x="3497382" y="5801626"/>
            <a:ext cx="8070432" cy="792088"/>
            <a:chOff x="1181682" y="1980410"/>
            <a:chExt cx="10512469" cy="1353338"/>
          </a:xfrm>
        </p:grpSpPr>
        <p:sp>
          <p:nvSpPr>
            <p:cNvPr id="23" name="矩形 22"/>
            <p:cNvSpPr/>
            <p:nvPr/>
          </p:nvSpPr>
          <p:spPr>
            <a:xfrm>
              <a:off x="1181682" y="1980410"/>
              <a:ext cx="10512469" cy="13533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4" name="矩形 23"/>
            <p:cNvSpPr/>
            <p:nvPr/>
          </p:nvSpPr>
          <p:spPr>
            <a:xfrm>
              <a:off x="1205129" y="2103441"/>
              <a:ext cx="8237896" cy="78407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rs.remove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("nosql03:27017")</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5" name="文本框 1"/>
          <p:cNvSpPr txBox="1"/>
          <p:nvPr/>
        </p:nvSpPr>
        <p:spPr>
          <a:xfrm>
            <a:off x="3425374" y="5234426"/>
            <a:ext cx="6630272" cy="49962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1800" dirty="0">
                <a:solidFill>
                  <a:srgbClr val="1369B2"/>
                </a:solidFill>
                <a:latin typeface="微软雅黑" panose="020B0503020204020204" pitchFamily="34" charset="-122"/>
                <a:ea typeface="微软雅黑" panose="020B0503020204020204" pitchFamily="34" charset="-122"/>
              </a:rPr>
              <a:t>删除</a:t>
            </a:r>
            <a:r>
              <a:rPr lang="zh-CN" altLang="en-US" sz="1800" dirty="0">
                <a:solidFill>
                  <a:srgbClr val="595959"/>
                </a:solidFill>
                <a:latin typeface="微软雅黑" panose="020B0503020204020204" pitchFamily="34" charset="-122"/>
                <a:ea typeface="微软雅黑" panose="020B0503020204020204" pitchFamily="34" charset="-122"/>
              </a:rPr>
              <a:t>副本集中的</a:t>
            </a:r>
            <a:r>
              <a:rPr lang="zh-CN" altLang="en-US" sz="1800" dirty="0">
                <a:solidFill>
                  <a:srgbClr val="1369B2"/>
                </a:solidFill>
                <a:latin typeface="微软雅黑" panose="020B0503020204020204" pitchFamily="34" charset="-122"/>
                <a:ea typeface="微软雅黑" panose="020B0503020204020204" pitchFamily="34" charset="-122"/>
              </a:rPr>
              <a:t>仲裁节点</a:t>
            </a:r>
            <a:r>
              <a:rPr lang="zh-CN" altLang="en-US" sz="1800" dirty="0">
                <a:solidFill>
                  <a:srgbClr val="595959"/>
                </a:solidFill>
                <a:latin typeface="微软雅黑" panose="020B0503020204020204" pitchFamily="34" charset="-122"/>
                <a:ea typeface="微软雅黑" panose="020B0503020204020204" pitchFamily="34" charset="-122"/>
              </a:rPr>
              <a:t>，在</a:t>
            </a:r>
            <a:r>
              <a:rPr lang="en-US" altLang="zh-CN" sz="1800" dirty="0" err="1">
                <a:solidFill>
                  <a:srgbClr val="595959"/>
                </a:solidFill>
                <a:latin typeface="微软雅黑" panose="020B0503020204020204" pitchFamily="34" charset="-122"/>
                <a:ea typeface="微软雅黑" panose="020B0503020204020204" pitchFamily="34" charset="-122"/>
              </a:rPr>
              <a:t>mongosh</a:t>
            </a:r>
            <a:r>
              <a:rPr lang="zh-CN" altLang="en-US" sz="1800" dirty="0">
                <a:solidFill>
                  <a:srgbClr val="595959"/>
                </a:solidFill>
                <a:latin typeface="微软雅黑" panose="020B0503020204020204" pitchFamily="34" charset="-122"/>
                <a:ea typeface="微软雅黑" panose="020B0503020204020204" pitchFamily="34" charset="-122"/>
              </a:rPr>
              <a:t>中执行命令</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6" name="圆角矩形 8"/>
          <p:cNvSpPr/>
          <p:nvPr/>
        </p:nvSpPr>
        <p:spPr>
          <a:xfrm>
            <a:off x="1066006" y="1498913"/>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7" name="文本框 10"/>
          <p:cNvSpPr txBox="1"/>
          <p:nvPr/>
        </p:nvSpPr>
        <p:spPr>
          <a:xfrm flipH="1">
            <a:off x="1155118" y="1634652"/>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8" name="1"/>
          <p:cNvSpPr txBox="1"/>
          <p:nvPr/>
        </p:nvSpPr>
        <p:spPr>
          <a:xfrm>
            <a:off x="2926854" y="1524818"/>
            <a:ext cx="8402202"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删除仲裁节点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在副本集中删除仲裁节点，步骤如下。</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矩形: 圆顶角 28"/>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0" name="矩形 29"/>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6" name="组合 25"/>
          <p:cNvGrpSpPr/>
          <p:nvPr/>
        </p:nvGrpSpPr>
        <p:grpSpPr bwMode="auto">
          <a:xfrm>
            <a:off x="2998862" y="2853730"/>
            <a:ext cx="7632848" cy="3888432"/>
            <a:chOff x="1181682" y="1980410"/>
            <a:chExt cx="11429923" cy="1422152"/>
          </a:xfrm>
        </p:grpSpPr>
        <p:sp>
          <p:nvSpPr>
            <p:cNvPr id="27" name="矩形 26"/>
            <p:cNvSpPr/>
            <p:nvPr/>
          </p:nvSpPr>
          <p:spPr>
            <a:xfrm>
              <a:off x="1181682" y="1980410"/>
              <a:ext cx="11349429" cy="14221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8" name="矩形 27"/>
            <p:cNvSpPr/>
            <p:nvPr/>
          </p:nvSpPr>
          <p:spPr>
            <a:xfrm>
              <a:off x="1379419" y="1980410"/>
              <a:ext cx="11232186" cy="124715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systemLog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destination: file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path: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/logs/new_mongodb.log</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logAppend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bindIp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nosql03</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storage: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new_db</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processManagement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fork: true</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replication: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replSetName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rs0</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9" name="圆角矩形 8"/>
          <p:cNvSpPr/>
          <p:nvPr/>
        </p:nvSpPr>
        <p:spPr>
          <a:xfrm>
            <a:off x="1066006" y="1360432"/>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30" name="文本框 10"/>
          <p:cNvSpPr txBox="1"/>
          <p:nvPr/>
        </p:nvSpPr>
        <p:spPr>
          <a:xfrm flipH="1">
            <a:off x="1155118" y="1496171"/>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31" name="1"/>
          <p:cNvSpPr txBox="1"/>
          <p:nvPr/>
        </p:nvSpPr>
        <p:spPr>
          <a:xfrm>
            <a:off x="2926854" y="1301635"/>
            <a:ext cx="8640960" cy="13360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编辑配置文件</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/export/servers/</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replicaSet</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目录中，编辑配置文件</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new_mongod.conf</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，在配置文件中添加如下内容。</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矩形: 圆顶角 8"/>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0" name="矩形 9"/>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6" name="组合 25"/>
          <p:cNvGrpSpPr/>
          <p:nvPr/>
        </p:nvGrpSpPr>
        <p:grpSpPr bwMode="auto">
          <a:xfrm>
            <a:off x="2998862" y="2940482"/>
            <a:ext cx="8136904" cy="921360"/>
            <a:chOff x="1181682" y="1980410"/>
            <a:chExt cx="11429923" cy="294469"/>
          </a:xfrm>
        </p:grpSpPr>
        <p:sp>
          <p:nvSpPr>
            <p:cNvPr id="27" name="矩形 26"/>
            <p:cNvSpPr/>
            <p:nvPr/>
          </p:nvSpPr>
          <p:spPr>
            <a:xfrm>
              <a:off x="1181682" y="1980410"/>
              <a:ext cx="11349429" cy="2944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8" name="矩形 27"/>
            <p:cNvSpPr/>
            <p:nvPr/>
          </p:nvSpPr>
          <p:spPr>
            <a:xfrm>
              <a:off x="1379420" y="2049435"/>
              <a:ext cx="11232185" cy="1333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mkdir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new_db</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9" name="圆角矩形 8"/>
          <p:cNvSpPr/>
          <p:nvPr/>
        </p:nvSpPr>
        <p:spPr>
          <a:xfrm>
            <a:off x="1066006" y="1362480"/>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30" name="文本框 10"/>
          <p:cNvSpPr txBox="1"/>
          <p:nvPr/>
        </p:nvSpPr>
        <p:spPr>
          <a:xfrm flipH="1">
            <a:off x="1155118" y="1498219"/>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31" name="1"/>
          <p:cNvSpPr txBox="1"/>
          <p:nvPr/>
        </p:nvSpPr>
        <p:spPr>
          <a:xfrm>
            <a:off x="2926854" y="1388385"/>
            <a:ext cx="8640960" cy="13360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创建目录</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中</a:t>
            </a:r>
            <a:r>
              <a:rPr lang="zh-CN" altLang="en-US" dirty="0">
                <a:solidFill>
                  <a:srgbClr val="1369B2"/>
                </a:solidFill>
                <a:latin typeface="微软雅黑" panose="020B0503020204020204" pitchFamily="34" charset="-122"/>
                <a:ea typeface="微软雅黑" panose="020B0503020204020204" pitchFamily="34" charset="-122"/>
              </a:rPr>
              <a:t>创建目录</a:t>
            </a:r>
            <a:r>
              <a:rPr lang="en-US" altLang="zh-CN" dirty="0">
                <a:solidFill>
                  <a:srgbClr val="1369B2"/>
                </a:solidFill>
                <a:latin typeface="微软雅黑" panose="020B0503020204020204" pitchFamily="34" charset="-122"/>
                <a:ea typeface="微软雅黑" panose="020B0503020204020204" pitchFamily="34" charset="-122"/>
              </a:rPr>
              <a:t>/export/servers/</a:t>
            </a:r>
            <a:r>
              <a:rPr lang="en-US" altLang="zh-CN" dirty="0" err="1">
                <a:solidFill>
                  <a:srgbClr val="1369B2"/>
                </a:solidFill>
                <a:latin typeface="微软雅黑" panose="020B0503020204020204" pitchFamily="34" charset="-122"/>
                <a:ea typeface="微软雅黑" panose="020B0503020204020204" pitchFamily="34" charset="-122"/>
              </a:rPr>
              <a:t>replicaSet</a:t>
            </a:r>
            <a:r>
              <a:rPr lang="en-US" altLang="zh-CN" dirty="0">
                <a:solidFill>
                  <a:srgbClr val="1369B2"/>
                </a:solidFill>
                <a:latin typeface="微软雅黑" panose="020B0503020204020204" pitchFamily="34" charset="-122"/>
                <a:ea typeface="微软雅黑" panose="020B0503020204020204" pitchFamily="34" charset="-122"/>
              </a:rPr>
              <a:t>/</a:t>
            </a:r>
            <a:r>
              <a:rPr lang="en-US" altLang="zh-CN" dirty="0" err="1">
                <a:solidFill>
                  <a:srgbClr val="1369B2"/>
                </a:solidFill>
                <a:latin typeface="微软雅黑" panose="020B0503020204020204" pitchFamily="34" charset="-122"/>
                <a:ea typeface="微软雅黑" panose="020B0503020204020204" pitchFamily="34" charset="-122"/>
              </a:rPr>
              <a:t>new_db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执行如下命令。</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9" name="组合 8"/>
          <p:cNvGrpSpPr/>
          <p:nvPr/>
        </p:nvGrpSpPr>
        <p:grpSpPr bwMode="auto">
          <a:xfrm>
            <a:off x="2987502" y="5244738"/>
            <a:ext cx="8136904" cy="921360"/>
            <a:chOff x="1181682" y="1980410"/>
            <a:chExt cx="11429923" cy="294469"/>
          </a:xfrm>
        </p:grpSpPr>
        <p:sp>
          <p:nvSpPr>
            <p:cNvPr id="10" name="矩形 9"/>
            <p:cNvSpPr/>
            <p:nvPr/>
          </p:nvSpPr>
          <p:spPr>
            <a:xfrm>
              <a:off x="1181682" y="1980410"/>
              <a:ext cx="11349429" cy="2944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1" name="矩形 10"/>
            <p:cNvSpPr/>
            <p:nvPr/>
          </p:nvSpPr>
          <p:spPr>
            <a:xfrm>
              <a:off x="1379420" y="2049435"/>
              <a:ext cx="11232185" cy="1333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new_mongod.conf</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2" name="圆角矩形 8"/>
          <p:cNvSpPr/>
          <p:nvPr/>
        </p:nvSpPr>
        <p:spPr>
          <a:xfrm>
            <a:off x="1054646" y="385146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43758" y="398720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2915494" y="3877373"/>
            <a:ext cx="8640960"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启动</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rgbClr val="1369B2"/>
                </a:solidFill>
                <a:latin typeface="微软雅黑" panose="020B0503020204020204" pitchFamily="34" charset="-122"/>
                <a:ea typeface="微软雅黑" panose="020B0503020204020204" pitchFamily="34" charset="-122"/>
              </a:rPr>
              <a:t>启动</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中的</a:t>
            </a:r>
            <a:r>
              <a:rPr lang="en-US" altLang="zh-CN" dirty="0">
                <a:solidFill>
                  <a:srgbClr val="1369B2"/>
                </a:solidFill>
                <a:latin typeface="微软雅黑" panose="020B0503020204020204" pitchFamily="34" charset="-122"/>
                <a:ea typeface="微软雅黑" panose="020B0503020204020204" pitchFamily="34" charset="-122"/>
              </a:rPr>
              <a:t>MongoDB</a:t>
            </a:r>
            <a:r>
              <a:rPr lang="zh-CN" altLang="en-US" dirty="0">
                <a:solidFill>
                  <a:srgbClr val="1369B2"/>
                </a:solidFill>
                <a:latin typeface="微软雅黑" panose="020B0503020204020204" pitchFamily="34" charset="-122"/>
                <a:ea typeface="微软雅黑" panose="020B0503020204020204" pitchFamily="34" charset="-122"/>
              </a:rPr>
              <a:t>服务</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执行如下命令。</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矩形: 圆顶角 14"/>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6" name="矩形 15"/>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975710"/>
            <a:ext cx="8402202" cy="3478420"/>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bwMode="auto">
          <a:xfrm>
            <a:off x="3718942" y="3357786"/>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rs.add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({host: "nosql03:27017"})</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圆角矩形标注 6"/>
          <p:cNvSpPr/>
          <p:nvPr/>
        </p:nvSpPr>
        <p:spPr bwMode="auto">
          <a:xfrm>
            <a:off x="3594693" y="4797945"/>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表示添加成功。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圆角矩形 8"/>
          <p:cNvSpPr/>
          <p:nvPr/>
        </p:nvSpPr>
        <p:spPr>
          <a:xfrm>
            <a:off x="1066006" y="1413570"/>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549309"/>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2926854" y="1439475"/>
            <a:ext cx="8640960" cy="13360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将</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服务添加到副本集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将位于虚拟机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NoSQL03</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服务以</a:t>
            </a:r>
            <a:r>
              <a:rPr lang="zh-CN" altLang="en-US" dirty="0">
                <a:solidFill>
                  <a:srgbClr val="1369B2"/>
                </a:solidFill>
                <a:latin typeface="微软雅黑" panose="020B0503020204020204" pitchFamily="34" charset="-122"/>
                <a:ea typeface="微软雅黑" panose="020B0503020204020204" pitchFamily="34" charset="-122"/>
              </a:rPr>
              <a:t>从节点的身份添加到副本集</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mongosh</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中执行如下命令。</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矩形: 圆顶角 14"/>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2409246"/>
            <a:ext cx="6120680"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rs.status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添加节点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圆角矩形 8"/>
          <p:cNvSpPr/>
          <p:nvPr/>
        </p:nvSpPr>
        <p:spPr>
          <a:xfrm>
            <a:off x="1066006" y="1331188"/>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466927"/>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06</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2926854" y="1357093"/>
            <a:ext cx="8640960" cy="92057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查看状态信息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查看</a:t>
            </a:r>
            <a:r>
              <a:rPr lang="zh-CN" altLang="en-US" dirty="0">
                <a:solidFill>
                  <a:srgbClr val="1369B2"/>
                </a:solidFill>
                <a:latin typeface="微软雅黑" panose="020B0503020204020204" pitchFamily="34" charset="-122"/>
                <a:ea typeface="微软雅黑" panose="020B0503020204020204" pitchFamily="34" charset="-122"/>
              </a:rPr>
              <a:t>副本集中各节点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的状态信息，在</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mongosh</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执行如下命令。</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64514" name="Picture 2" descr="C:\Users\16366\AppData\Local\Temp\ksohtml17796\wps5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2878" y="4015250"/>
            <a:ext cx="4824536" cy="2726912"/>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303118" y="3489366"/>
            <a:ext cx="432048" cy="49962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顶角 14"/>
          <p:cNvSpPr/>
          <p:nvPr/>
        </p:nvSpPr>
        <p:spPr>
          <a:xfrm rot="10800000">
            <a:off x="991179" y="858497"/>
            <a:ext cx="193567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6" name="矩形 15"/>
          <p:cNvSpPr/>
          <p:nvPr/>
        </p:nvSpPr>
        <p:spPr>
          <a:xfrm>
            <a:off x="991181" y="879677"/>
            <a:ext cx="1863665"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添加从节点</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熟悉副本集操作，能够完成</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修改节点</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的操作。</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nvSpPr>
        <p:spPr bwMode="auto">
          <a:xfrm>
            <a:off x="838982" y="1441834"/>
            <a:ext cx="1051245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修改操作包括</a:t>
            </a:r>
            <a:r>
              <a:rPr lang="zh-CN" altLang="en-US" sz="2000" dirty="0">
                <a:solidFill>
                  <a:srgbClr val="1369B2"/>
                </a:solidFill>
                <a:latin typeface="微软雅黑" panose="020B0503020204020204" pitchFamily="34" charset="-122"/>
                <a:ea typeface="微软雅黑" panose="020B0503020204020204" pitchFamily="34" charset="-122"/>
              </a:rPr>
              <a:t>修改节点的优先级</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投票权</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功能</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8" name="椭圆 7"/>
          <p:cNvSpPr/>
          <p:nvPr/>
        </p:nvSpPr>
        <p:spPr>
          <a:xfrm>
            <a:off x="839007" y="2753755"/>
            <a:ext cx="2664000" cy="2664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修改节点的优先级</a:t>
            </a:r>
            <a:endParaRPr lang="zh-CN" altLang="en-US" dirty="0">
              <a:latin typeface="微软雅黑" panose="020B0503020204020204" pitchFamily="34" charset="-122"/>
              <a:ea typeface="微软雅黑" panose="020B0503020204020204" pitchFamily="34" charset="-122"/>
            </a:endParaRPr>
          </a:p>
        </p:txBody>
      </p:sp>
      <p:sp>
        <p:nvSpPr>
          <p:cNvPr id="9" name="椭圆 8"/>
          <p:cNvSpPr/>
          <p:nvPr/>
        </p:nvSpPr>
        <p:spPr>
          <a:xfrm>
            <a:off x="4763220" y="2753755"/>
            <a:ext cx="2664000" cy="2664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修改节点的投票权</a:t>
            </a:r>
            <a:endParaRPr lang="zh-CN" altLang="en-US" dirty="0">
              <a:latin typeface="微软雅黑" panose="020B0503020204020204" pitchFamily="34" charset="-122"/>
              <a:ea typeface="微软雅黑" panose="020B0503020204020204" pitchFamily="34" charset="-122"/>
            </a:endParaRPr>
          </a:p>
        </p:txBody>
      </p:sp>
      <p:sp>
        <p:nvSpPr>
          <p:cNvPr id="10" name="椭圆 9"/>
          <p:cNvSpPr/>
          <p:nvPr/>
        </p:nvSpPr>
        <p:spPr>
          <a:xfrm>
            <a:off x="8687432" y="2753755"/>
            <a:ext cx="2664000" cy="2664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dirty="0">
                <a:latin typeface="微软雅黑" panose="020B0503020204020204" pitchFamily="34" charset="-122"/>
                <a:ea typeface="微软雅黑" panose="020B0503020204020204" pitchFamily="34" charset="-122"/>
              </a:rPr>
              <a:t>修改节点的功能</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991180" y="2709714"/>
            <a:ext cx="10345952" cy="3168352"/>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4" name="文本框 1"/>
          <p:cNvSpPr txBox="1"/>
          <p:nvPr/>
        </p:nvSpPr>
        <p:spPr>
          <a:xfrm>
            <a:off x="910630" y="1629594"/>
            <a:ext cx="5904656" cy="453457"/>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rPr>
              <a:t>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为例，介绍如何修改节点的</a:t>
            </a:r>
            <a:r>
              <a:rPr lang="zh-CN" altLang="en-US" sz="2000" dirty="0">
                <a:solidFill>
                  <a:srgbClr val="1369B2"/>
                </a:solidFill>
                <a:latin typeface="微软雅黑" panose="020B0503020204020204" pitchFamily="34" charset="-122"/>
                <a:ea typeface="微软雅黑" panose="020B0503020204020204" pitchFamily="34" charset="-122"/>
              </a:rPr>
              <a:t>优先级</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5" name="矩形 24"/>
          <p:cNvSpPr/>
          <p:nvPr/>
        </p:nvSpPr>
        <p:spPr>
          <a:xfrm>
            <a:off x="1342678" y="3573810"/>
            <a:ext cx="5688629" cy="1080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6" name="矩形 25"/>
          <p:cNvSpPr/>
          <p:nvPr/>
        </p:nvSpPr>
        <p:spPr>
          <a:xfrm>
            <a:off x="1671520" y="3834982"/>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[index].priority = num</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8" name="矩形: 圆角 17"/>
          <p:cNvSpPr/>
          <p:nvPr/>
        </p:nvSpPr>
        <p:spPr>
          <a:xfrm>
            <a:off x="1846734" y="2426114"/>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918742" y="2452300"/>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1705250" y="3933850"/>
            <a:ext cx="429516"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3" name="直接箭头连接符 12"/>
          <p:cNvCxnSpPr/>
          <p:nvPr/>
        </p:nvCxnSpPr>
        <p:spPr>
          <a:xfrm>
            <a:off x="1702718" y="4269575"/>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702718" y="4774761"/>
            <a:ext cx="194421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5" name="文本框 7"/>
          <p:cNvSpPr txBox="1"/>
          <p:nvPr/>
        </p:nvSpPr>
        <p:spPr>
          <a:xfrm>
            <a:off x="1705250" y="4811996"/>
            <a:ext cx="1941683"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表示存储了副本集配置信息的变量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3214886" y="3933850"/>
            <a:ext cx="648072"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1" name="直接箭头连接符 20"/>
          <p:cNvCxnSpPr/>
          <p:nvPr/>
        </p:nvCxnSpPr>
        <p:spPr>
          <a:xfrm flipV="1">
            <a:off x="3862958" y="3429794"/>
            <a:ext cx="0" cy="6195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3790950" y="2710844"/>
            <a:ext cx="2088232"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1" name="文本框 7"/>
          <p:cNvSpPr txBox="1"/>
          <p:nvPr/>
        </p:nvSpPr>
        <p:spPr>
          <a:xfrm>
            <a:off x="3793482" y="2677985"/>
            <a:ext cx="2085700"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通过索引获取数组中特定节点的配置信息</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接下来，演示如何将副本集中位于虚拟机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的从节点的</a:t>
            </a:r>
            <a:r>
              <a:rPr lang="zh-CN" altLang="en-US" sz="2000" dirty="0">
                <a:solidFill>
                  <a:srgbClr val="1369B2"/>
                </a:solidFill>
                <a:latin typeface="微软雅黑" panose="020B0503020204020204" pitchFamily="34" charset="-122"/>
                <a:ea typeface="微软雅黑" panose="020B0503020204020204" pitchFamily="34" charset="-122"/>
              </a:rPr>
              <a:t>优先级</a:t>
            </a:r>
            <a:r>
              <a:rPr lang="zh-CN" altLang="en-US" sz="2000" dirty="0">
                <a:solidFill>
                  <a:srgbClr val="595959"/>
                </a:solidFill>
                <a:latin typeface="微软雅黑" panose="020B0503020204020204" pitchFamily="34" charset="-122"/>
                <a:ea typeface="微软雅黑" panose="020B0503020204020204" pitchFamily="34" charset="-122"/>
              </a:rPr>
              <a:t>修改为</a:t>
            </a:r>
            <a:r>
              <a:rPr lang="en-US" altLang="zh-CN" sz="2000" dirty="0">
                <a:solidFill>
                  <a:srgbClr val="1369B2"/>
                </a:solidFill>
                <a:latin typeface="微软雅黑" panose="020B0503020204020204" pitchFamily="34" charset="-122"/>
                <a:ea typeface="微软雅黑" panose="020B0503020204020204" pitchFamily="34" charset="-122"/>
              </a:rPr>
              <a:t>3.5</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709714"/>
            <a:ext cx="8315536" cy="266429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481311"/>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17050"/>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通过副本集连接的方式</a:t>
            </a:r>
            <a:r>
              <a:rPr lang="zh-CN" altLang="en-US" sz="2000" dirty="0">
                <a:solidFill>
                  <a:srgbClr val="1369B2"/>
                </a:solidFill>
                <a:latin typeface="微软雅黑" panose="020B0503020204020204" pitchFamily="34" charset="-122"/>
                <a:ea typeface="微软雅黑" panose="020B0503020204020204" pitchFamily="34" charset="-122"/>
              </a:rPr>
              <a:t>连接副本集</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14886" y="3350085"/>
            <a:ext cx="7776864" cy="1375853"/>
            <a:chOff x="1181682" y="1844223"/>
            <a:chExt cx="8924660" cy="2350741"/>
          </a:xfrm>
        </p:grpSpPr>
        <p:sp>
          <p:nvSpPr>
            <p:cNvPr id="22" name="矩形 21"/>
            <p:cNvSpPr/>
            <p:nvPr/>
          </p:nvSpPr>
          <p:spPr>
            <a:xfrm>
              <a:off x="1181682" y="1844223"/>
              <a:ext cx="8924660" cy="23507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103442"/>
              <a:ext cx="8756120" cy="164242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://nosql01:27017,nosql02:27017/?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矩形: 圆顶角 14"/>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7" name="矩形 16"/>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481311"/>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17050"/>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获取配置信息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获取</a:t>
            </a:r>
            <a:r>
              <a:rPr lang="zh-CN" altLang="en-US" sz="2000" dirty="0">
                <a:solidFill>
                  <a:srgbClr val="1369B2"/>
                </a:solidFill>
                <a:latin typeface="微软雅黑" panose="020B0503020204020204" pitchFamily="34" charset="-122"/>
                <a:ea typeface="微软雅黑" panose="020B0503020204020204" pitchFamily="34" charset="-122"/>
              </a:rPr>
              <a:t>副本集的配置信息</a:t>
            </a:r>
            <a:r>
              <a:rPr lang="zh-CN" altLang="en-US" sz="2000" dirty="0">
                <a:solidFill>
                  <a:srgbClr val="595959"/>
                </a:solidFill>
                <a:latin typeface="微软雅黑" panose="020B0503020204020204" pitchFamily="34" charset="-122"/>
                <a:ea typeface="微软雅黑" panose="020B0503020204020204" pitchFamily="34" charset="-122"/>
              </a:rPr>
              <a:t>，并将其存储在变量</a:t>
            </a:r>
            <a:r>
              <a:rPr lang="en-US" altLang="zh-CN" sz="2000" dirty="0" err="1">
                <a:solidFill>
                  <a:srgbClr val="595959"/>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374859"/>
            <a:ext cx="7776864" cy="766903"/>
            <a:chOff x="1181682" y="1844223"/>
            <a:chExt cx="8924660" cy="2067902"/>
          </a:xfrm>
        </p:grpSpPr>
        <p:sp>
          <p:nvSpPr>
            <p:cNvPr id="22" name="矩形 21"/>
            <p:cNvSpPr/>
            <p:nvPr/>
          </p:nvSpPr>
          <p:spPr>
            <a:xfrm>
              <a:off x="1181682" y="1844223"/>
              <a:ext cx="8924660" cy="20679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103442"/>
              <a:ext cx="8756120"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rs.conf</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箭头: 下 1"/>
          <p:cNvSpPr/>
          <p:nvPr/>
        </p:nvSpPr>
        <p:spPr>
          <a:xfrm>
            <a:off x="6239222" y="3075750"/>
            <a:ext cx="576064" cy="31658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682" name="Picture 2" descr="C:\Users\16366\AppData\Local\Temp\ksohtml17796\wps5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43079" y="3392332"/>
            <a:ext cx="3094508" cy="334983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7" name="矩形 16"/>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413570"/>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修改优先级</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上从节点的</a:t>
            </a:r>
            <a:r>
              <a:rPr lang="zh-CN" altLang="en-US" sz="2000" dirty="0">
                <a:solidFill>
                  <a:srgbClr val="1369B2"/>
                </a:solidFill>
                <a:latin typeface="微软雅黑" panose="020B0503020204020204" pitchFamily="34" charset="-122"/>
                <a:ea typeface="微软雅黑" panose="020B0503020204020204" pitchFamily="34" charset="-122"/>
              </a:rPr>
              <a:t>优先级</a:t>
            </a:r>
            <a:r>
              <a:rPr lang="zh-CN" altLang="en-US" sz="2000" dirty="0">
                <a:solidFill>
                  <a:srgbClr val="595959"/>
                </a:solidFill>
                <a:latin typeface="微软雅黑" panose="020B0503020204020204" pitchFamily="34" charset="-122"/>
                <a:ea typeface="微软雅黑" panose="020B0503020204020204" pitchFamily="34" charset="-122"/>
              </a:rPr>
              <a:t>修改为</a:t>
            </a:r>
            <a:r>
              <a:rPr lang="en-US" altLang="zh-CN" sz="2000" dirty="0">
                <a:solidFill>
                  <a:srgbClr val="1369B2"/>
                </a:solidFill>
                <a:latin typeface="微软雅黑" panose="020B0503020204020204" pitchFamily="34" charset="-122"/>
                <a:ea typeface="微软雅黑" panose="020B0503020204020204" pitchFamily="34" charset="-122"/>
              </a:rPr>
              <a:t>3.5</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518875"/>
            <a:ext cx="7776864" cy="766903"/>
            <a:chOff x="1181682" y="1844223"/>
            <a:chExt cx="8924660" cy="2067902"/>
          </a:xfrm>
        </p:grpSpPr>
        <p:sp>
          <p:nvSpPr>
            <p:cNvPr id="22" name="矩形 21"/>
            <p:cNvSpPr/>
            <p:nvPr/>
          </p:nvSpPr>
          <p:spPr>
            <a:xfrm>
              <a:off x="1181682" y="1844223"/>
              <a:ext cx="8924660" cy="20679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103442"/>
              <a:ext cx="8756120" cy="134720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[2].priority = 3.5</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圆角矩形 8"/>
          <p:cNvSpPr/>
          <p:nvPr/>
        </p:nvSpPr>
        <p:spPr>
          <a:xfrm>
            <a:off x="1054646" y="3450712"/>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6" name="文本框 10"/>
          <p:cNvSpPr txBox="1"/>
          <p:nvPr/>
        </p:nvSpPr>
        <p:spPr>
          <a:xfrm flipH="1">
            <a:off x="1143758" y="3586451"/>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7" name="1"/>
          <p:cNvSpPr txBox="1"/>
          <p:nvPr/>
        </p:nvSpPr>
        <p:spPr>
          <a:xfrm>
            <a:off x="3010236" y="3357786"/>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将配置信息应用到副本集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将变量</a:t>
            </a:r>
            <a:r>
              <a:rPr lang="en-US" altLang="zh-CN" sz="2000" dirty="0" err="1">
                <a:solidFill>
                  <a:srgbClr val="1369B2"/>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保存的配置信息应用到</a:t>
            </a:r>
            <a:r>
              <a:rPr lang="zh-CN" altLang="en-US" sz="2000" dirty="0">
                <a:solidFill>
                  <a:srgbClr val="1369B2"/>
                </a:solidFill>
                <a:latin typeface="微软雅黑" panose="020B0503020204020204" pitchFamily="34" charset="-122"/>
                <a:ea typeface="微软雅黑" panose="020B0503020204020204" pitchFamily="34" charset="-122"/>
              </a:rPr>
              <a:t>副本集</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8" name="组合 17"/>
          <p:cNvGrpSpPr/>
          <p:nvPr/>
        </p:nvGrpSpPr>
        <p:grpSpPr bwMode="auto">
          <a:xfrm>
            <a:off x="3131518" y="4463091"/>
            <a:ext cx="7776864" cy="766903"/>
            <a:chOff x="1181682" y="1844223"/>
            <a:chExt cx="8924660" cy="2067902"/>
          </a:xfrm>
        </p:grpSpPr>
        <p:sp>
          <p:nvSpPr>
            <p:cNvPr id="19" name="矩形 18"/>
            <p:cNvSpPr/>
            <p:nvPr/>
          </p:nvSpPr>
          <p:spPr>
            <a:xfrm>
              <a:off x="1181682" y="1844223"/>
              <a:ext cx="8924660" cy="20679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1" name="矩形 20"/>
            <p:cNvSpPr/>
            <p:nvPr/>
          </p:nvSpPr>
          <p:spPr>
            <a:xfrm>
              <a:off x="1261366" y="2103442"/>
              <a:ext cx="8756120" cy="134720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rs.reconfig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4" name="圆角矩形标注 6"/>
          <p:cNvSpPr/>
          <p:nvPr/>
        </p:nvSpPr>
        <p:spPr bwMode="auto">
          <a:xfrm>
            <a:off x="3018629" y="5374009"/>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表示修改成功。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25" name="矩形: 圆顶角 24"/>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6" name="矩形 25"/>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查看状态信息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查看副本集中</a:t>
            </a:r>
            <a:r>
              <a:rPr lang="zh-CN" altLang="en-US" sz="2000" dirty="0">
                <a:solidFill>
                  <a:srgbClr val="1369B2"/>
                </a:solidFill>
                <a:latin typeface="微软雅黑" panose="020B0503020204020204" pitchFamily="34" charset="-122"/>
                <a:ea typeface="微软雅黑" panose="020B0503020204020204" pitchFamily="34" charset="-122"/>
              </a:rPr>
              <a:t>各节点的状态信息</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518875"/>
            <a:ext cx="6336704" cy="766903"/>
            <a:chOff x="1181682" y="1844223"/>
            <a:chExt cx="8924660" cy="2067902"/>
          </a:xfrm>
        </p:grpSpPr>
        <p:sp>
          <p:nvSpPr>
            <p:cNvPr id="22" name="矩形 21"/>
            <p:cNvSpPr/>
            <p:nvPr/>
          </p:nvSpPr>
          <p:spPr>
            <a:xfrm>
              <a:off x="1181682" y="1844223"/>
              <a:ext cx="8924660" cy="20679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6" y="2103442"/>
              <a:ext cx="8756120" cy="134720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rs.status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箭头: 下 1"/>
          <p:cNvSpPr/>
          <p:nvPr/>
        </p:nvSpPr>
        <p:spPr>
          <a:xfrm>
            <a:off x="6239222" y="3223630"/>
            <a:ext cx="576064" cy="42164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6802" name="Picture 2" descr="C:\Users\16366\AppData\Local\Temp\ksohtml17796\wps5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2792" y="3645278"/>
            <a:ext cx="5871067" cy="3024876"/>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6" name="矩形 15"/>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修改节点的优先级</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88461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通过调整</a:t>
            </a:r>
            <a:r>
              <a:rPr lang="zh-CN" altLang="en-US" sz="2000" dirty="0">
                <a:solidFill>
                  <a:srgbClr val="1369B2"/>
                </a:solidFill>
                <a:latin typeface="微软雅黑" panose="020B0503020204020204" pitchFamily="34" charset="-122"/>
                <a:ea typeface="微软雅黑" panose="020B0503020204020204" pitchFamily="34" charset="-122"/>
              </a:rPr>
              <a:t>投票权</a:t>
            </a:r>
            <a:r>
              <a:rPr lang="zh-CN" altLang="en-US" sz="2000" dirty="0">
                <a:solidFill>
                  <a:srgbClr val="595959"/>
                </a:solidFill>
                <a:latin typeface="微软雅黑" panose="020B0503020204020204" pitchFamily="34" charset="-122"/>
                <a:ea typeface="微软雅黑" panose="020B0503020204020204" pitchFamily="34" charset="-122"/>
              </a:rPr>
              <a:t>，可以确保只有经过授权的节点参与投票。例如，可以手动调整某些节点的投票权，使副本集具备投票权的节点数量为</a:t>
            </a:r>
            <a:r>
              <a:rPr lang="zh-CN" altLang="en-US" sz="2000" dirty="0">
                <a:solidFill>
                  <a:srgbClr val="1369B2"/>
                </a:solidFill>
                <a:latin typeface="微软雅黑" panose="020B0503020204020204" pitchFamily="34" charset="-122"/>
                <a:ea typeface="微软雅黑" panose="020B0503020204020204" pitchFamily="34" charset="-122"/>
              </a:rPr>
              <a:t>奇数</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修改节点的投票权</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991180" y="2709714"/>
            <a:ext cx="10345952" cy="3168352"/>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1"/>
          <p:cNvSpPr txBox="1"/>
          <p:nvPr/>
        </p:nvSpPr>
        <p:spPr>
          <a:xfrm>
            <a:off x="910630" y="1629594"/>
            <a:ext cx="5904656" cy="453457"/>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rPr>
              <a:t>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为例，介绍如何修改节点的</a:t>
            </a:r>
            <a:r>
              <a:rPr lang="zh-CN" altLang="en-US" sz="2000" dirty="0">
                <a:solidFill>
                  <a:srgbClr val="1369B2"/>
                </a:solidFill>
                <a:latin typeface="微软雅黑" panose="020B0503020204020204" pitchFamily="34" charset="-122"/>
                <a:ea typeface="微软雅黑" panose="020B0503020204020204" pitchFamily="34" charset="-122"/>
              </a:rPr>
              <a:t>投票权</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5" name="矩形 24"/>
          <p:cNvSpPr/>
          <p:nvPr/>
        </p:nvSpPr>
        <p:spPr>
          <a:xfrm>
            <a:off x="1342678" y="3573810"/>
            <a:ext cx="5688629" cy="1080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6" name="矩形 25"/>
          <p:cNvSpPr/>
          <p:nvPr/>
        </p:nvSpPr>
        <p:spPr>
          <a:xfrm>
            <a:off x="1671520" y="3834982"/>
            <a:ext cx="8640961" cy="45890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[index].votes = num</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8" name="矩形: 圆角 17"/>
          <p:cNvSpPr/>
          <p:nvPr/>
        </p:nvSpPr>
        <p:spPr>
          <a:xfrm>
            <a:off x="1846734" y="2426114"/>
            <a:ext cx="1368152" cy="499624"/>
          </a:xfrm>
          <a:prstGeom prst="roundRect">
            <a:avLst/>
          </a:prstGeom>
          <a:solidFill>
            <a:srgbClr val="1369B2"/>
          </a:solidFill>
          <a:ln>
            <a:solidFill>
              <a:srgbClr val="F5F8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918742" y="2452300"/>
            <a:ext cx="1368152"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语法格式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1705250" y="3933850"/>
            <a:ext cx="429516"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3" name="直接箭头连接符 12"/>
          <p:cNvCxnSpPr/>
          <p:nvPr/>
        </p:nvCxnSpPr>
        <p:spPr>
          <a:xfrm>
            <a:off x="1702718" y="4269575"/>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702718" y="4774761"/>
            <a:ext cx="194421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5" name="文本框 7"/>
          <p:cNvSpPr txBox="1"/>
          <p:nvPr/>
        </p:nvSpPr>
        <p:spPr>
          <a:xfrm>
            <a:off x="1705250" y="4811996"/>
            <a:ext cx="1941683"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表示存储了副本集配置信息的变量</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3214886" y="3933850"/>
            <a:ext cx="648072"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1" name="直接箭头连接符 20"/>
          <p:cNvCxnSpPr/>
          <p:nvPr/>
        </p:nvCxnSpPr>
        <p:spPr>
          <a:xfrm flipV="1">
            <a:off x="3862958" y="3429794"/>
            <a:ext cx="0" cy="61959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3790950" y="2710844"/>
            <a:ext cx="2088232"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1" name="文本框 7"/>
          <p:cNvSpPr txBox="1"/>
          <p:nvPr/>
        </p:nvSpPr>
        <p:spPr>
          <a:xfrm>
            <a:off x="3793482" y="2677985"/>
            <a:ext cx="2085700"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通过索引获取数组中特定节点的配置信息</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2" name="矩形: 圆顶角 21"/>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3" name="矩形 22"/>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修改节点的投票权</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4835066" y="3933849"/>
            <a:ext cx="648072"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8" name="直接箭头连接符 27"/>
          <p:cNvCxnSpPr/>
          <p:nvPr/>
        </p:nvCxnSpPr>
        <p:spPr>
          <a:xfrm>
            <a:off x="5483138" y="4164919"/>
            <a:ext cx="0" cy="489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4575709" y="4710364"/>
            <a:ext cx="1944216" cy="71703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2" name="文本框 7"/>
          <p:cNvSpPr txBox="1"/>
          <p:nvPr/>
        </p:nvSpPr>
        <p:spPr>
          <a:xfrm>
            <a:off x="4578241" y="4747599"/>
            <a:ext cx="1660981"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指定相应节点是否拥有投票权</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961289"/>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修改节点的功能主要是将从节点修改为</a:t>
            </a:r>
            <a:r>
              <a:rPr lang="zh-CN" altLang="en-US" sz="2000" dirty="0">
                <a:solidFill>
                  <a:srgbClr val="1369B2"/>
                </a:solidFill>
                <a:latin typeface="微软雅黑" panose="020B0503020204020204" pitchFamily="34" charset="-122"/>
                <a:ea typeface="微软雅黑" panose="020B0503020204020204" pitchFamily="34" charset="-122"/>
              </a:rPr>
              <a:t>隐藏节点</a:t>
            </a:r>
            <a:r>
              <a:rPr lang="zh-CN" altLang="en-US" sz="2000" dirty="0">
                <a:solidFill>
                  <a:srgbClr val="595959"/>
                </a:solidFill>
                <a:latin typeface="微软雅黑" panose="020B0503020204020204" pitchFamily="34" charset="-122"/>
                <a:ea typeface="微软雅黑" panose="020B0503020204020204" pitchFamily="34" charset="-122"/>
              </a:rPr>
              <a:t>或者</a:t>
            </a:r>
            <a:r>
              <a:rPr lang="zh-CN" altLang="en-US" sz="2000" dirty="0">
                <a:solidFill>
                  <a:srgbClr val="1369B2"/>
                </a:solidFill>
                <a:latin typeface="微软雅黑" panose="020B0503020204020204" pitchFamily="34" charset="-122"/>
                <a:ea typeface="微软雅黑" panose="020B0503020204020204" pitchFamily="34" charset="-122"/>
              </a:rPr>
              <a:t>延迟节点</a:t>
            </a:r>
            <a:r>
              <a:rPr lang="zh-CN" altLang="en-US" sz="2000" dirty="0">
                <a:solidFill>
                  <a:srgbClr val="595959"/>
                </a:solidFill>
                <a:latin typeface="微软雅黑" panose="020B0503020204020204" pitchFamily="34" charset="-122"/>
                <a:ea typeface="微软雅黑" panose="020B0503020204020204" pitchFamily="34" charset="-122"/>
              </a:rPr>
              <a:t>，具体介绍如下。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982638" y="1557586"/>
            <a:ext cx="1747943" cy="57606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071750" y="1642235"/>
            <a:ext cx="1624965" cy="40011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zh-CN" altLang="en-US" sz="2000" dirty="0">
                <a:solidFill>
                  <a:schemeClr val="bg1"/>
                </a:solidFill>
                <a:latin typeface="Impact" panose="020B0806030902050204" charset="0"/>
                <a:ea typeface="微软雅黑" panose="020B0503020204020204" pitchFamily="34" charset="-122"/>
                <a:sym typeface="Arial" panose="020B0604020202020204" pitchFamily="34" charset="0"/>
              </a:rPr>
              <a:t>隐藏节点</a:t>
            </a:r>
            <a:endParaRPr lang="en-US" altLang="zh-CN" sz="20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1066006" y="2277666"/>
            <a:ext cx="10429800" cy="1884618"/>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是一种具有特定功能的</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，其优先级设定为</a:t>
            </a:r>
            <a:r>
              <a:rPr lang="en-US" altLang="zh-CN" sz="2000" dirty="0">
                <a:solidFill>
                  <a:srgbClr val="1369B2"/>
                </a:solidFill>
                <a:latin typeface="微软雅黑" panose="020B0503020204020204" pitchFamily="34" charset="-122"/>
                <a:ea typeface="微软雅黑" panose="020B0503020204020204" pitchFamily="34" charset="-122"/>
              </a:rPr>
              <a:t>0</a:t>
            </a:r>
            <a:r>
              <a:rPr lang="zh-CN" altLang="en-US" sz="2000" dirty="0">
                <a:solidFill>
                  <a:srgbClr val="595959"/>
                </a:solidFill>
                <a:latin typeface="微软雅黑" panose="020B0503020204020204" pitchFamily="34" charset="-122"/>
                <a:ea typeface="微软雅黑" panose="020B0503020204020204" pitchFamily="34" charset="-122"/>
              </a:rPr>
              <a:t>，因此</a:t>
            </a:r>
            <a:r>
              <a:rPr lang="zh-CN" altLang="en-US" sz="2000" dirty="0">
                <a:solidFill>
                  <a:srgbClr val="1369B2"/>
                </a:solidFill>
                <a:latin typeface="微软雅黑" panose="020B0503020204020204" pitchFamily="34" charset="-122"/>
                <a:ea typeface="微软雅黑" panose="020B0503020204020204" pitchFamily="34" charset="-122"/>
              </a:rPr>
              <a:t>不会被选举为主节点</a:t>
            </a:r>
            <a:r>
              <a:rPr lang="zh-CN" altLang="en-US" sz="2000" dirty="0">
                <a:solidFill>
                  <a:srgbClr val="595959"/>
                </a:solidFill>
                <a:latin typeface="微软雅黑" panose="020B0503020204020204" pitchFamily="34" charset="-122"/>
                <a:ea typeface="微软雅黑" panose="020B0503020204020204" pitchFamily="34" charset="-122"/>
              </a:rPr>
              <a:t>。通过副本集连接方式的客户端无法访问隐藏节点，即便配置了从节点处理读请求的</a:t>
            </a:r>
            <a:r>
              <a:rPr lang="zh-CN" altLang="en-US" sz="2000" dirty="0">
                <a:solidFill>
                  <a:srgbClr val="1369B2"/>
                </a:solidFill>
                <a:latin typeface="微软雅黑" panose="020B0503020204020204" pitchFamily="34" charset="-122"/>
                <a:ea typeface="微软雅黑" panose="020B0503020204020204" pitchFamily="34" charset="-122"/>
              </a:rPr>
              <a:t>读取偏好</a:t>
            </a:r>
            <a:r>
              <a:rPr lang="zh-CN" altLang="en-US" sz="2000" dirty="0">
                <a:solidFill>
                  <a:srgbClr val="595959"/>
                </a:solidFill>
                <a:latin typeface="微软雅黑" panose="020B0503020204020204" pitchFamily="34" charset="-122"/>
                <a:ea typeface="微软雅黑" panose="020B0503020204020204" pitchFamily="34" charset="-122"/>
              </a:rPr>
              <a:t>。然而，通过直接连接方式的客户端可以访问隐藏节点。此外，隐藏节点对于副本集内的其他节点是可见的，并且在选举过程中拥有投票权。隐藏节点通常用于备份副本集的数据。</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
          <a:stretch>
            <a:fillRect/>
          </a:stretch>
        </p:blipFill>
        <p:spPr>
          <a:xfrm>
            <a:off x="8604720" y="4162284"/>
            <a:ext cx="2880320" cy="244950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为例，介绍如何将虚拟机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上的</a:t>
            </a:r>
            <a:r>
              <a:rPr lang="zh-CN" altLang="en-US" sz="2000" dirty="0">
                <a:solidFill>
                  <a:srgbClr val="1369B2"/>
                </a:solidFill>
                <a:latin typeface="微软雅黑" panose="020B0503020204020204" pitchFamily="34" charset="-122"/>
                <a:ea typeface="微软雅黑" panose="020B0503020204020204" pitchFamily="34" charset="-122"/>
              </a:rPr>
              <a:t>从节点修改为隐藏节点</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3142878" y="2853730"/>
            <a:ext cx="8194254" cy="302433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通过副本集连接的方式</a:t>
            </a:r>
            <a:r>
              <a:rPr lang="zh-CN" altLang="en-US" sz="2000" dirty="0">
                <a:solidFill>
                  <a:srgbClr val="1369B2"/>
                </a:solidFill>
                <a:latin typeface="微软雅黑" panose="020B0503020204020204" pitchFamily="34" charset="-122"/>
                <a:ea typeface="微软雅黑" panose="020B0503020204020204" pitchFamily="34" charset="-122"/>
              </a:rPr>
              <a:t>连接副本集</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286894" y="3598995"/>
            <a:ext cx="7848872" cy="1486983"/>
            <a:chOff x="1181682" y="1844223"/>
            <a:chExt cx="11054409" cy="4009550"/>
          </a:xfrm>
        </p:grpSpPr>
        <p:sp>
          <p:nvSpPr>
            <p:cNvPr id="22" name="矩形 21"/>
            <p:cNvSpPr/>
            <p:nvPr/>
          </p:nvSpPr>
          <p:spPr>
            <a:xfrm>
              <a:off x="1181682" y="1844223"/>
              <a:ext cx="11054409" cy="40095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5" y="2103442"/>
              <a:ext cx="10873308" cy="2592051"/>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://nosql01:27017,nosql03:27017/?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获取配置信息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获取副本集的配置信息，并将其存储在变量</a:t>
            </a:r>
            <a:r>
              <a:rPr lang="en-US" altLang="zh-CN" sz="2000" dirty="0" err="1">
                <a:solidFill>
                  <a:srgbClr val="1369B2"/>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21682"/>
            <a:ext cx="7848872" cy="910919"/>
            <a:chOff x="1181682" y="1455893"/>
            <a:chExt cx="11054409" cy="2456232"/>
          </a:xfrm>
        </p:grpSpPr>
        <p:sp>
          <p:nvSpPr>
            <p:cNvPr id="22" name="矩形 21"/>
            <p:cNvSpPr/>
            <p:nvPr/>
          </p:nvSpPr>
          <p:spPr>
            <a:xfrm>
              <a:off x="1181682" y="1455893"/>
              <a:ext cx="11054409" cy="2456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5" y="1715112"/>
              <a:ext cx="10873308" cy="13472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rs.conf</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78850" name="Picture 2" descr="C:\Users\16366\AppData\Local\Temp\ksohtml17796\wps5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01935" y="3654043"/>
            <a:ext cx="2886075" cy="3086100"/>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6239222" y="3332601"/>
            <a:ext cx="360040" cy="31516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修改优先级</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上</a:t>
            </a:r>
            <a:r>
              <a:rPr lang="zh-CN" altLang="en-US" sz="2000" dirty="0">
                <a:solidFill>
                  <a:srgbClr val="1369B2"/>
                </a:solidFill>
                <a:latin typeface="微软雅黑" panose="020B0503020204020204" pitchFamily="34" charset="-122"/>
                <a:ea typeface="微软雅黑" panose="020B0503020204020204" pitchFamily="34" charset="-122"/>
              </a:rPr>
              <a:t>从节点的优先级修改为</a:t>
            </a:r>
            <a:r>
              <a:rPr lang="en-US" altLang="zh-CN" sz="2000" dirty="0">
                <a:solidFill>
                  <a:srgbClr val="1369B2"/>
                </a:solidFill>
                <a:latin typeface="微软雅黑" panose="020B0503020204020204" pitchFamily="34" charset="-122"/>
                <a:ea typeface="微软雅黑" panose="020B0503020204020204" pitchFamily="34" charset="-122"/>
              </a:rPr>
              <a:t>0</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21682"/>
            <a:ext cx="7848872" cy="910919"/>
            <a:chOff x="1181682" y="1455893"/>
            <a:chExt cx="11054409" cy="2456232"/>
          </a:xfrm>
        </p:grpSpPr>
        <p:sp>
          <p:nvSpPr>
            <p:cNvPr id="22" name="矩形 21"/>
            <p:cNvSpPr/>
            <p:nvPr/>
          </p:nvSpPr>
          <p:spPr>
            <a:xfrm>
              <a:off x="1181682" y="1455893"/>
              <a:ext cx="11054409" cy="2456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5" y="1715112"/>
              <a:ext cx="10873308" cy="13472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[1].priority = 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圆角矩形 8"/>
          <p:cNvSpPr/>
          <p:nvPr/>
        </p:nvSpPr>
        <p:spPr>
          <a:xfrm>
            <a:off x="1054646" y="376392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6" name="文本框 10"/>
          <p:cNvSpPr txBox="1"/>
          <p:nvPr/>
        </p:nvSpPr>
        <p:spPr>
          <a:xfrm flipH="1">
            <a:off x="1143758" y="389966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9" name="1"/>
          <p:cNvSpPr txBox="1"/>
          <p:nvPr/>
        </p:nvSpPr>
        <p:spPr>
          <a:xfrm>
            <a:off x="3010236" y="3645818"/>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修改从节点为隐藏节点</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上的</a:t>
            </a:r>
            <a:r>
              <a:rPr lang="zh-CN" altLang="en-US" sz="2000" dirty="0">
                <a:solidFill>
                  <a:srgbClr val="1369B2"/>
                </a:solidFill>
                <a:latin typeface="微软雅黑" panose="020B0503020204020204" pitchFamily="34" charset="-122"/>
                <a:ea typeface="微软雅黑" panose="020B0503020204020204" pitchFamily="34" charset="-122"/>
              </a:rPr>
              <a:t>从节点修改为隐藏节点</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1" name="组合 20"/>
          <p:cNvGrpSpPr/>
          <p:nvPr/>
        </p:nvGrpSpPr>
        <p:grpSpPr bwMode="auto">
          <a:xfrm>
            <a:off x="3131518" y="4679115"/>
            <a:ext cx="7848872" cy="910919"/>
            <a:chOff x="1181682" y="1455893"/>
            <a:chExt cx="11054409" cy="2456232"/>
          </a:xfrm>
        </p:grpSpPr>
        <p:sp>
          <p:nvSpPr>
            <p:cNvPr id="24" name="矩形 23"/>
            <p:cNvSpPr/>
            <p:nvPr/>
          </p:nvSpPr>
          <p:spPr>
            <a:xfrm>
              <a:off x="1181682" y="1455893"/>
              <a:ext cx="11054409" cy="2456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5" name="矩形 24"/>
            <p:cNvSpPr/>
            <p:nvPr/>
          </p:nvSpPr>
          <p:spPr>
            <a:xfrm>
              <a:off x="1261365" y="1715112"/>
              <a:ext cx="10873308" cy="13472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[1].hidden = true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919562"/>
            <a:ext cx="8402202" cy="3534568"/>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bwMode="auto">
          <a:xfrm>
            <a:off x="3718942" y="3301638"/>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rs.reconfig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圆角矩形标注 6"/>
          <p:cNvSpPr/>
          <p:nvPr/>
        </p:nvSpPr>
        <p:spPr bwMode="auto">
          <a:xfrm>
            <a:off x="3882725" y="4797946"/>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表示修改成功。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矩形: 圆顶角 17"/>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9" name="矩形 18"/>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将配置信息应用到副本集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将变量</a:t>
            </a:r>
            <a:r>
              <a:rPr lang="en-US" altLang="zh-CN" sz="2000" dirty="0" err="1">
                <a:solidFill>
                  <a:srgbClr val="595959"/>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保存的配置信息应用到副本集，在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2493690"/>
            <a:ext cx="5832648"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rs.conf</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矩形: 圆顶角 17"/>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9" name="矩形 18"/>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06</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查看配置信息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查看副本集的</a:t>
            </a:r>
            <a:r>
              <a:rPr lang="zh-CN" altLang="en-US" sz="2000" dirty="0">
                <a:solidFill>
                  <a:srgbClr val="1369B2"/>
                </a:solidFill>
                <a:latin typeface="微软雅黑" panose="020B0503020204020204" pitchFamily="34" charset="-122"/>
                <a:ea typeface="微软雅黑" panose="020B0503020204020204" pitchFamily="34" charset="-122"/>
              </a:rPr>
              <a:t>配置信息</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86018" name="Picture 2" descr="C:\Users\16366\AppData\Local\Temp\ksohtml17796\wps5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9354" y="3864120"/>
            <a:ext cx="4381500" cy="2571750"/>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087094" y="3573810"/>
            <a:ext cx="576064" cy="29031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982638" y="1557586"/>
            <a:ext cx="1747943" cy="57606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071750" y="1642235"/>
            <a:ext cx="1624965" cy="40011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zh-CN" altLang="en-US" sz="2000" dirty="0">
                <a:solidFill>
                  <a:schemeClr val="bg1"/>
                </a:solidFill>
                <a:latin typeface="Impact" panose="020B0806030902050204" charset="0"/>
                <a:ea typeface="微软雅黑" panose="020B0503020204020204" pitchFamily="34" charset="-122"/>
                <a:sym typeface="Arial" panose="020B0604020202020204" pitchFamily="34" charset="0"/>
              </a:rPr>
              <a:t>延迟节点</a:t>
            </a:r>
            <a:endParaRPr lang="en-US" altLang="zh-CN" sz="20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910630" y="2277666"/>
            <a:ext cx="10429800" cy="1884618"/>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也是一种具有</a:t>
            </a:r>
            <a:r>
              <a:rPr lang="zh-CN" altLang="en-US" sz="2000" dirty="0">
                <a:solidFill>
                  <a:srgbClr val="1369B2"/>
                </a:solidFill>
                <a:latin typeface="微软雅黑" panose="020B0503020204020204" pitchFamily="34" charset="-122"/>
                <a:ea typeface="微软雅黑" panose="020B0503020204020204" pitchFamily="34" charset="-122"/>
              </a:rPr>
              <a:t>特定功能</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rPr>
              <a:t>从节点</a:t>
            </a:r>
            <a:r>
              <a:rPr lang="zh-CN" altLang="en-US" sz="2000" dirty="0">
                <a:solidFill>
                  <a:srgbClr val="595959"/>
                </a:solidFill>
                <a:latin typeface="微软雅黑" panose="020B0503020204020204" pitchFamily="34" charset="-122"/>
                <a:ea typeface="微软雅黑" panose="020B0503020204020204" pitchFamily="34" charset="-122"/>
              </a:rPr>
              <a:t>，它在隐藏节点的基础上增加了延迟同步机制。延迟节点</a:t>
            </a:r>
            <a:r>
              <a:rPr lang="zh-CN" altLang="en-US" sz="2000" dirty="0">
                <a:solidFill>
                  <a:srgbClr val="1369B2"/>
                </a:solidFill>
                <a:latin typeface="微软雅黑" panose="020B0503020204020204" pitchFamily="34" charset="-122"/>
                <a:ea typeface="微软雅黑" panose="020B0503020204020204" pitchFamily="34" charset="-122"/>
              </a:rPr>
              <a:t>不会实时同步</a:t>
            </a:r>
            <a:r>
              <a:rPr lang="zh-CN" altLang="en-US" sz="2000" dirty="0">
                <a:solidFill>
                  <a:srgbClr val="595959"/>
                </a:solidFill>
                <a:latin typeface="微软雅黑" panose="020B0503020204020204" pitchFamily="34" charset="-122"/>
                <a:ea typeface="微软雅黑" panose="020B0503020204020204" pitchFamily="34" charset="-122"/>
              </a:rPr>
              <a:t>主节点的操作日志，而是等待指定的延迟时间后，才会同步主节点的操作日志，并将所有新添加的记录异步应用到自身的数据集上。</a:t>
            </a:r>
            <a:r>
              <a:rPr lang="zh-CN" altLang="en-US" sz="2000" dirty="0">
                <a:solidFill>
                  <a:srgbClr val="1369B2"/>
                </a:solidFill>
                <a:latin typeface="微软雅黑" panose="020B0503020204020204" pitchFamily="34" charset="-122"/>
                <a:ea typeface="微软雅黑" panose="020B0503020204020204" pitchFamily="34" charset="-122"/>
              </a:rPr>
              <a:t>延迟节点</a:t>
            </a:r>
            <a:r>
              <a:rPr lang="zh-CN" altLang="en-US" sz="2000" dirty="0">
                <a:solidFill>
                  <a:srgbClr val="595959"/>
                </a:solidFill>
                <a:latin typeface="微软雅黑" panose="020B0503020204020204" pitchFamily="34" charset="-122"/>
                <a:ea typeface="微软雅黑" panose="020B0503020204020204" pitchFamily="34" charset="-122"/>
              </a:rPr>
              <a:t>通常用于</a:t>
            </a:r>
            <a:r>
              <a:rPr lang="zh-CN" altLang="en-US" sz="2000" dirty="0">
                <a:solidFill>
                  <a:srgbClr val="1369B2"/>
                </a:solidFill>
                <a:latin typeface="微软雅黑" panose="020B0503020204020204" pitchFamily="34" charset="-122"/>
                <a:ea typeface="微软雅黑" panose="020B0503020204020204" pitchFamily="34" charset="-122"/>
              </a:rPr>
              <a:t>恢复数据</a:t>
            </a:r>
            <a:r>
              <a:rPr lang="zh-CN" altLang="en-US" sz="2000" dirty="0">
                <a:solidFill>
                  <a:srgbClr val="595959"/>
                </a:solidFill>
                <a:latin typeface="微软雅黑" panose="020B0503020204020204" pitchFamily="34" charset="-122"/>
                <a:ea typeface="微软雅黑" panose="020B0503020204020204" pitchFamily="34" charset="-122"/>
              </a:rPr>
              <a:t>，使副本集的数据可以恢复到某个历史时间点。</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
          <a:stretch>
            <a:fillRect/>
          </a:stretch>
        </p:blipFill>
        <p:spPr>
          <a:xfrm>
            <a:off x="8604720" y="4162284"/>
            <a:ext cx="2880320" cy="244950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42295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接下来，以</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为例，介绍如何将虚拟机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上的</a:t>
            </a:r>
            <a:r>
              <a:rPr lang="zh-CN" altLang="en-US" sz="2000" dirty="0">
                <a:solidFill>
                  <a:srgbClr val="1369B2"/>
                </a:solidFill>
                <a:latin typeface="微软雅黑" panose="020B0503020204020204" pitchFamily="34" charset="-122"/>
                <a:ea typeface="微软雅黑" panose="020B0503020204020204" pitchFamily="34" charset="-122"/>
              </a:rPr>
              <a:t>隐藏节点修改为延迟节点</a:t>
            </a:r>
            <a:r>
              <a:rPr lang="zh-CN" altLang="en-US" sz="2000" dirty="0">
                <a:solidFill>
                  <a:srgbClr val="595959"/>
                </a:solidFill>
                <a:latin typeface="微软雅黑" panose="020B0503020204020204" pitchFamily="34" charset="-122"/>
                <a:ea typeface="微软雅黑" panose="020B0503020204020204" pitchFamily="34" charset="-122"/>
              </a:rPr>
              <a:t>，具体操作步骤如下。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圆顶角 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矩形 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3"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4"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获取配置信息</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获取副本集的</a:t>
            </a:r>
            <a:r>
              <a:rPr lang="zh-CN" altLang="en-US" sz="2000" dirty="0">
                <a:solidFill>
                  <a:srgbClr val="1369B2"/>
                </a:solidFill>
                <a:latin typeface="微软雅黑" panose="020B0503020204020204" pitchFamily="34" charset="-122"/>
                <a:ea typeface="微软雅黑" panose="020B0503020204020204" pitchFamily="34" charset="-122"/>
              </a:rPr>
              <a:t>配置信息</a:t>
            </a:r>
            <a:r>
              <a:rPr lang="zh-CN" altLang="en-US" sz="2000" dirty="0">
                <a:solidFill>
                  <a:srgbClr val="595959"/>
                </a:solidFill>
                <a:latin typeface="微软雅黑" panose="020B0503020204020204" pitchFamily="34" charset="-122"/>
                <a:ea typeface="微软雅黑" panose="020B0503020204020204" pitchFamily="34" charset="-122"/>
              </a:rPr>
              <a:t>，并将其存储在变量</a:t>
            </a:r>
            <a:r>
              <a:rPr lang="en-US" altLang="zh-CN" sz="2000" dirty="0" err="1">
                <a:solidFill>
                  <a:srgbClr val="1369B2"/>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bwMode="auto">
          <a:xfrm>
            <a:off x="3142878" y="2421682"/>
            <a:ext cx="7848872" cy="910919"/>
            <a:chOff x="1181682" y="1455893"/>
            <a:chExt cx="11054409" cy="2456232"/>
          </a:xfrm>
        </p:grpSpPr>
        <p:sp>
          <p:nvSpPr>
            <p:cNvPr id="22" name="矩形 21"/>
            <p:cNvSpPr/>
            <p:nvPr/>
          </p:nvSpPr>
          <p:spPr>
            <a:xfrm>
              <a:off x="1181682" y="1455893"/>
              <a:ext cx="11054409" cy="2456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61365" y="1715112"/>
              <a:ext cx="10873308" cy="13472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rs.conf</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矩形: 圆顶角 16"/>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圆角矩形 8"/>
          <p:cNvSpPr/>
          <p:nvPr/>
        </p:nvSpPr>
        <p:spPr>
          <a:xfrm>
            <a:off x="1054646" y="376392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6" name="文本框 10"/>
          <p:cNvSpPr txBox="1"/>
          <p:nvPr/>
        </p:nvSpPr>
        <p:spPr>
          <a:xfrm flipH="1">
            <a:off x="1143758" y="389966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9" name="1"/>
          <p:cNvSpPr txBox="1"/>
          <p:nvPr/>
        </p:nvSpPr>
        <p:spPr>
          <a:xfrm>
            <a:off x="3010236" y="3645818"/>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指定延迟时间</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为虚拟机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上的隐藏节点</a:t>
            </a:r>
            <a:r>
              <a:rPr lang="zh-CN" altLang="en-US" sz="2000" dirty="0">
                <a:solidFill>
                  <a:srgbClr val="1369B2"/>
                </a:solidFill>
                <a:latin typeface="微软雅黑" panose="020B0503020204020204" pitchFamily="34" charset="-122"/>
                <a:ea typeface="微软雅黑" panose="020B0503020204020204" pitchFamily="34" charset="-122"/>
              </a:rPr>
              <a:t>指定延迟时间</a:t>
            </a:r>
            <a:r>
              <a:rPr lang="zh-CN" altLang="en-US"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1369B2"/>
                </a:solidFill>
                <a:latin typeface="微软雅黑" panose="020B0503020204020204" pitchFamily="34" charset="-122"/>
                <a:ea typeface="微软雅黑" panose="020B0503020204020204" pitchFamily="34" charset="-122"/>
              </a:rPr>
              <a:t>3600</a:t>
            </a:r>
            <a:r>
              <a:rPr lang="zh-CN" altLang="en-US" sz="2000" dirty="0">
                <a:solidFill>
                  <a:srgbClr val="1369B2"/>
                </a:solidFill>
                <a:latin typeface="微软雅黑" panose="020B0503020204020204" pitchFamily="34" charset="-122"/>
                <a:ea typeface="微软雅黑" panose="020B0503020204020204" pitchFamily="34" charset="-122"/>
              </a:rPr>
              <a:t>秒</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1" name="组合 20"/>
          <p:cNvGrpSpPr/>
          <p:nvPr/>
        </p:nvGrpSpPr>
        <p:grpSpPr bwMode="auto">
          <a:xfrm>
            <a:off x="3131518" y="5327187"/>
            <a:ext cx="7848872" cy="910919"/>
            <a:chOff x="1181682" y="1455893"/>
            <a:chExt cx="11054409" cy="2456232"/>
          </a:xfrm>
        </p:grpSpPr>
        <p:sp>
          <p:nvSpPr>
            <p:cNvPr id="24" name="矩形 23"/>
            <p:cNvSpPr/>
            <p:nvPr/>
          </p:nvSpPr>
          <p:spPr>
            <a:xfrm>
              <a:off x="1181682" y="1455893"/>
              <a:ext cx="11054409" cy="2456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5" name="矩形 24"/>
            <p:cNvSpPr/>
            <p:nvPr/>
          </p:nvSpPr>
          <p:spPr>
            <a:xfrm>
              <a:off x="1261365" y="1715112"/>
              <a:ext cx="10873308" cy="134720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cfg.members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secondaryDelaySecs</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3600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919562"/>
            <a:ext cx="8402202" cy="3606576"/>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bwMode="auto">
          <a:xfrm>
            <a:off x="3718942" y="3301638"/>
            <a:ext cx="6984776" cy="1080120"/>
            <a:chOff x="1181682" y="1980410"/>
            <a:chExt cx="9098303" cy="1845461"/>
          </a:xfrm>
        </p:grpSpPr>
        <p:sp>
          <p:nvSpPr>
            <p:cNvPr id="22" name="矩形 21"/>
            <p:cNvSpPr/>
            <p:nvPr/>
          </p:nvSpPr>
          <p:spPr>
            <a:xfrm>
              <a:off x="1181682" y="1980410"/>
              <a:ext cx="9098303" cy="18454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8" y="2418592"/>
              <a:ext cx="9074857"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rs.reconfig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cfg</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圆角矩形标注 6"/>
          <p:cNvSpPr/>
          <p:nvPr/>
        </p:nvSpPr>
        <p:spPr bwMode="auto">
          <a:xfrm>
            <a:off x="4026741" y="4813805"/>
            <a:ext cx="6244929" cy="1296145"/>
          </a:xfrm>
          <a:prstGeom prst="wedgeRoundRectCallout">
            <a:avLst>
              <a:gd name="adj1" fmla="val 16654"/>
              <a:gd name="adj2" fmla="val -66540"/>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rPr>
              <a:t>若返回的信息中出现“</a:t>
            </a:r>
            <a:r>
              <a:rPr lang="en-US" altLang="zh-CN" sz="1800" dirty="0">
                <a:solidFill>
                  <a:srgbClr val="FF0000"/>
                </a:solidFill>
                <a:latin typeface="微软雅黑" panose="020B0503020204020204" pitchFamily="34" charset="-122"/>
                <a:ea typeface="微软雅黑" panose="020B0503020204020204" pitchFamily="34" charset="-122"/>
              </a:rPr>
              <a:t>ok: 1”</a:t>
            </a:r>
            <a:r>
              <a:rPr lang="zh-CN" altLang="en-US" sz="1800" dirty="0">
                <a:solidFill>
                  <a:srgbClr val="FF0000"/>
                </a:solidFill>
                <a:latin typeface="微软雅黑" panose="020B0503020204020204" pitchFamily="34" charset="-122"/>
                <a:ea typeface="微软雅黑" panose="020B0503020204020204" pitchFamily="34" charset="-122"/>
              </a:rPr>
              <a:t>表示修改成功。</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15"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4.5.7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修改节点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8" name="矩形: 圆顶角 17"/>
          <p:cNvSpPr/>
          <p:nvPr/>
        </p:nvSpPr>
        <p:spPr>
          <a:xfrm rot="10800000">
            <a:off x="991178" y="858497"/>
            <a:ext cx="2295715"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9" name="矩形 18"/>
          <p:cNvSpPr/>
          <p:nvPr/>
        </p:nvSpPr>
        <p:spPr>
          <a:xfrm>
            <a:off x="991181" y="879677"/>
            <a:ext cx="2295712"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修改节点的功能</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圆角矩形 8"/>
          <p:cNvSpPr/>
          <p:nvPr/>
        </p:nvSpPr>
        <p:spPr>
          <a:xfrm>
            <a:off x="1066006" y="1506496"/>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642235"/>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388385"/>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将配置信息应用到副本集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将变量</a:t>
            </a:r>
            <a:r>
              <a:rPr lang="en-US" altLang="zh-CN" sz="2000" dirty="0" err="1">
                <a:solidFill>
                  <a:srgbClr val="595959"/>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保存的</a:t>
            </a:r>
            <a:r>
              <a:rPr lang="zh-CN" altLang="en-US" sz="2000" dirty="0">
                <a:solidFill>
                  <a:srgbClr val="1369B2"/>
                </a:solidFill>
                <a:latin typeface="微软雅黑" panose="020B0503020204020204" pitchFamily="34" charset="-122"/>
                <a:ea typeface="微软雅黑" panose="020B0503020204020204" pitchFamily="34" charset="-122"/>
              </a:rPr>
              <a:t>配置信息</a:t>
            </a:r>
            <a:r>
              <a:rPr lang="zh-CN" altLang="en-US" sz="2000" dirty="0">
                <a:solidFill>
                  <a:srgbClr val="595959"/>
                </a:solidFill>
                <a:latin typeface="微软雅黑" panose="020B0503020204020204" pitchFamily="34" charset="-122"/>
                <a:ea typeface="微软雅黑" panose="020B0503020204020204" pitchFamily="34" charset="-122"/>
              </a:rPr>
              <a:t>应用到</a:t>
            </a:r>
            <a:r>
              <a:rPr lang="zh-CN" altLang="en-US" sz="2000" dirty="0">
                <a:solidFill>
                  <a:srgbClr val="1369B2"/>
                </a:solidFill>
                <a:latin typeface="微软雅黑" panose="020B0503020204020204" pitchFamily="34" charset="-122"/>
                <a:ea typeface="微软雅黑" panose="020B0503020204020204" pitchFamily="34" charset="-122"/>
              </a:rPr>
              <a:t>副本集</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707886"/>
          </a:xfrm>
          <a:prstGeom prst="rect">
            <a:avLst/>
          </a:prstGeom>
          <a:noFill/>
        </p:spPr>
        <p:txBody>
          <a:bodyPr wrap="square" lIns="91443" tIns="45720" rIns="91443" bIns="45720" rtlCol="0">
            <a:spAutoFit/>
          </a:bodyPr>
          <a:lstStyle/>
          <a:p>
            <a:r>
              <a:rPr lang="zh-CN" altLang="en-US" sz="40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访问控制</a:t>
            </a:r>
            <a:endParaRPr lang="en-GB" altLang="zh-CN" sz="40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p:cNvSpPr/>
          <p:nvPr/>
        </p:nvSpPr>
        <p:spPr>
          <a:xfrm>
            <a:off x="899745" y="3108894"/>
            <a:ext cx="4504046" cy="224305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endParaRPr lang="zh-CN" altLang="en-US"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熟悉访问控制，能够采用身份验证方法</a:t>
            </a:r>
            <a:r>
              <a:rPr lang="en-US" altLang="zh-CN" dirty="0" err="1">
                <a:solidFill>
                  <a:srgbClr val="1369B2"/>
                </a:solidFill>
                <a:latin typeface="微软雅黑" panose="020B0503020204020204" pitchFamily="34" charset="-122"/>
                <a:ea typeface="微软雅黑" panose="020B0503020204020204" pitchFamily="34" charset="-122"/>
                <a:cs typeface="+mn-ea"/>
                <a:sym typeface="+mn-lt"/>
              </a:rPr>
              <a:t>Keyfiles</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启用副本集的</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访问控制</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endParaRPr lang="zh-CN" altLang="en-US" sz="2800" b="1" dirty="0">
              <a:solidFill>
                <a:srgbClr val="1369B2"/>
              </a:solidFill>
              <a:latin typeface="微软雅黑" panose="020B0503020204020204" pitchFamily="34" charset="-122"/>
              <a:ea typeface="微软雅黑" panose="020B0503020204020204" pitchFamily="34" charset="-122"/>
              <a:cs typeface="+mn-ea"/>
              <a:sym typeface="+mn-lt"/>
            </a:endParaRPr>
          </a:p>
        </p:txBody>
      </p:sp>
      <p:pic>
        <p:nvPicPr>
          <p:cNvPr id="30"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2346283"/>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副本集同样可以通过</a:t>
            </a:r>
            <a:r>
              <a:rPr lang="zh-CN" altLang="en-US" sz="2000" dirty="0">
                <a:solidFill>
                  <a:srgbClr val="1369B2"/>
                </a:solidFill>
                <a:latin typeface="微软雅黑" panose="020B0503020204020204" pitchFamily="34" charset="-122"/>
                <a:ea typeface="微软雅黑" panose="020B0503020204020204" pitchFamily="34" charset="-122"/>
              </a:rPr>
              <a:t>身份验证</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角色授权</a:t>
            </a:r>
            <a:r>
              <a:rPr lang="zh-CN" altLang="en-US" sz="2000" dirty="0">
                <a:solidFill>
                  <a:srgbClr val="595959"/>
                </a:solidFill>
                <a:latin typeface="微软雅黑" panose="020B0503020204020204" pitchFamily="34" charset="-122"/>
                <a:ea typeface="微软雅黑" panose="020B0503020204020204" pitchFamily="34" charset="-122"/>
              </a:rPr>
              <a:t>来严格管理用户对</a:t>
            </a:r>
            <a:r>
              <a:rPr lang="zh-CN" altLang="en-US" sz="2000" dirty="0">
                <a:solidFill>
                  <a:srgbClr val="1369B2"/>
                </a:solidFill>
                <a:latin typeface="微软雅黑" panose="020B0503020204020204" pitchFamily="34" charset="-122"/>
                <a:ea typeface="微软雅黑" panose="020B0503020204020204" pitchFamily="34" charset="-122"/>
              </a:rPr>
              <a:t>集群</a:t>
            </a:r>
            <a:r>
              <a:rPr lang="zh-CN" altLang="en-US" sz="2000" dirty="0">
                <a:solidFill>
                  <a:srgbClr val="595959"/>
                </a:solidFill>
                <a:latin typeface="微软雅黑" panose="020B0503020204020204" pitchFamily="34" charset="-122"/>
                <a:ea typeface="微软雅黑" panose="020B0503020204020204" pitchFamily="34" charset="-122"/>
              </a:rPr>
              <a:t>或</a:t>
            </a:r>
            <a:r>
              <a:rPr lang="zh-CN" altLang="en-US" sz="2000" dirty="0">
                <a:solidFill>
                  <a:srgbClr val="1369B2"/>
                </a:solidFill>
                <a:latin typeface="微软雅黑" panose="020B0503020204020204" pitchFamily="34" charset="-122"/>
                <a:ea typeface="微软雅黑" panose="020B0503020204020204" pitchFamily="34" charset="-122"/>
              </a:rPr>
              <a:t>数据库</a:t>
            </a:r>
            <a:r>
              <a:rPr lang="zh-CN" altLang="en-US" sz="2000" dirty="0">
                <a:solidFill>
                  <a:srgbClr val="595959"/>
                </a:solidFill>
                <a:latin typeface="微软雅黑" panose="020B0503020204020204" pitchFamily="34" charset="-122"/>
                <a:ea typeface="微软雅黑" panose="020B0503020204020204" pitchFamily="34" charset="-122"/>
              </a:rPr>
              <a:t>的操作权限。默认情况下，副本集并未启用访问控制，这意味着用户无须进行身份验证即可连接副本集并执行任何操作。</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内容占位符 2"/>
          <p:cNvSpPr txBox="1"/>
          <p:nvPr/>
        </p:nvSpPr>
        <p:spPr bwMode="auto">
          <a:xfrm>
            <a:off x="478582" y="960835"/>
            <a:ext cx="10945216" cy="10609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lvl="1" indent="0">
              <a:lnSpc>
                <a:spcPct val="150000"/>
              </a:lnSpc>
              <a:buNone/>
              <a:defRPr/>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启用副本集的访问控制时，需要为其指定身份验证方法。基于</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社区版部署的副本集支持</a:t>
            </a: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Keyfiles</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x.509</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两种身份验证方法。</a:t>
            </a:r>
            <a:endPar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2483440" y="2423084"/>
            <a:ext cx="6963152" cy="1440000"/>
            <a:chOff x="2655457" y="2246012"/>
            <a:chExt cx="6963152" cy="1440000"/>
          </a:xfrm>
        </p:grpSpPr>
        <p:sp>
          <p:nvSpPr>
            <p:cNvPr id="20" name="Rectangle 58"/>
            <p:cNvSpPr>
              <a:spLocks noChangeArrowheads="1"/>
            </p:cNvSpPr>
            <p:nvPr/>
          </p:nvSpPr>
          <p:spPr bwMode="auto">
            <a:xfrm rot="2700000">
              <a:off x="3737952"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Rectangle 58"/>
            <p:cNvSpPr>
              <a:spLocks noChangeArrowheads="1"/>
            </p:cNvSpPr>
            <p:nvPr/>
          </p:nvSpPr>
          <p:spPr bwMode="auto">
            <a:xfrm rot="2700000">
              <a:off x="5376000" y="2246012"/>
              <a:ext cx="1440000" cy="1440000"/>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Rectangle 58"/>
            <p:cNvSpPr>
              <a:spLocks noChangeArrowheads="1"/>
            </p:cNvSpPr>
            <p:nvPr/>
          </p:nvSpPr>
          <p:spPr bwMode="auto">
            <a:xfrm rot="2700000">
              <a:off x="7084003"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Freeform 28"/>
            <p:cNvSpPr>
              <a:spLocks noEditPoints="1"/>
            </p:cNvSpPr>
            <p:nvPr/>
          </p:nvSpPr>
          <p:spPr bwMode="auto">
            <a:xfrm>
              <a:off x="5723670" y="2607118"/>
              <a:ext cx="721832" cy="688172"/>
            </a:xfrm>
            <a:custGeom>
              <a:avLst/>
              <a:gdLst>
                <a:gd name="T0" fmla="*/ 188 w 490"/>
                <a:gd name="T1" fmla="*/ 199 h 467"/>
                <a:gd name="T2" fmla="*/ 162 w 490"/>
                <a:gd name="T3" fmla="*/ 123 h 467"/>
                <a:gd name="T4" fmla="*/ 162 w 490"/>
                <a:gd name="T5" fmla="*/ 117 h 467"/>
                <a:gd name="T6" fmla="*/ 329 w 490"/>
                <a:gd name="T7" fmla="*/ 117 h 467"/>
                <a:gd name="T8" fmla="*/ 329 w 490"/>
                <a:gd name="T9" fmla="*/ 123 h 467"/>
                <a:gd name="T10" fmla="*/ 303 w 490"/>
                <a:gd name="T11" fmla="*/ 199 h 467"/>
                <a:gd name="T12" fmla="*/ 391 w 490"/>
                <a:gd name="T13" fmla="*/ 244 h 467"/>
                <a:gd name="T14" fmla="*/ 445 w 490"/>
                <a:gd name="T15" fmla="*/ 172 h 467"/>
                <a:gd name="T16" fmla="*/ 445 w 490"/>
                <a:gd name="T17" fmla="*/ 172 h 467"/>
                <a:gd name="T18" fmla="*/ 407 w 490"/>
                <a:gd name="T19" fmla="*/ 94 h 467"/>
                <a:gd name="T20" fmla="*/ 375 w 490"/>
                <a:gd name="T21" fmla="*/ 93 h 467"/>
                <a:gd name="T22" fmla="*/ 337 w 490"/>
                <a:gd name="T23" fmla="*/ 172 h 467"/>
                <a:gd name="T24" fmla="*/ 337 w 490"/>
                <a:gd name="T25" fmla="*/ 172 h 467"/>
                <a:gd name="T26" fmla="*/ 391 w 490"/>
                <a:gd name="T27" fmla="*/ 244 h 467"/>
                <a:gd name="T28" fmla="*/ 344 w 490"/>
                <a:gd name="T29" fmla="*/ 173 h 467"/>
                <a:gd name="T30" fmla="*/ 349 w 490"/>
                <a:gd name="T31" fmla="*/ 148 h 467"/>
                <a:gd name="T32" fmla="*/ 430 w 490"/>
                <a:gd name="T33" fmla="*/ 134 h 467"/>
                <a:gd name="T34" fmla="*/ 434 w 490"/>
                <a:gd name="T35" fmla="*/ 160 h 467"/>
                <a:gd name="T36" fmla="*/ 422 w 490"/>
                <a:gd name="T37" fmla="*/ 217 h 467"/>
                <a:gd name="T38" fmla="*/ 360 w 490"/>
                <a:gd name="T39" fmla="*/ 217 h 467"/>
                <a:gd name="T40" fmla="*/ 137 w 490"/>
                <a:gd name="T41" fmla="*/ 221 h 467"/>
                <a:gd name="T42" fmla="*/ 154 w 490"/>
                <a:gd name="T43" fmla="*/ 172 h 467"/>
                <a:gd name="T44" fmla="*/ 154 w 490"/>
                <a:gd name="T45" fmla="*/ 168 h 467"/>
                <a:gd name="T46" fmla="*/ 99 w 490"/>
                <a:gd name="T47" fmla="*/ 92 h 467"/>
                <a:gd name="T48" fmla="*/ 46 w 490"/>
                <a:gd name="T49" fmla="*/ 168 h 467"/>
                <a:gd name="T50" fmla="*/ 46 w 490"/>
                <a:gd name="T51" fmla="*/ 172 h 467"/>
                <a:gd name="T52" fmla="*/ 62 w 490"/>
                <a:gd name="T53" fmla="*/ 221 h 467"/>
                <a:gd name="T54" fmla="*/ 68 w 490"/>
                <a:gd name="T55" fmla="*/ 217 h 467"/>
                <a:gd name="T56" fmla="*/ 56 w 490"/>
                <a:gd name="T57" fmla="*/ 160 h 467"/>
                <a:gd name="T58" fmla="*/ 61 w 490"/>
                <a:gd name="T59" fmla="*/ 134 h 467"/>
                <a:gd name="T60" fmla="*/ 142 w 490"/>
                <a:gd name="T61" fmla="*/ 148 h 467"/>
                <a:gd name="T62" fmla="*/ 146 w 490"/>
                <a:gd name="T63" fmla="*/ 173 h 467"/>
                <a:gd name="T64" fmla="*/ 100 w 490"/>
                <a:gd name="T65" fmla="*/ 237 h 467"/>
                <a:gd name="T66" fmla="*/ 262 w 490"/>
                <a:gd name="T67" fmla="*/ 291 h 467"/>
                <a:gd name="T68" fmla="*/ 252 w 490"/>
                <a:gd name="T69" fmla="*/ 313 h 467"/>
                <a:gd name="T70" fmla="*/ 314 w 490"/>
                <a:gd name="T71" fmla="*/ 264 h 467"/>
                <a:gd name="T72" fmla="*/ 402 w 490"/>
                <a:gd name="T73" fmla="*/ 437 h 467"/>
                <a:gd name="T74" fmla="*/ 119 w 490"/>
                <a:gd name="T75" fmla="*/ 467 h 467"/>
                <a:gd name="T76" fmla="*/ 88 w 490"/>
                <a:gd name="T77" fmla="*/ 334 h 467"/>
                <a:gd name="T78" fmla="*/ 231 w 490"/>
                <a:gd name="T79" fmla="*/ 413 h 467"/>
                <a:gd name="T80" fmla="*/ 238 w 490"/>
                <a:gd name="T81" fmla="*/ 308 h 467"/>
                <a:gd name="T82" fmla="*/ 229 w 490"/>
                <a:gd name="T83" fmla="*/ 288 h 467"/>
                <a:gd name="T84" fmla="*/ 259 w 490"/>
                <a:gd name="T85" fmla="*/ 286 h 467"/>
                <a:gd name="T86" fmla="*/ 262 w 490"/>
                <a:gd name="T87" fmla="*/ 291 h 467"/>
                <a:gd name="T88" fmla="*/ 490 w 490"/>
                <a:gd name="T89" fmla="*/ 305 h 467"/>
                <a:gd name="T90" fmla="*/ 412 w 490"/>
                <a:gd name="T91" fmla="*/ 312 h 467"/>
                <a:gd name="T92" fmla="*/ 416 w 490"/>
                <a:gd name="T93" fmla="*/ 388 h 467"/>
                <a:gd name="T94" fmla="*/ 490 w 490"/>
                <a:gd name="T95" fmla="*/ 371 h 467"/>
                <a:gd name="T96" fmla="*/ 16 w 490"/>
                <a:gd name="T97" fmla="*/ 388 h 467"/>
                <a:gd name="T98" fmla="*/ 74 w 490"/>
                <a:gd name="T99" fmla="*/ 334 h 467"/>
                <a:gd name="T100" fmla="*/ 139 w 490"/>
                <a:gd name="T101" fmla="*/ 260 h 467"/>
                <a:gd name="T102" fmla="*/ 0 w 490"/>
                <a:gd name="T103" fmla="*/ 371 h 467"/>
                <a:gd name="T104" fmla="*/ 245 w 490"/>
                <a:gd name="T105" fmla="*/ 223 h 467"/>
                <a:gd name="T106" fmla="*/ 317 w 490"/>
                <a:gd name="T107" fmla="*/ 124 h 467"/>
                <a:gd name="T108" fmla="*/ 310 w 490"/>
                <a:gd name="T109" fmla="*/ 85 h 467"/>
                <a:gd name="T110" fmla="*/ 274 w 490"/>
                <a:gd name="T111" fmla="*/ 61 h 467"/>
                <a:gd name="T112" fmla="*/ 216 w 490"/>
                <a:gd name="T113" fmla="*/ 61 h 467"/>
                <a:gd name="T114" fmla="*/ 185 w 490"/>
                <a:gd name="T115" fmla="*/ 64 h 467"/>
                <a:gd name="T116" fmla="*/ 178 w 490"/>
                <a:gd name="T117" fmla="*/ 105 h 467"/>
                <a:gd name="T118" fmla="*/ 197 w 490"/>
                <a:gd name="T119" fmla="*/ 19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0" h="467">
                  <a:moveTo>
                    <a:pt x="245" y="235"/>
                  </a:moveTo>
                  <a:cubicBezTo>
                    <a:pt x="224" y="235"/>
                    <a:pt x="203" y="220"/>
                    <a:pt x="188" y="199"/>
                  </a:cubicBezTo>
                  <a:cubicBezTo>
                    <a:pt x="172" y="178"/>
                    <a:pt x="162" y="150"/>
                    <a:pt x="162" y="123"/>
                  </a:cubicBezTo>
                  <a:cubicBezTo>
                    <a:pt x="162" y="123"/>
                    <a:pt x="162" y="123"/>
                    <a:pt x="162" y="123"/>
                  </a:cubicBezTo>
                  <a:cubicBezTo>
                    <a:pt x="162" y="122"/>
                    <a:pt x="162" y="122"/>
                    <a:pt x="162" y="122"/>
                  </a:cubicBezTo>
                  <a:cubicBezTo>
                    <a:pt x="162" y="121"/>
                    <a:pt x="162" y="119"/>
                    <a:pt x="162" y="117"/>
                  </a:cubicBezTo>
                  <a:cubicBezTo>
                    <a:pt x="162" y="52"/>
                    <a:pt x="151" y="0"/>
                    <a:pt x="245" y="0"/>
                  </a:cubicBezTo>
                  <a:cubicBezTo>
                    <a:pt x="340" y="0"/>
                    <a:pt x="329" y="52"/>
                    <a:pt x="329" y="117"/>
                  </a:cubicBezTo>
                  <a:cubicBezTo>
                    <a:pt x="329" y="119"/>
                    <a:pt x="329" y="121"/>
                    <a:pt x="329" y="122"/>
                  </a:cubicBezTo>
                  <a:cubicBezTo>
                    <a:pt x="329" y="123"/>
                    <a:pt x="329" y="123"/>
                    <a:pt x="329" y="123"/>
                  </a:cubicBezTo>
                  <a:cubicBezTo>
                    <a:pt x="329" y="123"/>
                    <a:pt x="329" y="123"/>
                    <a:pt x="329" y="123"/>
                  </a:cubicBezTo>
                  <a:cubicBezTo>
                    <a:pt x="329" y="150"/>
                    <a:pt x="318" y="178"/>
                    <a:pt x="303" y="199"/>
                  </a:cubicBezTo>
                  <a:cubicBezTo>
                    <a:pt x="287" y="220"/>
                    <a:pt x="266" y="235"/>
                    <a:pt x="245" y="235"/>
                  </a:cubicBezTo>
                  <a:close/>
                  <a:moveTo>
                    <a:pt x="391" y="244"/>
                  </a:moveTo>
                  <a:cubicBezTo>
                    <a:pt x="404" y="244"/>
                    <a:pt x="418" y="235"/>
                    <a:pt x="428" y="221"/>
                  </a:cubicBezTo>
                  <a:cubicBezTo>
                    <a:pt x="438" y="208"/>
                    <a:pt x="445" y="190"/>
                    <a:pt x="445" y="172"/>
                  </a:cubicBezTo>
                  <a:cubicBezTo>
                    <a:pt x="445" y="172"/>
                    <a:pt x="445" y="172"/>
                    <a:pt x="445" y="172"/>
                  </a:cubicBezTo>
                  <a:cubicBezTo>
                    <a:pt x="445" y="172"/>
                    <a:pt x="445" y="172"/>
                    <a:pt x="445" y="172"/>
                  </a:cubicBezTo>
                  <a:cubicBezTo>
                    <a:pt x="445" y="170"/>
                    <a:pt x="445" y="169"/>
                    <a:pt x="445" y="168"/>
                  </a:cubicBezTo>
                  <a:cubicBezTo>
                    <a:pt x="445" y="131"/>
                    <a:pt x="451" y="99"/>
                    <a:pt x="407" y="94"/>
                  </a:cubicBezTo>
                  <a:cubicBezTo>
                    <a:pt x="402" y="93"/>
                    <a:pt x="397" y="92"/>
                    <a:pt x="391" y="92"/>
                  </a:cubicBezTo>
                  <a:cubicBezTo>
                    <a:pt x="385" y="92"/>
                    <a:pt x="380" y="93"/>
                    <a:pt x="375" y="93"/>
                  </a:cubicBezTo>
                  <a:cubicBezTo>
                    <a:pt x="331" y="99"/>
                    <a:pt x="337" y="130"/>
                    <a:pt x="337" y="168"/>
                  </a:cubicBezTo>
                  <a:cubicBezTo>
                    <a:pt x="337" y="169"/>
                    <a:pt x="337" y="170"/>
                    <a:pt x="337" y="172"/>
                  </a:cubicBezTo>
                  <a:cubicBezTo>
                    <a:pt x="337" y="172"/>
                    <a:pt x="337" y="172"/>
                    <a:pt x="337" y="172"/>
                  </a:cubicBezTo>
                  <a:cubicBezTo>
                    <a:pt x="337" y="172"/>
                    <a:pt x="337" y="172"/>
                    <a:pt x="337" y="172"/>
                  </a:cubicBezTo>
                  <a:cubicBezTo>
                    <a:pt x="337" y="190"/>
                    <a:pt x="344" y="208"/>
                    <a:pt x="354" y="221"/>
                  </a:cubicBezTo>
                  <a:cubicBezTo>
                    <a:pt x="364" y="235"/>
                    <a:pt x="377" y="244"/>
                    <a:pt x="391" y="244"/>
                  </a:cubicBezTo>
                  <a:close/>
                  <a:moveTo>
                    <a:pt x="360" y="217"/>
                  </a:moveTo>
                  <a:cubicBezTo>
                    <a:pt x="351" y="204"/>
                    <a:pt x="345" y="188"/>
                    <a:pt x="344" y="173"/>
                  </a:cubicBezTo>
                  <a:cubicBezTo>
                    <a:pt x="348" y="160"/>
                    <a:pt x="348" y="160"/>
                    <a:pt x="348" y="160"/>
                  </a:cubicBezTo>
                  <a:cubicBezTo>
                    <a:pt x="349" y="156"/>
                    <a:pt x="349" y="152"/>
                    <a:pt x="349" y="148"/>
                  </a:cubicBezTo>
                  <a:cubicBezTo>
                    <a:pt x="349" y="142"/>
                    <a:pt x="349" y="138"/>
                    <a:pt x="352" y="134"/>
                  </a:cubicBezTo>
                  <a:cubicBezTo>
                    <a:pt x="354" y="127"/>
                    <a:pt x="429" y="127"/>
                    <a:pt x="430" y="134"/>
                  </a:cubicBezTo>
                  <a:cubicBezTo>
                    <a:pt x="433" y="138"/>
                    <a:pt x="433" y="142"/>
                    <a:pt x="433" y="148"/>
                  </a:cubicBezTo>
                  <a:cubicBezTo>
                    <a:pt x="433" y="152"/>
                    <a:pt x="433" y="156"/>
                    <a:pt x="434" y="160"/>
                  </a:cubicBezTo>
                  <a:cubicBezTo>
                    <a:pt x="437" y="173"/>
                    <a:pt x="437" y="173"/>
                    <a:pt x="437" y="173"/>
                  </a:cubicBezTo>
                  <a:cubicBezTo>
                    <a:pt x="437" y="188"/>
                    <a:pt x="431" y="204"/>
                    <a:pt x="422" y="217"/>
                  </a:cubicBezTo>
                  <a:cubicBezTo>
                    <a:pt x="413" y="229"/>
                    <a:pt x="402" y="237"/>
                    <a:pt x="391" y="237"/>
                  </a:cubicBezTo>
                  <a:cubicBezTo>
                    <a:pt x="380" y="237"/>
                    <a:pt x="368" y="229"/>
                    <a:pt x="360" y="217"/>
                  </a:cubicBezTo>
                  <a:close/>
                  <a:moveTo>
                    <a:pt x="100" y="244"/>
                  </a:moveTo>
                  <a:cubicBezTo>
                    <a:pt x="113" y="244"/>
                    <a:pt x="127" y="235"/>
                    <a:pt x="137" y="221"/>
                  </a:cubicBezTo>
                  <a:cubicBezTo>
                    <a:pt x="147" y="208"/>
                    <a:pt x="154" y="190"/>
                    <a:pt x="154" y="172"/>
                  </a:cubicBezTo>
                  <a:cubicBezTo>
                    <a:pt x="154" y="172"/>
                    <a:pt x="154" y="172"/>
                    <a:pt x="154" y="172"/>
                  </a:cubicBezTo>
                  <a:cubicBezTo>
                    <a:pt x="154" y="172"/>
                    <a:pt x="154" y="172"/>
                    <a:pt x="154" y="172"/>
                  </a:cubicBezTo>
                  <a:cubicBezTo>
                    <a:pt x="154" y="170"/>
                    <a:pt x="154" y="169"/>
                    <a:pt x="154" y="168"/>
                  </a:cubicBezTo>
                  <a:cubicBezTo>
                    <a:pt x="154" y="130"/>
                    <a:pt x="160" y="99"/>
                    <a:pt x="114" y="93"/>
                  </a:cubicBezTo>
                  <a:cubicBezTo>
                    <a:pt x="110" y="92"/>
                    <a:pt x="105" y="92"/>
                    <a:pt x="99" y="92"/>
                  </a:cubicBezTo>
                  <a:cubicBezTo>
                    <a:pt x="93" y="92"/>
                    <a:pt x="87" y="93"/>
                    <a:pt x="82" y="94"/>
                  </a:cubicBezTo>
                  <a:cubicBezTo>
                    <a:pt x="40" y="100"/>
                    <a:pt x="46" y="131"/>
                    <a:pt x="46" y="168"/>
                  </a:cubicBezTo>
                  <a:cubicBezTo>
                    <a:pt x="46" y="169"/>
                    <a:pt x="46" y="170"/>
                    <a:pt x="46" y="172"/>
                  </a:cubicBezTo>
                  <a:cubicBezTo>
                    <a:pt x="46" y="172"/>
                    <a:pt x="46" y="172"/>
                    <a:pt x="46" y="172"/>
                  </a:cubicBezTo>
                  <a:cubicBezTo>
                    <a:pt x="46" y="172"/>
                    <a:pt x="46" y="172"/>
                    <a:pt x="46" y="172"/>
                  </a:cubicBezTo>
                  <a:cubicBezTo>
                    <a:pt x="46" y="190"/>
                    <a:pt x="52" y="208"/>
                    <a:pt x="62" y="221"/>
                  </a:cubicBezTo>
                  <a:cubicBezTo>
                    <a:pt x="72" y="235"/>
                    <a:pt x="86" y="244"/>
                    <a:pt x="100" y="244"/>
                  </a:cubicBezTo>
                  <a:close/>
                  <a:moveTo>
                    <a:pt x="68" y="217"/>
                  </a:moveTo>
                  <a:cubicBezTo>
                    <a:pt x="59" y="204"/>
                    <a:pt x="53" y="188"/>
                    <a:pt x="53" y="173"/>
                  </a:cubicBezTo>
                  <a:cubicBezTo>
                    <a:pt x="56" y="160"/>
                    <a:pt x="56" y="160"/>
                    <a:pt x="56" y="160"/>
                  </a:cubicBezTo>
                  <a:cubicBezTo>
                    <a:pt x="57" y="156"/>
                    <a:pt x="57" y="152"/>
                    <a:pt x="58" y="148"/>
                  </a:cubicBezTo>
                  <a:cubicBezTo>
                    <a:pt x="58" y="142"/>
                    <a:pt x="58" y="138"/>
                    <a:pt x="61" y="134"/>
                  </a:cubicBezTo>
                  <a:cubicBezTo>
                    <a:pt x="63" y="127"/>
                    <a:pt x="138" y="127"/>
                    <a:pt x="139" y="134"/>
                  </a:cubicBezTo>
                  <a:cubicBezTo>
                    <a:pt x="141" y="138"/>
                    <a:pt x="142" y="142"/>
                    <a:pt x="142" y="148"/>
                  </a:cubicBezTo>
                  <a:cubicBezTo>
                    <a:pt x="142" y="152"/>
                    <a:pt x="142" y="156"/>
                    <a:pt x="143" y="160"/>
                  </a:cubicBezTo>
                  <a:cubicBezTo>
                    <a:pt x="146" y="173"/>
                    <a:pt x="146" y="173"/>
                    <a:pt x="146" y="173"/>
                  </a:cubicBezTo>
                  <a:cubicBezTo>
                    <a:pt x="146" y="188"/>
                    <a:pt x="140" y="204"/>
                    <a:pt x="131" y="217"/>
                  </a:cubicBezTo>
                  <a:cubicBezTo>
                    <a:pt x="122" y="229"/>
                    <a:pt x="111" y="237"/>
                    <a:pt x="100" y="237"/>
                  </a:cubicBezTo>
                  <a:cubicBezTo>
                    <a:pt x="89" y="237"/>
                    <a:pt x="77" y="229"/>
                    <a:pt x="68" y="217"/>
                  </a:cubicBezTo>
                  <a:close/>
                  <a:moveTo>
                    <a:pt x="262" y="291"/>
                  </a:moveTo>
                  <a:cubicBezTo>
                    <a:pt x="253" y="308"/>
                    <a:pt x="253" y="308"/>
                    <a:pt x="253" y="308"/>
                  </a:cubicBezTo>
                  <a:cubicBezTo>
                    <a:pt x="252" y="310"/>
                    <a:pt x="251" y="311"/>
                    <a:pt x="252" y="313"/>
                  </a:cubicBezTo>
                  <a:cubicBezTo>
                    <a:pt x="260" y="412"/>
                    <a:pt x="260" y="412"/>
                    <a:pt x="260" y="412"/>
                  </a:cubicBezTo>
                  <a:cubicBezTo>
                    <a:pt x="285" y="360"/>
                    <a:pt x="299" y="326"/>
                    <a:pt x="314" y="264"/>
                  </a:cubicBezTo>
                  <a:cubicBezTo>
                    <a:pt x="364" y="275"/>
                    <a:pt x="402" y="298"/>
                    <a:pt x="402" y="334"/>
                  </a:cubicBezTo>
                  <a:cubicBezTo>
                    <a:pt x="402" y="437"/>
                    <a:pt x="402" y="437"/>
                    <a:pt x="402" y="437"/>
                  </a:cubicBezTo>
                  <a:cubicBezTo>
                    <a:pt x="402" y="454"/>
                    <a:pt x="388" y="467"/>
                    <a:pt x="371" y="467"/>
                  </a:cubicBezTo>
                  <a:cubicBezTo>
                    <a:pt x="287" y="467"/>
                    <a:pt x="203" y="467"/>
                    <a:pt x="119" y="467"/>
                  </a:cubicBezTo>
                  <a:cubicBezTo>
                    <a:pt x="102" y="467"/>
                    <a:pt x="88" y="454"/>
                    <a:pt x="88" y="437"/>
                  </a:cubicBezTo>
                  <a:cubicBezTo>
                    <a:pt x="88" y="402"/>
                    <a:pt x="88" y="368"/>
                    <a:pt x="88" y="334"/>
                  </a:cubicBezTo>
                  <a:cubicBezTo>
                    <a:pt x="88" y="298"/>
                    <a:pt x="126" y="275"/>
                    <a:pt x="176" y="264"/>
                  </a:cubicBezTo>
                  <a:cubicBezTo>
                    <a:pt x="191" y="327"/>
                    <a:pt x="206" y="360"/>
                    <a:pt x="231" y="413"/>
                  </a:cubicBezTo>
                  <a:cubicBezTo>
                    <a:pt x="239" y="313"/>
                    <a:pt x="239" y="313"/>
                    <a:pt x="239" y="313"/>
                  </a:cubicBezTo>
                  <a:cubicBezTo>
                    <a:pt x="239" y="311"/>
                    <a:pt x="239" y="310"/>
                    <a:pt x="238" y="308"/>
                  </a:cubicBezTo>
                  <a:cubicBezTo>
                    <a:pt x="229" y="291"/>
                    <a:pt x="229" y="291"/>
                    <a:pt x="229" y="291"/>
                  </a:cubicBezTo>
                  <a:cubicBezTo>
                    <a:pt x="228" y="290"/>
                    <a:pt x="228" y="289"/>
                    <a:pt x="229" y="288"/>
                  </a:cubicBezTo>
                  <a:cubicBezTo>
                    <a:pt x="229" y="287"/>
                    <a:pt x="230" y="286"/>
                    <a:pt x="231" y="286"/>
                  </a:cubicBezTo>
                  <a:cubicBezTo>
                    <a:pt x="241" y="286"/>
                    <a:pt x="250" y="286"/>
                    <a:pt x="259" y="286"/>
                  </a:cubicBezTo>
                  <a:cubicBezTo>
                    <a:pt x="261" y="286"/>
                    <a:pt x="262" y="287"/>
                    <a:pt x="262" y="288"/>
                  </a:cubicBezTo>
                  <a:cubicBezTo>
                    <a:pt x="263" y="289"/>
                    <a:pt x="263" y="290"/>
                    <a:pt x="262" y="291"/>
                  </a:cubicBezTo>
                  <a:close/>
                  <a:moveTo>
                    <a:pt x="490" y="371"/>
                  </a:moveTo>
                  <a:cubicBezTo>
                    <a:pt x="490" y="305"/>
                    <a:pt x="490" y="305"/>
                    <a:pt x="490" y="305"/>
                  </a:cubicBezTo>
                  <a:cubicBezTo>
                    <a:pt x="490" y="263"/>
                    <a:pt x="410" y="248"/>
                    <a:pt x="351" y="260"/>
                  </a:cubicBezTo>
                  <a:cubicBezTo>
                    <a:pt x="376" y="269"/>
                    <a:pt x="402" y="286"/>
                    <a:pt x="412" y="312"/>
                  </a:cubicBezTo>
                  <a:cubicBezTo>
                    <a:pt x="415" y="319"/>
                    <a:pt x="416" y="326"/>
                    <a:pt x="416" y="334"/>
                  </a:cubicBezTo>
                  <a:cubicBezTo>
                    <a:pt x="416" y="388"/>
                    <a:pt x="416" y="388"/>
                    <a:pt x="416" y="388"/>
                  </a:cubicBezTo>
                  <a:cubicBezTo>
                    <a:pt x="435" y="388"/>
                    <a:pt x="454" y="388"/>
                    <a:pt x="474" y="388"/>
                  </a:cubicBezTo>
                  <a:cubicBezTo>
                    <a:pt x="483" y="388"/>
                    <a:pt x="490" y="380"/>
                    <a:pt x="490" y="371"/>
                  </a:cubicBezTo>
                  <a:close/>
                  <a:moveTo>
                    <a:pt x="0" y="371"/>
                  </a:moveTo>
                  <a:cubicBezTo>
                    <a:pt x="0" y="380"/>
                    <a:pt x="7" y="388"/>
                    <a:pt x="16" y="388"/>
                  </a:cubicBezTo>
                  <a:cubicBezTo>
                    <a:pt x="36" y="388"/>
                    <a:pt x="55" y="388"/>
                    <a:pt x="74" y="388"/>
                  </a:cubicBezTo>
                  <a:cubicBezTo>
                    <a:pt x="74" y="334"/>
                    <a:pt x="74" y="334"/>
                    <a:pt x="74" y="334"/>
                  </a:cubicBezTo>
                  <a:cubicBezTo>
                    <a:pt x="74" y="326"/>
                    <a:pt x="75" y="319"/>
                    <a:pt x="78" y="312"/>
                  </a:cubicBezTo>
                  <a:cubicBezTo>
                    <a:pt x="88" y="286"/>
                    <a:pt x="114" y="269"/>
                    <a:pt x="139" y="260"/>
                  </a:cubicBezTo>
                  <a:cubicBezTo>
                    <a:pt x="80" y="248"/>
                    <a:pt x="0" y="263"/>
                    <a:pt x="0" y="305"/>
                  </a:cubicBezTo>
                  <a:cubicBezTo>
                    <a:pt x="0" y="327"/>
                    <a:pt x="0" y="349"/>
                    <a:pt x="0" y="371"/>
                  </a:cubicBezTo>
                  <a:close/>
                  <a:moveTo>
                    <a:pt x="197" y="192"/>
                  </a:moveTo>
                  <a:cubicBezTo>
                    <a:pt x="211" y="210"/>
                    <a:pt x="228" y="223"/>
                    <a:pt x="245" y="223"/>
                  </a:cubicBezTo>
                  <a:cubicBezTo>
                    <a:pt x="262" y="223"/>
                    <a:pt x="280" y="210"/>
                    <a:pt x="293" y="192"/>
                  </a:cubicBezTo>
                  <a:cubicBezTo>
                    <a:pt x="307" y="173"/>
                    <a:pt x="317" y="148"/>
                    <a:pt x="317" y="124"/>
                  </a:cubicBezTo>
                  <a:cubicBezTo>
                    <a:pt x="312" y="105"/>
                    <a:pt x="312" y="105"/>
                    <a:pt x="312" y="105"/>
                  </a:cubicBezTo>
                  <a:cubicBezTo>
                    <a:pt x="310" y="98"/>
                    <a:pt x="310" y="91"/>
                    <a:pt x="310" y="85"/>
                  </a:cubicBezTo>
                  <a:cubicBezTo>
                    <a:pt x="310" y="77"/>
                    <a:pt x="310" y="70"/>
                    <a:pt x="305" y="64"/>
                  </a:cubicBezTo>
                  <a:cubicBezTo>
                    <a:pt x="298" y="54"/>
                    <a:pt x="287" y="57"/>
                    <a:pt x="274" y="61"/>
                  </a:cubicBezTo>
                  <a:cubicBezTo>
                    <a:pt x="265" y="64"/>
                    <a:pt x="256" y="66"/>
                    <a:pt x="245" y="66"/>
                  </a:cubicBezTo>
                  <a:cubicBezTo>
                    <a:pt x="235" y="66"/>
                    <a:pt x="225" y="64"/>
                    <a:pt x="216" y="61"/>
                  </a:cubicBezTo>
                  <a:cubicBezTo>
                    <a:pt x="216" y="61"/>
                    <a:pt x="216" y="61"/>
                    <a:pt x="216" y="61"/>
                  </a:cubicBezTo>
                  <a:cubicBezTo>
                    <a:pt x="203" y="57"/>
                    <a:pt x="192" y="54"/>
                    <a:pt x="185" y="64"/>
                  </a:cubicBezTo>
                  <a:cubicBezTo>
                    <a:pt x="181" y="70"/>
                    <a:pt x="180" y="77"/>
                    <a:pt x="180" y="85"/>
                  </a:cubicBezTo>
                  <a:cubicBezTo>
                    <a:pt x="180" y="91"/>
                    <a:pt x="180" y="98"/>
                    <a:pt x="178" y="105"/>
                  </a:cubicBezTo>
                  <a:cubicBezTo>
                    <a:pt x="174" y="124"/>
                    <a:pt x="174" y="124"/>
                    <a:pt x="174" y="124"/>
                  </a:cubicBezTo>
                  <a:cubicBezTo>
                    <a:pt x="174" y="148"/>
                    <a:pt x="183" y="173"/>
                    <a:pt x="197" y="192"/>
                  </a:cubicBezTo>
                  <a:close/>
                </a:path>
              </a:pathLst>
            </a:custGeom>
            <a:solidFill>
              <a:srgbClr val="0070C0"/>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Freeform 29"/>
            <p:cNvSpPr>
              <a:spLocks noEditPoints="1"/>
            </p:cNvSpPr>
            <p:nvPr/>
          </p:nvSpPr>
          <p:spPr bwMode="auto">
            <a:xfrm>
              <a:off x="4193165" y="2651859"/>
              <a:ext cx="506744" cy="598693"/>
            </a:xfrm>
            <a:custGeom>
              <a:avLst/>
              <a:gdLst>
                <a:gd name="T0" fmla="*/ 344 w 420"/>
                <a:gd name="T1" fmla="*/ 0 h 496"/>
                <a:gd name="T2" fmla="*/ 332 w 420"/>
                <a:gd name="T3" fmla="*/ 79 h 496"/>
                <a:gd name="T4" fmla="*/ 347 w 420"/>
                <a:gd name="T5" fmla="*/ 92 h 496"/>
                <a:gd name="T6" fmla="*/ 360 w 420"/>
                <a:gd name="T7" fmla="*/ 13 h 496"/>
                <a:gd name="T8" fmla="*/ 193 w 420"/>
                <a:gd name="T9" fmla="*/ 362 h 496"/>
                <a:gd name="T10" fmla="*/ 145 w 420"/>
                <a:gd name="T11" fmla="*/ 410 h 496"/>
                <a:gd name="T12" fmla="*/ 193 w 420"/>
                <a:gd name="T13" fmla="*/ 362 h 496"/>
                <a:gd name="T14" fmla="*/ 229 w 420"/>
                <a:gd name="T15" fmla="*/ 362 h 496"/>
                <a:gd name="T16" fmla="*/ 276 w 420"/>
                <a:gd name="T17" fmla="*/ 410 h 496"/>
                <a:gd name="T18" fmla="*/ 110 w 420"/>
                <a:gd name="T19" fmla="*/ 362 h 496"/>
                <a:gd name="T20" fmla="*/ 62 w 420"/>
                <a:gd name="T21" fmla="*/ 410 h 496"/>
                <a:gd name="T22" fmla="*/ 110 w 420"/>
                <a:gd name="T23" fmla="*/ 362 h 496"/>
                <a:gd name="T24" fmla="*/ 312 w 420"/>
                <a:gd name="T25" fmla="*/ 291 h 496"/>
                <a:gd name="T26" fmla="*/ 360 w 420"/>
                <a:gd name="T27" fmla="*/ 338 h 496"/>
                <a:gd name="T28" fmla="*/ 193 w 420"/>
                <a:gd name="T29" fmla="*/ 291 h 496"/>
                <a:gd name="T30" fmla="*/ 145 w 420"/>
                <a:gd name="T31" fmla="*/ 338 h 496"/>
                <a:gd name="T32" fmla="*/ 193 w 420"/>
                <a:gd name="T33" fmla="*/ 291 h 496"/>
                <a:gd name="T34" fmla="*/ 229 w 420"/>
                <a:gd name="T35" fmla="*/ 291 h 496"/>
                <a:gd name="T36" fmla="*/ 276 w 420"/>
                <a:gd name="T37" fmla="*/ 338 h 496"/>
                <a:gd name="T38" fmla="*/ 110 w 420"/>
                <a:gd name="T39" fmla="*/ 291 h 496"/>
                <a:gd name="T40" fmla="*/ 62 w 420"/>
                <a:gd name="T41" fmla="*/ 338 h 496"/>
                <a:gd name="T42" fmla="*/ 110 w 420"/>
                <a:gd name="T43" fmla="*/ 291 h 496"/>
                <a:gd name="T44" fmla="*/ 312 w 420"/>
                <a:gd name="T45" fmla="*/ 219 h 496"/>
                <a:gd name="T46" fmla="*/ 360 w 420"/>
                <a:gd name="T47" fmla="*/ 267 h 496"/>
                <a:gd name="T48" fmla="*/ 193 w 420"/>
                <a:gd name="T49" fmla="*/ 219 h 496"/>
                <a:gd name="T50" fmla="*/ 145 w 420"/>
                <a:gd name="T51" fmla="*/ 267 h 496"/>
                <a:gd name="T52" fmla="*/ 193 w 420"/>
                <a:gd name="T53" fmla="*/ 219 h 496"/>
                <a:gd name="T54" fmla="*/ 229 w 420"/>
                <a:gd name="T55" fmla="*/ 219 h 496"/>
                <a:gd name="T56" fmla="*/ 276 w 420"/>
                <a:gd name="T57" fmla="*/ 267 h 496"/>
                <a:gd name="T58" fmla="*/ 77 w 420"/>
                <a:gd name="T59" fmla="*/ 0 h 496"/>
                <a:gd name="T60" fmla="*/ 62 w 420"/>
                <a:gd name="T61" fmla="*/ 13 h 496"/>
                <a:gd name="T62" fmla="*/ 75 w 420"/>
                <a:gd name="T63" fmla="*/ 92 h 496"/>
                <a:gd name="T64" fmla="*/ 90 w 420"/>
                <a:gd name="T65" fmla="*/ 79 h 496"/>
                <a:gd name="T66" fmla="*/ 77 w 420"/>
                <a:gd name="T67" fmla="*/ 0 h 496"/>
                <a:gd name="T68" fmla="*/ 392 w 420"/>
                <a:gd name="T69" fmla="*/ 441 h 496"/>
                <a:gd name="T70" fmla="*/ 34 w 420"/>
                <a:gd name="T71" fmla="*/ 446 h 496"/>
                <a:gd name="T72" fmla="*/ 28 w 420"/>
                <a:gd name="T73" fmla="*/ 185 h 496"/>
                <a:gd name="T74" fmla="*/ 386 w 420"/>
                <a:gd name="T75" fmla="*/ 180 h 496"/>
                <a:gd name="T76" fmla="*/ 392 w 420"/>
                <a:gd name="T77" fmla="*/ 460 h 496"/>
                <a:gd name="T78" fmla="*/ 28 w 420"/>
                <a:gd name="T79" fmla="*/ 463 h 496"/>
                <a:gd name="T80" fmla="*/ 392 w 420"/>
                <a:gd name="T81" fmla="*/ 460 h 496"/>
                <a:gd name="T82" fmla="*/ 392 w 420"/>
                <a:gd name="T83" fmla="*/ 481 h 496"/>
                <a:gd name="T84" fmla="*/ 28 w 420"/>
                <a:gd name="T85" fmla="*/ 478 h 496"/>
                <a:gd name="T86" fmla="*/ 386 w 420"/>
                <a:gd name="T87" fmla="*/ 41 h 496"/>
                <a:gd name="T88" fmla="*/ 420 w 420"/>
                <a:gd name="T89" fmla="*/ 463 h 496"/>
                <a:gd name="T90" fmla="*/ 34 w 420"/>
                <a:gd name="T91" fmla="*/ 496 h 496"/>
                <a:gd name="T92" fmla="*/ 0 w 420"/>
                <a:gd name="T93" fmla="*/ 75 h 496"/>
                <a:gd name="T94" fmla="*/ 51 w 420"/>
                <a:gd name="T95" fmla="*/ 41 h 496"/>
                <a:gd name="T96" fmla="*/ 69 w 420"/>
                <a:gd name="T97" fmla="*/ 106 h 496"/>
                <a:gd name="T98" fmla="*/ 101 w 420"/>
                <a:gd name="T99" fmla="*/ 88 h 496"/>
                <a:gd name="T100" fmla="*/ 321 w 420"/>
                <a:gd name="T101" fmla="*/ 41 h 496"/>
                <a:gd name="T102" fmla="*/ 339 w 420"/>
                <a:gd name="T103" fmla="*/ 106 h 496"/>
                <a:gd name="T104" fmla="*/ 370 w 420"/>
                <a:gd name="T105" fmla="*/ 88 h 496"/>
                <a:gd name="T106" fmla="*/ 386 w 420"/>
                <a:gd name="T107" fmla="*/ 41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0" h="496">
                  <a:moveTo>
                    <a:pt x="347" y="0"/>
                  </a:moveTo>
                  <a:cubicBezTo>
                    <a:pt x="346" y="0"/>
                    <a:pt x="345" y="0"/>
                    <a:pt x="344" y="0"/>
                  </a:cubicBezTo>
                  <a:cubicBezTo>
                    <a:pt x="337" y="0"/>
                    <a:pt x="332" y="6"/>
                    <a:pt x="332" y="13"/>
                  </a:cubicBezTo>
                  <a:cubicBezTo>
                    <a:pt x="332" y="79"/>
                    <a:pt x="332" y="79"/>
                    <a:pt x="332" y="79"/>
                  </a:cubicBezTo>
                  <a:cubicBezTo>
                    <a:pt x="332" y="87"/>
                    <a:pt x="337" y="92"/>
                    <a:pt x="344" y="92"/>
                  </a:cubicBezTo>
                  <a:cubicBezTo>
                    <a:pt x="345" y="92"/>
                    <a:pt x="346" y="92"/>
                    <a:pt x="347" y="92"/>
                  </a:cubicBezTo>
                  <a:cubicBezTo>
                    <a:pt x="354" y="92"/>
                    <a:pt x="360" y="87"/>
                    <a:pt x="360" y="79"/>
                  </a:cubicBezTo>
                  <a:cubicBezTo>
                    <a:pt x="360" y="13"/>
                    <a:pt x="360" y="13"/>
                    <a:pt x="360" y="13"/>
                  </a:cubicBezTo>
                  <a:cubicBezTo>
                    <a:pt x="360" y="6"/>
                    <a:pt x="354" y="0"/>
                    <a:pt x="347" y="0"/>
                  </a:cubicBezTo>
                  <a:close/>
                  <a:moveTo>
                    <a:pt x="193" y="362"/>
                  </a:moveTo>
                  <a:cubicBezTo>
                    <a:pt x="177" y="362"/>
                    <a:pt x="161" y="362"/>
                    <a:pt x="145" y="362"/>
                  </a:cubicBezTo>
                  <a:cubicBezTo>
                    <a:pt x="145" y="378"/>
                    <a:pt x="145" y="394"/>
                    <a:pt x="145" y="410"/>
                  </a:cubicBezTo>
                  <a:cubicBezTo>
                    <a:pt x="161" y="410"/>
                    <a:pt x="177" y="410"/>
                    <a:pt x="193" y="410"/>
                  </a:cubicBezTo>
                  <a:cubicBezTo>
                    <a:pt x="193" y="394"/>
                    <a:pt x="193" y="378"/>
                    <a:pt x="193" y="362"/>
                  </a:cubicBezTo>
                  <a:close/>
                  <a:moveTo>
                    <a:pt x="276" y="362"/>
                  </a:moveTo>
                  <a:cubicBezTo>
                    <a:pt x="260" y="362"/>
                    <a:pt x="245" y="362"/>
                    <a:pt x="229" y="362"/>
                  </a:cubicBezTo>
                  <a:cubicBezTo>
                    <a:pt x="229" y="378"/>
                    <a:pt x="229" y="394"/>
                    <a:pt x="229" y="410"/>
                  </a:cubicBezTo>
                  <a:cubicBezTo>
                    <a:pt x="245" y="410"/>
                    <a:pt x="260" y="410"/>
                    <a:pt x="276" y="410"/>
                  </a:cubicBezTo>
                  <a:cubicBezTo>
                    <a:pt x="276" y="394"/>
                    <a:pt x="276" y="378"/>
                    <a:pt x="276" y="362"/>
                  </a:cubicBezTo>
                  <a:close/>
                  <a:moveTo>
                    <a:pt x="110" y="362"/>
                  </a:moveTo>
                  <a:cubicBezTo>
                    <a:pt x="62" y="362"/>
                    <a:pt x="62" y="362"/>
                    <a:pt x="62" y="362"/>
                  </a:cubicBezTo>
                  <a:cubicBezTo>
                    <a:pt x="62" y="410"/>
                    <a:pt x="62" y="410"/>
                    <a:pt x="62" y="410"/>
                  </a:cubicBezTo>
                  <a:cubicBezTo>
                    <a:pt x="110" y="410"/>
                    <a:pt x="110" y="410"/>
                    <a:pt x="110" y="410"/>
                  </a:cubicBezTo>
                  <a:cubicBezTo>
                    <a:pt x="110" y="362"/>
                    <a:pt x="110" y="362"/>
                    <a:pt x="110" y="362"/>
                  </a:cubicBezTo>
                  <a:close/>
                  <a:moveTo>
                    <a:pt x="360" y="291"/>
                  </a:moveTo>
                  <a:cubicBezTo>
                    <a:pt x="312" y="291"/>
                    <a:pt x="312" y="291"/>
                    <a:pt x="312" y="291"/>
                  </a:cubicBezTo>
                  <a:cubicBezTo>
                    <a:pt x="312" y="338"/>
                    <a:pt x="312" y="338"/>
                    <a:pt x="312" y="338"/>
                  </a:cubicBezTo>
                  <a:cubicBezTo>
                    <a:pt x="360" y="338"/>
                    <a:pt x="360" y="338"/>
                    <a:pt x="360" y="338"/>
                  </a:cubicBezTo>
                  <a:cubicBezTo>
                    <a:pt x="360" y="291"/>
                    <a:pt x="360" y="291"/>
                    <a:pt x="360" y="291"/>
                  </a:cubicBezTo>
                  <a:close/>
                  <a:moveTo>
                    <a:pt x="193" y="291"/>
                  </a:moveTo>
                  <a:cubicBezTo>
                    <a:pt x="177" y="291"/>
                    <a:pt x="161" y="291"/>
                    <a:pt x="145" y="291"/>
                  </a:cubicBezTo>
                  <a:cubicBezTo>
                    <a:pt x="145" y="306"/>
                    <a:pt x="145" y="322"/>
                    <a:pt x="145" y="338"/>
                  </a:cubicBezTo>
                  <a:cubicBezTo>
                    <a:pt x="161" y="338"/>
                    <a:pt x="177" y="338"/>
                    <a:pt x="193" y="338"/>
                  </a:cubicBezTo>
                  <a:cubicBezTo>
                    <a:pt x="193" y="322"/>
                    <a:pt x="193" y="306"/>
                    <a:pt x="193" y="291"/>
                  </a:cubicBezTo>
                  <a:close/>
                  <a:moveTo>
                    <a:pt x="276" y="291"/>
                  </a:moveTo>
                  <a:cubicBezTo>
                    <a:pt x="260" y="291"/>
                    <a:pt x="245" y="291"/>
                    <a:pt x="229" y="291"/>
                  </a:cubicBezTo>
                  <a:cubicBezTo>
                    <a:pt x="229" y="306"/>
                    <a:pt x="229" y="322"/>
                    <a:pt x="229" y="338"/>
                  </a:cubicBezTo>
                  <a:cubicBezTo>
                    <a:pt x="245" y="338"/>
                    <a:pt x="260" y="338"/>
                    <a:pt x="276" y="338"/>
                  </a:cubicBezTo>
                  <a:cubicBezTo>
                    <a:pt x="276" y="322"/>
                    <a:pt x="276" y="306"/>
                    <a:pt x="276" y="291"/>
                  </a:cubicBezTo>
                  <a:close/>
                  <a:moveTo>
                    <a:pt x="110" y="291"/>
                  </a:moveTo>
                  <a:cubicBezTo>
                    <a:pt x="62" y="291"/>
                    <a:pt x="62" y="291"/>
                    <a:pt x="62" y="291"/>
                  </a:cubicBezTo>
                  <a:cubicBezTo>
                    <a:pt x="62" y="338"/>
                    <a:pt x="62" y="338"/>
                    <a:pt x="62" y="338"/>
                  </a:cubicBezTo>
                  <a:cubicBezTo>
                    <a:pt x="110" y="338"/>
                    <a:pt x="110" y="338"/>
                    <a:pt x="110" y="338"/>
                  </a:cubicBezTo>
                  <a:cubicBezTo>
                    <a:pt x="110" y="291"/>
                    <a:pt x="110" y="291"/>
                    <a:pt x="110" y="291"/>
                  </a:cubicBezTo>
                  <a:close/>
                  <a:moveTo>
                    <a:pt x="360" y="219"/>
                  </a:moveTo>
                  <a:cubicBezTo>
                    <a:pt x="312" y="219"/>
                    <a:pt x="312" y="219"/>
                    <a:pt x="312" y="219"/>
                  </a:cubicBezTo>
                  <a:cubicBezTo>
                    <a:pt x="312" y="267"/>
                    <a:pt x="312" y="267"/>
                    <a:pt x="312" y="267"/>
                  </a:cubicBezTo>
                  <a:cubicBezTo>
                    <a:pt x="360" y="267"/>
                    <a:pt x="360" y="267"/>
                    <a:pt x="360" y="267"/>
                  </a:cubicBezTo>
                  <a:cubicBezTo>
                    <a:pt x="360" y="219"/>
                    <a:pt x="360" y="219"/>
                    <a:pt x="360" y="219"/>
                  </a:cubicBezTo>
                  <a:close/>
                  <a:moveTo>
                    <a:pt x="193" y="219"/>
                  </a:moveTo>
                  <a:cubicBezTo>
                    <a:pt x="177" y="219"/>
                    <a:pt x="161" y="219"/>
                    <a:pt x="145" y="219"/>
                  </a:cubicBezTo>
                  <a:cubicBezTo>
                    <a:pt x="145" y="235"/>
                    <a:pt x="145" y="251"/>
                    <a:pt x="145" y="267"/>
                  </a:cubicBezTo>
                  <a:cubicBezTo>
                    <a:pt x="161" y="267"/>
                    <a:pt x="177" y="267"/>
                    <a:pt x="193" y="267"/>
                  </a:cubicBezTo>
                  <a:cubicBezTo>
                    <a:pt x="193" y="251"/>
                    <a:pt x="193" y="235"/>
                    <a:pt x="193" y="219"/>
                  </a:cubicBezTo>
                  <a:close/>
                  <a:moveTo>
                    <a:pt x="276" y="219"/>
                  </a:moveTo>
                  <a:cubicBezTo>
                    <a:pt x="260" y="219"/>
                    <a:pt x="245" y="219"/>
                    <a:pt x="229" y="219"/>
                  </a:cubicBezTo>
                  <a:cubicBezTo>
                    <a:pt x="229" y="235"/>
                    <a:pt x="229" y="251"/>
                    <a:pt x="229" y="267"/>
                  </a:cubicBezTo>
                  <a:cubicBezTo>
                    <a:pt x="245" y="267"/>
                    <a:pt x="260" y="267"/>
                    <a:pt x="276" y="267"/>
                  </a:cubicBezTo>
                  <a:cubicBezTo>
                    <a:pt x="276" y="251"/>
                    <a:pt x="276" y="235"/>
                    <a:pt x="276" y="219"/>
                  </a:cubicBezTo>
                  <a:close/>
                  <a:moveTo>
                    <a:pt x="77" y="0"/>
                  </a:moveTo>
                  <a:cubicBezTo>
                    <a:pt x="76" y="0"/>
                    <a:pt x="76" y="0"/>
                    <a:pt x="75" y="0"/>
                  </a:cubicBezTo>
                  <a:cubicBezTo>
                    <a:pt x="68" y="0"/>
                    <a:pt x="62" y="6"/>
                    <a:pt x="62" y="13"/>
                  </a:cubicBezTo>
                  <a:cubicBezTo>
                    <a:pt x="62" y="79"/>
                    <a:pt x="62" y="79"/>
                    <a:pt x="62" y="79"/>
                  </a:cubicBezTo>
                  <a:cubicBezTo>
                    <a:pt x="62" y="87"/>
                    <a:pt x="68" y="92"/>
                    <a:pt x="75" y="92"/>
                  </a:cubicBezTo>
                  <a:cubicBezTo>
                    <a:pt x="76" y="92"/>
                    <a:pt x="76" y="92"/>
                    <a:pt x="77" y="92"/>
                  </a:cubicBezTo>
                  <a:cubicBezTo>
                    <a:pt x="84" y="92"/>
                    <a:pt x="90" y="87"/>
                    <a:pt x="90" y="79"/>
                  </a:cubicBezTo>
                  <a:cubicBezTo>
                    <a:pt x="90" y="13"/>
                    <a:pt x="90" y="13"/>
                    <a:pt x="90" y="13"/>
                  </a:cubicBezTo>
                  <a:cubicBezTo>
                    <a:pt x="90" y="6"/>
                    <a:pt x="84" y="0"/>
                    <a:pt x="77" y="0"/>
                  </a:cubicBezTo>
                  <a:close/>
                  <a:moveTo>
                    <a:pt x="392" y="185"/>
                  </a:moveTo>
                  <a:cubicBezTo>
                    <a:pt x="392" y="441"/>
                    <a:pt x="392" y="441"/>
                    <a:pt x="392" y="441"/>
                  </a:cubicBezTo>
                  <a:cubicBezTo>
                    <a:pt x="392" y="443"/>
                    <a:pt x="389" y="446"/>
                    <a:pt x="386" y="446"/>
                  </a:cubicBezTo>
                  <a:cubicBezTo>
                    <a:pt x="34" y="446"/>
                    <a:pt x="34" y="446"/>
                    <a:pt x="34" y="446"/>
                  </a:cubicBezTo>
                  <a:cubicBezTo>
                    <a:pt x="31" y="446"/>
                    <a:pt x="28" y="443"/>
                    <a:pt x="28" y="441"/>
                  </a:cubicBezTo>
                  <a:cubicBezTo>
                    <a:pt x="28" y="185"/>
                    <a:pt x="28" y="185"/>
                    <a:pt x="28" y="185"/>
                  </a:cubicBezTo>
                  <a:cubicBezTo>
                    <a:pt x="28" y="182"/>
                    <a:pt x="31" y="180"/>
                    <a:pt x="34" y="180"/>
                  </a:cubicBezTo>
                  <a:cubicBezTo>
                    <a:pt x="386" y="180"/>
                    <a:pt x="386" y="180"/>
                    <a:pt x="386" y="180"/>
                  </a:cubicBezTo>
                  <a:cubicBezTo>
                    <a:pt x="389" y="180"/>
                    <a:pt x="392" y="182"/>
                    <a:pt x="392" y="185"/>
                  </a:cubicBezTo>
                  <a:close/>
                  <a:moveTo>
                    <a:pt x="392" y="460"/>
                  </a:moveTo>
                  <a:cubicBezTo>
                    <a:pt x="392" y="463"/>
                    <a:pt x="392" y="463"/>
                    <a:pt x="392" y="463"/>
                  </a:cubicBezTo>
                  <a:cubicBezTo>
                    <a:pt x="28" y="463"/>
                    <a:pt x="28" y="463"/>
                    <a:pt x="28" y="463"/>
                  </a:cubicBezTo>
                  <a:cubicBezTo>
                    <a:pt x="28" y="460"/>
                    <a:pt x="28" y="460"/>
                    <a:pt x="28" y="460"/>
                  </a:cubicBezTo>
                  <a:cubicBezTo>
                    <a:pt x="392" y="460"/>
                    <a:pt x="392" y="460"/>
                    <a:pt x="392" y="460"/>
                  </a:cubicBezTo>
                  <a:close/>
                  <a:moveTo>
                    <a:pt x="392" y="478"/>
                  </a:moveTo>
                  <a:cubicBezTo>
                    <a:pt x="392" y="481"/>
                    <a:pt x="392" y="481"/>
                    <a:pt x="392" y="481"/>
                  </a:cubicBezTo>
                  <a:cubicBezTo>
                    <a:pt x="28" y="481"/>
                    <a:pt x="28" y="481"/>
                    <a:pt x="28" y="481"/>
                  </a:cubicBezTo>
                  <a:cubicBezTo>
                    <a:pt x="28" y="478"/>
                    <a:pt x="28" y="478"/>
                    <a:pt x="28" y="478"/>
                  </a:cubicBezTo>
                  <a:cubicBezTo>
                    <a:pt x="392" y="478"/>
                    <a:pt x="392" y="478"/>
                    <a:pt x="392" y="478"/>
                  </a:cubicBezTo>
                  <a:close/>
                  <a:moveTo>
                    <a:pt x="386" y="41"/>
                  </a:moveTo>
                  <a:cubicBezTo>
                    <a:pt x="405" y="41"/>
                    <a:pt x="420" y="56"/>
                    <a:pt x="420" y="75"/>
                  </a:cubicBezTo>
                  <a:cubicBezTo>
                    <a:pt x="420" y="463"/>
                    <a:pt x="420" y="463"/>
                    <a:pt x="420" y="463"/>
                  </a:cubicBezTo>
                  <a:cubicBezTo>
                    <a:pt x="420" y="481"/>
                    <a:pt x="405" y="496"/>
                    <a:pt x="386" y="496"/>
                  </a:cubicBezTo>
                  <a:cubicBezTo>
                    <a:pt x="269" y="496"/>
                    <a:pt x="151" y="496"/>
                    <a:pt x="34" y="496"/>
                  </a:cubicBezTo>
                  <a:cubicBezTo>
                    <a:pt x="15" y="496"/>
                    <a:pt x="0" y="481"/>
                    <a:pt x="0" y="463"/>
                  </a:cubicBezTo>
                  <a:cubicBezTo>
                    <a:pt x="0" y="75"/>
                    <a:pt x="0" y="75"/>
                    <a:pt x="0" y="75"/>
                  </a:cubicBezTo>
                  <a:cubicBezTo>
                    <a:pt x="0" y="56"/>
                    <a:pt x="15" y="41"/>
                    <a:pt x="34" y="41"/>
                  </a:cubicBezTo>
                  <a:cubicBezTo>
                    <a:pt x="51" y="41"/>
                    <a:pt x="51" y="41"/>
                    <a:pt x="51" y="41"/>
                  </a:cubicBezTo>
                  <a:cubicBezTo>
                    <a:pt x="51" y="57"/>
                    <a:pt x="51" y="72"/>
                    <a:pt x="51" y="88"/>
                  </a:cubicBezTo>
                  <a:cubicBezTo>
                    <a:pt x="51" y="98"/>
                    <a:pt x="59" y="106"/>
                    <a:pt x="69" y="106"/>
                  </a:cubicBezTo>
                  <a:cubicBezTo>
                    <a:pt x="74" y="106"/>
                    <a:pt x="78" y="106"/>
                    <a:pt x="83" y="106"/>
                  </a:cubicBezTo>
                  <a:cubicBezTo>
                    <a:pt x="93" y="106"/>
                    <a:pt x="101" y="98"/>
                    <a:pt x="101" y="88"/>
                  </a:cubicBezTo>
                  <a:cubicBezTo>
                    <a:pt x="101" y="72"/>
                    <a:pt x="101" y="57"/>
                    <a:pt x="101" y="41"/>
                  </a:cubicBezTo>
                  <a:cubicBezTo>
                    <a:pt x="321" y="41"/>
                    <a:pt x="321" y="41"/>
                    <a:pt x="321" y="41"/>
                  </a:cubicBezTo>
                  <a:cubicBezTo>
                    <a:pt x="321" y="57"/>
                    <a:pt x="321" y="72"/>
                    <a:pt x="321" y="88"/>
                  </a:cubicBezTo>
                  <a:cubicBezTo>
                    <a:pt x="321" y="98"/>
                    <a:pt x="329" y="106"/>
                    <a:pt x="339" y="106"/>
                  </a:cubicBezTo>
                  <a:cubicBezTo>
                    <a:pt x="343" y="106"/>
                    <a:pt x="348" y="106"/>
                    <a:pt x="352" y="106"/>
                  </a:cubicBezTo>
                  <a:cubicBezTo>
                    <a:pt x="362" y="106"/>
                    <a:pt x="370" y="98"/>
                    <a:pt x="370" y="88"/>
                  </a:cubicBezTo>
                  <a:cubicBezTo>
                    <a:pt x="370" y="72"/>
                    <a:pt x="370" y="57"/>
                    <a:pt x="370" y="41"/>
                  </a:cubicBezTo>
                  <a:lnTo>
                    <a:pt x="386" y="41"/>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Freeform 30"/>
            <p:cNvSpPr>
              <a:spLocks noEditPoints="1"/>
            </p:cNvSpPr>
            <p:nvPr/>
          </p:nvSpPr>
          <p:spPr bwMode="auto">
            <a:xfrm>
              <a:off x="7516809" y="2606482"/>
              <a:ext cx="551558" cy="689448"/>
            </a:xfrm>
            <a:custGeom>
              <a:avLst/>
              <a:gdLst>
                <a:gd name="T0" fmla="*/ 100 w 408"/>
                <a:gd name="T1" fmla="*/ 18 h 510"/>
                <a:gd name="T2" fmla="*/ 290 w 408"/>
                <a:gd name="T3" fmla="*/ 368 h 510"/>
                <a:gd name="T4" fmla="*/ 345 w 408"/>
                <a:gd name="T5" fmla="*/ 332 h 510"/>
                <a:gd name="T6" fmla="*/ 259 w 408"/>
                <a:gd name="T7" fmla="*/ 464 h 510"/>
                <a:gd name="T8" fmla="*/ 267 w 408"/>
                <a:gd name="T9" fmla="*/ 397 h 510"/>
                <a:gd name="T10" fmla="*/ 241 w 408"/>
                <a:gd name="T11" fmla="*/ 345 h 510"/>
                <a:gd name="T12" fmla="*/ 216 w 408"/>
                <a:gd name="T13" fmla="*/ 319 h 510"/>
                <a:gd name="T14" fmla="*/ 320 w 408"/>
                <a:gd name="T15" fmla="*/ 474 h 510"/>
                <a:gd name="T16" fmla="*/ 159 w 408"/>
                <a:gd name="T17" fmla="*/ 386 h 510"/>
                <a:gd name="T18" fmla="*/ 196 w 408"/>
                <a:gd name="T19" fmla="*/ 298 h 510"/>
                <a:gd name="T20" fmla="*/ 229 w 408"/>
                <a:gd name="T21" fmla="*/ 381 h 510"/>
                <a:gd name="T22" fmla="*/ 338 w 408"/>
                <a:gd name="T23" fmla="*/ 391 h 510"/>
                <a:gd name="T24" fmla="*/ 278 w 408"/>
                <a:gd name="T25" fmla="*/ 440 h 510"/>
                <a:gd name="T26" fmla="*/ 289 w 408"/>
                <a:gd name="T27" fmla="*/ 332 h 510"/>
                <a:gd name="T28" fmla="*/ 126 w 408"/>
                <a:gd name="T29" fmla="*/ 86 h 510"/>
                <a:gd name="T30" fmla="*/ 138 w 408"/>
                <a:gd name="T31" fmla="*/ 19 h 510"/>
                <a:gd name="T32" fmla="*/ 217 w 408"/>
                <a:gd name="T33" fmla="*/ 61 h 510"/>
                <a:gd name="T34" fmla="*/ 127 w 408"/>
                <a:gd name="T35" fmla="*/ 22 h 510"/>
                <a:gd name="T36" fmla="*/ 244 w 408"/>
                <a:gd name="T37" fmla="*/ 59 h 510"/>
                <a:gd name="T38" fmla="*/ 134 w 408"/>
                <a:gd name="T39" fmla="*/ 343 h 510"/>
                <a:gd name="T40" fmla="*/ 87 w 408"/>
                <a:gd name="T41" fmla="*/ 290 h 510"/>
                <a:gd name="T42" fmla="*/ 86 w 408"/>
                <a:gd name="T43" fmla="*/ 290 h 510"/>
                <a:gd name="T44" fmla="*/ 85 w 408"/>
                <a:gd name="T45" fmla="*/ 290 h 510"/>
                <a:gd name="T46" fmla="*/ 84 w 408"/>
                <a:gd name="T47" fmla="*/ 289 h 510"/>
                <a:gd name="T48" fmla="*/ 83 w 408"/>
                <a:gd name="T49" fmla="*/ 289 h 510"/>
                <a:gd name="T50" fmla="*/ 83 w 408"/>
                <a:gd name="T51" fmla="*/ 289 h 510"/>
                <a:gd name="T52" fmla="*/ 82 w 408"/>
                <a:gd name="T53" fmla="*/ 289 h 510"/>
                <a:gd name="T54" fmla="*/ 81 w 408"/>
                <a:gd name="T55" fmla="*/ 288 h 510"/>
                <a:gd name="T56" fmla="*/ 81 w 408"/>
                <a:gd name="T57" fmla="*/ 288 h 510"/>
                <a:gd name="T58" fmla="*/ 80 w 408"/>
                <a:gd name="T59" fmla="*/ 287 h 510"/>
                <a:gd name="T60" fmla="*/ 80 w 408"/>
                <a:gd name="T61" fmla="*/ 287 h 510"/>
                <a:gd name="T62" fmla="*/ 79 w 408"/>
                <a:gd name="T63" fmla="*/ 286 h 510"/>
                <a:gd name="T64" fmla="*/ 79 w 408"/>
                <a:gd name="T65" fmla="*/ 285 h 510"/>
                <a:gd name="T66" fmla="*/ 78 w 408"/>
                <a:gd name="T67" fmla="*/ 284 h 510"/>
                <a:gd name="T68" fmla="*/ 78 w 408"/>
                <a:gd name="T69" fmla="*/ 284 h 510"/>
                <a:gd name="T70" fmla="*/ 78 w 408"/>
                <a:gd name="T71" fmla="*/ 283 h 510"/>
                <a:gd name="T72" fmla="*/ 78 w 408"/>
                <a:gd name="T73" fmla="*/ 282 h 510"/>
                <a:gd name="T74" fmla="*/ 77 w 408"/>
                <a:gd name="T75" fmla="*/ 281 h 510"/>
                <a:gd name="T76" fmla="*/ 77 w 408"/>
                <a:gd name="T77" fmla="*/ 281 h 510"/>
                <a:gd name="T78" fmla="*/ 77 w 408"/>
                <a:gd name="T79" fmla="*/ 280 h 510"/>
                <a:gd name="T80" fmla="*/ 77 w 408"/>
                <a:gd name="T81" fmla="*/ 279 h 510"/>
                <a:gd name="T82" fmla="*/ 78 w 408"/>
                <a:gd name="T83" fmla="*/ 278 h 510"/>
                <a:gd name="T84" fmla="*/ 78 w 408"/>
                <a:gd name="T85" fmla="*/ 278 h 510"/>
                <a:gd name="T86" fmla="*/ 78 w 408"/>
                <a:gd name="T87" fmla="*/ 277 h 510"/>
                <a:gd name="T88" fmla="*/ 79 w 408"/>
                <a:gd name="T89" fmla="*/ 276 h 510"/>
                <a:gd name="T90" fmla="*/ 79 w 408"/>
                <a:gd name="T91" fmla="*/ 275 h 510"/>
                <a:gd name="T92" fmla="*/ 80 w 408"/>
                <a:gd name="T93" fmla="*/ 274 h 510"/>
                <a:gd name="T94" fmla="*/ 80 w 408"/>
                <a:gd name="T95" fmla="*/ 274 h 510"/>
                <a:gd name="T96" fmla="*/ 81 w 408"/>
                <a:gd name="T97" fmla="*/ 273 h 510"/>
                <a:gd name="T98" fmla="*/ 82 w 408"/>
                <a:gd name="T99" fmla="*/ 272 h 510"/>
                <a:gd name="T100" fmla="*/ 83 w 408"/>
                <a:gd name="T101" fmla="*/ 272 h 510"/>
                <a:gd name="T102" fmla="*/ 84 w 408"/>
                <a:gd name="T103" fmla="*/ 272 h 510"/>
                <a:gd name="T104" fmla="*/ 86 w 408"/>
                <a:gd name="T105" fmla="*/ 271 h 510"/>
                <a:gd name="T106" fmla="*/ 77 w 408"/>
                <a:gd name="T107" fmla="*/ 280 h 510"/>
                <a:gd name="T108" fmla="*/ 87 w 408"/>
                <a:gd name="T109" fmla="*/ 237 h 510"/>
                <a:gd name="T110" fmla="*/ 267 w 408"/>
                <a:gd name="T111" fmla="*/ 175 h 510"/>
                <a:gd name="T112" fmla="*/ 258 w 408"/>
                <a:gd name="T113" fmla="*/ 115 h 510"/>
                <a:gd name="T114" fmla="*/ 87 w 408"/>
                <a:gd name="T115" fmla="*/ 115 h 510"/>
                <a:gd name="T116" fmla="*/ 212 w 408"/>
                <a:gd name="T117" fmla="*/ 28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8" h="510">
                  <a:moveTo>
                    <a:pt x="23" y="460"/>
                  </a:moveTo>
                  <a:cubicBezTo>
                    <a:pt x="147" y="460"/>
                    <a:pt x="147" y="460"/>
                    <a:pt x="147" y="460"/>
                  </a:cubicBezTo>
                  <a:cubicBezTo>
                    <a:pt x="140" y="447"/>
                    <a:pt x="135" y="434"/>
                    <a:pt x="132" y="419"/>
                  </a:cubicBezTo>
                  <a:cubicBezTo>
                    <a:pt x="43" y="419"/>
                    <a:pt x="43" y="419"/>
                    <a:pt x="43" y="419"/>
                  </a:cubicBezTo>
                  <a:cubicBezTo>
                    <a:pt x="43" y="59"/>
                    <a:pt x="43" y="59"/>
                    <a:pt x="43" y="59"/>
                  </a:cubicBezTo>
                  <a:cubicBezTo>
                    <a:pt x="100" y="59"/>
                    <a:pt x="100" y="59"/>
                    <a:pt x="100" y="59"/>
                  </a:cubicBezTo>
                  <a:cubicBezTo>
                    <a:pt x="100" y="18"/>
                    <a:pt x="100" y="18"/>
                    <a:pt x="100" y="18"/>
                  </a:cubicBezTo>
                  <a:cubicBezTo>
                    <a:pt x="23" y="18"/>
                    <a:pt x="23" y="18"/>
                    <a:pt x="23" y="18"/>
                  </a:cubicBezTo>
                  <a:cubicBezTo>
                    <a:pt x="11" y="18"/>
                    <a:pt x="0" y="28"/>
                    <a:pt x="0" y="41"/>
                  </a:cubicBezTo>
                  <a:cubicBezTo>
                    <a:pt x="0" y="437"/>
                    <a:pt x="0" y="437"/>
                    <a:pt x="0" y="437"/>
                  </a:cubicBezTo>
                  <a:cubicBezTo>
                    <a:pt x="0" y="450"/>
                    <a:pt x="11" y="460"/>
                    <a:pt x="23" y="460"/>
                  </a:cubicBezTo>
                  <a:close/>
                  <a:moveTo>
                    <a:pt x="286" y="370"/>
                  </a:moveTo>
                  <a:cubicBezTo>
                    <a:pt x="286" y="370"/>
                    <a:pt x="287" y="369"/>
                    <a:pt x="287" y="369"/>
                  </a:cubicBezTo>
                  <a:cubicBezTo>
                    <a:pt x="288" y="368"/>
                    <a:pt x="289" y="368"/>
                    <a:pt x="290" y="368"/>
                  </a:cubicBezTo>
                  <a:cubicBezTo>
                    <a:pt x="291" y="369"/>
                    <a:pt x="291" y="369"/>
                    <a:pt x="291" y="370"/>
                  </a:cubicBezTo>
                  <a:cubicBezTo>
                    <a:pt x="292" y="370"/>
                    <a:pt x="292" y="370"/>
                    <a:pt x="292" y="370"/>
                  </a:cubicBezTo>
                  <a:cubicBezTo>
                    <a:pt x="337" y="325"/>
                    <a:pt x="337" y="325"/>
                    <a:pt x="337" y="325"/>
                  </a:cubicBezTo>
                  <a:cubicBezTo>
                    <a:pt x="338" y="324"/>
                    <a:pt x="340" y="323"/>
                    <a:pt x="341" y="323"/>
                  </a:cubicBezTo>
                  <a:cubicBezTo>
                    <a:pt x="342" y="323"/>
                    <a:pt x="344" y="324"/>
                    <a:pt x="345" y="325"/>
                  </a:cubicBezTo>
                  <a:cubicBezTo>
                    <a:pt x="346" y="326"/>
                    <a:pt x="346" y="327"/>
                    <a:pt x="346" y="329"/>
                  </a:cubicBezTo>
                  <a:cubicBezTo>
                    <a:pt x="346" y="330"/>
                    <a:pt x="346" y="331"/>
                    <a:pt x="345" y="332"/>
                  </a:cubicBezTo>
                  <a:cubicBezTo>
                    <a:pt x="293" y="384"/>
                    <a:pt x="293" y="384"/>
                    <a:pt x="293" y="384"/>
                  </a:cubicBezTo>
                  <a:cubicBezTo>
                    <a:pt x="300" y="389"/>
                    <a:pt x="300" y="389"/>
                    <a:pt x="300" y="389"/>
                  </a:cubicBezTo>
                  <a:cubicBezTo>
                    <a:pt x="302" y="391"/>
                    <a:pt x="303" y="392"/>
                    <a:pt x="303" y="394"/>
                  </a:cubicBezTo>
                  <a:cubicBezTo>
                    <a:pt x="304" y="398"/>
                    <a:pt x="301" y="402"/>
                    <a:pt x="297" y="403"/>
                  </a:cubicBezTo>
                  <a:cubicBezTo>
                    <a:pt x="295" y="403"/>
                    <a:pt x="293" y="403"/>
                    <a:pt x="291" y="401"/>
                  </a:cubicBezTo>
                  <a:cubicBezTo>
                    <a:pt x="283" y="396"/>
                    <a:pt x="283" y="396"/>
                    <a:pt x="283" y="396"/>
                  </a:cubicBezTo>
                  <a:cubicBezTo>
                    <a:pt x="259" y="464"/>
                    <a:pt x="259" y="464"/>
                    <a:pt x="259" y="464"/>
                  </a:cubicBezTo>
                  <a:cubicBezTo>
                    <a:pt x="259" y="465"/>
                    <a:pt x="258" y="465"/>
                    <a:pt x="258" y="466"/>
                  </a:cubicBezTo>
                  <a:cubicBezTo>
                    <a:pt x="256" y="466"/>
                    <a:pt x="254" y="466"/>
                    <a:pt x="253" y="464"/>
                  </a:cubicBezTo>
                  <a:cubicBezTo>
                    <a:pt x="253" y="463"/>
                    <a:pt x="253" y="463"/>
                    <a:pt x="253" y="462"/>
                  </a:cubicBezTo>
                  <a:cubicBezTo>
                    <a:pt x="274" y="402"/>
                    <a:pt x="274" y="402"/>
                    <a:pt x="274" y="402"/>
                  </a:cubicBezTo>
                  <a:cubicBezTo>
                    <a:pt x="274" y="402"/>
                    <a:pt x="273" y="403"/>
                    <a:pt x="272" y="403"/>
                  </a:cubicBezTo>
                  <a:cubicBezTo>
                    <a:pt x="271" y="403"/>
                    <a:pt x="270" y="402"/>
                    <a:pt x="269" y="401"/>
                  </a:cubicBezTo>
                  <a:cubicBezTo>
                    <a:pt x="268" y="400"/>
                    <a:pt x="267" y="399"/>
                    <a:pt x="267" y="397"/>
                  </a:cubicBezTo>
                  <a:cubicBezTo>
                    <a:pt x="267" y="396"/>
                    <a:pt x="268" y="394"/>
                    <a:pt x="269" y="393"/>
                  </a:cubicBezTo>
                  <a:cubicBezTo>
                    <a:pt x="274" y="388"/>
                    <a:pt x="274" y="388"/>
                    <a:pt x="274" y="388"/>
                  </a:cubicBezTo>
                  <a:cubicBezTo>
                    <a:pt x="232" y="357"/>
                    <a:pt x="232" y="357"/>
                    <a:pt x="232" y="357"/>
                  </a:cubicBezTo>
                  <a:cubicBezTo>
                    <a:pt x="231" y="356"/>
                    <a:pt x="230" y="354"/>
                    <a:pt x="229" y="352"/>
                  </a:cubicBezTo>
                  <a:cubicBezTo>
                    <a:pt x="229" y="350"/>
                    <a:pt x="230" y="348"/>
                    <a:pt x="231" y="347"/>
                  </a:cubicBezTo>
                  <a:cubicBezTo>
                    <a:pt x="232" y="345"/>
                    <a:pt x="234" y="344"/>
                    <a:pt x="236" y="344"/>
                  </a:cubicBezTo>
                  <a:cubicBezTo>
                    <a:pt x="238" y="344"/>
                    <a:pt x="240" y="344"/>
                    <a:pt x="241" y="345"/>
                  </a:cubicBezTo>
                  <a:cubicBezTo>
                    <a:pt x="283" y="377"/>
                    <a:pt x="283" y="377"/>
                    <a:pt x="283" y="377"/>
                  </a:cubicBezTo>
                  <a:cubicBezTo>
                    <a:pt x="286" y="370"/>
                    <a:pt x="286" y="370"/>
                    <a:pt x="286" y="370"/>
                  </a:cubicBezTo>
                  <a:close/>
                  <a:moveTo>
                    <a:pt x="350" y="319"/>
                  </a:moveTo>
                  <a:cubicBezTo>
                    <a:pt x="342" y="310"/>
                    <a:pt x="331" y="303"/>
                    <a:pt x="320" y="299"/>
                  </a:cubicBezTo>
                  <a:cubicBezTo>
                    <a:pt x="309" y="294"/>
                    <a:pt x="296" y="291"/>
                    <a:pt x="283" y="291"/>
                  </a:cubicBezTo>
                  <a:cubicBezTo>
                    <a:pt x="271" y="291"/>
                    <a:pt x="258" y="294"/>
                    <a:pt x="247" y="299"/>
                  </a:cubicBezTo>
                  <a:cubicBezTo>
                    <a:pt x="236" y="303"/>
                    <a:pt x="225" y="310"/>
                    <a:pt x="216" y="319"/>
                  </a:cubicBezTo>
                  <a:cubicBezTo>
                    <a:pt x="208" y="328"/>
                    <a:pt x="201" y="338"/>
                    <a:pt x="196" y="350"/>
                  </a:cubicBezTo>
                  <a:cubicBezTo>
                    <a:pt x="191" y="361"/>
                    <a:pt x="189" y="373"/>
                    <a:pt x="189" y="386"/>
                  </a:cubicBezTo>
                  <a:cubicBezTo>
                    <a:pt x="189" y="399"/>
                    <a:pt x="191" y="411"/>
                    <a:pt x="196" y="422"/>
                  </a:cubicBezTo>
                  <a:cubicBezTo>
                    <a:pt x="201" y="434"/>
                    <a:pt x="208" y="444"/>
                    <a:pt x="216" y="453"/>
                  </a:cubicBezTo>
                  <a:cubicBezTo>
                    <a:pt x="225" y="462"/>
                    <a:pt x="236" y="469"/>
                    <a:pt x="247" y="474"/>
                  </a:cubicBezTo>
                  <a:cubicBezTo>
                    <a:pt x="258" y="478"/>
                    <a:pt x="271" y="481"/>
                    <a:pt x="283" y="481"/>
                  </a:cubicBezTo>
                  <a:cubicBezTo>
                    <a:pt x="296" y="481"/>
                    <a:pt x="309" y="478"/>
                    <a:pt x="320" y="474"/>
                  </a:cubicBezTo>
                  <a:cubicBezTo>
                    <a:pt x="331" y="469"/>
                    <a:pt x="342" y="462"/>
                    <a:pt x="350" y="453"/>
                  </a:cubicBezTo>
                  <a:cubicBezTo>
                    <a:pt x="359" y="444"/>
                    <a:pt x="366" y="434"/>
                    <a:pt x="371" y="422"/>
                  </a:cubicBezTo>
                  <a:cubicBezTo>
                    <a:pt x="376" y="411"/>
                    <a:pt x="378" y="399"/>
                    <a:pt x="378" y="386"/>
                  </a:cubicBezTo>
                  <a:cubicBezTo>
                    <a:pt x="378" y="373"/>
                    <a:pt x="376" y="361"/>
                    <a:pt x="371" y="350"/>
                  </a:cubicBezTo>
                  <a:cubicBezTo>
                    <a:pt x="366" y="338"/>
                    <a:pt x="359" y="328"/>
                    <a:pt x="350" y="319"/>
                  </a:cubicBezTo>
                  <a:close/>
                  <a:moveTo>
                    <a:pt x="196" y="298"/>
                  </a:moveTo>
                  <a:cubicBezTo>
                    <a:pt x="173" y="321"/>
                    <a:pt x="159" y="352"/>
                    <a:pt x="159" y="386"/>
                  </a:cubicBezTo>
                  <a:cubicBezTo>
                    <a:pt x="159" y="420"/>
                    <a:pt x="173" y="451"/>
                    <a:pt x="196" y="474"/>
                  </a:cubicBezTo>
                  <a:cubicBezTo>
                    <a:pt x="218" y="496"/>
                    <a:pt x="249" y="510"/>
                    <a:pt x="283" y="510"/>
                  </a:cubicBezTo>
                  <a:cubicBezTo>
                    <a:pt x="318" y="510"/>
                    <a:pt x="349" y="496"/>
                    <a:pt x="371" y="474"/>
                  </a:cubicBezTo>
                  <a:cubicBezTo>
                    <a:pt x="394" y="451"/>
                    <a:pt x="408" y="420"/>
                    <a:pt x="408" y="386"/>
                  </a:cubicBezTo>
                  <a:cubicBezTo>
                    <a:pt x="408" y="352"/>
                    <a:pt x="394" y="321"/>
                    <a:pt x="371" y="298"/>
                  </a:cubicBezTo>
                  <a:cubicBezTo>
                    <a:pt x="349" y="276"/>
                    <a:pt x="318" y="262"/>
                    <a:pt x="283" y="262"/>
                  </a:cubicBezTo>
                  <a:cubicBezTo>
                    <a:pt x="249" y="262"/>
                    <a:pt x="218" y="276"/>
                    <a:pt x="196" y="298"/>
                  </a:cubicBezTo>
                  <a:close/>
                  <a:moveTo>
                    <a:pt x="229" y="381"/>
                  </a:moveTo>
                  <a:cubicBezTo>
                    <a:pt x="202" y="381"/>
                    <a:pt x="202" y="381"/>
                    <a:pt x="202" y="381"/>
                  </a:cubicBezTo>
                  <a:cubicBezTo>
                    <a:pt x="199" y="381"/>
                    <a:pt x="197" y="383"/>
                    <a:pt x="197" y="386"/>
                  </a:cubicBezTo>
                  <a:cubicBezTo>
                    <a:pt x="197" y="389"/>
                    <a:pt x="199" y="391"/>
                    <a:pt x="202" y="391"/>
                  </a:cubicBezTo>
                  <a:cubicBezTo>
                    <a:pt x="229" y="391"/>
                    <a:pt x="229" y="391"/>
                    <a:pt x="229" y="391"/>
                  </a:cubicBezTo>
                  <a:cubicBezTo>
                    <a:pt x="232" y="391"/>
                    <a:pt x="235" y="389"/>
                    <a:pt x="235" y="386"/>
                  </a:cubicBezTo>
                  <a:cubicBezTo>
                    <a:pt x="235" y="383"/>
                    <a:pt x="232" y="381"/>
                    <a:pt x="229" y="381"/>
                  </a:cubicBezTo>
                  <a:close/>
                  <a:moveTo>
                    <a:pt x="338" y="391"/>
                  </a:moveTo>
                  <a:cubicBezTo>
                    <a:pt x="365" y="391"/>
                    <a:pt x="365" y="391"/>
                    <a:pt x="365" y="391"/>
                  </a:cubicBezTo>
                  <a:cubicBezTo>
                    <a:pt x="368" y="391"/>
                    <a:pt x="370" y="389"/>
                    <a:pt x="370" y="386"/>
                  </a:cubicBezTo>
                  <a:cubicBezTo>
                    <a:pt x="370" y="383"/>
                    <a:pt x="368" y="381"/>
                    <a:pt x="365" y="381"/>
                  </a:cubicBezTo>
                  <a:cubicBezTo>
                    <a:pt x="338" y="381"/>
                    <a:pt x="338" y="381"/>
                    <a:pt x="338" y="381"/>
                  </a:cubicBezTo>
                  <a:cubicBezTo>
                    <a:pt x="335" y="381"/>
                    <a:pt x="332" y="383"/>
                    <a:pt x="332" y="386"/>
                  </a:cubicBezTo>
                  <a:cubicBezTo>
                    <a:pt x="332" y="389"/>
                    <a:pt x="335" y="391"/>
                    <a:pt x="338" y="391"/>
                  </a:cubicBezTo>
                  <a:close/>
                  <a:moveTo>
                    <a:pt x="278" y="440"/>
                  </a:moveTo>
                  <a:cubicBezTo>
                    <a:pt x="278" y="467"/>
                    <a:pt x="278" y="467"/>
                    <a:pt x="278" y="467"/>
                  </a:cubicBezTo>
                  <a:cubicBezTo>
                    <a:pt x="278" y="470"/>
                    <a:pt x="280" y="473"/>
                    <a:pt x="283" y="473"/>
                  </a:cubicBezTo>
                  <a:cubicBezTo>
                    <a:pt x="286" y="473"/>
                    <a:pt x="289" y="470"/>
                    <a:pt x="289" y="467"/>
                  </a:cubicBezTo>
                  <a:cubicBezTo>
                    <a:pt x="289" y="440"/>
                    <a:pt x="289" y="440"/>
                    <a:pt x="289" y="440"/>
                  </a:cubicBezTo>
                  <a:cubicBezTo>
                    <a:pt x="289" y="437"/>
                    <a:pt x="286" y="435"/>
                    <a:pt x="283" y="435"/>
                  </a:cubicBezTo>
                  <a:cubicBezTo>
                    <a:pt x="280" y="435"/>
                    <a:pt x="278" y="437"/>
                    <a:pt x="278" y="440"/>
                  </a:cubicBezTo>
                  <a:close/>
                  <a:moveTo>
                    <a:pt x="289" y="332"/>
                  </a:moveTo>
                  <a:cubicBezTo>
                    <a:pt x="289" y="305"/>
                    <a:pt x="289" y="305"/>
                    <a:pt x="289" y="305"/>
                  </a:cubicBezTo>
                  <a:cubicBezTo>
                    <a:pt x="289" y="302"/>
                    <a:pt x="286" y="299"/>
                    <a:pt x="283" y="299"/>
                  </a:cubicBezTo>
                  <a:cubicBezTo>
                    <a:pt x="280" y="299"/>
                    <a:pt x="278" y="302"/>
                    <a:pt x="278" y="305"/>
                  </a:cubicBezTo>
                  <a:cubicBezTo>
                    <a:pt x="278" y="332"/>
                    <a:pt x="278" y="332"/>
                    <a:pt x="278" y="332"/>
                  </a:cubicBezTo>
                  <a:cubicBezTo>
                    <a:pt x="278" y="335"/>
                    <a:pt x="280" y="337"/>
                    <a:pt x="283" y="337"/>
                  </a:cubicBezTo>
                  <a:cubicBezTo>
                    <a:pt x="286" y="337"/>
                    <a:pt x="289" y="335"/>
                    <a:pt x="289" y="332"/>
                  </a:cubicBezTo>
                  <a:close/>
                  <a:moveTo>
                    <a:pt x="218" y="0"/>
                  </a:moveTo>
                  <a:cubicBezTo>
                    <a:pt x="224" y="0"/>
                    <a:pt x="228" y="2"/>
                    <a:pt x="232" y="4"/>
                  </a:cubicBezTo>
                  <a:cubicBezTo>
                    <a:pt x="235" y="7"/>
                    <a:pt x="237" y="11"/>
                    <a:pt x="237" y="14"/>
                  </a:cubicBezTo>
                  <a:cubicBezTo>
                    <a:pt x="237" y="72"/>
                    <a:pt x="237" y="72"/>
                    <a:pt x="237" y="72"/>
                  </a:cubicBezTo>
                  <a:cubicBezTo>
                    <a:pt x="237" y="75"/>
                    <a:pt x="235" y="79"/>
                    <a:pt x="232" y="82"/>
                  </a:cubicBezTo>
                  <a:cubicBezTo>
                    <a:pt x="228" y="84"/>
                    <a:pt x="224" y="86"/>
                    <a:pt x="218" y="86"/>
                  </a:cubicBezTo>
                  <a:cubicBezTo>
                    <a:pt x="126" y="86"/>
                    <a:pt x="126" y="86"/>
                    <a:pt x="126" y="86"/>
                  </a:cubicBezTo>
                  <a:cubicBezTo>
                    <a:pt x="121" y="86"/>
                    <a:pt x="116" y="84"/>
                    <a:pt x="113" y="82"/>
                  </a:cubicBezTo>
                  <a:cubicBezTo>
                    <a:pt x="110" y="79"/>
                    <a:pt x="108" y="75"/>
                    <a:pt x="108" y="72"/>
                  </a:cubicBezTo>
                  <a:cubicBezTo>
                    <a:pt x="108" y="14"/>
                    <a:pt x="108" y="14"/>
                    <a:pt x="108" y="14"/>
                  </a:cubicBezTo>
                  <a:cubicBezTo>
                    <a:pt x="108" y="11"/>
                    <a:pt x="110" y="7"/>
                    <a:pt x="113" y="4"/>
                  </a:cubicBezTo>
                  <a:cubicBezTo>
                    <a:pt x="116" y="2"/>
                    <a:pt x="121" y="0"/>
                    <a:pt x="126" y="0"/>
                  </a:cubicBezTo>
                  <a:cubicBezTo>
                    <a:pt x="218" y="0"/>
                    <a:pt x="218" y="0"/>
                    <a:pt x="218" y="0"/>
                  </a:cubicBezTo>
                  <a:close/>
                  <a:moveTo>
                    <a:pt x="138" y="19"/>
                  </a:moveTo>
                  <a:cubicBezTo>
                    <a:pt x="206" y="19"/>
                    <a:pt x="206" y="19"/>
                    <a:pt x="206" y="19"/>
                  </a:cubicBezTo>
                  <a:cubicBezTo>
                    <a:pt x="210" y="19"/>
                    <a:pt x="214" y="20"/>
                    <a:pt x="217" y="22"/>
                  </a:cubicBezTo>
                  <a:cubicBezTo>
                    <a:pt x="217" y="22"/>
                    <a:pt x="217" y="22"/>
                    <a:pt x="217" y="22"/>
                  </a:cubicBezTo>
                  <a:cubicBezTo>
                    <a:pt x="220" y="25"/>
                    <a:pt x="222" y="29"/>
                    <a:pt x="222" y="33"/>
                  </a:cubicBezTo>
                  <a:cubicBezTo>
                    <a:pt x="222" y="51"/>
                    <a:pt x="222" y="51"/>
                    <a:pt x="222" y="51"/>
                  </a:cubicBezTo>
                  <a:cubicBezTo>
                    <a:pt x="222" y="55"/>
                    <a:pt x="220" y="58"/>
                    <a:pt x="217" y="61"/>
                  </a:cubicBezTo>
                  <a:cubicBezTo>
                    <a:pt x="217" y="61"/>
                    <a:pt x="217" y="61"/>
                    <a:pt x="217" y="61"/>
                  </a:cubicBezTo>
                  <a:cubicBezTo>
                    <a:pt x="214" y="63"/>
                    <a:pt x="210" y="65"/>
                    <a:pt x="206" y="65"/>
                  </a:cubicBezTo>
                  <a:cubicBezTo>
                    <a:pt x="138" y="65"/>
                    <a:pt x="138" y="65"/>
                    <a:pt x="138" y="65"/>
                  </a:cubicBezTo>
                  <a:cubicBezTo>
                    <a:pt x="134" y="65"/>
                    <a:pt x="130" y="63"/>
                    <a:pt x="127" y="61"/>
                  </a:cubicBezTo>
                  <a:cubicBezTo>
                    <a:pt x="127" y="61"/>
                    <a:pt x="127" y="61"/>
                    <a:pt x="127" y="61"/>
                  </a:cubicBezTo>
                  <a:cubicBezTo>
                    <a:pt x="124" y="58"/>
                    <a:pt x="122" y="55"/>
                    <a:pt x="122" y="51"/>
                  </a:cubicBezTo>
                  <a:cubicBezTo>
                    <a:pt x="122" y="33"/>
                    <a:pt x="122" y="33"/>
                    <a:pt x="122" y="33"/>
                  </a:cubicBezTo>
                  <a:cubicBezTo>
                    <a:pt x="122" y="29"/>
                    <a:pt x="124" y="25"/>
                    <a:pt x="127" y="22"/>
                  </a:cubicBezTo>
                  <a:cubicBezTo>
                    <a:pt x="127" y="22"/>
                    <a:pt x="127" y="22"/>
                    <a:pt x="127" y="22"/>
                  </a:cubicBezTo>
                  <a:cubicBezTo>
                    <a:pt x="130" y="20"/>
                    <a:pt x="134" y="19"/>
                    <a:pt x="138" y="19"/>
                  </a:cubicBezTo>
                  <a:close/>
                  <a:moveTo>
                    <a:pt x="344" y="243"/>
                  </a:moveTo>
                  <a:cubicBezTo>
                    <a:pt x="344" y="41"/>
                    <a:pt x="344" y="41"/>
                    <a:pt x="344" y="41"/>
                  </a:cubicBezTo>
                  <a:cubicBezTo>
                    <a:pt x="344" y="28"/>
                    <a:pt x="334" y="18"/>
                    <a:pt x="321" y="18"/>
                  </a:cubicBezTo>
                  <a:cubicBezTo>
                    <a:pt x="244" y="18"/>
                    <a:pt x="244" y="18"/>
                    <a:pt x="244" y="18"/>
                  </a:cubicBezTo>
                  <a:cubicBezTo>
                    <a:pt x="244" y="59"/>
                    <a:pt x="244" y="59"/>
                    <a:pt x="244" y="59"/>
                  </a:cubicBezTo>
                  <a:cubicBezTo>
                    <a:pt x="302" y="59"/>
                    <a:pt x="302" y="59"/>
                    <a:pt x="302" y="59"/>
                  </a:cubicBezTo>
                  <a:cubicBezTo>
                    <a:pt x="302" y="92"/>
                    <a:pt x="302" y="92"/>
                    <a:pt x="302" y="92"/>
                  </a:cubicBezTo>
                  <a:cubicBezTo>
                    <a:pt x="302" y="232"/>
                    <a:pt x="302" y="232"/>
                    <a:pt x="302" y="232"/>
                  </a:cubicBezTo>
                  <a:cubicBezTo>
                    <a:pt x="317" y="234"/>
                    <a:pt x="331" y="238"/>
                    <a:pt x="344" y="243"/>
                  </a:cubicBezTo>
                  <a:close/>
                  <a:moveTo>
                    <a:pt x="87" y="324"/>
                  </a:moveTo>
                  <a:cubicBezTo>
                    <a:pt x="141" y="324"/>
                    <a:pt x="141" y="324"/>
                    <a:pt x="141" y="324"/>
                  </a:cubicBezTo>
                  <a:cubicBezTo>
                    <a:pt x="139" y="330"/>
                    <a:pt x="136" y="336"/>
                    <a:pt x="134" y="343"/>
                  </a:cubicBezTo>
                  <a:cubicBezTo>
                    <a:pt x="87" y="343"/>
                    <a:pt x="87" y="343"/>
                    <a:pt x="87" y="343"/>
                  </a:cubicBezTo>
                  <a:cubicBezTo>
                    <a:pt x="82" y="343"/>
                    <a:pt x="77" y="339"/>
                    <a:pt x="77" y="333"/>
                  </a:cubicBezTo>
                  <a:cubicBezTo>
                    <a:pt x="77" y="333"/>
                    <a:pt x="77" y="333"/>
                    <a:pt x="77" y="333"/>
                  </a:cubicBezTo>
                  <a:cubicBezTo>
                    <a:pt x="77" y="328"/>
                    <a:pt x="82" y="324"/>
                    <a:pt x="87" y="324"/>
                  </a:cubicBezTo>
                  <a:close/>
                  <a:moveTo>
                    <a:pt x="162" y="290"/>
                  </a:moveTo>
                  <a:cubicBezTo>
                    <a:pt x="87" y="290"/>
                    <a:pt x="87" y="290"/>
                    <a:pt x="87" y="290"/>
                  </a:cubicBezTo>
                  <a:cubicBezTo>
                    <a:pt x="87" y="290"/>
                    <a:pt x="87" y="290"/>
                    <a:pt x="87"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8"/>
                    <a:pt x="82" y="288"/>
                    <a:pt x="82" y="288"/>
                  </a:cubicBezTo>
                  <a:cubicBezTo>
                    <a:pt x="82" y="288"/>
                    <a:pt x="82" y="288"/>
                    <a:pt x="82" y="288"/>
                  </a:cubicBezTo>
                  <a:cubicBezTo>
                    <a:pt x="82" y="288"/>
                    <a:pt x="82" y="288"/>
                    <a:pt x="82" y="288"/>
                  </a:cubicBezTo>
                  <a:cubicBezTo>
                    <a:pt x="82" y="288"/>
                    <a:pt x="82" y="288"/>
                    <a:pt x="82"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7"/>
                    <a:pt x="81" y="287"/>
                    <a:pt x="81" y="287"/>
                  </a:cubicBezTo>
                  <a:cubicBezTo>
                    <a:pt x="81" y="287"/>
                    <a:pt x="81" y="287"/>
                    <a:pt x="81"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6"/>
                    <a:pt x="80" y="286"/>
                    <a:pt x="80" y="286"/>
                  </a:cubicBezTo>
                  <a:cubicBezTo>
                    <a:pt x="80" y="286"/>
                    <a:pt x="80" y="286"/>
                    <a:pt x="80"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8" y="285"/>
                    <a:pt x="78" y="285"/>
                    <a:pt x="78" y="285"/>
                  </a:cubicBezTo>
                  <a:cubicBezTo>
                    <a:pt x="78" y="285"/>
                    <a:pt x="78" y="285"/>
                    <a:pt x="78" y="285"/>
                  </a:cubicBezTo>
                  <a:cubicBezTo>
                    <a:pt x="78" y="285"/>
                    <a:pt x="78" y="285"/>
                    <a:pt x="78" y="285"/>
                  </a:cubicBezTo>
                  <a:cubicBezTo>
                    <a:pt x="78" y="285"/>
                    <a:pt x="78" y="285"/>
                    <a:pt x="78" y="285"/>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2"/>
                    <a:pt x="78" y="282"/>
                    <a:pt x="78" y="282"/>
                  </a:cubicBezTo>
                  <a:cubicBezTo>
                    <a:pt x="78" y="282"/>
                    <a:pt x="78" y="282"/>
                    <a:pt x="78" y="282"/>
                  </a:cubicBezTo>
                  <a:cubicBezTo>
                    <a:pt x="78" y="282"/>
                    <a:pt x="78" y="282"/>
                    <a:pt x="78" y="282"/>
                  </a:cubicBezTo>
                  <a:cubicBezTo>
                    <a:pt x="78" y="282"/>
                    <a:pt x="78" y="282"/>
                    <a:pt x="78" y="282"/>
                  </a:cubicBezTo>
                  <a:cubicBezTo>
                    <a:pt x="77" y="282"/>
                    <a:pt x="77" y="282"/>
                    <a:pt x="77" y="282"/>
                  </a:cubicBezTo>
                  <a:cubicBezTo>
                    <a:pt x="77" y="282"/>
                    <a:pt x="77" y="282"/>
                    <a:pt x="77" y="282"/>
                  </a:cubicBezTo>
                  <a:cubicBezTo>
                    <a:pt x="77" y="282"/>
                    <a:pt x="77" y="282"/>
                    <a:pt x="77" y="282"/>
                  </a:cubicBezTo>
                  <a:cubicBezTo>
                    <a:pt x="77" y="282"/>
                    <a:pt x="77" y="282"/>
                    <a:pt x="77" y="282"/>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79"/>
                    <a:pt x="77" y="279"/>
                    <a:pt x="77" y="279"/>
                  </a:cubicBezTo>
                  <a:cubicBezTo>
                    <a:pt x="77" y="279"/>
                    <a:pt x="77" y="279"/>
                    <a:pt x="77" y="279"/>
                  </a:cubicBezTo>
                  <a:cubicBezTo>
                    <a:pt x="77" y="279"/>
                    <a:pt x="77" y="279"/>
                    <a:pt x="77" y="279"/>
                  </a:cubicBezTo>
                  <a:cubicBezTo>
                    <a:pt x="77" y="279"/>
                    <a:pt x="77" y="279"/>
                    <a:pt x="77" y="279"/>
                  </a:cubicBezTo>
                  <a:cubicBezTo>
                    <a:pt x="78" y="279"/>
                    <a:pt x="78" y="279"/>
                    <a:pt x="78" y="279"/>
                  </a:cubicBezTo>
                  <a:cubicBezTo>
                    <a:pt x="78" y="279"/>
                    <a:pt x="78" y="279"/>
                    <a:pt x="78" y="279"/>
                  </a:cubicBezTo>
                  <a:cubicBezTo>
                    <a:pt x="78" y="279"/>
                    <a:pt x="78" y="279"/>
                    <a:pt x="78" y="279"/>
                  </a:cubicBezTo>
                  <a:cubicBezTo>
                    <a:pt x="78" y="279"/>
                    <a:pt x="78" y="279"/>
                    <a:pt x="78" y="279"/>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9" y="276"/>
                    <a:pt x="79" y="276"/>
                    <a:pt x="79" y="276"/>
                  </a:cubicBezTo>
                  <a:cubicBezTo>
                    <a:pt x="79" y="276"/>
                    <a:pt x="79" y="276"/>
                    <a:pt x="79" y="276"/>
                  </a:cubicBezTo>
                  <a:cubicBezTo>
                    <a:pt x="79" y="276"/>
                    <a:pt x="79" y="276"/>
                    <a:pt x="79" y="276"/>
                  </a:cubicBezTo>
                  <a:cubicBezTo>
                    <a:pt x="79" y="276"/>
                    <a:pt x="79" y="276"/>
                    <a:pt x="79" y="276"/>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80" y="275"/>
                    <a:pt x="80" y="275"/>
                    <a:pt x="80" y="275"/>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2" y="273"/>
                    <a:pt x="82" y="273"/>
                    <a:pt x="82" y="273"/>
                  </a:cubicBezTo>
                  <a:cubicBezTo>
                    <a:pt x="82" y="273"/>
                    <a:pt x="82" y="273"/>
                    <a:pt x="82" y="273"/>
                  </a:cubicBezTo>
                  <a:cubicBezTo>
                    <a:pt x="82" y="273"/>
                    <a:pt x="82" y="273"/>
                    <a:pt x="82" y="273"/>
                  </a:cubicBezTo>
                  <a:cubicBezTo>
                    <a:pt x="82" y="272"/>
                    <a:pt x="82" y="272"/>
                    <a:pt x="82" y="272"/>
                  </a:cubicBezTo>
                  <a:cubicBezTo>
                    <a:pt x="82" y="272"/>
                    <a:pt x="82" y="272"/>
                    <a:pt x="82" y="272"/>
                  </a:cubicBezTo>
                  <a:cubicBezTo>
                    <a:pt x="82" y="272"/>
                    <a:pt x="82" y="272"/>
                    <a:pt x="82" y="272"/>
                  </a:cubicBezTo>
                  <a:cubicBezTo>
                    <a:pt x="82" y="272"/>
                    <a:pt x="82" y="272"/>
                    <a:pt x="82"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7" y="271"/>
                    <a:pt x="87" y="271"/>
                    <a:pt x="87" y="271"/>
                  </a:cubicBezTo>
                  <a:cubicBezTo>
                    <a:pt x="179" y="271"/>
                    <a:pt x="179" y="271"/>
                    <a:pt x="179" y="271"/>
                  </a:cubicBezTo>
                  <a:cubicBezTo>
                    <a:pt x="173" y="277"/>
                    <a:pt x="167" y="283"/>
                    <a:pt x="162" y="290"/>
                  </a:cubicBezTo>
                  <a:close/>
                  <a:moveTo>
                    <a:pt x="77" y="280"/>
                  </a:moveTo>
                  <a:cubicBezTo>
                    <a:pt x="77" y="280"/>
                    <a:pt x="77" y="280"/>
                    <a:pt x="77" y="280"/>
                  </a:cubicBezTo>
                  <a:close/>
                  <a:moveTo>
                    <a:pt x="87" y="218"/>
                  </a:moveTo>
                  <a:cubicBezTo>
                    <a:pt x="258" y="218"/>
                    <a:pt x="258" y="218"/>
                    <a:pt x="258" y="218"/>
                  </a:cubicBezTo>
                  <a:cubicBezTo>
                    <a:pt x="263" y="218"/>
                    <a:pt x="267" y="222"/>
                    <a:pt x="267" y="228"/>
                  </a:cubicBezTo>
                  <a:cubicBezTo>
                    <a:pt x="267" y="228"/>
                    <a:pt x="267" y="228"/>
                    <a:pt x="267" y="228"/>
                  </a:cubicBezTo>
                  <a:cubicBezTo>
                    <a:pt x="267" y="229"/>
                    <a:pt x="267" y="231"/>
                    <a:pt x="266" y="232"/>
                  </a:cubicBezTo>
                  <a:cubicBezTo>
                    <a:pt x="257" y="233"/>
                    <a:pt x="249" y="235"/>
                    <a:pt x="241" y="237"/>
                  </a:cubicBezTo>
                  <a:cubicBezTo>
                    <a:pt x="87" y="237"/>
                    <a:pt x="87" y="237"/>
                    <a:pt x="87" y="237"/>
                  </a:cubicBezTo>
                  <a:cubicBezTo>
                    <a:pt x="82" y="237"/>
                    <a:pt x="77" y="233"/>
                    <a:pt x="77" y="228"/>
                  </a:cubicBezTo>
                  <a:cubicBezTo>
                    <a:pt x="77" y="228"/>
                    <a:pt x="77" y="228"/>
                    <a:pt x="77" y="228"/>
                  </a:cubicBezTo>
                  <a:cubicBezTo>
                    <a:pt x="77" y="222"/>
                    <a:pt x="82" y="218"/>
                    <a:pt x="87" y="218"/>
                  </a:cubicBezTo>
                  <a:close/>
                  <a:moveTo>
                    <a:pt x="87" y="165"/>
                  </a:moveTo>
                  <a:cubicBezTo>
                    <a:pt x="258" y="165"/>
                    <a:pt x="258" y="165"/>
                    <a:pt x="258" y="165"/>
                  </a:cubicBezTo>
                  <a:cubicBezTo>
                    <a:pt x="263" y="165"/>
                    <a:pt x="267" y="170"/>
                    <a:pt x="267" y="175"/>
                  </a:cubicBezTo>
                  <a:cubicBezTo>
                    <a:pt x="267" y="175"/>
                    <a:pt x="267" y="175"/>
                    <a:pt x="267" y="175"/>
                  </a:cubicBezTo>
                  <a:cubicBezTo>
                    <a:pt x="267" y="180"/>
                    <a:pt x="263" y="184"/>
                    <a:pt x="258" y="184"/>
                  </a:cubicBezTo>
                  <a:cubicBezTo>
                    <a:pt x="87" y="184"/>
                    <a:pt x="87" y="184"/>
                    <a:pt x="87" y="184"/>
                  </a:cubicBezTo>
                  <a:cubicBezTo>
                    <a:pt x="82" y="184"/>
                    <a:pt x="77" y="180"/>
                    <a:pt x="77" y="175"/>
                  </a:cubicBezTo>
                  <a:cubicBezTo>
                    <a:pt x="77" y="175"/>
                    <a:pt x="77" y="175"/>
                    <a:pt x="77" y="175"/>
                  </a:cubicBezTo>
                  <a:cubicBezTo>
                    <a:pt x="77" y="170"/>
                    <a:pt x="82" y="165"/>
                    <a:pt x="87" y="165"/>
                  </a:cubicBezTo>
                  <a:close/>
                  <a:moveTo>
                    <a:pt x="87" y="115"/>
                  </a:moveTo>
                  <a:cubicBezTo>
                    <a:pt x="258" y="115"/>
                    <a:pt x="258" y="115"/>
                    <a:pt x="258" y="115"/>
                  </a:cubicBezTo>
                  <a:cubicBezTo>
                    <a:pt x="263" y="115"/>
                    <a:pt x="267" y="120"/>
                    <a:pt x="267" y="125"/>
                  </a:cubicBezTo>
                  <a:cubicBezTo>
                    <a:pt x="267" y="125"/>
                    <a:pt x="267" y="125"/>
                    <a:pt x="267" y="125"/>
                  </a:cubicBezTo>
                  <a:cubicBezTo>
                    <a:pt x="267" y="130"/>
                    <a:pt x="263" y="134"/>
                    <a:pt x="258" y="134"/>
                  </a:cubicBezTo>
                  <a:cubicBezTo>
                    <a:pt x="87" y="134"/>
                    <a:pt x="87" y="134"/>
                    <a:pt x="87" y="134"/>
                  </a:cubicBezTo>
                  <a:cubicBezTo>
                    <a:pt x="82" y="134"/>
                    <a:pt x="77" y="130"/>
                    <a:pt x="77" y="125"/>
                  </a:cubicBezTo>
                  <a:cubicBezTo>
                    <a:pt x="77" y="125"/>
                    <a:pt x="77" y="125"/>
                    <a:pt x="77" y="125"/>
                  </a:cubicBezTo>
                  <a:cubicBezTo>
                    <a:pt x="77" y="120"/>
                    <a:pt x="82" y="115"/>
                    <a:pt x="87" y="115"/>
                  </a:cubicBezTo>
                  <a:close/>
                  <a:moveTo>
                    <a:pt x="130" y="59"/>
                  </a:moveTo>
                  <a:cubicBezTo>
                    <a:pt x="130" y="33"/>
                    <a:pt x="130" y="33"/>
                    <a:pt x="130" y="33"/>
                  </a:cubicBezTo>
                  <a:cubicBezTo>
                    <a:pt x="130" y="31"/>
                    <a:pt x="131" y="29"/>
                    <a:pt x="132" y="28"/>
                  </a:cubicBezTo>
                  <a:cubicBezTo>
                    <a:pt x="132" y="28"/>
                    <a:pt x="132" y="28"/>
                    <a:pt x="132" y="28"/>
                  </a:cubicBezTo>
                  <a:cubicBezTo>
                    <a:pt x="134" y="27"/>
                    <a:pt x="136" y="26"/>
                    <a:pt x="138" y="26"/>
                  </a:cubicBezTo>
                  <a:cubicBezTo>
                    <a:pt x="206" y="26"/>
                    <a:pt x="206" y="26"/>
                    <a:pt x="206" y="26"/>
                  </a:cubicBezTo>
                  <a:cubicBezTo>
                    <a:pt x="208" y="26"/>
                    <a:pt x="211" y="27"/>
                    <a:pt x="212" y="28"/>
                  </a:cubicBezTo>
                  <a:cubicBezTo>
                    <a:pt x="212" y="28"/>
                    <a:pt x="212" y="28"/>
                    <a:pt x="212" y="28"/>
                  </a:cubicBezTo>
                  <a:cubicBezTo>
                    <a:pt x="214" y="29"/>
                    <a:pt x="215" y="31"/>
                    <a:pt x="215" y="33"/>
                  </a:cubicBezTo>
                  <a:cubicBezTo>
                    <a:pt x="215" y="59"/>
                    <a:pt x="215" y="59"/>
                    <a:pt x="215" y="59"/>
                  </a:cubicBezTo>
                  <a:lnTo>
                    <a:pt x="130" y="59"/>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Rectangle 58"/>
            <p:cNvSpPr>
              <a:spLocks noChangeArrowheads="1"/>
            </p:cNvSpPr>
            <p:nvPr/>
          </p:nvSpPr>
          <p:spPr bwMode="auto">
            <a:xfrm rot="2700000">
              <a:off x="2655457"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7" name="Rectangle 58"/>
            <p:cNvSpPr>
              <a:spLocks noChangeArrowheads="1"/>
            </p:cNvSpPr>
            <p:nvPr/>
          </p:nvSpPr>
          <p:spPr bwMode="auto">
            <a:xfrm rot="2700000">
              <a:off x="8987566"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2" name="组合 11"/>
          <p:cNvGrpSpPr/>
          <p:nvPr/>
        </p:nvGrpSpPr>
        <p:grpSpPr>
          <a:xfrm>
            <a:off x="1270670" y="4436940"/>
            <a:ext cx="4313105" cy="1598463"/>
            <a:chOff x="612372" y="4550152"/>
            <a:chExt cx="4313105" cy="1598463"/>
          </a:xfrm>
        </p:grpSpPr>
        <p:sp>
          <p:nvSpPr>
            <p:cNvPr id="18" name="TextBox 76"/>
            <p:cNvSpPr txBox="1"/>
            <p:nvPr/>
          </p:nvSpPr>
          <p:spPr>
            <a:xfrm>
              <a:off x="612372" y="4550152"/>
              <a:ext cx="4313105" cy="400110"/>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Keyfiles</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基于密钥文件进行身份验证</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文本框 28"/>
            <p:cNvSpPr txBox="1"/>
            <p:nvPr/>
          </p:nvSpPr>
          <p:spPr>
            <a:xfrm>
              <a:off x="612372" y="5127182"/>
              <a:ext cx="4250573" cy="1021433"/>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密钥文件提供了用于节点之间认证的密钥，其内容为一串长度介于</a:t>
              </a:r>
              <a:r>
                <a:rPr lang="en-US" altLang="zh-CN"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6</a:t>
              </a:r>
              <a:r>
                <a:rPr lang="zh-CN" altLang="en-US"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到</a:t>
              </a:r>
              <a:r>
                <a:rPr lang="en-US" altLang="zh-CN"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1024</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之间的字符串，该字符串只能包含</a:t>
              </a:r>
              <a:r>
                <a:rPr lang="en-US" altLang="zh-CN"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base64</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字符集中的字符。</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4" name="组合 13"/>
          <p:cNvGrpSpPr/>
          <p:nvPr/>
        </p:nvGrpSpPr>
        <p:grpSpPr>
          <a:xfrm>
            <a:off x="6603821" y="4406163"/>
            <a:ext cx="4819977" cy="2269416"/>
            <a:chOff x="1211335" y="4519375"/>
            <a:chExt cx="4819977" cy="2269416"/>
          </a:xfrm>
        </p:grpSpPr>
        <p:sp>
          <p:nvSpPr>
            <p:cNvPr id="15" name="TextBox 76"/>
            <p:cNvSpPr txBox="1"/>
            <p:nvPr/>
          </p:nvSpPr>
          <p:spPr>
            <a:xfrm>
              <a:off x="1214152" y="4519375"/>
              <a:ext cx="4817160" cy="400110"/>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x.509</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基于</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x.509</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证书进行身份验证</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31"/>
            <p:cNvSpPr txBox="1"/>
            <p:nvPr/>
          </p:nvSpPr>
          <p:spPr>
            <a:xfrm>
              <a:off x="1211335" y="5127182"/>
              <a:ext cx="4315921" cy="1661609"/>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x.509</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提供了更高级别的安全性，适用于企业</a:t>
              </a:r>
              <a:r>
                <a:rPr lang="zh-CN" altLang="en-US" sz="16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生产环境</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，但对于初学者来说，该方法的配置和使用相对复杂。因此，为了降低学习门槛，本书在启用副本集的访问控制时将采用身份验证方法</a:t>
              </a:r>
              <a:r>
                <a:rPr lang="en-US" altLang="zh-CN" sz="1600" dirty="0" err="1">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Keyfiles</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8" name="内容占位符 2"/>
          <p:cNvSpPr txBox="1"/>
          <p:nvPr/>
        </p:nvSpPr>
        <p:spPr bwMode="auto">
          <a:xfrm>
            <a:off x="478582" y="1118037"/>
            <a:ext cx="9001000" cy="10609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lvl="1" indent="0">
              <a:lnSpc>
                <a:spcPct val="150000"/>
              </a:lnSpc>
              <a:buNone/>
              <a:defRPr/>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用户可以通过两种方式采用身份验证方法</a:t>
            </a:r>
            <a:r>
              <a:rPr lang="en-US" altLang="zh-CN" sz="200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Keyfiles</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启用副本集的访问控制。</a:t>
            </a:r>
            <a:endPar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TextBox 13"/>
          <p:cNvSpPr txBox="1">
            <a:spLocks noChangeArrowheads="1"/>
          </p:cNvSpPr>
          <p:nvPr/>
        </p:nvSpPr>
        <p:spPr bwMode="auto">
          <a:xfrm>
            <a:off x="1011635" y="2532938"/>
            <a:ext cx="1627737" cy="954107"/>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第一种</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方式</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30" name="折角形 10"/>
          <p:cNvSpPr/>
          <p:nvPr/>
        </p:nvSpPr>
        <p:spPr bwMode="auto">
          <a:xfrm>
            <a:off x="2638822" y="2532938"/>
            <a:ext cx="6480720" cy="939800"/>
          </a:xfrm>
          <a:prstGeom prst="foldedCorner">
            <a:avLst/>
          </a:prstGeom>
          <a:solidFill>
            <a:schemeClr val="accent1">
              <a:lumMod val="40000"/>
              <a:lumOff val="6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在使用命令行选项启动</a:t>
            </a: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服务时，在命令中添加命令行选项</a:t>
            </a:r>
            <a:r>
              <a:rPr lang="en-US" altLang="zh-CN" sz="1800" dirty="0">
                <a:solidFill>
                  <a:srgbClr val="1369B2"/>
                </a:solidFill>
                <a:latin typeface="微软雅黑" panose="020B0503020204020204" pitchFamily="34" charset="-122"/>
                <a:ea typeface="微软雅黑" panose="020B0503020204020204" pitchFamily="34" charset="-122"/>
              </a:rPr>
              <a:t>--</a:t>
            </a:r>
            <a:r>
              <a:rPr lang="en-US" altLang="zh-CN" sz="1800" dirty="0" err="1">
                <a:solidFill>
                  <a:srgbClr val="1369B2"/>
                </a:solidFill>
                <a:latin typeface="微软雅黑" panose="020B0503020204020204" pitchFamily="34" charset="-122"/>
                <a:ea typeface="微软雅黑" panose="020B0503020204020204" pitchFamily="34" charset="-122"/>
              </a:rPr>
              <a:t>keyFile</a:t>
            </a:r>
            <a:r>
              <a:rPr lang="zh-CN" altLang="en-US" sz="1800" dirty="0">
                <a:solidFill>
                  <a:srgbClr val="595959"/>
                </a:solidFill>
                <a:latin typeface="微软雅黑" panose="020B0503020204020204" pitchFamily="34" charset="-122"/>
                <a:ea typeface="微软雅黑" panose="020B0503020204020204" pitchFamily="34" charset="-122"/>
              </a:rPr>
              <a:t>指定</a:t>
            </a:r>
            <a:r>
              <a:rPr lang="zh-CN" altLang="en-US" sz="1800" dirty="0">
                <a:solidFill>
                  <a:srgbClr val="1369B2"/>
                </a:solidFill>
                <a:latin typeface="微软雅黑" panose="020B0503020204020204" pitchFamily="34" charset="-122"/>
                <a:ea typeface="微软雅黑" panose="020B0503020204020204" pitchFamily="34" charset="-122"/>
              </a:rPr>
              <a:t>密钥文件</a:t>
            </a:r>
            <a:r>
              <a:rPr lang="zh-CN" altLang="en-US" sz="1800" dirty="0">
                <a:solidFill>
                  <a:srgbClr val="595959"/>
                </a:solidFill>
                <a:latin typeface="微软雅黑" panose="020B0503020204020204" pitchFamily="34" charset="-122"/>
                <a:ea typeface="微软雅黑" panose="020B0503020204020204" pitchFamily="34" charset="-122"/>
              </a:rPr>
              <a:t>的路径。</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折角形 11"/>
          <p:cNvSpPr/>
          <p:nvPr/>
        </p:nvSpPr>
        <p:spPr bwMode="auto">
          <a:xfrm>
            <a:off x="2640410" y="3817694"/>
            <a:ext cx="6479132" cy="954087"/>
          </a:xfrm>
          <a:prstGeom prst="foldedCorner">
            <a:avLst/>
          </a:prstGeom>
          <a:solidFill>
            <a:srgbClr val="D1C7FD">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在使用配置文件启动</a:t>
            </a: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服务时，在配置文件中添加配置文件选项</a:t>
            </a:r>
            <a:r>
              <a:rPr lang="en-US" altLang="zh-CN" sz="1800" dirty="0">
                <a:solidFill>
                  <a:srgbClr val="1369B2"/>
                </a:solidFill>
                <a:latin typeface="微软雅黑" panose="020B0503020204020204" pitchFamily="34" charset="-122"/>
                <a:ea typeface="微软雅黑" panose="020B0503020204020204" pitchFamily="34" charset="-122"/>
              </a:rPr>
              <a:t>security</a:t>
            </a:r>
            <a:r>
              <a:rPr lang="zh-CN" altLang="en-US" sz="1800" dirty="0">
                <a:solidFill>
                  <a:srgbClr val="595959"/>
                </a:solidFill>
                <a:latin typeface="微软雅黑" panose="020B0503020204020204" pitchFamily="34" charset="-122"/>
                <a:ea typeface="微软雅黑" panose="020B0503020204020204" pitchFamily="34" charset="-122"/>
              </a:rPr>
              <a:t>，指定参数</a:t>
            </a:r>
            <a:r>
              <a:rPr lang="en-US" altLang="zh-CN" sz="1800" dirty="0" err="1">
                <a:solidFill>
                  <a:srgbClr val="1369B2"/>
                </a:solidFill>
                <a:latin typeface="微软雅黑" panose="020B0503020204020204" pitchFamily="34" charset="-122"/>
                <a:ea typeface="微软雅黑" panose="020B0503020204020204" pitchFamily="34" charset="-122"/>
              </a:rPr>
              <a:t>keyFile</a:t>
            </a:r>
            <a:r>
              <a:rPr lang="zh-CN" altLang="en-US" sz="1800" dirty="0">
                <a:solidFill>
                  <a:srgbClr val="595959"/>
                </a:solidFill>
                <a:latin typeface="微软雅黑" panose="020B0503020204020204" pitchFamily="34" charset="-122"/>
                <a:ea typeface="微软雅黑" panose="020B0503020204020204" pitchFamily="34" charset="-122"/>
              </a:rPr>
              <a:t>的值为</a:t>
            </a:r>
            <a:r>
              <a:rPr lang="zh-CN" altLang="en-US" sz="1800" dirty="0">
                <a:solidFill>
                  <a:srgbClr val="1369B2"/>
                </a:solidFill>
                <a:latin typeface="微软雅黑" panose="020B0503020204020204" pitchFamily="34" charset="-122"/>
                <a:ea typeface="微软雅黑" panose="020B0503020204020204" pitchFamily="34" charset="-122"/>
              </a:rPr>
              <a:t>密钥文件</a:t>
            </a:r>
            <a:r>
              <a:rPr lang="zh-CN" altLang="en-US" sz="1800" dirty="0">
                <a:solidFill>
                  <a:srgbClr val="595959"/>
                </a:solidFill>
                <a:latin typeface="微软雅黑" panose="020B0503020204020204" pitchFamily="34" charset="-122"/>
                <a:ea typeface="微软雅黑" panose="020B0503020204020204" pitchFamily="34" charset="-122"/>
              </a:rPr>
              <a:t>的路径。</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3" name="TextBox 13"/>
          <p:cNvSpPr txBox="1">
            <a:spLocks noChangeArrowheads="1"/>
          </p:cNvSpPr>
          <p:nvPr/>
        </p:nvSpPr>
        <p:spPr bwMode="auto">
          <a:xfrm>
            <a:off x="1018642" y="3814381"/>
            <a:ext cx="1627737" cy="954107"/>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第二种</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方式</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
          <p:cNvSpPr txBox="1"/>
          <p:nvPr/>
        </p:nvSpPr>
        <p:spPr>
          <a:xfrm>
            <a:off x="5951189" y="1833208"/>
            <a:ext cx="4608513" cy="188461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接下来，将演示如何通过</a:t>
            </a:r>
            <a:r>
              <a:rPr lang="zh-CN" altLang="en-US" sz="2000" dirty="0">
                <a:solidFill>
                  <a:srgbClr val="1369B2"/>
                </a:solidFill>
                <a:latin typeface="微软雅黑" panose="020B0503020204020204" pitchFamily="34" charset="-122"/>
                <a:ea typeface="微软雅黑" panose="020B0503020204020204" pitchFamily="34" charset="-122"/>
              </a:rPr>
              <a:t>配置文件启动</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，采用身份验证方法</a:t>
            </a:r>
            <a:r>
              <a:rPr lang="en-US" altLang="zh-CN" sz="2000" dirty="0" err="1">
                <a:solidFill>
                  <a:srgbClr val="1369B2"/>
                </a:solidFill>
                <a:latin typeface="微软雅黑" panose="020B0503020204020204" pitchFamily="34" charset="-122"/>
                <a:ea typeface="微软雅黑" panose="020B0503020204020204" pitchFamily="34" charset="-122"/>
              </a:rPr>
              <a:t>Keyfiles</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启用副本集的访问控制，具体操作步骤如下。</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3"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710" y="1557586"/>
            <a:ext cx="3657600" cy="394335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3021596" y="2709714"/>
            <a:ext cx="8402202" cy="2758339"/>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bwMode="auto">
          <a:xfrm>
            <a:off x="3286894" y="3091789"/>
            <a:ext cx="7776864" cy="1679416"/>
            <a:chOff x="1181682" y="1980408"/>
            <a:chExt cx="9098303" cy="2869401"/>
          </a:xfrm>
        </p:grpSpPr>
        <p:sp>
          <p:nvSpPr>
            <p:cNvPr id="22" name="矩形 21"/>
            <p:cNvSpPr/>
            <p:nvPr/>
          </p:nvSpPr>
          <p:spPr>
            <a:xfrm>
              <a:off x="1181682" y="1980408"/>
              <a:ext cx="9098303" cy="28693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9" y="2418592"/>
              <a:ext cx="9074856" cy="243121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mongosh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mongodb</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://nosql01:27017,nosql03:27017/?</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=rs0"</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连接副本集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a:t>
            </a:r>
            <a:r>
              <a:rPr lang="zh-CN" altLang="en-US" sz="2000" dirty="0">
                <a:solidFill>
                  <a:srgbClr val="1369B2"/>
                </a:solidFill>
                <a:latin typeface="微软雅黑" panose="020B0503020204020204" pitchFamily="34" charset="-122"/>
                <a:ea typeface="微软雅黑" panose="020B0503020204020204" pitchFamily="34" charset="-122"/>
              </a:rPr>
              <a:t>副本集连接</a:t>
            </a:r>
            <a:r>
              <a:rPr lang="zh-CN" altLang="en-US" sz="2000" dirty="0">
                <a:solidFill>
                  <a:srgbClr val="595959"/>
                </a:solidFill>
                <a:latin typeface="微软雅黑" panose="020B0503020204020204" pitchFamily="34" charset="-122"/>
                <a:ea typeface="微软雅黑" panose="020B0503020204020204" pitchFamily="34" charset="-122"/>
              </a:rPr>
              <a:t>的方式连接副本集，在虚拟机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214886" y="2205658"/>
            <a:ext cx="8064896" cy="4510341"/>
            <a:chOff x="1097438" y="1980408"/>
            <a:chExt cx="9435278" cy="2954660"/>
          </a:xfrm>
        </p:grpSpPr>
        <p:sp>
          <p:nvSpPr>
            <p:cNvPr id="22" name="矩形 21"/>
            <p:cNvSpPr/>
            <p:nvPr/>
          </p:nvSpPr>
          <p:spPr>
            <a:xfrm>
              <a:off x="1097438" y="1980408"/>
              <a:ext cx="9435278" cy="28693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29" y="2017996"/>
              <a:ext cx="9074856" cy="291707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 admin</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db.createUser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user: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itcastAdmin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pwd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passwordPrompt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roles: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userAdminAnyDatabase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readWriteAnyDatabase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dbAdminAnyDatabase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clusterAdmin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创建管理员用户</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在数据库</a:t>
            </a:r>
            <a:r>
              <a:rPr lang="en-US" altLang="zh-CN" sz="2000" dirty="0">
                <a:solidFill>
                  <a:srgbClr val="595959"/>
                </a:solidFill>
                <a:latin typeface="微软雅黑" panose="020B0503020204020204" pitchFamily="34" charset="-122"/>
                <a:ea typeface="微软雅黑" panose="020B0503020204020204" pitchFamily="34" charset="-122"/>
              </a:rPr>
              <a:t>admin</a:t>
            </a:r>
            <a:r>
              <a:rPr lang="zh-CN" altLang="en-US" sz="2000" dirty="0">
                <a:solidFill>
                  <a:srgbClr val="595959"/>
                </a:solidFill>
                <a:latin typeface="微软雅黑" panose="020B0503020204020204" pitchFamily="34" charset="-122"/>
                <a:ea typeface="微软雅黑" panose="020B0503020204020204" pitchFamily="34" charset="-122"/>
              </a:rPr>
              <a:t>中创建管理员用户</a:t>
            </a:r>
            <a:r>
              <a:rPr lang="en-US" altLang="zh-CN" sz="2000" dirty="0" err="1">
                <a:solidFill>
                  <a:srgbClr val="595959"/>
                </a:solidFill>
                <a:latin typeface="微软雅黑" panose="020B0503020204020204" pitchFamily="34" charset="-122"/>
                <a:ea typeface="微软雅黑" panose="020B0503020204020204" pitchFamily="34" charset="-122"/>
              </a:rPr>
              <a:t>itcastAdmin</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3306935" y="2296692"/>
            <a:ext cx="1132077"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1" name="直接箭头连接符 10"/>
          <p:cNvCxnSpPr/>
          <p:nvPr/>
        </p:nvCxnSpPr>
        <p:spPr>
          <a:xfrm>
            <a:off x="4295006" y="2296692"/>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107146" y="2219063"/>
            <a:ext cx="1944216" cy="40926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4" name="文本框 7"/>
          <p:cNvSpPr txBox="1"/>
          <p:nvPr/>
        </p:nvSpPr>
        <p:spPr>
          <a:xfrm>
            <a:off x="5109678" y="2256297"/>
            <a:ext cx="2033734" cy="37202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切换到数据库</a:t>
            </a:r>
            <a:r>
              <a:rPr lang="en-US" altLang="zh-CN" sz="1600" dirty="0">
                <a:solidFill>
                  <a:srgbClr val="FF0000"/>
                </a:solidFill>
                <a:latin typeface="微软雅黑" panose="020B0503020204020204" pitchFamily="34" charset="-122"/>
                <a:ea typeface="微软雅黑" panose="020B0503020204020204" pitchFamily="34" charset="-122"/>
              </a:rPr>
              <a:t>admin</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8" name="矩形 17"/>
          <p:cNvSpPr/>
          <p:nvPr/>
        </p:nvSpPr>
        <p:spPr>
          <a:xfrm>
            <a:off x="3325924" y="2666072"/>
            <a:ext cx="5073538" cy="378805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9" name="直接箭头连接符 18"/>
          <p:cNvCxnSpPr/>
          <p:nvPr/>
        </p:nvCxnSpPr>
        <p:spPr>
          <a:xfrm>
            <a:off x="7967414" y="2666072"/>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687494" y="2528463"/>
            <a:ext cx="1944216" cy="723771"/>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7" name="文本框 7"/>
          <p:cNvSpPr txBox="1"/>
          <p:nvPr/>
        </p:nvSpPr>
        <p:spPr>
          <a:xfrm>
            <a:off x="8690026" y="2565698"/>
            <a:ext cx="2033734"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创建管理员用户</a:t>
            </a:r>
            <a:r>
              <a:rPr lang="en-US" altLang="zh-CN" sz="1600" dirty="0" err="1">
                <a:solidFill>
                  <a:srgbClr val="FF0000"/>
                </a:solidFill>
                <a:latin typeface="微软雅黑" panose="020B0503020204020204" pitchFamily="34" charset="-122"/>
                <a:ea typeface="微软雅黑" panose="020B0503020204020204" pitchFamily="34" charset="-122"/>
              </a:rPr>
              <a:t>itcastAdmin</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214886" y="4352460"/>
            <a:ext cx="7776864" cy="1093558"/>
            <a:chOff x="1181682" y="1980410"/>
            <a:chExt cx="9098303" cy="1868421"/>
          </a:xfrm>
        </p:grpSpPr>
        <p:sp>
          <p:nvSpPr>
            <p:cNvPr id="22" name="矩形 21"/>
            <p:cNvSpPr/>
            <p:nvPr/>
          </p:nvSpPr>
          <p:spPr>
            <a:xfrm>
              <a:off x="1181682" y="1980410"/>
              <a:ext cx="9098303"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30" y="2418591"/>
              <a:ext cx="907485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--shutdown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mongosh</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a:t>
            </a:r>
            <a:r>
              <a:rPr lang="en-US" altLang="zh-CN" sz="2000" dirty="0">
                <a:solidFill>
                  <a:srgbClr val="1369B2"/>
                </a:solidFill>
                <a:latin typeface="微软雅黑" panose="020B0503020204020204" pitchFamily="34" charset="-122"/>
                <a:ea typeface="微软雅黑" panose="020B0503020204020204" pitchFamily="34" charset="-122"/>
              </a:rPr>
              <a:t>exit</a:t>
            </a:r>
            <a:r>
              <a:rPr lang="zh-CN" altLang="en-US" sz="2000" dirty="0">
                <a:solidFill>
                  <a:srgbClr val="595959"/>
                </a:solidFill>
                <a:latin typeface="微软雅黑" panose="020B0503020204020204" pitchFamily="34" charset="-122"/>
                <a:ea typeface="微软雅黑" panose="020B0503020204020204" pitchFamily="34" charset="-122"/>
              </a:rPr>
              <a:t>命令关闭</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8"/>
          <p:cNvSpPr/>
          <p:nvPr/>
        </p:nvSpPr>
        <p:spPr>
          <a:xfrm>
            <a:off x="1054646" y="3030411"/>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1" name="文本框 10"/>
          <p:cNvSpPr txBox="1"/>
          <p:nvPr/>
        </p:nvSpPr>
        <p:spPr>
          <a:xfrm flipH="1">
            <a:off x="1143758" y="3166150"/>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2" name="1"/>
          <p:cNvSpPr txBox="1"/>
          <p:nvPr/>
        </p:nvSpPr>
        <p:spPr>
          <a:xfrm>
            <a:off x="3010236" y="2912300"/>
            <a:ext cx="8402202"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NoSQL01</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和</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NoSQL02</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分别在虚拟机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r>
              <a:rPr lang="zh-CN" altLang="en-US" sz="2000" dirty="0">
                <a:solidFill>
                  <a:srgbClr val="1369B2"/>
                </a:solidFill>
                <a:latin typeface="微软雅黑" panose="020B0503020204020204" pitchFamily="34" charset="-122"/>
                <a:ea typeface="微软雅黑" panose="020B0503020204020204" pitchFamily="34" charset="-122"/>
              </a:rPr>
              <a:t>关闭</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5432580"/>
            <a:ext cx="8269543" cy="1093558"/>
            <a:chOff x="1181682" y="1980410"/>
            <a:chExt cx="9098303" cy="1868421"/>
          </a:xfrm>
        </p:grpSpPr>
        <p:sp>
          <p:nvSpPr>
            <p:cNvPr id="22" name="矩形 21"/>
            <p:cNvSpPr/>
            <p:nvPr/>
          </p:nvSpPr>
          <p:spPr>
            <a:xfrm>
              <a:off x="1181682" y="1980410"/>
              <a:ext cx="9098303"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30" y="2418591"/>
              <a:ext cx="907485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touch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关闭</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NoSQL03</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a:solidFill>
                  <a:srgbClr val="1369B2"/>
                </a:solidFill>
                <a:latin typeface="微软雅黑" panose="020B0503020204020204" pitchFamily="34" charset="-122"/>
                <a:ea typeface="微软雅黑" panose="020B0503020204020204" pitchFamily="34" charset="-122"/>
              </a:rPr>
              <a:t>关闭</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时，需要在虚拟机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8"/>
          <p:cNvSpPr/>
          <p:nvPr/>
        </p:nvSpPr>
        <p:spPr>
          <a:xfrm>
            <a:off x="1054646" y="3979953"/>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1" name="文本框 10"/>
          <p:cNvSpPr txBox="1"/>
          <p:nvPr/>
        </p:nvSpPr>
        <p:spPr>
          <a:xfrm flipH="1">
            <a:off x="1143758" y="4115692"/>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06</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2" name="1"/>
          <p:cNvSpPr txBox="1"/>
          <p:nvPr/>
        </p:nvSpPr>
        <p:spPr>
          <a:xfrm>
            <a:off x="3010236" y="3861842"/>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创建密钥文件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keyfile</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目录中</a:t>
            </a:r>
            <a:r>
              <a:rPr lang="zh-CN" altLang="en-US" sz="2000" dirty="0">
                <a:solidFill>
                  <a:srgbClr val="1369B2"/>
                </a:solidFill>
                <a:latin typeface="微软雅黑" panose="020B0503020204020204" pitchFamily="34" charset="-122"/>
                <a:ea typeface="微软雅黑" panose="020B0503020204020204" pitchFamily="34" charset="-122"/>
              </a:rPr>
              <a:t>创建密钥文件</a:t>
            </a:r>
            <a:r>
              <a:rPr lang="en-US" altLang="zh-CN" sz="2000" dirty="0" err="1">
                <a:solidFill>
                  <a:srgbClr val="1369B2"/>
                </a:solidFill>
                <a:latin typeface="微软雅黑" panose="020B0503020204020204" pitchFamily="34" charset="-122"/>
                <a:ea typeface="微软雅黑" panose="020B0503020204020204" pitchFamily="34" charset="-122"/>
              </a:rPr>
              <a:t>keyfile</a:t>
            </a: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4" name="组合 13"/>
          <p:cNvGrpSpPr/>
          <p:nvPr/>
        </p:nvGrpSpPr>
        <p:grpSpPr bwMode="auto">
          <a:xfrm>
            <a:off x="3082230" y="2624268"/>
            <a:ext cx="8554900" cy="1093558"/>
            <a:chOff x="1026484" y="1980410"/>
            <a:chExt cx="10008544" cy="1868421"/>
          </a:xfrm>
        </p:grpSpPr>
        <p:sp>
          <p:nvSpPr>
            <p:cNvPr id="15" name="矩形 14"/>
            <p:cNvSpPr/>
            <p:nvPr/>
          </p:nvSpPr>
          <p:spPr>
            <a:xfrm>
              <a:off x="1026484" y="1980410"/>
              <a:ext cx="9829896"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418592"/>
              <a:ext cx="9829898"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--shutdown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dbpath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new_db</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5432580"/>
            <a:ext cx="8269543" cy="1093558"/>
            <a:chOff x="1181682" y="1980410"/>
            <a:chExt cx="9098303" cy="1868421"/>
          </a:xfrm>
        </p:grpSpPr>
        <p:sp>
          <p:nvSpPr>
            <p:cNvPr id="22" name="矩形 21"/>
            <p:cNvSpPr/>
            <p:nvPr/>
          </p:nvSpPr>
          <p:spPr>
            <a:xfrm>
              <a:off x="1181682" y="1980410"/>
              <a:ext cx="9098303"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30" y="2418591"/>
              <a:ext cx="907485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chmod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400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07</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生成随机字符串</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595959"/>
                </a:solidFill>
                <a:latin typeface="微软雅黑" panose="020B0503020204020204" pitchFamily="34" charset="-122"/>
                <a:ea typeface="微软雅黑" panose="020B0503020204020204" pitchFamily="34" charset="-122"/>
              </a:rPr>
              <a:t>OpenSSL</a:t>
            </a:r>
            <a:r>
              <a:rPr lang="zh-CN" altLang="en-US" sz="2000" dirty="0">
                <a:solidFill>
                  <a:srgbClr val="595959"/>
                </a:solidFill>
                <a:latin typeface="微软雅黑" panose="020B0503020204020204" pitchFamily="34" charset="-122"/>
                <a:ea typeface="微软雅黑" panose="020B0503020204020204" pitchFamily="34" charset="-122"/>
              </a:rPr>
              <a:t>工具</a:t>
            </a:r>
            <a:r>
              <a:rPr lang="zh-CN" altLang="en-US" sz="2000" dirty="0">
                <a:solidFill>
                  <a:srgbClr val="1369B2"/>
                </a:solidFill>
                <a:latin typeface="微软雅黑" panose="020B0503020204020204" pitchFamily="34" charset="-122"/>
                <a:ea typeface="微软雅黑" panose="020B0503020204020204" pitchFamily="34" charset="-122"/>
              </a:rPr>
              <a:t>生成随机字符串</a:t>
            </a:r>
            <a:r>
              <a:rPr lang="zh-CN" altLang="en-US" sz="2000" dirty="0">
                <a:solidFill>
                  <a:srgbClr val="595959"/>
                </a:solidFill>
                <a:latin typeface="微软雅黑" panose="020B0503020204020204" pitchFamily="34" charset="-122"/>
                <a:ea typeface="微软雅黑" panose="020B0503020204020204" pitchFamily="34" charset="-122"/>
              </a:rPr>
              <a:t>作为密钥文件</a:t>
            </a:r>
            <a:r>
              <a:rPr lang="en-US" altLang="zh-CN" sz="2000" dirty="0" err="1">
                <a:solidFill>
                  <a:srgbClr val="595959"/>
                </a:solidFill>
                <a:latin typeface="微软雅黑" panose="020B0503020204020204" pitchFamily="34" charset="-122"/>
                <a:ea typeface="微软雅黑" panose="020B0503020204020204" pitchFamily="34" charset="-122"/>
              </a:rPr>
              <a:t>keyfile</a:t>
            </a:r>
            <a:r>
              <a:rPr lang="zh-CN" altLang="en-US" sz="2000" dirty="0">
                <a:solidFill>
                  <a:srgbClr val="595959"/>
                </a:solidFill>
                <a:latin typeface="微软雅黑" panose="020B0503020204020204" pitchFamily="34" charset="-122"/>
                <a:ea typeface="微软雅黑" panose="020B0503020204020204" pitchFamily="34" charset="-122"/>
              </a:rPr>
              <a:t>的内容，在虚拟机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8"/>
          <p:cNvSpPr/>
          <p:nvPr/>
        </p:nvSpPr>
        <p:spPr>
          <a:xfrm>
            <a:off x="1054646" y="3979953"/>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1" name="文本框 10"/>
          <p:cNvSpPr txBox="1"/>
          <p:nvPr/>
        </p:nvSpPr>
        <p:spPr>
          <a:xfrm flipH="1">
            <a:off x="1143758" y="4115692"/>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08</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2" name="1"/>
          <p:cNvSpPr txBox="1"/>
          <p:nvPr/>
        </p:nvSpPr>
        <p:spPr>
          <a:xfrm>
            <a:off x="3010236" y="3861842"/>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修改秘钥文件的权限</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修改</a:t>
            </a:r>
            <a:r>
              <a:rPr lang="zh-CN" altLang="en-US" sz="2000" dirty="0">
                <a:solidFill>
                  <a:srgbClr val="1369B2"/>
                </a:solidFill>
                <a:latin typeface="微软雅黑" panose="020B0503020204020204" pitchFamily="34" charset="-122"/>
                <a:ea typeface="微软雅黑" panose="020B0503020204020204" pitchFamily="34" charset="-122"/>
              </a:rPr>
              <a:t>密钥文件</a:t>
            </a:r>
            <a:r>
              <a:rPr lang="en-US" altLang="zh-CN" sz="2000" dirty="0" err="1">
                <a:solidFill>
                  <a:srgbClr val="1369B2"/>
                </a:solidFill>
                <a:latin typeface="微软雅黑" panose="020B0503020204020204" pitchFamily="34" charset="-122"/>
                <a:ea typeface="微软雅黑" panose="020B0503020204020204" pitchFamily="34" charset="-122"/>
              </a:rPr>
              <a:t>keyfile</a:t>
            </a:r>
            <a:r>
              <a:rPr lang="zh-CN" altLang="en-US" sz="2000" dirty="0">
                <a:solidFill>
                  <a:srgbClr val="595959"/>
                </a:solidFill>
                <a:latin typeface="微软雅黑" panose="020B0503020204020204" pitchFamily="34" charset="-122"/>
                <a:ea typeface="微软雅黑" panose="020B0503020204020204" pitchFamily="34" charset="-122"/>
              </a:rPr>
              <a:t>的权限，仅为其授予所有者读权限。在虚拟机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4" name="组合 13"/>
          <p:cNvGrpSpPr/>
          <p:nvPr/>
        </p:nvGrpSpPr>
        <p:grpSpPr bwMode="auto">
          <a:xfrm>
            <a:off x="3082230" y="2624268"/>
            <a:ext cx="8554900" cy="1093558"/>
            <a:chOff x="1026484" y="1980410"/>
            <a:chExt cx="10008544" cy="1868421"/>
          </a:xfrm>
        </p:grpSpPr>
        <p:sp>
          <p:nvSpPr>
            <p:cNvPr id="15" name="矩形 14"/>
            <p:cNvSpPr/>
            <p:nvPr/>
          </p:nvSpPr>
          <p:spPr>
            <a:xfrm>
              <a:off x="1026484" y="1980410"/>
              <a:ext cx="9829896"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418592"/>
              <a:ext cx="9829898"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openssl</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rand -base64 756 &gt;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p:cNvSpPr/>
          <p:nvPr/>
        </p:nvSpPr>
        <p:spPr>
          <a:xfrm>
            <a:off x="3094939" y="3285778"/>
            <a:ext cx="8505321" cy="2592288"/>
          </a:xfrm>
          <a:prstGeom prst="roundRect">
            <a:avLst/>
          </a:prstGeom>
          <a:solidFill>
            <a:srgbClr val="F5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09</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325512" cy="1884618"/>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分发秘钥文件</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将虚拟机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中的</a:t>
            </a:r>
            <a:r>
              <a:rPr lang="zh-CN" altLang="en-US" sz="2000" dirty="0">
                <a:solidFill>
                  <a:srgbClr val="1369B2"/>
                </a:solidFill>
                <a:latin typeface="微软雅黑" panose="020B0503020204020204" pitchFamily="34" charset="-122"/>
                <a:ea typeface="微软雅黑" panose="020B0503020204020204" pitchFamily="34" charset="-122"/>
              </a:rPr>
              <a:t>密钥文件</a:t>
            </a:r>
            <a:r>
              <a:rPr lang="en-US" altLang="zh-CN" sz="2000" dirty="0" err="1">
                <a:solidFill>
                  <a:srgbClr val="1369B2"/>
                </a:solidFill>
                <a:latin typeface="微软雅黑" panose="020B0503020204020204" pitchFamily="34" charset="-122"/>
                <a:ea typeface="微软雅黑" panose="020B0503020204020204" pitchFamily="34" charset="-122"/>
              </a:rPr>
              <a:t>keyfile</a:t>
            </a:r>
            <a:r>
              <a:rPr lang="zh-CN" altLang="en-US" sz="2000" dirty="0">
                <a:solidFill>
                  <a:srgbClr val="595959"/>
                </a:solidFill>
                <a:latin typeface="微软雅黑" panose="020B0503020204020204" pitchFamily="34" charset="-122"/>
                <a:ea typeface="微软雅黑" panose="020B0503020204020204" pitchFamily="34" charset="-122"/>
              </a:rPr>
              <a:t>分发至虚拟机</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执行命令。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14" name="组合 13"/>
          <p:cNvGrpSpPr/>
          <p:nvPr/>
        </p:nvGrpSpPr>
        <p:grpSpPr bwMode="auto">
          <a:xfrm>
            <a:off x="3082231" y="3717826"/>
            <a:ext cx="8701607" cy="1512168"/>
            <a:chOff x="1026485" y="2126401"/>
            <a:chExt cx="10854128" cy="2583646"/>
          </a:xfrm>
        </p:grpSpPr>
        <p:sp>
          <p:nvSpPr>
            <p:cNvPr id="15" name="矩形 14"/>
            <p:cNvSpPr/>
            <p:nvPr/>
          </p:nvSpPr>
          <p:spPr>
            <a:xfrm>
              <a:off x="1026485" y="2126401"/>
              <a:ext cx="10494846" cy="2583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418592"/>
              <a:ext cx="10675483" cy="149398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nosql02:/export/servers/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scp</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nosql03:/export/servers/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31" name="矩形 30"/>
          <p:cNvSpPr/>
          <p:nvPr/>
        </p:nvSpPr>
        <p:spPr>
          <a:xfrm>
            <a:off x="1596801" y="3495548"/>
            <a:ext cx="1183282" cy="63001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32" name="直接箭头连接符 31"/>
          <p:cNvCxnSpPr/>
          <p:nvPr/>
        </p:nvCxnSpPr>
        <p:spPr>
          <a:xfrm flipH="1" flipV="1">
            <a:off x="2813949" y="3907835"/>
            <a:ext cx="787238" cy="496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7"/>
          <p:cNvSpPr txBox="1"/>
          <p:nvPr/>
        </p:nvSpPr>
        <p:spPr>
          <a:xfrm>
            <a:off x="1561633" y="3478454"/>
            <a:ext cx="1300998"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发至虚拟机</a:t>
            </a:r>
            <a:r>
              <a:rPr lang="en-US" altLang="zh-CN" sz="1600" dirty="0">
                <a:solidFill>
                  <a:srgbClr val="FF0000"/>
                </a:solidFill>
                <a:latin typeface="微软雅黑" panose="020B0503020204020204" pitchFamily="34" charset="-122"/>
                <a:ea typeface="微软雅黑" panose="020B0503020204020204" pitchFamily="34" charset="-122"/>
              </a:rPr>
              <a:t>NoSQL02</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5" name="矩形: 圆角 34"/>
          <p:cNvSpPr/>
          <p:nvPr/>
        </p:nvSpPr>
        <p:spPr>
          <a:xfrm>
            <a:off x="3219568" y="3909061"/>
            <a:ext cx="8132222" cy="43472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p:cNvSpPr/>
          <p:nvPr/>
        </p:nvSpPr>
        <p:spPr>
          <a:xfrm>
            <a:off x="3214886" y="4435231"/>
            <a:ext cx="8132222" cy="43472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p:nvPr/>
        </p:nvCxnSpPr>
        <p:spPr>
          <a:xfrm flipH="1" flipV="1">
            <a:off x="2787688" y="4881012"/>
            <a:ext cx="787238" cy="496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1589016" y="4452325"/>
            <a:ext cx="1183282" cy="63001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42" name="文本框 7"/>
          <p:cNvSpPr txBox="1"/>
          <p:nvPr/>
        </p:nvSpPr>
        <p:spPr>
          <a:xfrm>
            <a:off x="1553848" y="4435231"/>
            <a:ext cx="1300998" cy="679801"/>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发至虚拟机</a:t>
            </a:r>
            <a:r>
              <a:rPr lang="en-US" altLang="zh-CN" sz="1600" dirty="0">
                <a:solidFill>
                  <a:srgbClr val="FF0000"/>
                </a:solidFill>
                <a:latin typeface="微软雅黑" panose="020B0503020204020204" pitchFamily="34" charset="-122"/>
                <a:ea typeface="微软雅黑" panose="020B0503020204020204" pitchFamily="34" charset="-122"/>
              </a:rPr>
              <a:t>NoSQL03</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5432580"/>
            <a:ext cx="8269543" cy="1093558"/>
            <a:chOff x="1181682" y="1980410"/>
            <a:chExt cx="9098303" cy="1868421"/>
          </a:xfrm>
        </p:grpSpPr>
        <p:sp>
          <p:nvSpPr>
            <p:cNvPr id="22" name="矩形 21"/>
            <p:cNvSpPr/>
            <p:nvPr/>
          </p:nvSpPr>
          <p:spPr>
            <a:xfrm>
              <a:off x="1181682" y="1980410"/>
              <a:ext cx="9098303"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30" y="2003370"/>
              <a:ext cx="9074855" cy="164243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security:</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10</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编辑配置文件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mongod.conf</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目录中使用</a:t>
            </a:r>
            <a:r>
              <a:rPr lang="en-US" altLang="zh-CN" sz="2000" dirty="0">
                <a:solidFill>
                  <a:srgbClr val="595959"/>
                </a:solidFill>
                <a:latin typeface="微软雅黑" panose="020B0503020204020204" pitchFamily="34" charset="-122"/>
                <a:ea typeface="微软雅黑" panose="020B0503020204020204" pitchFamily="34" charset="-122"/>
              </a:rPr>
              <a:t>vi</a:t>
            </a:r>
            <a:r>
              <a:rPr lang="zh-CN" altLang="en-US" sz="2000" dirty="0">
                <a:solidFill>
                  <a:srgbClr val="595959"/>
                </a:solidFill>
                <a:latin typeface="微软雅黑" panose="020B0503020204020204" pitchFamily="34" charset="-122"/>
                <a:ea typeface="微软雅黑" panose="020B0503020204020204" pitchFamily="34" charset="-122"/>
              </a:rPr>
              <a:t>编辑器编辑配置文件</a:t>
            </a:r>
            <a:r>
              <a:rPr lang="en-US" altLang="zh-CN" sz="2000" dirty="0" err="1">
                <a:solidFill>
                  <a:srgbClr val="1369B2"/>
                </a:solidFill>
                <a:latin typeface="微软雅黑" panose="020B0503020204020204" pitchFamily="34" charset="-122"/>
                <a:ea typeface="微软雅黑" panose="020B0503020204020204" pitchFamily="34" charset="-122"/>
              </a:rPr>
              <a:t>mongod.conf</a:t>
            </a:r>
            <a:r>
              <a:rPr lang="zh-CN" altLang="en-US" sz="2000" dirty="0">
                <a:solidFill>
                  <a:srgbClr val="595959"/>
                </a:solidFill>
                <a:latin typeface="微软雅黑" panose="020B0503020204020204" pitchFamily="34" charset="-122"/>
                <a:ea typeface="微软雅黑" panose="020B0503020204020204" pitchFamily="34" charset="-122"/>
              </a:rPr>
              <a:t>，并且在在文件的末尾添加如下内容。</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8"/>
          <p:cNvSpPr/>
          <p:nvPr/>
        </p:nvSpPr>
        <p:spPr>
          <a:xfrm>
            <a:off x="1054646" y="3979953"/>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1" name="文本框 10"/>
          <p:cNvSpPr txBox="1"/>
          <p:nvPr/>
        </p:nvSpPr>
        <p:spPr>
          <a:xfrm flipH="1">
            <a:off x="1143758" y="4115692"/>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11</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2" name="1"/>
          <p:cNvSpPr txBox="1"/>
          <p:nvPr/>
        </p:nvSpPr>
        <p:spPr>
          <a:xfrm>
            <a:off x="3010236" y="3861842"/>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编辑配置文件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new_mongod.conf</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目录中使用</a:t>
            </a:r>
            <a:r>
              <a:rPr lang="en-US" altLang="zh-CN" sz="2000" dirty="0">
                <a:solidFill>
                  <a:srgbClr val="595959"/>
                </a:solidFill>
                <a:latin typeface="微软雅黑" panose="020B0503020204020204" pitchFamily="34" charset="-122"/>
                <a:ea typeface="微软雅黑" panose="020B0503020204020204" pitchFamily="34" charset="-122"/>
              </a:rPr>
              <a:t>vi</a:t>
            </a:r>
            <a:r>
              <a:rPr lang="zh-CN" altLang="en-US" sz="2000" dirty="0">
                <a:solidFill>
                  <a:srgbClr val="595959"/>
                </a:solidFill>
                <a:latin typeface="微软雅黑" panose="020B0503020204020204" pitchFamily="34" charset="-122"/>
                <a:ea typeface="微软雅黑" panose="020B0503020204020204" pitchFamily="34" charset="-122"/>
              </a:rPr>
              <a:t>编辑器编辑配置文件</a:t>
            </a:r>
            <a:r>
              <a:rPr lang="en-US" altLang="zh-CN" sz="2000" dirty="0" err="1">
                <a:solidFill>
                  <a:srgbClr val="1369B2"/>
                </a:solidFill>
                <a:latin typeface="微软雅黑" panose="020B0503020204020204" pitchFamily="34" charset="-122"/>
                <a:ea typeface="微软雅黑" panose="020B0503020204020204" pitchFamily="34" charset="-122"/>
              </a:rPr>
              <a:t>new_mongod.conf</a:t>
            </a:r>
            <a:r>
              <a:rPr lang="zh-CN" altLang="en-US" sz="2000" dirty="0">
                <a:solidFill>
                  <a:srgbClr val="595959"/>
                </a:solidFill>
                <a:latin typeface="微软雅黑" panose="020B0503020204020204" pitchFamily="34" charset="-122"/>
                <a:ea typeface="微软雅黑" panose="020B0503020204020204" pitchFamily="34" charset="-122"/>
              </a:rPr>
              <a:t>，在文件的末尾添加如下内容。</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4" name="组合 13"/>
          <p:cNvGrpSpPr/>
          <p:nvPr/>
        </p:nvGrpSpPr>
        <p:grpSpPr bwMode="auto">
          <a:xfrm>
            <a:off x="3082230" y="2624268"/>
            <a:ext cx="8554900" cy="1093558"/>
            <a:chOff x="1026484" y="1980410"/>
            <a:chExt cx="10008544" cy="1868421"/>
          </a:xfrm>
        </p:grpSpPr>
        <p:sp>
          <p:nvSpPr>
            <p:cNvPr id="15" name="矩形 14"/>
            <p:cNvSpPr/>
            <p:nvPr/>
          </p:nvSpPr>
          <p:spPr>
            <a:xfrm>
              <a:off x="1026484" y="1980410"/>
              <a:ext cx="9829896"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003370"/>
              <a:ext cx="9829898" cy="1642430"/>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security:</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keyfile</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auto">
          <a:xfrm>
            <a:off x="3070870" y="5432580"/>
            <a:ext cx="8269543" cy="1093558"/>
            <a:chOff x="1181682" y="1980410"/>
            <a:chExt cx="9098303" cy="1868421"/>
          </a:xfrm>
        </p:grpSpPr>
        <p:sp>
          <p:nvSpPr>
            <p:cNvPr id="22" name="矩形 21"/>
            <p:cNvSpPr/>
            <p:nvPr/>
          </p:nvSpPr>
          <p:spPr>
            <a:xfrm>
              <a:off x="1181682" y="1980410"/>
              <a:ext cx="9098303"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3" name="矩形 22"/>
            <p:cNvSpPr/>
            <p:nvPr/>
          </p:nvSpPr>
          <p:spPr>
            <a:xfrm>
              <a:off x="1205130" y="2380034"/>
              <a:ext cx="9074855"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new_mongod.conf</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12</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通过配置文件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mongod.conf</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启动</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NoSQL01</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NoSQL02</a:t>
            </a:r>
            <a:r>
              <a:rPr lang="zh-CN" altLang="en-US" sz="2000" dirty="0">
                <a:solidFill>
                  <a:srgbClr val="595959"/>
                </a:solidFill>
                <a:latin typeface="微软雅黑" panose="020B0503020204020204" pitchFamily="34" charset="-122"/>
                <a:ea typeface="微软雅黑" panose="020B0503020204020204" pitchFamily="34" charset="-122"/>
              </a:rPr>
              <a:t>中通过</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目录中的配置文件</a:t>
            </a:r>
            <a:r>
              <a:rPr lang="en-US" altLang="zh-CN" sz="2000" dirty="0" err="1">
                <a:solidFill>
                  <a:srgbClr val="1369B2"/>
                </a:solidFill>
                <a:latin typeface="微软雅黑" panose="020B0503020204020204" pitchFamily="34" charset="-122"/>
                <a:ea typeface="微软雅黑" panose="020B0503020204020204" pitchFamily="34" charset="-122"/>
              </a:rPr>
              <a:t>mongod.conf</a:t>
            </a:r>
            <a:r>
              <a:rPr lang="zh-CN" altLang="en-US" sz="2000" dirty="0">
                <a:solidFill>
                  <a:srgbClr val="1369B2"/>
                </a:solidFill>
                <a:latin typeface="微软雅黑" panose="020B0503020204020204" pitchFamily="34" charset="-122"/>
                <a:ea typeface="微软雅黑" panose="020B0503020204020204" pitchFamily="34" charset="-122"/>
              </a:rPr>
              <a:t>启动</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，具体命令如下。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8"/>
          <p:cNvSpPr/>
          <p:nvPr/>
        </p:nvSpPr>
        <p:spPr>
          <a:xfrm>
            <a:off x="1054646" y="3979953"/>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1" name="文本框 10"/>
          <p:cNvSpPr txBox="1"/>
          <p:nvPr/>
        </p:nvSpPr>
        <p:spPr>
          <a:xfrm flipH="1">
            <a:off x="1143758" y="4115692"/>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13</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2" name="1"/>
          <p:cNvSpPr txBox="1"/>
          <p:nvPr/>
        </p:nvSpPr>
        <p:spPr>
          <a:xfrm>
            <a:off x="3010236" y="3861842"/>
            <a:ext cx="8402202"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通过配置文件</a:t>
            </a:r>
            <a:r>
              <a:rPr lang="en-US" altLang="zh-CN" sz="2000" b="1" kern="0" dirty="0" err="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new_mongod.conf</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启动</a:t>
            </a:r>
            <a:r>
              <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MongoDB</a:t>
            </a: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服务</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在虚拟机</a:t>
            </a:r>
            <a:r>
              <a:rPr lang="en-US" altLang="zh-CN" sz="2000" dirty="0">
                <a:solidFill>
                  <a:srgbClr val="595959"/>
                </a:solidFill>
                <a:latin typeface="微软雅黑" panose="020B0503020204020204" pitchFamily="34" charset="-122"/>
                <a:ea typeface="微软雅黑" panose="020B0503020204020204" pitchFamily="34" charset="-122"/>
              </a:rPr>
              <a:t>NoSQL03</a:t>
            </a:r>
            <a:r>
              <a:rPr lang="zh-CN" altLang="en-US" sz="2000" dirty="0">
                <a:solidFill>
                  <a:srgbClr val="595959"/>
                </a:solidFill>
                <a:latin typeface="微软雅黑" panose="020B0503020204020204" pitchFamily="34" charset="-122"/>
                <a:ea typeface="微软雅黑" panose="020B0503020204020204" pitchFamily="34" charset="-122"/>
              </a:rPr>
              <a:t>中通过</a:t>
            </a:r>
            <a:r>
              <a:rPr lang="en-US" altLang="zh-CN" sz="2000" dirty="0">
                <a:solidFill>
                  <a:srgbClr val="595959"/>
                </a:solidFill>
                <a:latin typeface="微软雅黑" panose="020B0503020204020204" pitchFamily="34" charset="-122"/>
                <a:ea typeface="微软雅黑" panose="020B0503020204020204" pitchFamily="34" charset="-122"/>
              </a:rPr>
              <a:t>/export/servers/</a:t>
            </a:r>
            <a:r>
              <a:rPr lang="en-US" altLang="zh-CN" sz="2000" dirty="0" err="1">
                <a:solidFill>
                  <a:srgbClr val="595959"/>
                </a:solidFill>
                <a:latin typeface="微软雅黑" panose="020B0503020204020204" pitchFamily="34" charset="-122"/>
                <a:ea typeface="微软雅黑" panose="020B0503020204020204" pitchFamily="34" charset="-122"/>
              </a:rPr>
              <a:t>replicaSet</a:t>
            </a:r>
            <a:r>
              <a:rPr lang="zh-CN" altLang="en-US" sz="2000" dirty="0">
                <a:solidFill>
                  <a:srgbClr val="595959"/>
                </a:solidFill>
                <a:latin typeface="微软雅黑" panose="020B0503020204020204" pitchFamily="34" charset="-122"/>
                <a:ea typeface="微软雅黑" panose="020B0503020204020204" pitchFamily="34" charset="-122"/>
              </a:rPr>
              <a:t>目录中的配置文件</a:t>
            </a:r>
            <a:r>
              <a:rPr lang="en-US" altLang="zh-CN" sz="2000" dirty="0" err="1">
                <a:solidFill>
                  <a:srgbClr val="1369B2"/>
                </a:solidFill>
                <a:latin typeface="微软雅黑" panose="020B0503020204020204" pitchFamily="34" charset="-122"/>
                <a:ea typeface="微软雅黑" panose="020B0503020204020204" pitchFamily="34" charset="-122"/>
              </a:rPr>
              <a:t>new_mongod.conf</a:t>
            </a:r>
            <a:r>
              <a:rPr lang="zh-CN" altLang="en-US" sz="2000" dirty="0">
                <a:solidFill>
                  <a:srgbClr val="1369B2"/>
                </a:solidFill>
                <a:latin typeface="微软雅黑" panose="020B0503020204020204" pitchFamily="34" charset="-122"/>
                <a:ea typeface="微软雅黑" panose="020B0503020204020204" pitchFamily="34" charset="-122"/>
              </a:rPr>
              <a:t>启动</a:t>
            </a:r>
            <a:r>
              <a:rPr lang="en-US" altLang="zh-CN" sz="2000" dirty="0">
                <a:solidFill>
                  <a:srgbClr val="1369B2"/>
                </a:solidFill>
                <a:latin typeface="微软雅黑" panose="020B0503020204020204" pitchFamily="34" charset="-122"/>
                <a:ea typeface="微软雅黑" panose="020B0503020204020204" pitchFamily="34" charset="-122"/>
              </a:rPr>
              <a:t>MongoDB</a:t>
            </a:r>
            <a:r>
              <a:rPr lang="zh-CN" altLang="en-US" sz="2000" dirty="0">
                <a:solidFill>
                  <a:srgbClr val="1369B2"/>
                </a:solidFill>
                <a:latin typeface="微软雅黑" panose="020B0503020204020204" pitchFamily="34" charset="-122"/>
                <a:ea typeface="微软雅黑" panose="020B0503020204020204" pitchFamily="34" charset="-122"/>
              </a:rPr>
              <a:t>服务</a:t>
            </a:r>
            <a:r>
              <a:rPr lang="zh-CN" altLang="en-US" sz="2000" dirty="0">
                <a:solidFill>
                  <a:srgbClr val="595959"/>
                </a:solidFill>
                <a:latin typeface="微软雅黑" panose="020B0503020204020204" pitchFamily="34" charset="-122"/>
                <a:ea typeface="微软雅黑" panose="020B0503020204020204" pitchFamily="34" charset="-122"/>
              </a:rPr>
              <a:t>，具体命令如下。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4" name="组合 13"/>
          <p:cNvGrpSpPr/>
          <p:nvPr/>
        </p:nvGrpSpPr>
        <p:grpSpPr bwMode="auto">
          <a:xfrm>
            <a:off x="3082230" y="2624268"/>
            <a:ext cx="8554900" cy="1093558"/>
            <a:chOff x="1026484" y="1980410"/>
            <a:chExt cx="10008544" cy="1868421"/>
          </a:xfrm>
        </p:grpSpPr>
        <p:sp>
          <p:nvSpPr>
            <p:cNvPr id="15" name="矩形 14"/>
            <p:cNvSpPr/>
            <p:nvPr/>
          </p:nvSpPr>
          <p:spPr>
            <a:xfrm>
              <a:off x="1026484" y="1980410"/>
              <a:ext cx="9829896"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380034"/>
              <a:ext cx="9829898"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-f /export/servers/</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replicaSet</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mongod.conf</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14</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身份验证</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通过</a:t>
            </a:r>
            <a:r>
              <a:rPr lang="zh-CN" altLang="en-US" sz="2000" dirty="0">
                <a:solidFill>
                  <a:srgbClr val="1369B2"/>
                </a:solidFill>
                <a:latin typeface="微软雅黑" panose="020B0503020204020204" pitchFamily="34" charset="-122"/>
                <a:ea typeface="微软雅黑" panose="020B0503020204020204" pitchFamily="34" charset="-122"/>
              </a:rPr>
              <a:t>副本集连接的方式</a:t>
            </a:r>
            <a:r>
              <a:rPr lang="zh-CN" altLang="en-US" sz="2000" dirty="0">
                <a:solidFill>
                  <a:srgbClr val="595959"/>
                </a:solidFill>
                <a:latin typeface="微软雅黑" panose="020B0503020204020204" pitchFamily="34" charset="-122"/>
                <a:ea typeface="微软雅黑" panose="020B0503020204020204" pitchFamily="34" charset="-122"/>
              </a:rPr>
              <a:t>连接副本集，验证在未进行身份验证的情况下，是否可以查看数据库</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en-US" sz="2000" dirty="0">
                <a:solidFill>
                  <a:srgbClr val="595959"/>
                </a:solidFill>
                <a:latin typeface="微软雅黑" panose="020B0503020204020204" pitchFamily="34" charset="-122"/>
                <a:ea typeface="微软雅黑" panose="020B0503020204020204" pitchFamily="34" charset="-122"/>
              </a:rPr>
              <a:t>中的所有集合，在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中执行如下命令。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14" name="组合 13"/>
          <p:cNvGrpSpPr/>
          <p:nvPr/>
        </p:nvGrpSpPr>
        <p:grpSpPr bwMode="auto">
          <a:xfrm>
            <a:off x="3082230" y="2624268"/>
            <a:ext cx="8413576" cy="1093558"/>
            <a:chOff x="1026484" y="1980410"/>
            <a:chExt cx="10008544" cy="1868421"/>
          </a:xfrm>
        </p:grpSpPr>
        <p:sp>
          <p:nvSpPr>
            <p:cNvPr id="15" name="矩形 14"/>
            <p:cNvSpPr/>
            <p:nvPr/>
          </p:nvSpPr>
          <p:spPr>
            <a:xfrm>
              <a:off x="1026484" y="1980410"/>
              <a:ext cx="9829896" cy="18684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05130" y="2380034"/>
              <a:ext cx="9829898" cy="85364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collections</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pic>
        <p:nvPicPr>
          <p:cNvPr id="89090" name="Picture 2" descr="C:\Users\16366\AppData\Local\Temp\ksohtml17796\wps56.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9572" y="4221881"/>
            <a:ext cx="6340274" cy="2370711"/>
          </a:xfrm>
          <a:prstGeom prst="rect">
            <a:avLst/>
          </a:prstGeom>
          <a:noFill/>
          <a:extLst>
            <a:ext uri="{909E8E84-426E-40DD-AFC4-6F175D3DCCD1}">
              <a14:hiddenFill xmlns:a14="http://schemas.microsoft.com/office/drawing/2010/main">
                <a:solidFill>
                  <a:srgbClr val="FFFFFF"/>
                </a:solidFill>
              </a14:hiddenFill>
            </a:ext>
          </a:extLst>
        </p:spPr>
      </p:pic>
      <p:sp>
        <p:nvSpPr>
          <p:cNvPr id="2" name="箭头: 下 1"/>
          <p:cNvSpPr/>
          <p:nvPr/>
        </p:nvSpPr>
        <p:spPr>
          <a:xfrm>
            <a:off x="5663158" y="3717826"/>
            <a:ext cx="360040" cy="43204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24"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25" name="1"/>
          <p:cNvSpPr txBox="1"/>
          <p:nvPr/>
        </p:nvSpPr>
        <p:spPr>
          <a:xfrm>
            <a:off x="3021596" y="1125538"/>
            <a:ext cx="8546218" cy="14229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查看数据集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在数据库</a:t>
            </a:r>
            <a:r>
              <a:rPr lang="en-US" altLang="zh-CN" sz="2000" dirty="0">
                <a:solidFill>
                  <a:srgbClr val="595959"/>
                </a:solidFill>
                <a:latin typeface="微软雅黑" panose="020B0503020204020204" pitchFamily="34" charset="-122"/>
                <a:ea typeface="微软雅黑" panose="020B0503020204020204" pitchFamily="34" charset="-122"/>
              </a:rPr>
              <a:t>admin</a:t>
            </a:r>
            <a:r>
              <a:rPr lang="zh-CN" altLang="en-US" sz="2000" dirty="0">
                <a:solidFill>
                  <a:srgbClr val="595959"/>
                </a:solidFill>
                <a:latin typeface="微软雅黑" panose="020B0503020204020204" pitchFamily="34" charset="-122"/>
                <a:ea typeface="微软雅黑" panose="020B0503020204020204" pitchFamily="34" charset="-122"/>
              </a:rPr>
              <a:t>中，使用管理员用户</a:t>
            </a:r>
            <a:r>
              <a:rPr lang="en-US" altLang="zh-CN" sz="2000" dirty="0" err="1">
                <a:solidFill>
                  <a:srgbClr val="1369B2"/>
                </a:solidFill>
                <a:latin typeface="微软雅黑" panose="020B0503020204020204" pitchFamily="34" charset="-122"/>
                <a:ea typeface="微软雅黑" panose="020B0503020204020204" pitchFamily="34" charset="-122"/>
              </a:rPr>
              <a:t>itcastAdmin</a:t>
            </a:r>
            <a:r>
              <a:rPr lang="zh-CN" altLang="en-US" sz="2000" dirty="0">
                <a:solidFill>
                  <a:srgbClr val="595959"/>
                </a:solidFill>
                <a:latin typeface="微软雅黑" panose="020B0503020204020204" pitchFamily="34" charset="-122"/>
                <a:ea typeface="微软雅黑" panose="020B0503020204020204" pitchFamily="34" charset="-122"/>
              </a:rPr>
              <a:t>进行身份验证后，再次查看数据库</a:t>
            </a:r>
            <a:r>
              <a:rPr lang="en-US" altLang="zh-CN" sz="2000" dirty="0">
                <a:solidFill>
                  <a:srgbClr val="595959"/>
                </a:solidFill>
                <a:latin typeface="微软雅黑" panose="020B0503020204020204" pitchFamily="34" charset="-122"/>
                <a:ea typeface="微软雅黑" panose="020B0503020204020204" pitchFamily="34" charset="-122"/>
              </a:rPr>
              <a:t>test</a:t>
            </a:r>
            <a:r>
              <a:rPr lang="zh-CN" altLang="en-US" sz="2000" dirty="0">
                <a:solidFill>
                  <a:srgbClr val="595959"/>
                </a:solidFill>
                <a:latin typeface="微软雅黑" panose="020B0503020204020204" pitchFamily="34" charset="-122"/>
                <a:ea typeface="微软雅黑" panose="020B0503020204020204" pitchFamily="34" charset="-122"/>
              </a:rPr>
              <a:t>中的所有集合，在</a:t>
            </a:r>
            <a:r>
              <a:rPr lang="en-US" altLang="zh-CN" sz="2000" dirty="0" err="1">
                <a:solidFill>
                  <a:srgbClr val="595959"/>
                </a:solidFill>
                <a:latin typeface="微软雅黑" panose="020B0503020204020204" pitchFamily="34" charset="-122"/>
                <a:ea typeface="微软雅黑" panose="020B0503020204020204" pitchFamily="34" charset="-122"/>
              </a:rPr>
              <a:t>mongosh</a:t>
            </a:r>
            <a:r>
              <a:rPr lang="zh-CN" altLang="en-US" sz="2000" dirty="0">
                <a:solidFill>
                  <a:srgbClr val="595959"/>
                </a:solidFill>
                <a:latin typeface="微软雅黑" panose="020B0503020204020204" pitchFamily="34" charset="-122"/>
                <a:ea typeface="微软雅黑" panose="020B0503020204020204" pitchFamily="34" charset="-122"/>
              </a:rPr>
              <a:t>中执行下列命令。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14" name="组合 13"/>
          <p:cNvGrpSpPr/>
          <p:nvPr/>
        </p:nvGrpSpPr>
        <p:grpSpPr bwMode="auto">
          <a:xfrm>
            <a:off x="3082230" y="2984308"/>
            <a:ext cx="8485584" cy="2605726"/>
            <a:chOff x="1026484" y="1980410"/>
            <a:chExt cx="10094203" cy="1374598"/>
          </a:xfrm>
        </p:grpSpPr>
        <p:sp>
          <p:nvSpPr>
            <p:cNvPr id="15" name="矩形 14"/>
            <p:cNvSpPr/>
            <p:nvPr/>
          </p:nvSpPr>
          <p:spPr>
            <a:xfrm>
              <a:off x="1026484" y="1980410"/>
              <a:ext cx="9829896" cy="13745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6" name="矩形 15"/>
            <p:cNvSpPr/>
            <p:nvPr/>
          </p:nvSpPr>
          <p:spPr>
            <a:xfrm>
              <a:off x="1290789" y="2052212"/>
              <a:ext cx="9829898" cy="99419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 admin</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db.auth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('itcastAdmin','123456')</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 test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collections</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
        <p:nvSpPr>
          <p:cNvPr id="17" name="矩形 16"/>
          <p:cNvSpPr/>
          <p:nvPr/>
        </p:nvSpPr>
        <p:spPr>
          <a:xfrm>
            <a:off x="3304415" y="3260988"/>
            <a:ext cx="1494647"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18" name="直接箭头连接符 17"/>
          <p:cNvCxnSpPr/>
          <p:nvPr/>
        </p:nvCxnSpPr>
        <p:spPr>
          <a:xfrm>
            <a:off x="4292486" y="3260988"/>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015086" y="3069753"/>
            <a:ext cx="1944216" cy="40926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26" name="文本框 7"/>
          <p:cNvSpPr txBox="1"/>
          <p:nvPr/>
        </p:nvSpPr>
        <p:spPr>
          <a:xfrm>
            <a:off x="5017618" y="3106987"/>
            <a:ext cx="2033734" cy="37202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切换到数据库</a:t>
            </a:r>
            <a:r>
              <a:rPr lang="en-US" altLang="zh-CN" sz="1600" dirty="0">
                <a:solidFill>
                  <a:srgbClr val="FF0000"/>
                </a:solidFill>
                <a:latin typeface="微软雅黑" panose="020B0503020204020204" pitchFamily="34" charset="-122"/>
                <a:ea typeface="微软雅黑" panose="020B0503020204020204" pitchFamily="34" charset="-122"/>
              </a:rPr>
              <a:t>admin</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7" name="矩形 26"/>
          <p:cNvSpPr/>
          <p:nvPr/>
        </p:nvSpPr>
        <p:spPr>
          <a:xfrm>
            <a:off x="3304414" y="3640736"/>
            <a:ext cx="3870912" cy="459917"/>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28" name="直接箭头连接符 27"/>
          <p:cNvCxnSpPr/>
          <p:nvPr/>
        </p:nvCxnSpPr>
        <p:spPr>
          <a:xfrm>
            <a:off x="6887294" y="3629152"/>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7607384" y="3424521"/>
            <a:ext cx="2033734" cy="987567"/>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2" name="文本框 7"/>
          <p:cNvSpPr txBox="1"/>
          <p:nvPr/>
        </p:nvSpPr>
        <p:spPr>
          <a:xfrm>
            <a:off x="7609916" y="3461756"/>
            <a:ext cx="2033734" cy="987578"/>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使用管理员用户</a:t>
            </a:r>
            <a:r>
              <a:rPr lang="en-US" altLang="zh-CN" sz="1600" dirty="0" err="1">
                <a:solidFill>
                  <a:srgbClr val="FF0000"/>
                </a:solidFill>
                <a:latin typeface="微软雅黑" panose="020B0503020204020204" pitchFamily="34" charset="-122"/>
                <a:ea typeface="微软雅黑" panose="020B0503020204020204" pitchFamily="34" charset="-122"/>
              </a:rPr>
              <a:t>itcastAdmin</a:t>
            </a:r>
            <a:r>
              <a:rPr lang="zh-CN" altLang="en-US" sz="1600" dirty="0">
                <a:solidFill>
                  <a:srgbClr val="FF0000"/>
                </a:solidFill>
                <a:latin typeface="微软雅黑" panose="020B0503020204020204" pitchFamily="34" charset="-122"/>
                <a:ea typeface="微软雅黑" panose="020B0503020204020204" pitchFamily="34" charset="-122"/>
              </a:rPr>
              <a:t>进行身份验证</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3" name="矩形 32"/>
          <p:cNvSpPr/>
          <p:nvPr/>
        </p:nvSpPr>
        <p:spPr>
          <a:xfrm>
            <a:off x="3304416" y="4176429"/>
            <a:ext cx="1276082"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34" name="直接箭头连接符 33"/>
          <p:cNvCxnSpPr/>
          <p:nvPr/>
        </p:nvCxnSpPr>
        <p:spPr>
          <a:xfrm>
            <a:off x="4511030" y="4512154"/>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5219452" y="4149873"/>
            <a:ext cx="1791808" cy="40926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38" name="文本框 7"/>
          <p:cNvSpPr txBox="1"/>
          <p:nvPr/>
        </p:nvSpPr>
        <p:spPr>
          <a:xfrm>
            <a:off x="5221984" y="4187107"/>
            <a:ext cx="1881334" cy="37202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切换到数据库</a:t>
            </a:r>
            <a:r>
              <a:rPr lang="en-US" altLang="zh-CN" sz="1600" dirty="0">
                <a:solidFill>
                  <a:srgbClr val="FF0000"/>
                </a:solidFill>
                <a:latin typeface="微软雅黑" panose="020B0503020204020204" pitchFamily="34" charset="-122"/>
                <a:ea typeface="微软雅黑" panose="020B0503020204020204" pitchFamily="34" charset="-122"/>
              </a:rPr>
              <a:t>test</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9" name="矩形 38"/>
          <p:cNvSpPr/>
          <p:nvPr/>
        </p:nvSpPr>
        <p:spPr>
          <a:xfrm>
            <a:off x="3332840" y="4586682"/>
            <a:ext cx="2186302" cy="3357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cxnSp>
        <p:nvCxnSpPr>
          <p:cNvPr id="40" name="直接箭头连接符 39"/>
          <p:cNvCxnSpPr/>
          <p:nvPr/>
        </p:nvCxnSpPr>
        <p:spPr>
          <a:xfrm>
            <a:off x="5159097" y="4917389"/>
            <a:ext cx="72009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5859140" y="4820733"/>
            <a:ext cx="1486259" cy="40926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43" name="文本框 7"/>
          <p:cNvSpPr txBox="1"/>
          <p:nvPr/>
        </p:nvSpPr>
        <p:spPr>
          <a:xfrm>
            <a:off x="5861672" y="4857967"/>
            <a:ext cx="1529678" cy="37202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25000"/>
              </a:lnSpc>
            </a:pPr>
            <a:r>
              <a:rPr lang="zh-CN" altLang="en-US" sz="1600" dirty="0">
                <a:solidFill>
                  <a:srgbClr val="FF0000"/>
                </a:solidFill>
                <a:latin typeface="微软雅黑" panose="020B0503020204020204" pitchFamily="34" charset="-122"/>
                <a:ea typeface="微软雅黑" panose="020B0503020204020204" pitchFamily="34" charset="-122"/>
              </a:rPr>
              <a:t>查看所有集合</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访问控制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8"/>
          <p:cNvSpPr/>
          <p:nvPr/>
        </p:nvSpPr>
        <p:spPr>
          <a:xfrm>
            <a:off x="1066006" y="1243649"/>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bg1"/>
              </a:solidFill>
              <a:sym typeface="+mn-ea"/>
            </a:endParaRPr>
          </a:p>
        </p:txBody>
      </p:sp>
      <p:sp>
        <p:nvSpPr>
          <p:cNvPr id="12" name="文本框 10"/>
          <p:cNvSpPr txBox="1"/>
          <p:nvPr/>
        </p:nvSpPr>
        <p:spPr>
          <a:xfrm flipH="1">
            <a:off x="1155118" y="1379388"/>
            <a:ext cx="1624965" cy="523220"/>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15</a:t>
            </a:r>
            <a:endPar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endParaRPr>
          </a:p>
        </p:txBody>
      </p:sp>
      <p:sp>
        <p:nvSpPr>
          <p:cNvPr id="17" name="1"/>
          <p:cNvSpPr txBox="1"/>
          <p:nvPr/>
        </p:nvSpPr>
        <p:spPr>
          <a:xfrm>
            <a:off x="3021596" y="1125538"/>
            <a:ext cx="8546218" cy="961289"/>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457200">
              <a:lnSpc>
                <a:spcPct val="150000"/>
              </a:lnSpc>
              <a:defRPr/>
            </a:pPr>
            <a:r>
              <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查看数据集</a:t>
            </a:r>
            <a:endParaRPr lang="en-US" altLang="zh-CN"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上述命令执行完成后的效果如图。</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06498" name="Picture 2" descr="C:\Users\16366\AppData\Local\Temp\ksohtml17796\wps5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2877" y="2439284"/>
            <a:ext cx="7516835" cy="30067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 2"/>
          <p:cNvSpPr/>
          <p:nvPr/>
        </p:nvSpPr>
        <p:spPr>
          <a:xfrm>
            <a:off x="1162768" y="1865559"/>
            <a:ext cx="9864878" cy="3488511"/>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sz="3200">
              <a:cs typeface="+mn-ea"/>
              <a:sym typeface="+mn-lt"/>
            </a:endParaRPr>
          </a:p>
        </p:txBody>
      </p:sp>
      <p:sp>
        <p:nvSpPr>
          <p:cNvPr id="4" name="TextBox 38"/>
          <p:cNvSpPr txBox="1"/>
          <p:nvPr/>
        </p:nvSpPr>
        <p:spPr>
          <a:xfrm>
            <a:off x="1558594" y="2543996"/>
            <a:ext cx="9109012" cy="1792286"/>
          </a:xfrm>
          <a:prstGeom prst="rect">
            <a:avLst/>
          </a:prstGeom>
          <a:noFill/>
        </p:spPr>
        <p:txBody>
          <a:bodyPr wrap="square" lIns="0" tIns="0" rIns="0" bIns="0"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本章讲解了</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副本集，首先，介绍了</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副本集概述和选举机制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。接着，介绍了</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副本集的部署与初始化</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。然后，介绍了</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副本集操作</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，包括</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连接副本集</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配置读取偏好</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修改节点</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等。最后，介绍了</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访问控制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。通过本章的学习，读者将能够掌握</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副本集的部署与操作，为构建高可用的</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打下坚实基础。</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 name="椭圆 4"/>
          <p:cNvSpPr/>
          <p:nvPr/>
        </p:nvSpPr>
        <p:spPr>
          <a:xfrm>
            <a:off x="438412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sz="2800">
                <a:latin typeface="微软雅黑" panose="020B0503020204020204" pitchFamily="34" charset="-122"/>
                <a:ea typeface="微软雅黑" panose="020B0503020204020204" pitchFamily="34" charset="-122"/>
              </a:rPr>
              <a:t>本</a:t>
            </a:r>
            <a:endParaRPr lang="zh-CN" altLang="en-US" sz="2800">
              <a:latin typeface="微软雅黑" panose="020B0503020204020204" pitchFamily="34" charset="-122"/>
              <a:ea typeface="微软雅黑" panose="020B0503020204020204" pitchFamily="34" charset="-122"/>
            </a:endParaRPr>
          </a:p>
        </p:txBody>
      </p:sp>
      <p:sp>
        <p:nvSpPr>
          <p:cNvPr id="6" name="椭圆 5"/>
          <p:cNvSpPr/>
          <p:nvPr/>
        </p:nvSpPr>
        <p:spPr>
          <a:xfrm>
            <a:off x="510294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dirty="0">
                <a:latin typeface="微软雅黑" panose="020B0503020204020204" pitchFamily="34" charset="-122"/>
                <a:ea typeface="微软雅黑" panose="020B0503020204020204" pitchFamily="34" charset="-122"/>
                <a:sym typeface="+mn-ea"/>
              </a:rPr>
              <a:t>章</a:t>
            </a:r>
            <a:endParaRPr lang="zh-CN" altLang="en-US" sz="2800" dirty="0">
              <a:latin typeface="微软雅黑" panose="020B0503020204020204" pitchFamily="34" charset="-122"/>
              <a:ea typeface="微软雅黑" panose="020B0503020204020204" pitchFamily="34" charset="-122"/>
              <a:sym typeface="+mn-ea"/>
            </a:endParaRPr>
          </a:p>
        </p:txBody>
      </p:sp>
      <p:sp>
        <p:nvSpPr>
          <p:cNvPr id="7" name="椭圆 6"/>
          <p:cNvSpPr/>
          <p:nvPr/>
        </p:nvSpPr>
        <p:spPr>
          <a:xfrm>
            <a:off x="582176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a:latin typeface="微软雅黑" panose="020B0503020204020204" pitchFamily="34" charset="-122"/>
                <a:ea typeface="微软雅黑" panose="020B0503020204020204" pitchFamily="34" charset="-122"/>
                <a:sym typeface="+mn-ea"/>
              </a:rPr>
              <a:t>小</a:t>
            </a:r>
            <a:endParaRPr lang="zh-CN" altLang="en-US" sz="2800">
              <a:latin typeface="微软雅黑" panose="020B0503020204020204" pitchFamily="34" charset="-122"/>
              <a:ea typeface="微软雅黑" panose="020B0503020204020204" pitchFamily="34" charset="-122"/>
              <a:sym typeface="+mn-ea"/>
            </a:endParaRPr>
          </a:p>
        </p:txBody>
      </p:sp>
      <p:sp>
        <p:nvSpPr>
          <p:cNvPr id="8" name="椭圆 7"/>
          <p:cNvSpPr/>
          <p:nvPr/>
        </p:nvSpPr>
        <p:spPr>
          <a:xfrm>
            <a:off x="654058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a:latin typeface="微软雅黑" panose="020B0503020204020204" pitchFamily="34" charset="-122"/>
                <a:ea typeface="微软雅黑" panose="020B0503020204020204" pitchFamily="34" charset="-122"/>
                <a:sym typeface="+mn-ea"/>
              </a:rPr>
              <a:t>结</a:t>
            </a:r>
            <a:endParaRPr lang="zh-CN" altLang="en-US" sz="280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tags/tag1.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4.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5.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6.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7.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8.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9.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0.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1.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2.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3.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4.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5.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6.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7.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8.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19.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0.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1.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2.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3.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4.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5.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6.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7.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8.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29.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0.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1.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2.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3.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4.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5.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6.xml><?xml version="1.0" encoding="utf-8"?>
<p:tagLst xmlns:p="http://schemas.openxmlformats.org/presentationml/2006/main">
  <p:tag name="KSO_WM_DIAGRAM_VIRTUALLY_FRAME" val="{&quot;height&quot;:344.00291338582673,&quot;left&quot;:245.61125984251967,&quot;top&quot;:150.4740157480315,&quot;width&quot;:476.21141732283456}"/>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ISPRING_RESOURCE_PATHS_HASH_PRESENTER" val="3f15e6573a385e41c33bb97e7105a62faa5c48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18541</Words>
  <Application>WPS 演示</Application>
  <PresentationFormat>自定义</PresentationFormat>
  <Paragraphs>1462</Paragraphs>
  <Slides>134</Slides>
  <Notes>72</Notes>
  <HiddenSlides>0</HiddenSlides>
  <MMClips>0</MMClips>
  <ScaleCrop>false</ScaleCrop>
  <HeadingPairs>
    <vt:vector size="8" baseType="variant">
      <vt:variant>
        <vt:lpstr>已用的字体</vt:lpstr>
      </vt:variant>
      <vt:variant>
        <vt:i4>26</vt:i4>
      </vt:variant>
      <vt:variant>
        <vt:lpstr>主题</vt:lpstr>
      </vt:variant>
      <vt:variant>
        <vt:i4>2</vt:i4>
      </vt:variant>
      <vt:variant>
        <vt:lpstr>嵌入 OLE 服务器</vt:lpstr>
      </vt:variant>
      <vt:variant>
        <vt:i4>1</vt:i4>
      </vt:variant>
      <vt:variant>
        <vt:lpstr>幻灯片标题</vt:lpstr>
      </vt:variant>
      <vt:variant>
        <vt:i4>134</vt:i4>
      </vt:variant>
    </vt:vector>
  </HeadingPairs>
  <TitlesOfParts>
    <vt:vector size="163" baseType="lpstr">
      <vt:lpstr>Arial</vt:lpstr>
      <vt:lpstr>宋体</vt:lpstr>
      <vt:lpstr>Wingdings</vt:lpstr>
      <vt:lpstr>微软雅黑</vt:lpstr>
      <vt:lpstr>思源黑体 CN Medium</vt:lpstr>
      <vt:lpstr>黑体</vt:lpstr>
      <vt:lpstr>字魂58号-创中黑</vt:lpstr>
      <vt:lpstr>Source Han Sans K Bold</vt:lpstr>
      <vt:lpstr>Calibri</vt:lpstr>
      <vt:lpstr>Yu Gothic UI Semibold</vt:lpstr>
      <vt:lpstr>U.S. 101</vt:lpstr>
      <vt:lpstr>Segoe Print</vt:lpstr>
      <vt:lpstr>Roboto</vt:lpstr>
      <vt:lpstr>Times New Roman</vt:lpstr>
      <vt:lpstr>Open Sans Light</vt:lpstr>
      <vt:lpstr>字魂105号-简雅黑</vt:lpstr>
      <vt:lpstr>Arial Unicode MS</vt:lpstr>
      <vt:lpstr>Verdana</vt:lpstr>
      <vt:lpstr>思源黑体 CN Regular</vt:lpstr>
      <vt:lpstr>Courier New</vt:lpstr>
      <vt:lpstr>Impact</vt:lpstr>
      <vt:lpstr>Times New Roman</vt:lpstr>
      <vt:lpstr>Lato Light</vt:lpstr>
      <vt:lpstr>Open Sans</vt:lpstr>
      <vt:lpstr>Open Sans</vt:lpstr>
      <vt:lpstr>思源黑体 CN Normal</vt:lpstr>
      <vt:lpstr>webwppDefTheme</vt:lpstr>
      <vt:lpstr>Office 主题</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Administrator</cp:lastModifiedBy>
  <cp:revision>1216</cp:revision>
  <dcterms:created xsi:type="dcterms:W3CDTF">2020-11-11T09:29:00Z</dcterms:created>
  <dcterms:modified xsi:type="dcterms:W3CDTF">2026-05-11T23:55:10Z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689D822710C54413ACF3D408DA5195C4_12</vt:lpwstr>
  </property>
</Properties>
</file>